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4"/>
  </p:sldMasterIdLst>
  <p:notesMasterIdLst>
    <p:notesMasterId r:id="rId28"/>
  </p:notesMasterIdLst>
  <p:handoutMasterIdLst>
    <p:handoutMasterId r:id="rId29"/>
  </p:handoutMasterIdLst>
  <p:sldIdLst>
    <p:sldId id="256" r:id="rId5"/>
    <p:sldId id="426" r:id="rId6"/>
    <p:sldId id="312" r:id="rId7"/>
    <p:sldId id="427" r:id="rId8"/>
    <p:sldId id="425" r:id="rId9"/>
    <p:sldId id="314" r:id="rId10"/>
    <p:sldId id="432" r:id="rId11"/>
    <p:sldId id="433" r:id="rId12"/>
    <p:sldId id="434" r:id="rId13"/>
    <p:sldId id="430" r:id="rId14"/>
    <p:sldId id="431" r:id="rId15"/>
    <p:sldId id="315" r:id="rId16"/>
    <p:sldId id="316" r:id="rId17"/>
    <p:sldId id="317" r:id="rId18"/>
    <p:sldId id="459" r:id="rId19"/>
    <p:sldId id="435" r:id="rId20"/>
    <p:sldId id="436" r:id="rId21"/>
    <p:sldId id="437" r:id="rId22"/>
    <p:sldId id="438" r:id="rId23"/>
    <p:sldId id="439" r:id="rId24"/>
    <p:sldId id="440" r:id="rId25"/>
    <p:sldId id="441" r:id="rId26"/>
    <p:sldId id="458" r:id="rId27"/>
  </p:sldIdLst>
  <p:sldSz cx="9720263" cy="6480175"/>
  <p:notesSz cx="7300913" cy="95869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82">
          <p15:clr>
            <a:srgbClr val="A4A3A4"/>
          </p15:clr>
        </p15:guide>
        <p15:guide id="2" pos="208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71FC08-D7C9-A90A-FD4A-431F19FFEAFE}" v="1" dt="2025-11-04T09:53:02.1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74"/>
  </p:normalViewPr>
  <p:slideViewPr>
    <p:cSldViewPr>
      <p:cViewPr varScale="1">
        <p:scale>
          <a:sx n="123" d="100"/>
          <a:sy n="123" d="100"/>
        </p:scale>
        <p:origin x="12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676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582"/>
        <p:guide pos="208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ESCENZO NAPOLANO" userId="S::cr.napolano@studenti.unina.it::9797f2b3-aa83-4702-a31c-79e161aa7869" providerId="AD" clId="Web-{6B71FC08-D7C9-A90A-FD4A-431F19FFEAFE}"/>
    <pc:docChg chg="modSld">
      <pc:chgData name="CRESCENZO NAPOLANO" userId="S::cr.napolano@studenti.unina.it::9797f2b3-aa83-4702-a31c-79e161aa7869" providerId="AD" clId="Web-{6B71FC08-D7C9-A90A-FD4A-431F19FFEAFE}" dt="2025-11-04T09:53:02.106" v="0" actId="1076"/>
      <pc:docMkLst>
        <pc:docMk/>
      </pc:docMkLst>
      <pc:sldChg chg="modSp">
        <pc:chgData name="CRESCENZO NAPOLANO" userId="S::cr.napolano@studenti.unina.it::9797f2b3-aa83-4702-a31c-79e161aa7869" providerId="AD" clId="Web-{6B71FC08-D7C9-A90A-FD4A-431F19FFEAFE}" dt="2025-11-04T09:53:02.106" v="0" actId="1076"/>
        <pc:sldMkLst>
          <pc:docMk/>
          <pc:sldMk cId="0" sldId="433"/>
        </pc:sldMkLst>
        <pc:spChg chg="mod">
          <ac:chgData name="CRESCENZO NAPOLANO" userId="S::cr.napolano@studenti.unina.it::9797f2b3-aa83-4702-a31c-79e161aa7869" providerId="AD" clId="Web-{6B71FC08-D7C9-A90A-FD4A-431F19FFEAFE}" dt="2025-11-04T09:53:02.106" v="0" actId="1076"/>
          <ac:spMkLst>
            <pc:docMk/>
            <pc:sldMk cId="0" sldId="433"/>
            <ac:spMk id="25618" creationId="{79CCBEC4-F62B-B7C5-AFD5-AAE4BD4DF5A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A917E917-D715-1EB8-12E0-12C252BA03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252EFAC8-D96C-ED47-395B-DD85F6A4EC0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5438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1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92516" name="Rectangle 4">
            <a:extLst>
              <a:ext uri="{FF2B5EF4-FFF2-40B4-BE49-F238E27FC236}">
                <a16:creationId xmlns:a16="http://schemas.microsoft.com/office/drawing/2014/main" id="{DF55E607-DD5D-06FC-D541-22D88E54859A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590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10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92517" name="Rectangle 5">
            <a:extLst>
              <a:ext uri="{FF2B5EF4-FFF2-40B4-BE49-F238E27FC236}">
                <a16:creationId xmlns:a16="http://schemas.microsoft.com/office/drawing/2014/main" id="{CD2633A3-B18A-4309-E966-92B76CDFBB4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5438" y="910590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4619" tIns="42309" rIns="84619" bIns="42309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100">
                <a:latin typeface="Times New Roman" panose="02020603050405020304" pitchFamily="18" charset="0"/>
              </a:defRPr>
            </a:lvl1pPr>
          </a:lstStyle>
          <a:p>
            <a:fld id="{2BC698AC-18E1-F447-99B8-DB5BA0ECE01F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>
            <a:extLst>
              <a:ext uri="{FF2B5EF4-FFF2-40B4-BE49-F238E27FC236}">
                <a16:creationId xmlns:a16="http://schemas.microsoft.com/office/drawing/2014/main" id="{19D0AA09-F1B7-E00C-C74F-61E636E1B6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62050" y="920750"/>
            <a:ext cx="4976813" cy="33178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0" name="Rectangle 2">
            <a:extLst>
              <a:ext uri="{FF2B5EF4-FFF2-40B4-BE49-F238E27FC236}">
                <a16:creationId xmlns:a16="http://schemas.microsoft.com/office/drawing/2014/main" id="{F0F63703-E809-DB64-9225-19F3B981004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130300" y="4560888"/>
            <a:ext cx="5046663" cy="368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ＭＳ Ｐゴシック" pitchFamily="-110" charset="-128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">
            <a:extLst>
              <a:ext uri="{FF2B5EF4-FFF2-40B4-BE49-F238E27FC236}">
                <a16:creationId xmlns:a16="http://schemas.microsoft.com/office/drawing/2014/main" id="{09BBA41D-44A2-F42D-5587-883E418F49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0228FAF7-B9C6-3C03-3603-EF34C0BAB42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10">
            <a:extLst>
              <a:ext uri="{FF2B5EF4-FFF2-40B4-BE49-F238E27FC236}">
                <a16:creationId xmlns:a16="http://schemas.microsoft.com/office/drawing/2014/main" id="{9262B368-68CD-4F90-7A05-C1AD2661E44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98663"/>
            <a:ext cx="9893300" cy="304800"/>
            <a:chOff x="0" y="624"/>
            <a:chExt cx="6232" cy="192"/>
          </a:xfrm>
        </p:grpSpPr>
        <p:sp>
          <p:nvSpPr>
            <p:cNvPr id="3" name="Rectangle 111">
              <a:extLst>
                <a:ext uri="{FF2B5EF4-FFF2-40B4-BE49-F238E27FC236}">
                  <a16:creationId xmlns:a16="http://schemas.microsoft.com/office/drawing/2014/main" id="{42D4BBBD-BFBF-4A83-B4DE-DF9E2C0F0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4" name="Rectangle 112">
              <a:extLst>
                <a:ext uri="{FF2B5EF4-FFF2-40B4-BE49-F238E27FC236}">
                  <a16:creationId xmlns:a16="http://schemas.microsoft.com/office/drawing/2014/main" id="{528D696C-30AE-B179-08C7-A568B4377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10557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43013" y="989013"/>
            <a:ext cx="7845425" cy="957262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10557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65288" y="2546350"/>
            <a:ext cx="7083425" cy="28289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5" name="Rectangle 103">
            <a:extLst>
              <a:ext uri="{FF2B5EF4-FFF2-40B4-BE49-F238E27FC236}">
                <a16:creationId xmlns:a16="http://schemas.microsoft.com/office/drawing/2014/main" id="{F3067686-1E1B-307B-ECC5-56340A2BC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474788" y="6007100"/>
            <a:ext cx="2025650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folHlink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104">
            <a:extLst>
              <a:ext uri="{FF2B5EF4-FFF2-40B4-BE49-F238E27FC236}">
                <a16:creationId xmlns:a16="http://schemas.microsoft.com/office/drawing/2014/main" id="{B5A93A6B-5B9E-2E61-4F80-D1656B3787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957638" y="6007100"/>
            <a:ext cx="2414587" cy="4318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105">
            <a:extLst>
              <a:ext uri="{FF2B5EF4-FFF2-40B4-BE49-F238E27FC236}">
                <a16:creationId xmlns:a16="http://schemas.microsoft.com/office/drawing/2014/main" id="{69FB4EF2-CC50-5599-FA1B-7864DDD050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72288" y="6010275"/>
            <a:ext cx="2025650" cy="43180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</a:defRPr>
            </a:lvl1pPr>
          </a:lstStyle>
          <a:p>
            <a:fld id="{5ECBBF8F-45BD-7D4B-9D46-F9B16EDBA09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07628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55D4D51A-61D0-44E0-A6E0-18D12C509CB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1C9681-0EBD-D145-BD9D-496AE9B4D3B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7591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68350" y="4164013"/>
            <a:ext cx="8261350" cy="12874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68350" y="2746375"/>
            <a:ext cx="8261350" cy="141763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7FB50D71-7079-D00B-634D-E79EA5A5B1B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4771CB-A6A5-D44A-8555-7F369EC5CF5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09234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4213" y="1727200"/>
            <a:ext cx="4152900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89513" y="1727200"/>
            <a:ext cx="4154487" cy="3667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2345DC32-A7EC-03EC-A4B7-9EF6A659FF8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6AD08A-A6F0-F84C-9542-B077DAC98AC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1596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8748713" cy="1081087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85775" y="1450975"/>
            <a:ext cx="4295775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85775" y="2055813"/>
            <a:ext cx="4295775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937125" y="1450975"/>
            <a:ext cx="4297363" cy="6048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937125" y="2055813"/>
            <a:ext cx="4297363" cy="37322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id="{3AA7E122-DAB0-102B-2FA3-DA967D83652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671323-AB48-D343-A0B7-6592A5BFA094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7108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110">
            <a:extLst>
              <a:ext uri="{FF2B5EF4-FFF2-40B4-BE49-F238E27FC236}">
                <a16:creationId xmlns:a16="http://schemas.microsoft.com/office/drawing/2014/main" id="{4DE7D25F-F98D-2C0A-5C50-F8A7112E342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52EDC0-F15E-6745-95A7-67F4FFF35E5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44489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0">
            <a:extLst>
              <a:ext uri="{FF2B5EF4-FFF2-40B4-BE49-F238E27FC236}">
                <a16:creationId xmlns:a16="http://schemas.microsoft.com/office/drawing/2014/main" id="{0F4E4435-A943-EEE5-25E1-13585AE4CC8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4247C7-B372-E44A-960D-9BF99001C2CF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01883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85775" y="258763"/>
            <a:ext cx="3198813" cy="10969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00475" y="258763"/>
            <a:ext cx="5434013" cy="5529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85775" y="1355725"/>
            <a:ext cx="3198813" cy="44323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365B9329-6EEC-986F-416A-83D3A49AEF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3C47AE-3118-3443-B603-DF10B8B88F2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7932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05000" y="4535488"/>
            <a:ext cx="5832475" cy="536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05000" y="579438"/>
            <a:ext cx="5832475" cy="38877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05000" y="5072063"/>
            <a:ext cx="5832475" cy="7604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110">
            <a:extLst>
              <a:ext uri="{FF2B5EF4-FFF2-40B4-BE49-F238E27FC236}">
                <a16:creationId xmlns:a16="http://schemas.microsoft.com/office/drawing/2014/main" id="{0E7F40EC-93B9-271F-4AD0-919B04714F5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4A6BB0-030E-5B46-8317-4428136A8A2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1648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F64F4A26-FDE8-BBE5-F168-704662EEC89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1D3FC9-D6D1-D644-9A29-EAEA653E342D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771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938963" y="215900"/>
            <a:ext cx="2205037" cy="51784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323850" y="215900"/>
            <a:ext cx="6462713" cy="51784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85190B58-992C-F30F-EF77-09344AC9B5D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6436DB-CFF7-EA47-8919-0FC237B7CFE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13631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3850" y="215900"/>
            <a:ext cx="7843838" cy="50323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684213" y="1727200"/>
            <a:ext cx="8459787" cy="3667125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Rectangle 110">
            <a:extLst>
              <a:ext uri="{FF2B5EF4-FFF2-40B4-BE49-F238E27FC236}">
                <a16:creationId xmlns:a16="http://schemas.microsoft.com/office/drawing/2014/main" id="{8E80E5C1-9A8E-6915-4770-2024444DB6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ED437E-B72C-1446-B5E1-31F6E134E0B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3087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7">
            <a:extLst>
              <a:ext uri="{FF2B5EF4-FFF2-40B4-BE49-F238E27FC236}">
                <a16:creationId xmlns:a16="http://schemas.microsoft.com/office/drawing/2014/main" id="{8E55E409-D97C-EB29-E7EA-39A7F3039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727200"/>
            <a:ext cx="8459787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7" name="Rectangle 111">
            <a:extLst>
              <a:ext uri="{FF2B5EF4-FFF2-40B4-BE49-F238E27FC236}">
                <a16:creationId xmlns:a16="http://schemas.microsoft.com/office/drawing/2014/main" id="{E6A6D771-B6ED-7119-21E1-A8D02AE3A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215900"/>
            <a:ext cx="78438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grpSp>
        <p:nvGrpSpPr>
          <p:cNvPr id="1028" name="Group 112">
            <a:extLst>
              <a:ext uri="{FF2B5EF4-FFF2-40B4-BE49-F238E27FC236}">
                <a16:creationId xmlns:a16="http://schemas.microsoft.com/office/drawing/2014/main" id="{B4CE9763-23EC-6116-A628-94B557FBC24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87413"/>
            <a:ext cx="9893300" cy="304800"/>
            <a:chOff x="0" y="624"/>
            <a:chExt cx="6232" cy="192"/>
          </a:xfrm>
        </p:grpSpPr>
        <p:sp>
          <p:nvSpPr>
            <p:cNvPr id="1030" name="Rectangle 113">
              <a:extLst>
                <a:ext uri="{FF2B5EF4-FFF2-40B4-BE49-F238E27FC236}">
                  <a16:creationId xmlns:a16="http://schemas.microsoft.com/office/drawing/2014/main" id="{4C4A54EC-3846-F2A4-87CF-35A2E83EF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1031" name="Rectangle 114">
              <a:extLst>
                <a:ext uri="{FF2B5EF4-FFF2-40B4-BE49-F238E27FC236}">
                  <a16:creationId xmlns:a16="http://schemas.microsoft.com/office/drawing/2014/main" id="{DE04A08D-7947-5100-1FB1-A61D2CE1A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</p:grpSp>
      <p:sp>
        <p:nvSpPr>
          <p:cNvPr id="104558" name="Rectangle 110">
            <a:extLst>
              <a:ext uri="{FF2B5EF4-FFF2-40B4-BE49-F238E27FC236}">
                <a16:creationId xmlns:a16="http://schemas.microsoft.com/office/drawing/2014/main" id="{AB1AB1D8-43B2-59BC-2F82-E6A203B6F6D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05638" y="6026150"/>
            <a:ext cx="2332037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fld id="{BE187F18-AD91-684B-8BED-689EA0817E17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hf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sz="32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800">
          <a:solidFill>
            <a:srgbClr val="000000"/>
          </a:solidFill>
          <a:latin typeface="+mn-lt"/>
          <a:ea typeface="ＭＳ Ｐゴシック" pitchFamily="-110" charset="-128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l"/>
        <a:defRPr sz="2400">
          <a:solidFill>
            <a:srgbClr val="000000"/>
          </a:solidFill>
          <a:latin typeface="+mn-lt"/>
          <a:ea typeface="ＭＳ Ｐゴシック" pitchFamily="-110" charset="-128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sz="2000">
          <a:solidFill>
            <a:srgbClr val="000000"/>
          </a:solidFill>
          <a:latin typeface="+mn-lt"/>
          <a:ea typeface="ＭＳ Ｐゴシック" pitchFamily="-110" charset="-128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sz="2000">
          <a:solidFill>
            <a:srgbClr val="000000"/>
          </a:solidFill>
          <a:latin typeface="+mn-lt"/>
          <a:ea typeface="ＭＳ Ｐゴシック" pitchFamily="-110" charset="-128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rgbClr val="000000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5">
            <a:extLst>
              <a:ext uri="{FF2B5EF4-FFF2-40B4-BE49-F238E27FC236}">
                <a16:creationId xmlns:a16="http://schemas.microsoft.com/office/drawing/2014/main" id="{9A7B0F4F-546D-4223-C13F-A2D7DE5D41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FB51DF3-5679-BA45-BE4A-3E3BE6A48330}" type="slidenum">
              <a:rPr lang="it-IT" altLang="it-IT" sz="1400">
                <a:solidFill>
                  <a:schemeClr val="folHlink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it-IT" altLang="it-IT" sz="140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6" name="Rectangle 8">
            <a:extLst>
              <a:ext uri="{FF2B5EF4-FFF2-40B4-BE49-F238E27FC236}">
                <a16:creationId xmlns:a16="http://schemas.microsoft.com/office/drawing/2014/main" id="{0DEC26E6-7598-5A3C-B2EF-24878F396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3275" y="2667000"/>
            <a:ext cx="80899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it-IT" altLang="it-IT" sz="2800"/>
              <a:t>Macchine Sequenziali</a:t>
            </a:r>
            <a:endParaRPr lang="it-IT" altLang="it-IT"/>
          </a:p>
          <a:p>
            <a:pPr>
              <a:spcBef>
                <a:spcPct val="20000"/>
              </a:spcBef>
            </a:pPr>
            <a:endParaRPr lang="it-IT" altLang="it-IT" sz="1800"/>
          </a:p>
          <a:p>
            <a:pPr>
              <a:spcBef>
                <a:spcPct val="20000"/>
              </a:spcBef>
            </a:pPr>
            <a:endParaRPr lang="it-IT" altLang="it-IT" sz="1800"/>
          </a:p>
          <a:p>
            <a:pPr>
              <a:spcBef>
                <a:spcPct val="20000"/>
              </a:spcBef>
            </a:pPr>
            <a:endParaRPr lang="it-IT" altLang="it-IT" sz="1800"/>
          </a:p>
          <a:p>
            <a:pPr>
              <a:spcBef>
                <a:spcPct val="20000"/>
              </a:spcBef>
            </a:pPr>
            <a:r>
              <a:rPr lang="it-IT" altLang="it-IT" sz="1800"/>
              <a:t>Dipartimento di Informatica e Sistemistica</a:t>
            </a:r>
          </a:p>
          <a:p>
            <a:pPr>
              <a:spcBef>
                <a:spcPct val="20000"/>
              </a:spcBef>
            </a:pPr>
            <a:r>
              <a:rPr lang="it-IT" altLang="it-IT" sz="1800"/>
              <a:t>Università degli Studi di Napoli Federico II</a:t>
            </a:r>
          </a:p>
        </p:txBody>
      </p:sp>
      <p:sp>
        <p:nvSpPr>
          <p:cNvPr id="16387" name="Rectangle 12">
            <a:extLst>
              <a:ext uri="{FF2B5EF4-FFF2-40B4-BE49-F238E27FC236}">
                <a16:creationId xmlns:a16="http://schemas.microsoft.com/office/drawing/2014/main" id="{E6323FE2-467B-900C-7EF5-FA8923EF8F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74725" y="989013"/>
            <a:ext cx="7845425" cy="957262"/>
          </a:xfrm>
        </p:spPr>
        <p:txBody>
          <a:bodyPr/>
          <a:lstStyle/>
          <a:p>
            <a:pPr eaLnBrk="1" hangingPunct="1"/>
            <a:r>
              <a:rPr lang="en-US" altLang="it-IT" sz="3600">
                <a:ea typeface="ＭＳ Ｐゴシック" panose="020B0600070205080204" pitchFamily="34" charset="-128"/>
              </a:rPr>
              <a:t>Corso di Reti Logiche</a:t>
            </a:r>
            <a:endParaRPr lang="it-IT" altLang="it-IT" sz="36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 spd="med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egnaposto numero diapositiva 3">
            <a:extLst>
              <a:ext uri="{FF2B5EF4-FFF2-40B4-BE49-F238E27FC236}">
                <a16:creationId xmlns:a16="http://schemas.microsoft.com/office/drawing/2014/main" id="{F186B5C9-B4E2-4FEC-BF97-05B556DB45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6295753-AECB-3A40-8DA9-58199FE67EE0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A326AEA2-6F75-E4F5-DBE2-B633C2E43E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Macchine sequenziali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FF0A52D-6F97-EADA-F99C-0E66D63A48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84325"/>
            <a:ext cx="8459787" cy="35274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Includono il fattore tempo nel funzionamento logico della macchina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le uscite sono funzione della storia della macchina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in macchine fisicamente realizzabili, le uscite in un dato istante sono funzione degli ingressi che sono stati applicati </a:t>
            </a:r>
            <a:r>
              <a:rPr lang="it-IT" altLang="it-IT" sz="2100" i="1">
                <a:ea typeface="ＭＳ Ｐゴシック" panose="020B0600070205080204" pitchFamily="34" charset="-128"/>
              </a:rPr>
              <a:t>fino a</a:t>
            </a:r>
            <a:r>
              <a:rPr lang="it-IT" altLang="it-IT" sz="2100">
                <a:ea typeface="ＭＳ Ｐゴシック" panose="020B0600070205080204" pitchFamily="34" charset="-128"/>
              </a:rPr>
              <a:t> quell’istante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uno </a:t>
            </a:r>
            <a:r>
              <a:rPr lang="it-IT" altLang="it-IT" sz="2100" i="1">
                <a:ea typeface="ＭＳ Ｐゴシック" panose="020B0600070205080204" pitchFamily="34" charset="-128"/>
              </a:rPr>
              <a:t>stato interno</a:t>
            </a:r>
            <a:r>
              <a:rPr lang="it-IT" altLang="it-IT" sz="2100">
                <a:ea typeface="ＭＳ Ｐゴシック" panose="020B0600070205080204" pitchFamily="34" charset="-128"/>
              </a:rPr>
              <a:t> mantiene memoria della storia della macchina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le uscite dipendono dallo stato (ed eventualmente dagli ingessi)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il modello si può particolarizzare al caso di tempo continuo o discreto</a:t>
            </a:r>
          </a:p>
          <a:p>
            <a:pPr eaLnBrk="1" hangingPunct="1">
              <a:lnSpc>
                <a:spcPct val="80000"/>
              </a:lnSpc>
            </a:pPr>
            <a:r>
              <a:rPr lang="it-IT" altLang="it-IT" sz="2100">
                <a:ea typeface="ＭＳ Ｐゴシック" panose="020B0600070205080204" pitchFamily="34" charset="-128"/>
              </a:rPr>
              <a:t>in macchine di interesse pratico il numero dei valori possibili degli stati, ingressi e uscite è finito: </a:t>
            </a:r>
            <a:r>
              <a:rPr lang="it-IT" altLang="it-IT" sz="2100" i="1">
                <a:ea typeface="ＭＳ Ｐゴシック" panose="020B0600070205080204" pitchFamily="34" charset="-128"/>
              </a:rPr>
              <a:t>macchine a stati finiti</a:t>
            </a:r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78155CAB-47B1-A5A4-5F92-0B9BD3BC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5038725"/>
            <a:ext cx="2232025" cy="86518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18437" name="Line 7">
            <a:extLst>
              <a:ext uri="{FF2B5EF4-FFF2-40B4-BE49-F238E27FC236}">
                <a16:creationId xmlns:a16="http://schemas.microsoft.com/office/drawing/2014/main" id="{F30C9F3E-52C8-786A-66FF-F57C94FC85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413" y="5472113"/>
            <a:ext cx="1152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18438" name="Line 8">
            <a:extLst>
              <a:ext uri="{FF2B5EF4-FFF2-40B4-BE49-F238E27FC236}">
                <a16:creationId xmlns:a16="http://schemas.microsoft.com/office/drawing/2014/main" id="{9D7E9ED1-FE77-86F4-B130-F895FE4045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5472113"/>
            <a:ext cx="1152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18439" name="Text Box 9">
            <a:extLst>
              <a:ext uri="{FF2B5EF4-FFF2-40B4-BE49-F238E27FC236}">
                <a16:creationId xmlns:a16="http://schemas.microsoft.com/office/drawing/2014/main" id="{561BE91A-F7AC-D3F2-8D75-30B41B76B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3" y="5229225"/>
            <a:ext cx="2016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/>
              <a:t>(</a:t>
            </a:r>
            <a:r>
              <a:rPr lang="it-IT" altLang="it-IT" sz="2000" i="1"/>
              <a:t>stato</a:t>
            </a:r>
            <a:r>
              <a:rPr lang="it-IT" altLang="it-IT" sz="2000"/>
              <a:t>)</a:t>
            </a:r>
          </a:p>
        </p:txBody>
      </p:sp>
      <p:sp>
        <p:nvSpPr>
          <p:cNvPr id="18440" name="Text Box 10">
            <a:extLst>
              <a:ext uri="{FF2B5EF4-FFF2-40B4-BE49-F238E27FC236}">
                <a16:creationId xmlns:a16="http://schemas.microsoft.com/office/drawing/2014/main" id="{62CD0EF0-82B8-12EE-74F5-4AA45F103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256213"/>
            <a:ext cx="1081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/>
              <a:t>ingressi</a:t>
            </a:r>
          </a:p>
        </p:txBody>
      </p:sp>
      <p:sp>
        <p:nvSpPr>
          <p:cNvPr id="18441" name="Text Box 11">
            <a:extLst>
              <a:ext uri="{FF2B5EF4-FFF2-40B4-BE49-F238E27FC236}">
                <a16:creationId xmlns:a16="http://schemas.microsoft.com/office/drawing/2014/main" id="{547118CF-9485-4445-16C4-BC68E2ED9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900" y="5256213"/>
            <a:ext cx="10810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/>
              <a:t>uscite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egnaposto numero diapositiva 3">
            <a:extLst>
              <a:ext uri="{FF2B5EF4-FFF2-40B4-BE49-F238E27FC236}">
                <a16:creationId xmlns:a16="http://schemas.microsoft.com/office/drawing/2014/main" id="{B2292136-DD93-9456-8480-94E90289C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D7FAD88-A871-B04D-BD7E-73810861CE6A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14E6478D-C41A-6966-51C8-367DB30E6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Modello Matematico: Mealy</a:t>
            </a:r>
            <a:endParaRPr lang="it-IT" altLang="it-IT" sz="3600" i="1">
              <a:ea typeface="ＭＳ Ｐゴシック" panose="020B0600070205080204" pitchFamily="34" charset="-128"/>
            </a:endParaRP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FED902EE-F0CC-89C6-9AA6-10C8850D96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5111750"/>
            <a:ext cx="8262938" cy="649288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it-IT" altLang="it-IT" sz="2800">
                <a:ea typeface="ＭＳ Ｐゴシック" panose="020B0600070205080204" pitchFamily="34" charset="-128"/>
              </a:rPr>
              <a:t>Le uscite dipendono da stato e ingresso</a:t>
            </a:r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62DD0CDF-7A9C-C097-89EB-FA2C181F1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39863"/>
            <a:ext cx="90011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349375" indent="-7175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Definizione di macchina sequenziale a stati finiti secondo Mealy:</a:t>
            </a:r>
          </a:p>
          <a:p>
            <a:pPr eaLnBrk="1" hangingPunct="1"/>
            <a:r>
              <a:rPr lang="it-IT" altLang="it-IT" b="1" i="1"/>
              <a:t>Una macchina sequenziale è una </a:t>
            </a:r>
          </a:p>
          <a:p>
            <a:pPr eaLnBrk="1" hangingPunct="1"/>
            <a:r>
              <a:rPr lang="it-IT" altLang="it-IT" b="1" i="1"/>
              <a:t>quintupla ordinata di enti M(Q,I,U,t,w)</a:t>
            </a:r>
            <a:endParaRPr lang="it-IT" altLang="it-IT" i="1"/>
          </a:p>
          <a:p>
            <a:pPr algn="l" eaLnBrk="1" hangingPunct="1"/>
            <a:r>
              <a:rPr lang="it-IT" altLang="it-IT" i="1"/>
              <a:t>dove: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Q è un insieme finito di “Stati Interni”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I è un insieme finito di “Stati di Ingresso”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U è un insieme finito di “Stati di Uscita”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t è una funzione </a:t>
            </a:r>
            <a:r>
              <a:rPr lang="it-IT" altLang="it-IT" i="1"/>
              <a:t>t:</a:t>
            </a:r>
            <a:r>
              <a:rPr lang="it-IT" altLang="it-IT" i="1">
                <a:sym typeface="Symbol" pitchFamily="2" charset="2"/>
              </a:rPr>
              <a:t> QI  Q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w è una funzione </a:t>
            </a:r>
            <a:r>
              <a:rPr lang="it-IT" altLang="it-IT" i="1"/>
              <a:t>w:</a:t>
            </a:r>
            <a:r>
              <a:rPr lang="it-IT" altLang="it-IT" i="1">
                <a:sym typeface="Symbol" pitchFamily="2" charset="2"/>
              </a:rPr>
              <a:t> QI  U</a:t>
            </a:r>
          </a:p>
          <a:p>
            <a:pPr algn="l" eaLnBrk="1" hangingPunct="1"/>
            <a:endParaRPr lang="it-IT" altLang="it-IT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egnaposto numero diapositiva 3">
            <a:extLst>
              <a:ext uri="{FF2B5EF4-FFF2-40B4-BE49-F238E27FC236}">
                <a16:creationId xmlns:a16="http://schemas.microsoft.com/office/drawing/2014/main" id="{9E860B06-B2E1-94FF-0A7D-57C502449B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C1900FB-454A-DB45-A4BE-7F95EDB96CF6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25C1687C-1096-EF45-D743-A36EBFDB8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Modello Matematico: Moore</a:t>
            </a:r>
            <a:endParaRPr lang="it-IT" altLang="it-IT" sz="3600" i="1">
              <a:ea typeface="ＭＳ Ｐゴシック" panose="020B0600070205080204" pitchFamily="34" charset="-128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647FA605-F358-DF0C-DBA6-D1209A460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7700" y="5040313"/>
            <a:ext cx="8262938" cy="6492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  <a:sym typeface="Wingdings" pitchFamily="2" charset="2"/>
              </a:rPr>
              <a:t> </a:t>
            </a:r>
            <a:r>
              <a:rPr lang="it-IT" altLang="it-IT" sz="2800">
                <a:ea typeface="ＭＳ Ｐゴシック" panose="020B0600070205080204" pitchFamily="34" charset="-128"/>
              </a:rPr>
              <a:t>Le uscite dipendono solo dallo stato</a:t>
            </a:r>
          </a:p>
          <a:p>
            <a:pPr eaLnBrk="1" hangingPunct="1">
              <a:buFont typeface="Wingdings" pitchFamily="2" charset="2"/>
              <a:buNone/>
            </a:pPr>
            <a:r>
              <a:rPr lang="it-IT" altLang="it-IT" sz="2800">
                <a:ea typeface="ＭＳ Ｐゴシック" panose="020B0600070205080204" pitchFamily="34" charset="-128"/>
              </a:rPr>
              <a:t>Si può dimostrare l’equivalenza dei due modelli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208E2B18-C54D-9B00-6AE5-0E4E97E33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39863"/>
            <a:ext cx="9001125" cy="345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1349375" indent="-7175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Definizione di macchina sequenziale a stati finiti secondo Moore:</a:t>
            </a:r>
          </a:p>
          <a:p>
            <a:pPr eaLnBrk="1" hangingPunct="1"/>
            <a:r>
              <a:rPr lang="it-IT" altLang="it-IT" b="1" i="1"/>
              <a:t>Una macchina sequenziale è una </a:t>
            </a:r>
          </a:p>
          <a:p>
            <a:pPr eaLnBrk="1" hangingPunct="1"/>
            <a:r>
              <a:rPr lang="it-IT" altLang="it-IT" b="1" i="1"/>
              <a:t>quintupla ordinata di enti M(Q,I,U,t,w)</a:t>
            </a:r>
            <a:endParaRPr lang="it-IT" altLang="it-IT" i="1"/>
          </a:p>
          <a:p>
            <a:pPr algn="l" eaLnBrk="1" hangingPunct="1"/>
            <a:r>
              <a:rPr lang="it-IT" altLang="it-IT" i="1"/>
              <a:t>dove: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Q è un insieme finito di “Stati Interni”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I è un insieme finito di “Stati di Ingresso”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U è un insieme finito di “Stati di Uscita”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t è una funzione </a:t>
            </a:r>
            <a:r>
              <a:rPr lang="it-IT" altLang="it-IT" i="1"/>
              <a:t>t:</a:t>
            </a:r>
            <a:r>
              <a:rPr lang="it-IT" altLang="it-IT" i="1">
                <a:sym typeface="Symbol" pitchFamily="2" charset="2"/>
              </a:rPr>
              <a:t> QI  Q</a:t>
            </a:r>
          </a:p>
          <a:p>
            <a:pPr lvl="1" algn="l" eaLnBrk="1" hangingPunct="1">
              <a:buFontTx/>
              <a:buChar char="•"/>
            </a:pPr>
            <a:r>
              <a:rPr lang="it-IT" altLang="it-IT"/>
              <a:t>  w è una funzione </a:t>
            </a:r>
            <a:r>
              <a:rPr lang="it-IT" altLang="it-IT" i="1"/>
              <a:t>w:</a:t>
            </a:r>
            <a:r>
              <a:rPr lang="it-IT" altLang="it-IT" i="1">
                <a:sym typeface="Symbol" pitchFamily="2" charset="2"/>
              </a:rPr>
              <a:t> Q  U</a:t>
            </a:r>
          </a:p>
          <a:p>
            <a:pPr algn="l" eaLnBrk="1" hangingPunct="1"/>
            <a:endParaRPr lang="it-IT" altLang="it-IT"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egnaposto numero diapositiva 3">
            <a:extLst>
              <a:ext uri="{FF2B5EF4-FFF2-40B4-BE49-F238E27FC236}">
                <a16:creationId xmlns:a16="http://schemas.microsoft.com/office/drawing/2014/main" id="{B3335298-3D3B-0836-15DA-2A6FD3D3F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3D16284-6644-A443-8E4C-79A66B6F019C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4145E39-8F10-875D-A586-38DB39196C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Modello realizzativo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D0B0528-9505-2E24-4F6D-1E30E2AB40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27200"/>
            <a:ext cx="8459787" cy="201771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In termini realizzativi, i due modelli di Mealy e Moore si possono tradurre in uno schema in cui: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“tutta la storia precedente” della macchina (ovvero lo stato) è inclusa in un componente con memoria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le funzioni stato prossimo </a:t>
            </a:r>
            <a:r>
              <a:rPr lang="it-IT" altLang="it-IT" sz="2000" i="1">
                <a:ea typeface="ＭＳ Ｐゴシック" panose="020B0600070205080204" pitchFamily="34" charset="-128"/>
              </a:rPr>
              <a:t>t</a:t>
            </a:r>
            <a:r>
              <a:rPr lang="it-IT" altLang="it-IT" sz="2000">
                <a:ea typeface="ＭＳ Ｐゴシック" panose="020B0600070205080204" pitchFamily="34" charset="-128"/>
              </a:rPr>
              <a:t> e uscita </a:t>
            </a:r>
            <a:r>
              <a:rPr lang="it-IT" altLang="it-IT" sz="2000" i="1">
                <a:ea typeface="ＭＳ Ｐゴシック" panose="020B0600070205080204" pitchFamily="34" charset="-128"/>
              </a:rPr>
              <a:t>w</a:t>
            </a:r>
            <a:r>
              <a:rPr lang="it-IT" altLang="it-IT" sz="2000">
                <a:ea typeface="ＭＳ Ｐゴシック" panose="020B0600070205080204" pitchFamily="34" charset="-128"/>
              </a:rPr>
              <a:t> sono realizzate da una macchina combinatoria </a:t>
            </a: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928961D7-D2C1-2809-C433-F9280254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038725"/>
            <a:ext cx="2232025" cy="86518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2533" name="Line 5">
            <a:extLst>
              <a:ext uri="{FF2B5EF4-FFF2-40B4-BE49-F238E27FC236}">
                <a16:creationId xmlns:a16="http://schemas.microsoft.com/office/drawing/2014/main" id="{F094EF13-7E95-F55F-F928-F90C1CD9C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327650"/>
            <a:ext cx="50323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4" name="Line 6">
            <a:extLst>
              <a:ext uri="{FF2B5EF4-FFF2-40B4-BE49-F238E27FC236}">
                <a16:creationId xmlns:a16="http://schemas.microsoft.com/office/drawing/2014/main" id="{A2374C08-79DF-C8C5-1E31-5F451380F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27763" y="4464050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5" name="Line 7">
            <a:extLst>
              <a:ext uri="{FF2B5EF4-FFF2-40B4-BE49-F238E27FC236}">
                <a16:creationId xmlns:a16="http://schemas.microsoft.com/office/drawing/2014/main" id="{7025AF0C-F347-DC6A-4092-DF498D1172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87675" y="4464050"/>
            <a:ext cx="32400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6" name="Line 8">
            <a:extLst>
              <a:ext uri="{FF2B5EF4-FFF2-40B4-BE49-F238E27FC236}">
                <a16:creationId xmlns:a16="http://schemas.microsoft.com/office/drawing/2014/main" id="{6A4E812D-8239-2113-5F5D-F6078BF36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4464050"/>
            <a:ext cx="0" cy="863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7" name="Line 9">
            <a:extLst>
              <a:ext uri="{FF2B5EF4-FFF2-40B4-BE49-F238E27FC236}">
                <a16:creationId xmlns:a16="http://schemas.microsoft.com/office/drawing/2014/main" id="{B33F681D-662D-E906-2CBB-60DE8A01F8A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327650"/>
            <a:ext cx="504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8" name="Line 10">
            <a:extLst>
              <a:ext uri="{FF2B5EF4-FFF2-40B4-BE49-F238E27FC236}">
                <a16:creationId xmlns:a16="http://schemas.microsoft.com/office/drawing/2014/main" id="{22DDBE7A-193C-B69B-4A72-F31496BD218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9975" y="5614988"/>
            <a:ext cx="1152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39" name="Line 11">
            <a:extLst>
              <a:ext uri="{FF2B5EF4-FFF2-40B4-BE49-F238E27FC236}">
                <a16:creationId xmlns:a16="http://schemas.microsoft.com/office/drawing/2014/main" id="{F8026777-A2E2-307B-755A-313A2E12972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4525" y="5614988"/>
            <a:ext cx="11525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40" name="Text Box 12">
            <a:extLst>
              <a:ext uri="{FF2B5EF4-FFF2-40B4-BE49-F238E27FC236}">
                <a16:creationId xmlns:a16="http://schemas.microsoft.com/office/drawing/2014/main" id="{6522F2FE-8C6F-61F4-6662-853843590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038" y="5111750"/>
            <a:ext cx="2016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/>
              <a:t>Macchina combinatoria</a:t>
            </a:r>
          </a:p>
        </p:txBody>
      </p:sp>
      <p:sp>
        <p:nvSpPr>
          <p:cNvPr id="22541" name="Text Box 14">
            <a:extLst>
              <a:ext uri="{FF2B5EF4-FFF2-40B4-BE49-F238E27FC236}">
                <a16:creationId xmlns:a16="http://schemas.microsoft.com/office/drawing/2014/main" id="{FC6B0275-7F00-4A18-0657-6620549C2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5399088"/>
            <a:ext cx="10810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/>
              <a:t>ingressi</a:t>
            </a:r>
          </a:p>
        </p:txBody>
      </p:sp>
      <p:sp>
        <p:nvSpPr>
          <p:cNvPr id="22542" name="Text Box 15">
            <a:extLst>
              <a:ext uri="{FF2B5EF4-FFF2-40B4-BE49-F238E27FC236}">
                <a16:creationId xmlns:a16="http://schemas.microsoft.com/office/drawing/2014/main" id="{38C051C8-88E5-4FB2-8269-1A713EAB2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5399088"/>
            <a:ext cx="10810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/>
              <a:t>uscite</a:t>
            </a:r>
          </a:p>
        </p:txBody>
      </p:sp>
      <p:sp>
        <p:nvSpPr>
          <p:cNvPr id="22543" name="Rectangle 16">
            <a:extLst>
              <a:ext uri="{FF2B5EF4-FFF2-40B4-BE49-F238E27FC236}">
                <a16:creationId xmlns:a16="http://schemas.microsoft.com/office/drawing/2014/main" id="{FDFA5A8C-0C5B-3B0E-4919-055692B1D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225925"/>
            <a:ext cx="792162" cy="50323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2544" name="Text Box 17">
            <a:extLst>
              <a:ext uri="{FF2B5EF4-FFF2-40B4-BE49-F238E27FC236}">
                <a16:creationId xmlns:a16="http://schemas.microsoft.com/office/drawing/2014/main" id="{99C3E466-3FD4-0264-F494-F731924A5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3959225"/>
            <a:ext cx="2519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>
                <a:solidFill>
                  <a:schemeClr val="folHlink"/>
                </a:solidFill>
              </a:rPr>
              <a:t>elemento di memoria</a:t>
            </a:r>
          </a:p>
        </p:txBody>
      </p:sp>
      <p:sp>
        <p:nvSpPr>
          <p:cNvPr id="22545" name="Text Box 18">
            <a:extLst>
              <a:ext uri="{FF2B5EF4-FFF2-40B4-BE49-F238E27FC236}">
                <a16:creationId xmlns:a16="http://schemas.microsoft.com/office/drawing/2014/main" id="{EEF61725-EDD4-3339-3042-7791FEE8C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4248150"/>
            <a:ext cx="792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it-IT" sz="2000">
                <a:cs typeface="Arial" panose="020B0604020202020204" pitchFamily="34" charset="0"/>
              </a:rPr>
              <a:t>Δ</a:t>
            </a:r>
          </a:p>
        </p:txBody>
      </p:sp>
      <p:sp>
        <p:nvSpPr>
          <p:cNvPr id="22546" name="Text Box 20">
            <a:extLst>
              <a:ext uri="{FF2B5EF4-FFF2-40B4-BE49-F238E27FC236}">
                <a16:creationId xmlns:a16="http://schemas.microsoft.com/office/drawing/2014/main" id="{BFC363F8-E02C-AEB8-F5F2-5A83A1D2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3959225"/>
            <a:ext cx="2519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/>
              <a:t>stato</a:t>
            </a:r>
          </a:p>
        </p:txBody>
      </p:sp>
      <p:sp>
        <p:nvSpPr>
          <p:cNvPr id="22547" name="Line 21">
            <a:extLst>
              <a:ext uri="{FF2B5EF4-FFF2-40B4-BE49-F238E27FC236}">
                <a16:creationId xmlns:a16="http://schemas.microsoft.com/office/drawing/2014/main" id="{837D2C88-8BC8-A747-3981-0FFD51EF10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24450" y="4175125"/>
            <a:ext cx="358775" cy="144463"/>
          </a:xfrm>
          <a:prstGeom prst="line">
            <a:avLst/>
          </a:prstGeom>
          <a:noFill/>
          <a:ln w="254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2548" name="Text Box 22">
            <a:extLst>
              <a:ext uri="{FF2B5EF4-FFF2-40B4-BE49-F238E27FC236}">
                <a16:creationId xmlns:a16="http://schemas.microsoft.com/office/drawing/2014/main" id="{AB97258A-80A0-3279-D37A-FAFB80C8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5040313"/>
            <a:ext cx="25193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/>
              <a:t>stato prossimo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egnaposto numero diapositiva 3">
            <a:extLst>
              <a:ext uri="{FF2B5EF4-FFF2-40B4-BE49-F238E27FC236}">
                <a16:creationId xmlns:a16="http://schemas.microsoft.com/office/drawing/2014/main" id="{7DB7BB7D-F0AA-DC39-2AB4-6A680D887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4B55E89-FCC6-FE4F-B9AB-49C0CCC7F5B8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63397B7B-1E41-1791-421F-1E27B889D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Descrizione della macchina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8360B7B-5AEA-394F-911A-DCDF8309B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27200"/>
            <a:ext cx="8461375" cy="36671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Se la macchina è a stati finiti, il suo comportamento può essere descritto attraverso una tabella oppure un grafo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</a:pPr>
            <a:r>
              <a:rPr lang="it-IT" altLang="it-IT" sz="3600">
                <a:ea typeface="ＭＳ Ｐゴシック" panose="020B0600070205080204" pitchFamily="34" charset="-128"/>
              </a:rPr>
              <a:t>ALCUNE DELLE t(Q,I), w(Q,I), w(Q) POSSONO ESSERE DON’T CARE 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egnaposto numero diapositiva 3">
            <a:extLst>
              <a:ext uri="{FF2B5EF4-FFF2-40B4-BE49-F238E27FC236}">
                <a16:creationId xmlns:a16="http://schemas.microsoft.com/office/drawing/2014/main" id="{B780A4B8-6265-7751-3A1E-778FDA2274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0E8E6B4C-4155-B74B-B299-8EC811AAE218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125A8A2F-6608-AF9D-8F0E-2F59BA31E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Tabella degli stati</a:t>
            </a:r>
          </a:p>
        </p:txBody>
      </p:sp>
      <p:graphicFrame>
        <p:nvGraphicFramePr>
          <p:cNvPr id="347167" name="Group 31">
            <a:extLst>
              <a:ext uri="{FF2B5EF4-FFF2-40B4-BE49-F238E27FC236}">
                <a16:creationId xmlns:a16="http://schemas.microsoft.com/office/drawing/2014/main" id="{5C2AC3F1-3D09-20DD-05C4-CAAC7CBBAD75}"/>
              </a:ext>
            </a:extLst>
          </p:cNvPr>
          <p:cNvGraphicFramePr>
            <a:graphicFrameLocks noGrp="1"/>
          </p:cNvGraphicFramePr>
          <p:nvPr/>
        </p:nvGraphicFramePr>
        <p:xfrm>
          <a:off x="5868988" y="2160588"/>
          <a:ext cx="3457575" cy="1471612"/>
        </p:xfrm>
        <a:graphic>
          <a:graphicData uri="http://schemas.openxmlformats.org/drawingml/2006/table">
            <a:tbl>
              <a:tblPr/>
              <a:tblGrid>
                <a:gridCol w="115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601" name="Text Box 25">
            <a:extLst>
              <a:ext uri="{FF2B5EF4-FFF2-40B4-BE49-F238E27FC236}">
                <a16:creationId xmlns:a16="http://schemas.microsoft.com/office/drawing/2014/main" id="{0A816AEA-12FF-4FD4-169C-E9CE34BBA4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3887788"/>
            <a:ext cx="3817938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2000"/>
              <a:t>ad esempio, trovandosi nello stato </a:t>
            </a:r>
            <a:r>
              <a:rPr lang="it-IT" altLang="it-IT" sz="2000" b="1"/>
              <a:t>S</a:t>
            </a:r>
            <a:r>
              <a:rPr lang="it-IT" altLang="it-IT" sz="2000" b="1" baseline="-25000"/>
              <a:t>1</a:t>
            </a:r>
            <a:r>
              <a:rPr lang="it-IT" altLang="it-IT" sz="2000"/>
              <a:t>, nel caso sia applicato il valore di ingresso </a:t>
            </a:r>
            <a:r>
              <a:rPr lang="it-IT" altLang="it-IT" sz="2000" b="1"/>
              <a:t>0</a:t>
            </a:r>
            <a:r>
              <a:rPr lang="it-IT" altLang="it-IT" sz="2000"/>
              <a:t>, la macchina si posta nel nuovo stato </a:t>
            </a:r>
            <a:r>
              <a:rPr lang="it-IT" altLang="it-IT" sz="2000" b="1"/>
              <a:t>S</a:t>
            </a:r>
            <a:r>
              <a:rPr lang="it-IT" altLang="it-IT" sz="2000" b="1" baseline="-25000"/>
              <a:t>2</a:t>
            </a:r>
            <a:r>
              <a:rPr lang="it-IT" altLang="it-IT" sz="2000" baseline="-25000"/>
              <a:t> </a:t>
            </a:r>
            <a:r>
              <a:rPr lang="it-IT" altLang="it-IT" sz="2000"/>
              <a:t>producendo come uscita il valore </a:t>
            </a:r>
            <a:r>
              <a:rPr lang="it-IT" altLang="it-IT" sz="2000" b="1"/>
              <a:t>0</a:t>
            </a:r>
          </a:p>
        </p:txBody>
      </p:sp>
      <p:sp>
        <p:nvSpPr>
          <p:cNvPr id="24602" name="Rectangle 26">
            <a:extLst>
              <a:ext uri="{FF2B5EF4-FFF2-40B4-BE49-F238E27FC236}">
                <a16:creationId xmlns:a16="http://schemas.microsoft.com/office/drawing/2014/main" id="{9F3F2840-4A8A-7150-E669-438046B12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438" y="2879725"/>
            <a:ext cx="719137" cy="37623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4603" name="Line 27">
            <a:extLst>
              <a:ext uri="{FF2B5EF4-FFF2-40B4-BE49-F238E27FC236}">
                <a16:creationId xmlns:a16="http://schemas.microsoft.com/office/drawing/2014/main" id="{EA45EB80-77D1-479D-F605-ECD343EFF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7338" y="3095625"/>
            <a:ext cx="431800" cy="0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4604" name="Line 28">
            <a:extLst>
              <a:ext uri="{FF2B5EF4-FFF2-40B4-BE49-F238E27FC236}">
                <a16:creationId xmlns:a16="http://schemas.microsoft.com/office/drawing/2014/main" id="{2DA909A3-31D7-B693-AA78-1024BE00C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7597775" y="1835150"/>
            <a:ext cx="0" cy="346075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4605" name="Rectangle 29">
            <a:extLst>
              <a:ext uri="{FF2B5EF4-FFF2-40B4-BE49-F238E27FC236}">
                <a16:creationId xmlns:a16="http://schemas.microsoft.com/office/drawing/2014/main" id="{ED0DF2D3-4565-9585-8F3A-A696FEA6FF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68425"/>
            <a:ext cx="4967288" cy="4679950"/>
          </a:xfrm>
          <a:noFill/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Tabella Stato/Ingresso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le righe sono relative agli stati, le colonne agli ingressi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ogni cella associa ad una coppia ingresso/stato l’uscita ed il prossimo stato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Mealy: le uscite sono riportate nelle celle (dipendono da stato ed ingresso)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Moore: le uscite possono essere riportate in una colonna a parte (dipendono solo dagli stati, c’è quindi un’uscita per ogni riga)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egnaposto numero diapositiva 3">
            <a:extLst>
              <a:ext uri="{FF2B5EF4-FFF2-40B4-BE49-F238E27FC236}">
                <a16:creationId xmlns:a16="http://schemas.microsoft.com/office/drawing/2014/main" id="{06F0D445-BA0D-96DA-5D3B-ADCD68F95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BFACB3F-B6A4-5045-A7C4-C0429CC31015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FAA9556F-4C2C-4F36-29F5-0F57C8D91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Grafo degli stati</a:t>
            </a:r>
          </a:p>
        </p:txBody>
      </p:sp>
      <p:sp>
        <p:nvSpPr>
          <p:cNvPr id="25603" name="Oval 4">
            <a:extLst>
              <a:ext uri="{FF2B5EF4-FFF2-40B4-BE49-F238E27FC236}">
                <a16:creationId xmlns:a16="http://schemas.microsoft.com/office/drawing/2014/main" id="{7437BE7C-E09F-C3E0-8C62-4A063DA53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75" y="2354263"/>
            <a:ext cx="568325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/>
              <a:t>S</a:t>
            </a:r>
            <a:r>
              <a:rPr lang="it-IT" altLang="it-IT" baseline="-25000"/>
              <a:t>0</a:t>
            </a:r>
            <a:endParaRPr lang="it-IT" altLang="it-IT"/>
          </a:p>
        </p:txBody>
      </p:sp>
      <p:cxnSp>
        <p:nvCxnSpPr>
          <p:cNvPr id="25604" name="AutoShape 5">
            <a:extLst>
              <a:ext uri="{FF2B5EF4-FFF2-40B4-BE49-F238E27FC236}">
                <a16:creationId xmlns:a16="http://schemas.microsoft.com/office/drawing/2014/main" id="{DAA1FFF2-D4A5-2CA8-C697-923A5382DEEF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6529388" y="1493837"/>
            <a:ext cx="381000" cy="1527175"/>
          </a:xfrm>
          <a:prstGeom prst="curvedConnector3">
            <a:avLst>
              <a:gd name="adj1" fmla="val 180417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5" name="AutoShape 6">
            <a:extLst>
              <a:ext uri="{FF2B5EF4-FFF2-40B4-BE49-F238E27FC236}">
                <a16:creationId xmlns:a16="http://schemas.microsoft.com/office/drawing/2014/main" id="{66A704C9-3865-569D-C347-8185C9057DD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5395913" y="2636838"/>
            <a:ext cx="266700" cy="266700"/>
          </a:xfrm>
          <a:prstGeom prst="curvedConnector4">
            <a:avLst>
              <a:gd name="adj1" fmla="val -131551"/>
              <a:gd name="adj2" fmla="val 18571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06" name="Text Box 7">
            <a:extLst>
              <a:ext uri="{FF2B5EF4-FFF2-40B4-BE49-F238E27FC236}">
                <a16:creationId xmlns:a16="http://schemas.microsoft.com/office/drawing/2014/main" id="{AD8B6411-02DE-CEF0-9E5E-38C326E91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13462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1 / 0</a:t>
            </a:r>
          </a:p>
        </p:txBody>
      </p:sp>
      <p:sp>
        <p:nvSpPr>
          <p:cNvPr id="25607" name="Oval 8">
            <a:extLst>
              <a:ext uri="{FF2B5EF4-FFF2-40B4-BE49-F238E27FC236}">
                <a16:creationId xmlns:a16="http://schemas.microsoft.com/office/drawing/2014/main" id="{DC80CA5A-B89C-9EF5-5A96-0012A6401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1993900"/>
            <a:ext cx="566738" cy="504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>
                <a:solidFill>
                  <a:srgbClr val="FF6600"/>
                </a:solidFill>
              </a:rPr>
              <a:t>S</a:t>
            </a:r>
            <a:r>
              <a:rPr lang="it-IT" altLang="it-IT" baseline="-25000">
                <a:solidFill>
                  <a:srgbClr val="FF6600"/>
                </a:solidFill>
              </a:rPr>
              <a:t>1</a:t>
            </a:r>
            <a:endParaRPr lang="it-IT" altLang="it-IT">
              <a:solidFill>
                <a:srgbClr val="FF6600"/>
              </a:solidFill>
            </a:endParaRPr>
          </a:p>
        </p:txBody>
      </p:sp>
      <p:sp>
        <p:nvSpPr>
          <p:cNvPr id="25608" name="Oval 9">
            <a:extLst>
              <a:ext uri="{FF2B5EF4-FFF2-40B4-BE49-F238E27FC236}">
                <a16:creationId xmlns:a16="http://schemas.microsoft.com/office/drawing/2014/main" id="{28F6B10C-C158-8477-86F9-C0084F77F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363" y="3290888"/>
            <a:ext cx="566737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/>
              <a:t>S</a:t>
            </a:r>
            <a:r>
              <a:rPr lang="it-IT" altLang="it-IT" baseline="-25000"/>
              <a:t>2</a:t>
            </a:r>
            <a:endParaRPr lang="it-IT" altLang="it-IT"/>
          </a:p>
        </p:txBody>
      </p:sp>
      <p:sp>
        <p:nvSpPr>
          <p:cNvPr id="25609" name="Text Box 10">
            <a:extLst>
              <a:ext uri="{FF2B5EF4-FFF2-40B4-BE49-F238E27FC236}">
                <a16:creationId xmlns:a16="http://schemas.microsoft.com/office/drawing/2014/main" id="{47A59E19-2B8E-2D9D-5C77-3969BD3FF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9675" y="316865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0 / 0</a:t>
            </a:r>
          </a:p>
        </p:txBody>
      </p:sp>
      <p:cxnSp>
        <p:nvCxnSpPr>
          <p:cNvPr id="25610" name="AutoShape 11">
            <a:extLst>
              <a:ext uri="{FF2B5EF4-FFF2-40B4-BE49-F238E27FC236}">
                <a16:creationId xmlns:a16="http://schemas.microsoft.com/office/drawing/2014/main" id="{DC3F5D2E-DA1B-F025-4B28-A16129C1B1D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7725569" y="2242344"/>
            <a:ext cx="377825" cy="1587"/>
          </a:xfrm>
          <a:prstGeom prst="curvedConnector5">
            <a:avLst>
              <a:gd name="adj1" fmla="val -81093"/>
              <a:gd name="adj2" fmla="val 43100014"/>
              <a:gd name="adj3" fmla="val 18109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1" name="Text Box 12">
            <a:extLst>
              <a:ext uri="{FF2B5EF4-FFF2-40B4-BE49-F238E27FC236}">
                <a16:creationId xmlns:a16="http://schemas.microsoft.com/office/drawing/2014/main" id="{AC9EEE82-CC9D-A1F0-2016-E8E3F0F11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2813" y="2112963"/>
            <a:ext cx="60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1/0</a:t>
            </a:r>
          </a:p>
        </p:txBody>
      </p:sp>
      <p:cxnSp>
        <p:nvCxnSpPr>
          <p:cNvPr id="25612" name="AutoShape 13">
            <a:extLst>
              <a:ext uri="{FF2B5EF4-FFF2-40B4-BE49-F238E27FC236}">
                <a16:creationId xmlns:a16="http://schemas.microsoft.com/office/drawing/2014/main" id="{939B0B4A-2BFB-FA3D-EDDC-29FB9BC3F82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6979444" y="2869406"/>
            <a:ext cx="1057275" cy="334963"/>
          </a:xfrm>
          <a:prstGeom prst="curvedConnector2">
            <a:avLst/>
          </a:prstGeom>
          <a:noFill/>
          <a:ln w="3175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3" name="Text Box 14">
            <a:extLst>
              <a:ext uri="{FF2B5EF4-FFF2-40B4-BE49-F238E27FC236}">
                <a16:creationId xmlns:a16="http://schemas.microsoft.com/office/drawing/2014/main" id="{0D1D62E0-AF78-B2AF-FDD9-3ED69921B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9350" y="319405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>
                <a:solidFill>
                  <a:srgbClr val="FF6600"/>
                </a:solidFill>
              </a:rPr>
              <a:t>0</a:t>
            </a:r>
            <a:r>
              <a:rPr lang="it-IT" altLang="it-IT"/>
              <a:t> / 0</a:t>
            </a:r>
          </a:p>
        </p:txBody>
      </p:sp>
      <p:cxnSp>
        <p:nvCxnSpPr>
          <p:cNvPr id="25614" name="AutoShape 15">
            <a:extLst>
              <a:ext uri="{FF2B5EF4-FFF2-40B4-BE49-F238E27FC236}">
                <a16:creationId xmlns:a16="http://schemas.microsoft.com/office/drawing/2014/main" id="{7E83BFCF-B66E-9284-CE9A-F2BD19904C1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5927725" y="2825750"/>
            <a:ext cx="763588" cy="801688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5" name="Text Box 16">
            <a:extLst>
              <a:ext uri="{FF2B5EF4-FFF2-40B4-BE49-F238E27FC236}">
                <a16:creationId xmlns:a16="http://schemas.microsoft.com/office/drawing/2014/main" id="{514A199A-09AB-70B2-2EB3-1E80F12A7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3725" y="3481388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1 / 1</a:t>
            </a:r>
          </a:p>
        </p:txBody>
      </p:sp>
      <p:cxnSp>
        <p:nvCxnSpPr>
          <p:cNvPr id="25616" name="AutoShape 17">
            <a:extLst>
              <a:ext uri="{FF2B5EF4-FFF2-40B4-BE49-F238E27FC236}">
                <a16:creationId xmlns:a16="http://schemas.microsoft.com/office/drawing/2014/main" id="{A7926B90-B509-51F1-4B3D-06832CDBA5AA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6069013" y="2455863"/>
            <a:ext cx="723900" cy="9525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7" name="Text Box 18">
            <a:extLst>
              <a:ext uri="{FF2B5EF4-FFF2-40B4-BE49-F238E27FC236}">
                <a16:creationId xmlns:a16="http://schemas.microsoft.com/office/drawing/2014/main" id="{20C6AB6F-D134-E128-507E-182F31C48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425700"/>
            <a:ext cx="77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/>
              <a:t>0 / 0</a:t>
            </a:r>
          </a:p>
        </p:txBody>
      </p:sp>
      <p:sp>
        <p:nvSpPr>
          <p:cNvPr id="25618" name="Text Box 19">
            <a:extLst>
              <a:ext uri="{FF2B5EF4-FFF2-40B4-BE49-F238E27FC236}">
                <a16:creationId xmlns:a16="http://schemas.microsoft.com/office/drawing/2014/main" id="{79CCBEC4-F62B-B7C5-AFD5-AAE4BD4DF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4629188"/>
            <a:ext cx="4465638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2000"/>
              <a:t>ad esempio, trovandosi nello stato </a:t>
            </a:r>
            <a:r>
              <a:rPr lang="it-IT" altLang="it-IT" sz="2000" b="1"/>
              <a:t>S</a:t>
            </a:r>
            <a:r>
              <a:rPr lang="it-IT" altLang="it-IT" sz="2000" b="1" baseline="-25000"/>
              <a:t>1</a:t>
            </a:r>
            <a:r>
              <a:rPr lang="it-IT" altLang="it-IT" sz="2000"/>
              <a:t>, nel caso sia applicato il valore di ingresso </a:t>
            </a:r>
            <a:r>
              <a:rPr lang="it-IT" altLang="it-IT" sz="2000" b="1"/>
              <a:t>0</a:t>
            </a:r>
            <a:r>
              <a:rPr lang="it-IT" altLang="it-IT" sz="2000"/>
              <a:t>, la macchina si posta nel nuovo stato </a:t>
            </a:r>
            <a:r>
              <a:rPr lang="it-IT" altLang="it-IT" sz="2000" b="1"/>
              <a:t>S</a:t>
            </a:r>
            <a:r>
              <a:rPr lang="it-IT" altLang="it-IT" sz="2000" b="1" baseline="-25000"/>
              <a:t>2</a:t>
            </a:r>
            <a:r>
              <a:rPr lang="it-IT" altLang="it-IT" sz="2000" baseline="-25000"/>
              <a:t> </a:t>
            </a:r>
            <a:r>
              <a:rPr lang="it-IT" altLang="it-IT" sz="2000"/>
              <a:t>producendo come uscita il valore </a:t>
            </a:r>
            <a:r>
              <a:rPr lang="it-IT" altLang="it-IT" sz="2000" b="1"/>
              <a:t>0</a:t>
            </a:r>
          </a:p>
        </p:txBody>
      </p:sp>
      <p:sp>
        <p:nvSpPr>
          <p:cNvPr id="25619" name="Rectangle 20">
            <a:extLst>
              <a:ext uri="{FF2B5EF4-FFF2-40B4-BE49-F238E27FC236}">
                <a16:creationId xmlns:a16="http://schemas.microsoft.com/office/drawing/2014/main" id="{98813AE9-25D0-E764-DCE8-26CE26353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75" y="3362325"/>
            <a:ext cx="719138" cy="433388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5620" name="Line 21">
            <a:extLst>
              <a:ext uri="{FF2B5EF4-FFF2-40B4-BE49-F238E27FC236}">
                <a16:creationId xmlns:a16="http://schemas.microsoft.com/office/drawing/2014/main" id="{CB004D95-806E-CC1A-6D08-7C9D8ECE7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45413" y="1579563"/>
            <a:ext cx="0" cy="431800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5621" name="Line 22">
            <a:extLst>
              <a:ext uri="{FF2B5EF4-FFF2-40B4-BE49-F238E27FC236}">
                <a16:creationId xmlns:a16="http://schemas.microsoft.com/office/drawing/2014/main" id="{6E51EA59-5879-8E12-964E-5CC53B3358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1275" y="3567113"/>
            <a:ext cx="0" cy="51593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5622" name="Text Box 23">
            <a:extLst>
              <a:ext uri="{FF2B5EF4-FFF2-40B4-BE49-F238E27FC236}">
                <a16:creationId xmlns:a16="http://schemas.microsoft.com/office/drawing/2014/main" id="{187628C5-5E53-3D85-8753-B5BD7258A6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4550" y="4083050"/>
            <a:ext cx="2449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>
                <a:solidFill>
                  <a:srgbClr val="FF6600"/>
                </a:solidFill>
              </a:rPr>
              <a:t>ingresso</a:t>
            </a:r>
            <a:r>
              <a:rPr lang="it-IT" altLang="it-IT" sz="1800">
                <a:solidFill>
                  <a:srgbClr val="FF9900"/>
                </a:solidFill>
              </a:rPr>
              <a:t> </a:t>
            </a:r>
            <a:r>
              <a:rPr lang="it-IT" altLang="it-IT" sz="1800">
                <a:solidFill>
                  <a:srgbClr val="FF6600"/>
                </a:solidFill>
              </a:rPr>
              <a:t>applicato</a:t>
            </a:r>
          </a:p>
        </p:txBody>
      </p:sp>
      <p:sp>
        <p:nvSpPr>
          <p:cNvPr id="25623" name="Line 24">
            <a:extLst>
              <a:ext uri="{FF2B5EF4-FFF2-40B4-BE49-F238E27FC236}">
                <a16:creationId xmlns:a16="http://schemas.microsoft.com/office/drawing/2014/main" id="{F79AC221-C20B-CDCE-C7B1-CB5CDB2026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03975" y="3795713"/>
            <a:ext cx="215900" cy="2159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5624" name="Text Box 25">
            <a:extLst>
              <a:ext uri="{FF2B5EF4-FFF2-40B4-BE49-F238E27FC236}">
                <a16:creationId xmlns:a16="http://schemas.microsoft.com/office/drawing/2014/main" id="{1802DC25-CF18-E3D4-C362-2DC5CF46C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4913" y="3722688"/>
            <a:ext cx="2016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>
                <a:solidFill>
                  <a:srgbClr val="FF0000"/>
                </a:solidFill>
              </a:rPr>
              <a:t>uscita prodotta</a:t>
            </a:r>
          </a:p>
        </p:txBody>
      </p:sp>
      <p:sp>
        <p:nvSpPr>
          <p:cNvPr id="25625" name="Text Box 26">
            <a:extLst>
              <a:ext uri="{FF2B5EF4-FFF2-40B4-BE49-F238E27FC236}">
                <a16:creationId xmlns:a16="http://schemas.microsoft.com/office/drawing/2014/main" id="{94D3FF54-9910-B33C-ED77-A98177CD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2888" y="4076700"/>
            <a:ext cx="2016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>
                <a:solidFill>
                  <a:srgbClr val="FF0000"/>
                </a:solidFill>
              </a:rPr>
              <a:t>stato prossimo</a:t>
            </a:r>
          </a:p>
        </p:txBody>
      </p:sp>
      <p:sp>
        <p:nvSpPr>
          <p:cNvPr id="25626" name="Text Box 27">
            <a:extLst>
              <a:ext uri="{FF2B5EF4-FFF2-40B4-BE49-F238E27FC236}">
                <a16:creationId xmlns:a16="http://schemas.microsoft.com/office/drawing/2014/main" id="{5B8C7B5E-64AE-5CFC-5395-4B8033A30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1268413"/>
            <a:ext cx="24495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1800">
                <a:solidFill>
                  <a:srgbClr val="FF6600"/>
                </a:solidFill>
              </a:rPr>
              <a:t>stato corrente</a:t>
            </a:r>
          </a:p>
        </p:txBody>
      </p:sp>
      <p:sp>
        <p:nvSpPr>
          <p:cNvPr id="25627" name="Line 28">
            <a:extLst>
              <a:ext uri="{FF2B5EF4-FFF2-40B4-BE49-F238E27FC236}">
                <a16:creationId xmlns:a16="http://schemas.microsoft.com/office/drawing/2014/main" id="{A11FBB5C-7A44-9DD5-5F05-6E151D4EA9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04200" y="3578225"/>
            <a:ext cx="215900" cy="2174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5628" name="Rectangle 29">
            <a:extLst>
              <a:ext uri="{FF2B5EF4-FFF2-40B4-BE49-F238E27FC236}">
                <a16:creationId xmlns:a16="http://schemas.microsoft.com/office/drawing/2014/main" id="{B4D28F69-915F-CF82-59ED-A0618A7BCF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68425"/>
            <a:ext cx="4319588" cy="4679950"/>
          </a:xfrm>
          <a:noFill/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Grafo degli stati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ogni nodo corrisponde ad uno stato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ogni transizione (arco) indica il prossimo stato in corrispondenza di un determinato ingresso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Mealy: uscita associata all’arco</a:t>
            </a:r>
          </a:p>
          <a:p>
            <a:pPr lvl="1" eaLnBrk="1" hangingPunct="1"/>
            <a:r>
              <a:rPr lang="it-IT" altLang="it-IT" sz="2400">
                <a:ea typeface="ＭＳ Ｐゴシック" panose="020B0600070205080204" pitchFamily="34" charset="-128"/>
              </a:rPr>
              <a:t>Moore: uscita associata al nodo (stato)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egnaposto numero diapositiva 3">
            <a:extLst>
              <a:ext uri="{FF2B5EF4-FFF2-40B4-BE49-F238E27FC236}">
                <a16:creationId xmlns:a16="http://schemas.microsoft.com/office/drawing/2014/main" id="{D62CC2AD-5E0A-0B84-F3ED-250C86914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99D0862A-7851-3145-B8B6-F22E54FA537B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F4EB3BCB-0458-2307-E33D-55C5933D7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Tabelle e grafi degli stati</a:t>
            </a:r>
          </a:p>
        </p:txBody>
      </p:sp>
      <p:graphicFrame>
        <p:nvGraphicFramePr>
          <p:cNvPr id="349188" name="Group 4">
            <a:extLst>
              <a:ext uri="{FF2B5EF4-FFF2-40B4-BE49-F238E27FC236}">
                <a16:creationId xmlns:a16="http://schemas.microsoft.com/office/drawing/2014/main" id="{F6C13E41-5330-FBDC-96B2-91E2C493BB90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1625600"/>
          <a:ext cx="2736850" cy="1471614"/>
        </p:xfrm>
        <a:graphic>
          <a:graphicData uri="http://schemas.openxmlformats.org/drawingml/2006/table">
            <a:tbl>
              <a:tblPr/>
              <a:tblGrid>
                <a:gridCol w="912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2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49304" name="Group 120">
            <a:extLst>
              <a:ext uri="{FF2B5EF4-FFF2-40B4-BE49-F238E27FC236}">
                <a16:creationId xmlns:a16="http://schemas.microsoft.com/office/drawing/2014/main" id="{6FEF36E7-2C2C-1483-0CC4-1DCF83307D2C}"/>
              </a:ext>
            </a:extLst>
          </p:cNvPr>
          <p:cNvGraphicFramePr>
            <a:graphicFrameLocks noGrp="1"/>
          </p:cNvGraphicFramePr>
          <p:nvPr/>
        </p:nvGraphicFramePr>
        <p:xfrm>
          <a:off x="6083300" y="1584325"/>
          <a:ext cx="2665413" cy="1471614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U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9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18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T="45730" marB="4573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76" name="Oval 121">
            <a:extLst>
              <a:ext uri="{FF2B5EF4-FFF2-40B4-BE49-F238E27FC236}">
                <a16:creationId xmlns:a16="http://schemas.microsoft.com/office/drawing/2014/main" id="{430BA812-AE45-12A4-9D72-7E9BA5365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550" y="4319588"/>
            <a:ext cx="568325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0</a:t>
            </a:r>
            <a:endParaRPr lang="it-IT" altLang="it-IT" sz="1800"/>
          </a:p>
        </p:txBody>
      </p:sp>
      <p:cxnSp>
        <p:nvCxnSpPr>
          <p:cNvPr id="26677" name="AutoShape 123">
            <a:extLst>
              <a:ext uri="{FF2B5EF4-FFF2-40B4-BE49-F238E27FC236}">
                <a16:creationId xmlns:a16="http://schemas.microsoft.com/office/drawing/2014/main" id="{1CDD15F0-052F-751A-1077-4FB88AE92806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700088" y="4602163"/>
            <a:ext cx="266700" cy="266700"/>
          </a:xfrm>
          <a:prstGeom prst="curvedConnector4">
            <a:avLst>
              <a:gd name="adj1" fmla="val -131551"/>
              <a:gd name="adj2" fmla="val 18571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78" name="Text Box 124">
            <a:extLst>
              <a:ext uri="{FF2B5EF4-FFF2-40B4-BE49-F238E27FC236}">
                <a16:creationId xmlns:a16="http://schemas.microsoft.com/office/drawing/2014/main" id="{E14371D5-DABD-1B69-B62C-618588679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8150" y="4032250"/>
            <a:ext cx="62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 / 0</a:t>
            </a:r>
          </a:p>
        </p:txBody>
      </p:sp>
      <p:sp>
        <p:nvSpPr>
          <p:cNvPr id="26679" name="Oval 125">
            <a:extLst>
              <a:ext uri="{FF2B5EF4-FFF2-40B4-BE49-F238E27FC236}">
                <a16:creationId xmlns:a16="http://schemas.microsoft.com/office/drawing/2014/main" id="{BF003A90-96C0-776C-2A95-1D5620484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265613"/>
            <a:ext cx="566738" cy="504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1</a:t>
            </a:r>
            <a:endParaRPr lang="it-IT" altLang="it-IT" sz="1800"/>
          </a:p>
        </p:txBody>
      </p:sp>
      <p:sp>
        <p:nvSpPr>
          <p:cNvPr id="26680" name="Oval 126">
            <a:extLst>
              <a:ext uri="{FF2B5EF4-FFF2-40B4-BE49-F238E27FC236}">
                <a16:creationId xmlns:a16="http://schemas.microsoft.com/office/drawing/2014/main" id="{BAE59740-F82F-1E95-3EC9-B4144CBAE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4538" y="5256213"/>
            <a:ext cx="566737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2</a:t>
            </a:r>
            <a:endParaRPr lang="it-IT" altLang="it-IT" sz="1800"/>
          </a:p>
        </p:txBody>
      </p:sp>
      <p:sp>
        <p:nvSpPr>
          <p:cNvPr id="26681" name="Text Box 127">
            <a:extLst>
              <a:ext uri="{FF2B5EF4-FFF2-40B4-BE49-F238E27FC236}">
                <a16:creationId xmlns:a16="http://schemas.microsoft.com/office/drawing/2014/main" id="{E4355024-CF34-E7E2-E5F2-DD513061B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207000"/>
            <a:ext cx="62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 / 0</a:t>
            </a:r>
          </a:p>
        </p:txBody>
      </p:sp>
      <p:cxnSp>
        <p:nvCxnSpPr>
          <p:cNvPr id="26682" name="AutoShape 128">
            <a:extLst>
              <a:ext uri="{FF2B5EF4-FFF2-40B4-BE49-F238E27FC236}">
                <a16:creationId xmlns:a16="http://schemas.microsoft.com/office/drawing/2014/main" id="{A62563EC-E817-584A-2001-46828FDF36E4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3029744" y="4514057"/>
            <a:ext cx="377825" cy="1587"/>
          </a:xfrm>
          <a:prstGeom prst="curvedConnector5">
            <a:avLst>
              <a:gd name="adj1" fmla="val -81093"/>
              <a:gd name="adj2" fmla="val 43100014"/>
              <a:gd name="adj3" fmla="val 18109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83" name="Text Box 129">
            <a:extLst>
              <a:ext uri="{FF2B5EF4-FFF2-40B4-BE49-F238E27FC236}">
                <a16:creationId xmlns:a16="http://schemas.microsoft.com/office/drawing/2014/main" id="{F9F1986B-ED98-3FEF-91A1-828356B95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6988" y="4457700"/>
            <a:ext cx="50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1/0</a:t>
            </a:r>
          </a:p>
        </p:txBody>
      </p:sp>
      <p:sp>
        <p:nvSpPr>
          <p:cNvPr id="26684" name="Text Box 131">
            <a:extLst>
              <a:ext uri="{FF2B5EF4-FFF2-40B4-BE49-F238E27FC236}">
                <a16:creationId xmlns:a16="http://schemas.microsoft.com/office/drawing/2014/main" id="{30627FA0-3900-76FD-59EB-C4153D2E5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5232400"/>
            <a:ext cx="628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 / 0</a:t>
            </a:r>
          </a:p>
        </p:txBody>
      </p:sp>
      <p:cxnSp>
        <p:nvCxnSpPr>
          <p:cNvPr id="26685" name="AutoShape 132">
            <a:extLst>
              <a:ext uri="{FF2B5EF4-FFF2-40B4-BE49-F238E27FC236}">
                <a16:creationId xmlns:a16="http://schemas.microsoft.com/office/drawing/2014/main" id="{9D94E09D-4868-D7DF-AAF7-DEA237AF4449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231900" y="4791075"/>
            <a:ext cx="763588" cy="801688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86" name="Text Box 133">
            <a:extLst>
              <a:ext uri="{FF2B5EF4-FFF2-40B4-BE49-F238E27FC236}">
                <a16:creationId xmlns:a16="http://schemas.microsoft.com/office/drawing/2014/main" id="{56F0FAFE-8A99-60FA-C1CE-F5AF284AB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5472113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 / 1</a:t>
            </a:r>
          </a:p>
        </p:txBody>
      </p:sp>
      <p:cxnSp>
        <p:nvCxnSpPr>
          <p:cNvPr id="26687" name="AutoShape 134">
            <a:extLst>
              <a:ext uri="{FF2B5EF4-FFF2-40B4-BE49-F238E27FC236}">
                <a16:creationId xmlns:a16="http://schemas.microsoft.com/office/drawing/2014/main" id="{33347C3C-0357-65A2-131D-1E36A2BE97A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1373188" y="4421188"/>
            <a:ext cx="723900" cy="9525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88" name="Text Box 135">
            <a:extLst>
              <a:ext uri="{FF2B5EF4-FFF2-40B4-BE49-F238E27FC236}">
                <a16:creationId xmlns:a16="http://schemas.microsoft.com/office/drawing/2014/main" id="{A7B34010-09A1-42D5-DDA5-7DBD43004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4602163"/>
            <a:ext cx="628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 / 0</a:t>
            </a:r>
          </a:p>
        </p:txBody>
      </p:sp>
      <p:sp>
        <p:nvSpPr>
          <p:cNvPr id="26689" name="Freeform 143">
            <a:extLst>
              <a:ext uri="{FF2B5EF4-FFF2-40B4-BE49-F238E27FC236}">
                <a16:creationId xmlns:a16="http://schemas.microsoft.com/office/drawing/2014/main" id="{1A71E962-0D28-959A-0295-87C91E095C6E}"/>
              </a:ext>
            </a:extLst>
          </p:cNvPr>
          <p:cNvSpPr>
            <a:spLocks/>
          </p:cNvSpPr>
          <p:nvPr/>
        </p:nvSpPr>
        <p:spPr bwMode="auto">
          <a:xfrm>
            <a:off x="2570163" y="4752975"/>
            <a:ext cx="506412" cy="719138"/>
          </a:xfrm>
          <a:custGeom>
            <a:avLst/>
            <a:gdLst>
              <a:gd name="T0" fmla="*/ 2147483647 w 319"/>
              <a:gd name="T1" fmla="*/ 0 h 453"/>
              <a:gd name="T2" fmla="*/ 2147483647 w 319"/>
              <a:gd name="T3" fmla="*/ 2147483647 h 453"/>
              <a:gd name="T4" fmla="*/ 0 w 319"/>
              <a:gd name="T5" fmla="*/ 2147483647 h 453"/>
              <a:gd name="T6" fmla="*/ 0 60000 65536"/>
              <a:gd name="T7" fmla="*/ 0 60000 65536"/>
              <a:gd name="T8" fmla="*/ 0 60000 65536"/>
              <a:gd name="T9" fmla="*/ 0 w 319"/>
              <a:gd name="T10" fmla="*/ 0 h 453"/>
              <a:gd name="T11" fmla="*/ 319 w 319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9" h="453">
                <a:moveTo>
                  <a:pt x="273" y="0"/>
                </a:moveTo>
                <a:cubicBezTo>
                  <a:pt x="296" y="75"/>
                  <a:pt x="319" y="150"/>
                  <a:pt x="273" y="226"/>
                </a:cubicBezTo>
                <a:cubicBezTo>
                  <a:pt x="227" y="302"/>
                  <a:pt x="45" y="415"/>
                  <a:pt x="0" y="453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690" name="Freeform 144">
            <a:extLst>
              <a:ext uri="{FF2B5EF4-FFF2-40B4-BE49-F238E27FC236}">
                <a16:creationId xmlns:a16="http://schemas.microsoft.com/office/drawing/2014/main" id="{B3B8FF33-A693-811B-B957-BB5BE707FF87}"/>
              </a:ext>
            </a:extLst>
          </p:cNvPr>
          <p:cNvSpPr>
            <a:spLocks/>
          </p:cNvSpPr>
          <p:nvPr/>
        </p:nvSpPr>
        <p:spPr bwMode="auto">
          <a:xfrm>
            <a:off x="1131888" y="3984625"/>
            <a:ext cx="1728787" cy="334963"/>
          </a:xfrm>
          <a:custGeom>
            <a:avLst/>
            <a:gdLst>
              <a:gd name="T0" fmla="*/ 0 w 1089"/>
              <a:gd name="T1" fmla="*/ 2147483647 h 211"/>
              <a:gd name="T2" fmla="*/ 2147483647 w 1089"/>
              <a:gd name="T3" fmla="*/ 2147483647 h 211"/>
              <a:gd name="T4" fmla="*/ 2147483647 w 1089"/>
              <a:gd name="T5" fmla="*/ 2147483647 h 211"/>
              <a:gd name="T6" fmla="*/ 2147483647 w 1089"/>
              <a:gd name="T7" fmla="*/ 2147483647 h 211"/>
              <a:gd name="T8" fmla="*/ 0 60000 65536"/>
              <a:gd name="T9" fmla="*/ 0 60000 65536"/>
              <a:gd name="T10" fmla="*/ 0 60000 65536"/>
              <a:gd name="T11" fmla="*/ 0 60000 65536"/>
              <a:gd name="T12" fmla="*/ 0 w 1089"/>
              <a:gd name="T13" fmla="*/ 0 h 211"/>
              <a:gd name="T14" fmla="*/ 1089 w 1089"/>
              <a:gd name="T15" fmla="*/ 211 h 2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9" h="211">
                <a:moveTo>
                  <a:pt x="0" y="211"/>
                </a:moveTo>
                <a:cubicBezTo>
                  <a:pt x="45" y="135"/>
                  <a:pt x="91" y="60"/>
                  <a:pt x="227" y="30"/>
                </a:cubicBezTo>
                <a:cubicBezTo>
                  <a:pt x="363" y="0"/>
                  <a:pt x="674" y="0"/>
                  <a:pt x="817" y="30"/>
                </a:cubicBezTo>
                <a:cubicBezTo>
                  <a:pt x="960" y="60"/>
                  <a:pt x="1024" y="135"/>
                  <a:pt x="1089" y="21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691" name="Oval 145">
            <a:extLst>
              <a:ext uri="{FF2B5EF4-FFF2-40B4-BE49-F238E27FC236}">
                <a16:creationId xmlns:a16="http://schemas.microsoft.com/office/drawing/2014/main" id="{727809F2-2718-A450-87DE-D82772F64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4367213"/>
            <a:ext cx="568325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0</a:t>
            </a:r>
            <a:r>
              <a:rPr lang="it-IT" altLang="it-IT" sz="1800"/>
              <a:t>/0</a:t>
            </a:r>
          </a:p>
        </p:txBody>
      </p:sp>
      <p:cxnSp>
        <p:nvCxnSpPr>
          <p:cNvPr id="26692" name="AutoShape 146">
            <a:extLst>
              <a:ext uri="{FF2B5EF4-FFF2-40B4-BE49-F238E27FC236}">
                <a16:creationId xmlns:a16="http://schemas.microsoft.com/office/drawing/2014/main" id="{E5E0AF7A-18D1-5667-FA1E-81549D6AED7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H="1" flipV="1">
            <a:off x="5902325" y="4649788"/>
            <a:ext cx="266700" cy="266700"/>
          </a:xfrm>
          <a:prstGeom prst="curvedConnector4">
            <a:avLst>
              <a:gd name="adj1" fmla="val -131551"/>
              <a:gd name="adj2" fmla="val 18571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93" name="Text Box 147">
            <a:extLst>
              <a:ext uri="{FF2B5EF4-FFF2-40B4-BE49-F238E27FC236}">
                <a16:creationId xmlns:a16="http://schemas.microsoft.com/office/drawing/2014/main" id="{10A9FABC-E2C7-06B7-8ACF-E34ACADAFD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0388" y="407987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</a:t>
            </a:r>
          </a:p>
        </p:txBody>
      </p:sp>
      <p:sp>
        <p:nvSpPr>
          <p:cNvPr id="26694" name="Oval 148">
            <a:extLst>
              <a:ext uri="{FF2B5EF4-FFF2-40B4-BE49-F238E27FC236}">
                <a16:creationId xmlns:a16="http://schemas.microsoft.com/office/drawing/2014/main" id="{F9B103D0-78D2-65B3-1883-AC9A56019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4313238"/>
            <a:ext cx="566737" cy="50482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1</a:t>
            </a:r>
            <a:r>
              <a:rPr lang="it-IT" altLang="it-IT" sz="1800"/>
              <a:t>/0</a:t>
            </a:r>
          </a:p>
        </p:txBody>
      </p:sp>
      <p:sp>
        <p:nvSpPr>
          <p:cNvPr id="26695" name="Oval 149">
            <a:extLst>
              <a:ext uri="{FF2B5EF4-FFF2-40B4-BE49-F238E27FC236}">
                <a16:creationId xmlns:a16="http://schemas.microsoft.com/office/drawing/2014/main" id="{E5CEAC14-EF08-556B-9536-C70ACD7E8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775" y="5303838"/>
            <a:ext cx="566738" cy="5032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 sz="1800"/>
              <a:t>S</a:t>
            </a:r>
            <a:r>
              <a:rPr lang="it-IT" altLang="it-IT" sz="1800" baseline="-25000"/>
              <a:t>2</a:t>
            </a:r>
            <a:r>
              <a:rPr lang="it-IT" altLang="it-IT" sz="1800"/>
              <a:t>/1</a:t>
            </a:r>
          </a:p>
        </p:txBody>
      </p:sp>
      <p:sp>
        <p:nvSpPr>
          <p:cNvPr id="26696" name="Text Box 150">
            <a:extLst>
              <a:ext uri="{FF2B5EF4-FFF2-40B4-BE49-F238E27FC236}">
                <a16:creationId xmlns:a16="http://schemas.microsoft.com/office/drawing/2014/main" id="{242B2EC0-FC6A-4FFC-7848-2F171456A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0403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</a:t>
            </a:r>
          </a:p>
        </p:txBody>
      </p:sp>
      <p:cxnSp>
        <p:nvCxnSpPr>
          <p:cNvPr id="26697" name="AutoShape 151">
            <a:extLst>
              <a:ext uri="{FF2B5EF4-FFF2-40B4-BE49-F238E27FC236}">
                <a16:creationId xmlns:a16="http://schemas.microsoft.com/office/drawing/2014/main" id="{57869C3F-2CFE-479D-DF3E-FE59B0D8F010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V="1">
            <a:off x="8231981" y="4561682"/>
            <a:ext cx="377825" cy="1588"/>
          </a:xfrm>
          <a:prstGeom prst="curvedConnector5">
            <a:avLst>
              <a:gd name="adj1" fmla="val -81093"/>
              <a:gd name="adj2" fmla="val 43100014"/>
              <a:gd name="adj3" fmla="val 181093"/>
            </a:avLst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98" name="Text Box 152">
            <a:extLst>
              <a:ext uri="{FF2B5EF4-FFF2-40B4-BE49-F238E27FC236}">
                <a16:creationId xmlns:a16="http://schemas.microsoft.com/office/drawing/2014/main" id="{27F87817-BE9B-1738-3753-A16850281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9225" y="45053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</a:t>
            </a:r>
          </a:p>
        </p:txBody>
      </p:sp>
      <p:sp>
        <p:nvSpPr>
          <p:cNvPr id="26699" name="Text Box 153">
            <a:extLst>
              <a:ext uri="{FF2B5EF4-FFF2-40B4-BE49-F238E27FC236}">
                <a16:creationId xmlns:a16="http://schemas.microsoft.com/office/drawing/2014/main" id="{8F623882-917A-43E0-A38D-DE44D0613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5763" y="5280025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</a:t>
            </a:r>
          </a:p>
        </p:txBody>
      </p:sp>
      <p:cxnSp>
        <p:nvCxnSpPr>
          <p:cNvPr id="26700" name="AutoShape 154">
            <a:extLst>
              <a:ext uri="{FF2B5EF4-FFF2-40B4-BE49-F238E27FC236}">
                <a16:creationId xmlns:a16="http://schemas.microsoft.com/office/drawing/2014/main" id="{79AEF785-CA76-1079-6D6B-6787A61C8808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434138" y="4838700"/>
            <a:ext cx="763587" cy="801688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1" name="Text Box 155">
            <a:extLst>
              <a:ext uri="{FF2B5EF4-FFF2-40B4-BE49-F238E27FC236}">
                <a16:creationId xmlns:a16="http://schemas.microsoft.com/office/drawing/2014/main" id="{6D2946D4-2584-1DB6-30CE-81B618C41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8" y="532765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1</a:t>
            </a:r>
          </a:p>
        </p:txBody>
      </p:sp>
      <p:cxnSp>
        <p:nvCxnSpPr>
          <p:cNvPr id="26702" name="AutoShape 156">
            <a:extLst>
              <a:ext uri="{FF2B5EF4-FFF2-40B4-BE49-F238E27FC236}">
                <a16:creationId xmlns:a16="http://schemas.microsoft.com/office/drawing/2014/main" id="{ACA41C63-A18D-32E2-04C8-7B7022F209F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>
            <a:off x="6575425" y="4468813"/>
            <a:ext cx="723900" cy="9525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703" name="Text Box 157">
            <a:extLst>
              <a:ext uri="{FF2B5EF4-FFF2-40B4-BE49-F238E27FC236}">
                <a16:creationId xmlns:a16="http://schemas.microsoft.com/office/drawing/2014/main" id="{934DDB93-1894-B14A-1C7C-199B7FE56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3600" y="46085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1800"/>
              <a:t>0</a:t>
            </a:r>
          </a:p>
        </p:txBody>
      </p:sp>
      <p:sp>
        <p:nvSpPr>
          <p:cNvPr id="26704" name="Freeform 158">
            <a:extLst>
              <a:ext uri="{FF2B5EF4-FFF2-40B4-BE49-F238E27FC236}">
                <a16:creationId xmlns:a16="http://schemas.microsoft.com/office/drawing/2014/main" id="{188CEBCE-DC9F-A924-4980-C962EB20A5C6}"/>
              </a:ext>
            </a:extLst>
          </p:cNvPr>
          <p:cNvSpPr>
            <a:spLocks/>
          </p:cNvSpPr>
          <p:nvPr/>
        </p:nvSpPr>
        <p:spPr bwMode="auto">
          <a:xfrm>
            <a:off x="7772400" y="4800600"/>
            <a:ext cx="506413" cy="719138"/>
          </a:xfrm>
          <a:custGeom>
            <a:avLst/>
            <a:gdLst>
              <a:gd name="T0" fmla="*/ 2147483647 w 319"/>
              <a:gd name="T1" fmla="*/ 0 h 453"/>
              <a:gd name="T2" fmla="*/ 2147483647 w 319"/>
              <a:gd name="T3" fmla="*/ 2147483647 h 453"/>
              <a:gd name="T4" fmla="*/ 0 w 319"/>
              <a:gd name="T5" fmla="*/ 2147483647 h 453"/>
              <a:gd name="T6" fmla="*/ 0 60000 65536"/>
              <a:gd name="T7" fmla="*/ 0 60000 65536"/>
              <a:gd name="T8" fmla="*/ 0 60000 65536"/>
              <a:gd name="T9" fmla="*/ 0 w 319"/>
              <a:gd name="T10" fmla="*/ 0 h 453"/>
              <a:gd name="T11" fmla="*/ 319 w 319"/>
              <a:gd name="T12" fmla="*/ 453 h 4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9" h="453">
                <a:moveTo>
                  <a:pt x="273" y="0"/>
                </a:moveTo>
                <a:cubicBezTo>
                  <a:pt x="296" y="75"/>
                  <a:pt x="319" y="150"/>
                  <a:pt x="273" y="226"/>
                </a:cubicBezTo>
                <a:cubicBezTo>
                  <a:pt x="227" y="302"/>
                  <a:pt x="45" y="415"/>
                  <a:pt x="0" y="453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705" name="Freeform 159">
            <a:extLst>
              <a:ext uri="{FF2B5EF4-FFF2-40B4-BE49-F238E27FC236}">
                <a16:creationId xmlns:a16="http://schemas.microsoft.com/office/drawing/2014/main" id="{3E8ADC89-9B11-1CF4-6026-047AF1B3ADF7}"/>
              </a:ext>
            </a:extLst>
          </p:cNvPr>
          <p:cNvSpPr>
            <a:spLocks/>
          </p:cNvSpPr>
          <p:nvPr/>
        </p:nvSpPr>
        <p:spPr bwMode="auto">
          <a:xfrm>
            <a:off x="6334125" y="4032250"/>
            <a:ext cx="1728788" cy="334963"/>
          </a:xfrm>
          <a:custGeom>
            <a:avLst/>
            <a:gdLst>
              <a:gd name="T0" fmla="*/ 0 w 1089"/>
              <a:gd name="T1" fmla="*/ 2147483647 h 211"/>
              <a:gd name="T2" fmla="*/ 2147483647 w 1089"/>
              <a:gd name="T3" fmla="*/ 2147483647 h 211"/>
              <a:gd name="T4" fmla="*/ 2147483647 w 1089"/>
              <a:gd name="T5" fmla="*/ 2147483647 h 211"/>
              <a:gd name="T6" fmla="*/ 2147483647 w 1089"/>
              <a:gd name="T7" fmla="*/ 2147483647 h 211"/>
              <a:gd name="T8" fmla="*/ 0 60000 65536"/>
              <a:gd name="T9" fmla="*/ 0 60000 65536"/>
              <a:gd name="T10" fmla="*/ 0 60000 65536"/>
              <a:gd name="T11" fmla="*/ 0 60000 65536"/>
              <a:gd name="T12" fmla="*/ 0 w 1089"/>
              <a:gd name="T13" fmla="*/ 0 h 211"/>
              <a:gd name="T14" fmla="*/ 1089 w 1089"/>
              <a:gd name="T15" fmla="*/ 211 h 21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89" h="211">
                <a:moveTo>
                  <a:pt x="0" y="211"/>
                </a:moveTo>
                <a:cubicBezTo>
                  <a:pt x="45" y="135"/>
                  <a:pt x="91" y="60"/>
                  <a:pt x="227" y="30"/>
                </a:cubicBezTo>
                <a:cubicBezTo>
                  <a:pt x="363" y="0"/>
                  <a:pt x="674" y="0"/>
                  <a:pt x="817" y="30"/>
                </a:cubicBezTo>
                <a:cubicBezTo>
                  <a:pt x="960" y="60"/>
                  <a:pt x="1024" y="135"/>
                  <a:pt x="1089" y="21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706" name="Text Box 160">
            <a:extLst>
              <a:ext uri="{FF2B5EF4-FFF2-40B4-BE49-F238E27FC236}">
                <a16:creationId xmlns:a16="http://schemas.microsoft.com/office/drawing/2014/main" id="{B4C08E24-1D9B-479A-DBDB-FFB94A1AE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2376488"/>
            <a:ext cx="1079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b="1">
                <a:solidFill>
                  <a:srgbClr val="996633"/>
                </a:solidFill>
              </a:rPr>
              <a:t>Mealy</a:t>
            </a:r>
          </a:p>
        </p:txBody>
      </p:sp>
      <p:sp>
        <p:nvSpPr>
          <p:cNvPr id="26707" name="Text Box 161">
            <a:extLst>
              <a:ext uri="{FF2B5EF4-FFF2-40B4-BE49-F238E27FC236}">
                <a16:creationId xmlns:a16="http://schemas.microsoft.com/office/drawing/2014/main" id="{7BD3F8ED-066E-598C-2A6E-C60617CCC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3588" y="3503613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b="1">
                <a:solidFill>
                  <a:srgbClr val="996633"/>
                </a:solidFill>
              </a:rPr>
              <a:t>Moore</a:t>
            </a:r>
          </a:p>
        </p:txBody>
      </p:sp>
      <p:sp>
        <p:nvSpPr>
          <p:cNvPr id="26708" name="Line 162">
            <a:extLst>
              <a:ext uri="{FF2B5EF4-FFF2-40B4-BE49-F238E27FC236}">
                <a16:creationId xmlns:a16="http://schemas.microsoft.com/office/drawing/2014/main" id="{E8BF406B-4A07-74DC-246B-DD791FE450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92500" y="2160588"/>
            <a:ext cx="431800" cy="287337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709" name="Line 163">
            <a:extLst>
              <a:ext uri="{FF2B5EF4-FFF2-40B4-BE49-F238E27FC236}">
                <a16:creationId xmlns:a16="http://schemas.microsoft.com/office/drawing/2014/main" id="{07B3DFEB-7845-248A-3714-4B65651CE7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375" y="2879725"/>
            <a:ext cx="433388" cy="792163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710" name="Line 164">
            <a:extLst>
              <a:ext uri="{FF2B5EF4-FFF2-40B4-BE49-F238E27FC236}">
                <a16:creationId xmlns:a16="http://schemas.microsoft.com/office/drawing/2014/main" id="{1E24CCFA-0278-29E1-CF81-7751A87398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3024188"/>
            <a:ext cx="720725" cy="503237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6711" name="Line 165">
            <a:extLst>
              <a:ext uri="{FF2B5EF4-FFF2-40B4-BE49-F238E27FC236}">
                <a16:creationId xmlns:a16="http://schemas.microsoft.com/office/drawing/2014/main" id="{E20C7078-3B8B-0B58-7F1C-F72F5CBF52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3960813"/>
            <a:ext cx="360363" cy="358775"/>
          </a:xfrm>
          <a:prstGeom prst="line">
            <a:avLst/>
          </a:prstGeom>
          <a:noFill/>
          <a:ln w="63500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egnaposto numero diapositiva 3">
            <a:extLst>
              <a:ext uri="{FF2B5EF4-FFF2-40B4-BE49-F238E27FC236}">
                <a16:creationId xmlns:a16="http://schemas.microsoft.com/office/drawing/2014/main" id="{65BA463F-2AFC-D26C-7293-0E7507941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AA158AA-406C-D144-A346-181EFFAEF54F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10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16934999-7260-653A-4DFC-F671D79ACA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Esempio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50C47EE-68B4-F829-8C31-E2CE9AC916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84325"/>
            <a:ext cx="8459787" cy="36671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Vogliamo realizzare una macchina in grado di riconoscere la sequenza 101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la macchina avrà un ingresso </a:t>
            </a:r>
            <a:r>
              <a:rPr lang="it-IT" altLang="it-IT" i="1">
                <a:ea typeface="ＭＳ Ｐゴシック" panose="020B0600070205080204" pitchFamily="34" charset="-128"/>
              </a:rPr>
              <a:t>I</a:t>
            </a:r>
            <a:r>
              <a:rPr lang="it-IT" altLang="it-IT">
                <a:ea typeface="ＭＳ Ｐゴシック" panose="020B0600070205080204" pitchFamily="34" charset="-128"/>
              </a:rPr>
              <a:t> su cui arriva una sequenza di 1 o 0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una uscita </a:t>
            </a:r>
            <a:r>
              <a:rPr lang="it-IT" altLang="it-IT" i="1">
                <a:ea typeface="ＭＳ Ｐゴシック" panose="020B0600070205080204" pitchFamily="34" charset="-128"/>
              </a:rPr>
              <a:t>U</a:t>
            </a:r>
            <a:r>
              <a:rPr lang="it-IT" altLang="it-IT">
                <a:ea typeface="ＭＳ Ｐゴシック" panose="020B0600070205080204" pitchFamily="34" charset="-128"/>
              </a:rPr>
              <a:t> che si alza solo quando in ingesso è appena arrivata una sequenza </a:t>
            </a:r>
            <a:r>
              <a:rPr lang="it-IT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101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A7DC11C7-82D7-3C53-7DBA-2B2FEA6E6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824413"/>
            <a:ext cx="1368425" cy="865187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27653" name="Line 5">
            <a:extLst>
              <a:ext uri="{FF2B5EF4-FFF2-40B4-BE49-F238E27FC236}">
                <a16:creationId xmlns:a16="http://schemas.microsoft.com/office/drawing/2014/main" id="{7CC3AF56-0648-7693-51CD-622BAB9F3F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9475" y="5257800"/>
            <a:ext cx="7207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54" name="Line 6">
            <a:extLst>
              <a:ext uri="{FF2B5EF4-FFF2-40B4-BE49-F238E27FC236}">
                <a16:creationId xmlns:a16="http://schemas.microsoft.com/office/drawing/2014/main" id="{F6193150-96CB-5B8D-D0C7-062EE2402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5257800"/>
            <a:ext cx="6477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1AACE44D-62F9-51B0-E904-DD1532951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4525" y="5014913"/>
            <a:ext cx="622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 i="1"/>
              <a:t>Q</a:t>
            </a:r>
          </a:p>
        </p:txBody>
      </p:sp>
      <p:sp>
        <p:nvSpPr>
          <p:cNvPr id="27656" name="Text Box 8">
            <a:extLst>
              <a:ext uri="{FF2B5EF4-FFF2-40B4-BE49-F238E27FC236}">
                <a16:creationId xmlns:a16="http://schemas.microsoft.com/office/drawing/2014/main" id="{E04A6474-47F1-45DD-817A-1D2FE0B20A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5041900"/>
            <a:ext cx="3603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 i="1"/>
              <a:t>I</a:t>
            </a:r>
          </a:p>
        </p:txBody>
      </p:sp>
      <p:sp>
        <p:nvSpPr>
          <p:cNvPr id="27657" name="Text Box 9">
            <a:extLst>
              <a:ext uri="{FF2B5EF4-FFF2-40B4-BE49-F238E27FC236}">
                <a16:creationId xmlns:a16="http://schemas.microsoft.com/office/drawing/2014/main" id="{15AE62A6-ABB7-19D9-6E9F-BCD487AF2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5041900"/>
            <a:ext cx="504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1800" i="1"/>
              <a:t>U</a:t>
            </a:r>
          </a:p>
        </p:txBody>
      </p:sp>
      <p:sp>
        <p:nvSpPr>
          <p:cNvPr id="27658" name="Line 10">
            <a:extLst>
              <a:ext uri="{FF2B5EF4-FFF2-40B4-BE49-F238E27FC236}">
                <a16:creationId xmlns:a16="http://schemas.microsoft.com/office/drawing/2014/main" id="{4A1AE80F-A463-8AB7-F028-57B0D0F20AD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413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59" name="Line 11">
            <a:extLst>
              <a:ext uri="{FF2B5EF4-FFF2-40B4-BE49-F238E27FC236}">
                <a16:creationId xmlns:a16="http://schemas.microsoft.com/office/drawing/2014/main" id="{EB5BBE36-6A2E-474A-83D8-56862038497B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713" y="51863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0" name="Line 12">
            <a:extLst>
              <a:ext uri="{FF2B5EF4-FFF2-40B4-BE49-F238E27FC236}">
                <a16:creationId xmlns:a16="http://schemas.microsoft.com/office/drawing/2014/main" id="{AA007651-9BCA-7AF3-2965-3C0EBCCE10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116013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1" name="Line 13">
            <a:extLst>
              <a:ext uri="{FF2B5EF4-FFF2-40B4-BE49-F238E27FC236}">
                <a16:creationId xmlns:a16="http://schemas.microsoft.com/office/drawing/2014/main" id="{664A54FC-711E-B8FF-B67A-69EDF5F0A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2" name="Line 14">
            <a:extLst>
              <a:ext uri="{FF2B5EF4-FFF2-40B4-BE49-F238E27FC236}">
                <a16:creationId xmlns:a16="http://schemas.microsoft.com/office/drawing/2014/main" id="{75D77020-49A7-8D9F-5029-414CF8F41B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3" name="Line 15">
            <a:extLst>
              <a:ext uri="{FF2B5EF4-FFF2-40B4-BE49-F238E27FC236}">
                <a16:creationId xmlns:a16="http://schemas.microsoft.com/office/drawing/2014/main" id="{356B11A6-BDA6-1FC9-08A9-1AC4754A15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186363"/>
            <a:ext cx="2159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4" name="Line 16">
            <a:extLst>
              <a:ext uri="{FF2B5EF4-FFF2-40B4-BE49-F238E27FC236}">
                <a16:creationId xmlns:a16="http://schemas.microsoft.com/office/drawing/2014/main" id="{0F74485F-3309-564F-A42A-6E4379D9867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3" y="5402263"/>
            <a:ext cx="2159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5" name="Line 17">
            <a:extLst>
              <a:ext uri="{FF2B5EF4-FFF2-40B4-BE49-F238E27FC236}">
                <a16:creationId xmlns:a16="http://schemas.microsoft.com/office/drawing/2014/main" id="{CE2043D6-2B74-FF3B-63B1-00C15A8EE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86363"/>
            <a:ext cx="2159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6" name="Line 18">
            <a:extLst>
              <a:ext uri="{FF2B5EF4-FFF2-40B4-BE49-F238E27FC236}">
                <a16:creationId xmlns:a16="http://schemas.microsoft.com/office/drawing/2014/main" id="{0A2FAA68-672D-DA52-9587-44271C5F5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04025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7" name="Line 19">
            <a:extLst>
              <a:ext uri="{FF2B5EF4-FFF2-40B4-BE49-F238E27FC236}">
                <a16:creationId xmlns:a16="http://schemas.microsoft.com/office/drawing/2014/main" id="{C76F2638-345B-5AF8-C654-DFC985245F5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92950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8" name="Line 20">
            <a:extLst>
              <a:ext uri="{FF2B5EF4-FFF2-40B4-BE49-F238E27FC236}">
                <a16:creationId xmlns:a16="http://schemas.microsoft.com/office/drawing/2014/main" id="{6E110A76-8A24-3689-E521-550D4DD7930E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0288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69" name="Line 21">
            <a:extLst>
              <a:ext uri="{FF2B5EF4-FFF2-40B4-BE49-F238E27FC236}">
                <a16:creationId xmlns:a16="http://schemas.microsoft.com/office/drawing/2014/main" id="{157C3F92-F9B3-3057-6498-CA8AB1AA3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713" y="5186363"/>
            <a:ext cx="0" cy="2159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0" name="Line 22">
            <a:extLst>
              <a:ext uri="{FF2B5EF4-FFF2-40B4-BE49-F238E27FC236}">
                <a16:creationId xmlns:a16="http://schemas.microsoft.com/office/drawing/2014/main" id="{E2E3E521-C2B6-06F7-0641-7D70260BD4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090613" y="5186363"/>
            <a:ext cx="0" cy="2159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1" name="Line 23">
            <a:extLst>
              <a:ext uri="{FF2B5EF4-FFF2-40B4-BE49-F238E27FC236}">
                <a16:creationId xmlns:a16="http://schemas.microsoft.com/office/drawing/2014/main" id="{69344FA0-4112-0D1F-5009-4E0D46CE84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79613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2" name="Line 24">
            <a:extLst>
              <a:ext uri="{FF2B5EF4-FFF2-40B4-BE49-F238E27FC236}">
                <a16:creationId xmlns:a16="http://schemas.microsoft.com/office/drawing/2014/main" id="{83BAB50B-366B-ECE9-6A54-6ADC0BED0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95513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3" name="Line 25">
            <a:extLst>
              <a:ext uri="{FF2B5EF4-FFF2-40B4-BE49-F238E27FC236}">
                <a16:creationId xmlns:a16="http://schemas.microsoft.com/office/drawing/2014/main" id="{FE844C14-9961-4D5A-2CE5-5D911048A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4" name="Line 26">
            <a:extLst>
              <a:ext uri="{FF2B5EF4-FFF2-40B4-BE49-F238E27FC236}">
                <a16:creationId xmlns:a16="http://schemas.microsoft.com/office/drawing/2014/main" id="{AB3211F8-67BC-4701-B4E6-08EA349ED5FB}"/>
              </a:ext>
            </a:extLst>
          </p:cNvPr>
          <p:cNvSpPr>
            <a:spLocks noChangeShapeType="1"/>
          </p:cNvSpPr>
          <p:nvPr/>
        </p:nvSpPr>
        <p:spPr bwMode="auto">
          <a:xfrm>
            <a:off x="2700338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5" name="Line 27">
            <a:extLst>
              <a:ext uri="{FF2B5EF4-FFF2-40B4-BE49-F238E27FC236}">
                <a16:creationId xmlns:a16="http://schemas.microsoft.com/office/drawing/2014/main" id="{F585ED51-0232-4010-5FC8-36F837FCA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9213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6" name="Line 28">
            <a:extLst>
              <a:ext uri="{FF2B5EF4-FFF2-40B4-BE49-F238E27FC236}">
                <a16:creationId xmlns:a16="http://schemas.microsoft.com/office/drawing/2014/main" id="{48C5D235-668B-0397-05D8-094D539D6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7" name="Line 29">
            <a:extLst>
              <a:ext uri="{FF2B5EF4-FFF2-40B4-BE49-F238E27FC236}">
                <a16:creationId xmlns:a16="http://schemas.microsoft.com/office/drawing/2014/main" id="{795A335D-ED99-0010-C052-B4AE22585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243888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8" name="Line 30">
            <a:extLst>
              <a:ext uri="{FF2B5EF4-FFF2-40B4-BE49-F238E27FC236}">
                <a16:creationId xmlns:a16="http://schemas.microsoft.com/office/drawing/2014/main" id="{C81060D0-19D8-84B8-B75A-FB4B6A17A8E2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813" y="5402263"/>
            <a:ext cx="2159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79" name="Line 31">
            <a:extLst>
              <a:ext uri="{FF2B5EF4-FFF2-40B4-BE49-F238E27FC236}">
                <a16:creationId xmlns:a16="http://schemas.microsoft.com/office/drawing/2014/main" id="{5AD572E6-21F1-87E4-C0F4-7FD41DCA52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0150" y="5186363"/>
            <a:ext cx="2159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80" name="Line 32">
            <a:extLst>
              <a:ext uri="{FF2B5EF4-FFF2-40B4-BE49-F238E27FC236}">
                <a16:creationId xmlns:a16="http://schemas.microsoft.com/office/drawing/2014/main" id="{0130D526-FBB7-F8F9-53A3-BB0B0E71A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8820150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81" name="Line 33">
            <a:extLst>
              <a:ext uri="{FF2B5EF4-FFF2-40B4-BE49-F238E27FC236}">
                <a16:creationId xmlns:a16="http://schemas.microsoft.com/office/drawing/2014/main" id="{888674C8-0FD6-9595-15ED-18BC0F111DE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5186363"/>
            <a:ext cx="0" cy="2159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27682" name="Text Box 34">
            <a:extLst>
              <a:ext uri="{FF2B5EF4-FFF2-40B4-BE49-F238E27FC236}">
                <a16:creationId xmlns:a16="http://schemas.microsoft.com/office/drawing/2014/main" id="{354FB316-157C-85FB-293B-8F94EB643E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5402263"/>
            <a:ext cx="266382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200"/>
              <a:t>0  1  0  0 0  1 0 1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egnaposto numero diapositiva 3">
            <a:extLst>
              <a:ext uri="{FF2B5EF4-FFF2-40B4-BE49-F238E27FC236}">
                <a16:creationId xmlns:a16="http://schemas.microsoft.com/office/drawing/2014/main" id="{2A205CDC-2065-A0E8-0036-A0898B9722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87850CE-B35E-A743-BA11-5EBFB00D9F04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C16DE199-1AB9-7D35-4FD3-99888F919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Esempio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B7E1FCB-83F0-BF20-928C-AD2D778A0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potremo usare una macchina a stati finiti con tre stati S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400">
                <a:ea typeface="ＭＳ Ｐゴシック" panose="020B0600070205080204" pitchFamily="34" charset="-128"/>
              </a:rPr>
              <a:t>, S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400">
                <a:ea typeface="ＭＳ Ｐゴシック" panose="020B0600070205080204" pitchFamily="34" charset="-128"/>
              </a:rPr>
              <a:t>, S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400">
                <a:ea typeface="ＭＳ Ｐゴシック" panose="020B0600070205080204" pitchFamily="34" charset="-128"/>
              </a:rPr>
              <a:t> con i seguenti significati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 è lo stato in cui non è stato riconosciuto ancora niente in ingresso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000">
                <a:ea typeface="ＭＳ Ｐゴシック" panose="020B0600070205080204" pitchFamily="34" charset="-128"/>
              </a:rPr>
              <a:t> è lo stato in cui ci si trova se è stata riconosciuta una sequenza di un bit uguale a “1”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000">
                <a:ea typeface="ＭＳ Ｐゴシック" panose="020B0600070205080204" pitchFamily="34" charset="-128"/>
              </a:rPr>
              <a:t> è lo stato in cui ci si trova se è stata riconosciuta la sequenza “10”. A questo punto, se arriva un ‘1’ si sarà riconosciuta la sequenza “101”, se arriva ‘0’ non si è riconosciuto niente. In ogni caso, si ritorna in S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, ma con uscite diverse a seconda che si sia riconosciuta o meno la sequenza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egnaposto numero diapositiva 3">
            <a:extLst>
              <a:ext uri="{FF2B5EF4-FFF2-40B4-BE49-F238E27FC236}">
                <a16:creationId xmlns:a16="http://schemas.microsoft.com/office/drawing/2014/main" id="{501232EA-5477-D0E0-99AA-F754DFF6D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D645CD40-3F53-BA48-9C3E-F94294140AFF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5B91BC4E-6E8A-EB18-E59A-C92CE2F6D1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Esempio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616F262A-7879-55F5-6849-3292CF9E7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" y="1693863"/>
            <a:ext cx="8291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i="1"/>
              <a:t>Automa in grado di riconoscere la sequenza in ingresso </a:t>
            </a:r>
            <a:r>
              <a:rPr lang="it-IT" altLang="it-IT" b="1" i="1"/>
              <a:t>101</a:t>
            </a:r>
          </a:p>
        </p:txBody>
      </p:sp>
      <p:grpSp>
        <p:nvGrpSpPr>
          <p:cNvPr id="29700" name="Group 41">
            <a:extLst>
              <a:ext uri="{FF2B5EF4-FFF2-40B4-BE49-F238E27FC236}">
                <a16:creationId xmlns:a16="http://schemas.microsoft.com/office/drawing/2014/main" id="{8CC81F8F-8685-D60D-B53B-51DFDE82E770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2303463"/>
            <a:ext cx="4681537" cy="2592387"/>
            <a:chOff x="113" y="1406"/>
            <a:chExt cx="2949" cy="1633"/>
          </a:xfrm>
        </p:grpSpPr>
        <p:sp>
          <p:nvSpPr>
            <p:cNvPr id="29725" name="Oval 4">
              <a:extLst>
                <a:ext uri="{FF2B5EF4-FFF2-40B4-BE49-F238E27FC236}">
                  <a16:creationId xmlns:a16="http://schemas.microsoft.com/office/drawing/2014/main" id="{6BFED005-EC6D-5EF3-74BE-F3E97A76C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" y="2041"/>
              <a:ext cx="358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/>
                <a:t>S</a:t>
              </a:r>
              <a:r>
                <a:rPr lang="it-IT" altLang="it-IT" baseline="-25000"/>
                <a:t>0</a:t>
              </a:r>
              <a:endParaRPr lang="it-IT" altLang="it-IT"/>
            </a:p>
          </p:txBody>
        </p:sp>
        <p:cxnSp>
          <p:nvCxnSpPr>
            <p:cNvPr id="29726" name="AutoShape 5">
              <a:extLst>
                <a:ext uri="{FF2B5EF4-FFF2-40B4-BE49-F238E27FC236}">
                  <a16:creationId xmlns:a16="http://schemas.microsoft.com/office/drawing/2014/main" id="{33356952-1BF2-C109-778F-1926E0ADAA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-5400000">
              <a:off x="1417" y="1499"/>
              <a:ext cx="240" cy="962"/>
            </a:xfrm>
            <a:prstGeom prst="curvedConnector3">
              <a:avLst>
                <a:gd name="adj1" fmla="val 180417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7" name="AutoShape 6">
              <a:extLst>
                <a:ext uri="{FF2B5EF4-FFF2-40B4-BE49-F238E27FC236}">
                  <a16:creationId xmlns:a16="http://schemas.microsoft.com/office/drawing/2014/main" id="{76A78E07-9FF8-4DF3-E831-1DDBFD1192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 flipH="1" flipV="1">
              <a:off x="703" y="2219"/>
              <a:ext cx="168" cy="168"/>
            </a:xfrm>
            <a:prstGeom prst="curvedConnector4">
              <a:avLst>
                <a:gd name="adj1" fmla="val -245241"/>
                <a:gd name="adj2" fmla="val 185713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8" name="Text Box 7">
              <a:extLst>
                <a:ext uri="{FF2B5EF4-FFF2-40B4-BE49-F238E27FC236}">
                  <a16:creationId xmlns:a16="http://schemas.microsoft.com/office/drawing/2014/main" id="{E8EFD523-25AC-3E5F-DFD7-9895CFE63A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406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1/0</a:t>
              </a:r>
            </a:p>
          </p:txBody>
        </p:sp>
        <p:sp>
          <p:nvSpPr>
            <p:cNvPr id="29729" name="Oval 8">
              <a:extLst>
                <a:ext uri="{FF2B5EF4-FFF2-40B4-BE49-F238E27FC236}">
                  <a16:creationId xmlns:a16="http://schemas.microsoft.com/office/drawing/2014/main" id="{8B8B4C5F-F3DE-50E5-5F30-CA4351DDC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0" y="1814"/>
              <a:ext cx="357" cy="31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/>
                <a:t>S</a:t>
              </a:r>
              <a:r>
                <a:rPr lang="it-IT" altLang="it-IT" baseline="-25000"/>
                <a:t>1</a:t>
              </a:r>
              <a:endParaRPr lang="it-IT" altLang="it-IT"/>
            </a:p>
          </p:txBody>
        </p:sp>
        <p:sp>
          <p:nvSpPr>
            <p:cNvPr id="29730" name="Oval 9">
              <a:extLst>
                <a:ext uri="{FF2B5EF4-FFF2-40B4-BE49-F238E27FC236}">
                  <a16:creationId xmlns:a16="http://schemas.microsoft.com/office/drawing/2014/main" id="{17D26D66-9E31-E27A-F693-3BD99ADB3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" y="2631"/>
              <a:ext cx="357" cy="31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it-IT" altLang="it-IT"/>
                <a:t>S</a:t>
              </a:r>
              <a:r>
                <a:rPr lang="it-IT" altLang="it-IT" baseline="-25000"/>
                <a:t>2</a:t>
              </a:r>
              <a:endParaRPr lang="it-IT" altLang="it-IT"/>
            </a:p>
          </p:txBody>
        </p:sp>
        <p:sp>
          <p:nvSpPr>
            <p:cNvPr id="29731" name="Text Box 10">
              <a:extLst>
                <a:ext uri="{FF2B5EF4-FFF2-40B4-BE49-F238E27FC236}">
                  <a16:creationId xmlns:a16="http://schemas.microsoft.com/office/drawing/2014/main" id="{658D95FF-3940-C513-681F-ED32BBF30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" y="2570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0/0</a:t>
              </a:r>
            </a:p>
          </p:txBody>
        </p:sp>
        <p:cxnSp>
          <p:nvCxnSpPr>
            <p:cNvPr id="29732" name="AutoShape 11">
              <a:extLst>
                <a:ext uri="{FF2B5EF4-FFF2-40B4-BE49-F238E27FC236}">
                  <a16:creationId xmlns:a16="http://schemas.microsoft.com/office/drawing/2014/main" id="{1AC2879C-3C9C-116B-EE02-C6B6D14C47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V="1">
              <a:off x="2171" y="1970"/>
              <a:ext cx="238" cy="1"/>
            </a:xfrm>
            <a:prstGeom prst="curvedConnector5">
              <a:avLst>
                <a:gd name="adj1" fmla="val -81093"/>
                <a:gd name="adj2" fmla="val 43100014"/>
                <a:gd name="adj3" fmla="val 181093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3" name="Text Box 12">
              <a:extLst>
                <a:ext uri="{FF2B5EF4-FFF2-40B4-BE49-F238E27FC236}">
                  <a16:creationId xmlns:a16="http://schemas.microsoft.com/office/drawing/2014/main" id="{90B6B6D8-ED96-0D65-713E-A516EA065D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9" y="1889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1/0</a:t>
              </a:r>
            </a:p>
          </p:txBody>
        </p:sp>
        <p:cxnSp>
          <p:nvCxnSpPr>
            <p:cNvPr id="29734" name="AutoShape 13">
              <a:extLst>
                <a:ext uri="{FF2B5EF4-FFF2-40B4-BE49-F238E27FC236}">
                  <a16:creationId xmlns:a16="http://schemas.microsoft.com/office/drawing/2014/main" id="{82D142E2-D76E-C625-E269-2D820787221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1658" y="2363"/>
              <a:ext cx="696" cy="264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5" name="Text Box 14">
              <a:extLst>
                <a:ext uri="{FF2B5EF4-FFF2-40B4-BE49-F238E27FC236}">
                  <a16:creationId xmlns:a16="http://schemas.microsoft.com/office/drawing/2014/main" id="{8D9DD1A3-6962-7699-CE8B-F828157B3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4" y="2570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0/0</a:t>
              </a:r>
            </a:p>
          </p:txBody>
        </p:sp>
        <p:cxnSp>
          <p:nvCxnSpPr>
            <p:cNvPr id="29736" name="AutoShape 15">
              <a:extLst>
                <a:ext uri="{FF2B5EF4-FFF2-40B4-BE49-F238E27FC236}">
                  <a16:creationId xmlns:a16="http://schemas.microsoft.com/office/drawing/2014/main" id="{EBF1B3E9-44B0-F3FE-D3CE-10BA19C4530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1038" y="2338"/>
              <a:ext cx="481" cy="505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7" name="Text Box 16">
              <a:extLst>
                <a:ext uri="{FF2B5EF4-FFF2-40B4-BE49-F238E27FC236}">
                  <a16:creationId xmlns:a16="http://schemas.microsoft.com/office/drawing/2014/main" id="{E1D806DA-3460-2692-598F-464AF4281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" y="2751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1/1</a:t>
              </a:r>
            </a:p>
          </p:txBody>
        </p:sp>
        <p:cxnSp>
          <p:nvCxnSpPr>
            <p:cNvPr id="29738" name="AutoShape 17">
              <a:extLst>
                <a:ext uri="{FF2B5EF4-FFF2-40B4-BE49-F238E27FC236}">
                  <a16:creationId xmlns:a16="http://schemas.microsoft.com/office/drawing/2014/main" id="{E1612B2E-D02A-B3F1-EBE8-78DB32FB575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>
              <a:off x="1127" y="2105"/>
              <a:ext cx="456" cy="6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39" name="Text Box 18">
              <a:extLst>
                <a:ext uri="{FF2B5EF4-FFF2-40B4-BE49-F238E27FC236}">
                  <a16:creationId xmlns:a16="http://schemas.microsoft.com/office/drawing/2014/main" id="{1A04804C-EFE4-E6DF-D75C-8B82E5A09A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4" y="2086"/>
              <a:ext cx="38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l" eaLnBrk="1" hangingPunct="1"/>
              <a:r>
                <a:rPr lang="it-IT" altLang="it-IT"/>
                <a:t>0/0</a:t>
              </a:r>
            </a:p>
          </p:txBody>
        </p:sp>
      </p:grpSp>
      <p:graphicFrame>
        <p:nvGraphicFramePr>
          <p:cNvPr id="206867" name="Group 19">
            <a:extLst>
              <a:ext uri="{FF2B5EF4-FFF2-40B4-BE49-F238E27FC236}">
                <a16:creationId xmlns:a16="http://schemas.microsoft.com/office/drawing/2014/main" id="{04BF27B4-8510-8147-0934-F7F4C31F1EDA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2735263"/>
          <a:ext cx="3600450" cy="2089151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S</a:t>
                      </a:r>
                      <a:r>
                        <a:rPr kumimoji="0" lang="it-IT" sz="24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/1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723" name="Text Box 42">
            <a:extLst>
              <a:ext uri="{FF2B5EF4-FFF2-40B4-BE49-F238E27FC236}">
                <a16:creationId xmlns:a16="http://schemas.microsoft.com/office/drawing/2014/main" id="{7ADC3135-3723-97F3-616A-F6FC06A26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3" y="5291138"/>
            <a:ext cx="3133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2000"/>
              <a:t>descrizione tramite tabella</a:t>
            </a:r>
            <a:endParaRPr lang="it-IT" altLang="it-IT" sz="2000" b="1"/>
          </a:p>
        </p:txBody>
      </p:sp>
      <p:sp>
        <p:nvSpPr>
          <p:cNvPr id="29724" name="Text Box 43">
            <a:extLst>
              <a:ext uri="{FF2B5EF4-FFF2-40B4-BE49-F238E27FC236}">
                <a16:creationId xmlns:a16="http://schemas.microsoft.com/office/drawing/2014/main" id="{47BA5D0B-DDC3-18AA-F070-559C5505F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291138"/>
            <a:ext cx="2962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 sz="2000"/>
              <a:t>descrizione tramite grafo</a:t>
            </a:r>
            <a:endParaRPr lang="it-IT" altLang="it-IT" sz="20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egnaposto numero diapositiva 4">
            <a:extLst>
              <a:ext uri="{FF2B5EF4-FFF2-40B4-BE49-F238E27FC236}">
                <a16:creationId xmlns:a16="http://schemas.microsoft.com/office/drawing/2014/main" id="{BEA436C5-564C-D5B7-1E22-8B796E7309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A5D73F02-A0DF-0D46-9ABB-732ECB0D0B04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13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9770651-EF52-6387-BCEF-80DE99789D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Modello generale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503C7F78-D419-E6EF-ADBF-AA709ABB2F3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33475" y="1944688"/>
            <a:ext cx="4537075" cy="3887787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Una Macchina Sequenziale può essere realizzata con: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Una macchina Combinatoria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 ritardo</a:t>
            </a:r>
          </a:p>
        </p:txBody>
      </p:sp>
      <p:grpSp>
        <p:nvGrpSpPr>
          <p:cNvPr id="30724" name="Group 4">
            <a:extLst>
              <a:ext uri="{FF2B5EF4-FFF2-40B4-BE49-F238E27FC236}">
                <a16:creationId xmlns:a16="http://schemas.microsoft.com/office/drawing/2014/main" id="{36FADE1B-833C-D14C-BB35-EBADCE8A344D}"/>
              </a:ext>
            </a:extLst>
          </p:cNvPr>
          <p:cNvGrpSpPr>
            <a:grpSpLocks/>
          </p:cNvGrpSpPr>
          <p:nvPr/>
        </p:nvGrpSpPr>
        <p:grpSpPr bwMode="auto">
          <a:xfrm>
            <a:off x="4729163" y="3024188"/>
            <a:ext cx="4100512" cy="2087562"/>
            <a:chOff x="1584" y="2064"/>
            <a:chExt cx="2112" cy="1392"/>
          </a:xfrm>
        </p:grpSpPr>
        <p:sp>
          <p:nvSpPr>
            <p:cNvPr id="30731" name="AutoShape 5">
              <a:extLst>
                <a:ext uri="{FF2B5EF4-FFF2-40B4-BE49-F238E27FC236}">
                  <a16:creationId xmlns:a16="http://schemas.microsoft.com/office/drawing/2014/main" id="{FB27F2FE-CEF5-C61D-8869-08E04C88E84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832" y="2160"/>
              <a:ext cx="816" cy="192"/>
            </a:xfrm>
            <a:prstGeom prst="rightArrow">
              <a:avLst>
                <a:gd name="adj1" fmla="val 50000"/>
                <a:gd name="adj2" fmla="val 10625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2" name="Rectangle 6">
              <a:extLst>
                <a:ext uri="{FF2B5EF4-FFF2-40B4-BE49-F238E27FC236}">
                  <a16:creationId xmlns:a16="http://schemas.microsoft.com/office/drawing/2014/main" id="{D8964A3A-6172-25F5-9A84-E36FE7EE7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208"/>
              <a:ext cx="96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3" name="AutoShape 7">
              <a:extLst>
                <a:ext uri="{FF2B5EF4-FFF2-40B4-BE49-F238E27FC236}">
                  <a16:creationId xmlns:a16="http://schemas.microsoft.com/office/drawing/2014/main" id="{2130B413-2C9A-E2C8-8D9A-6B7A7BE95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784"/>
              <a:ext cx="480" cy="192"/>
            </a:xfrm>
            <a:prstGeom prst="rightArrow">
              <a:avLst>
                <a:gd name="adj1" fmla="val 50000"/>
                <a:gd name="adj2" fmla="val 6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4" name="Rectangle 8">
              <a:extLst>
                <a:ext uri="{FF2B5EF4-FFF2-40B4-BE49-F238E27FC236}">
                  <a16:creationId xmlns:a16="http://schemas.microsoft.com/office/drawing/2014/main" id="{510E727A-07C4-3DFE-D129-8C5F4BB7B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256"/>
              <a:ext cx="96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5" name="Rectangle 9">
              <a:extLst>
                <a:ext uri="{FF2B5EF4-FFF2-40B4-BE49-F238E27FC236}">
                  <a16:creationId xmlns:a16="http://schemas.microsoft.com/office/drawing/2014/main" id="{2A91F76A-DA57-33ED-FDE6-4E5400CE3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688"/>
              <a:ext cx="1104" cy="76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6" name="Rectangle 10">
              <a:extLst>
                <a:ext uri="{FF2B5EF4-FFF2-40B4-BE49-F238E27FC236}">
                  <a16:creationId xmlns:a16="http://schemas.microsoft.com/office/drawing/2014/main" id="{A219A50A-7CCD-BC03-194C-56FD476E7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064"/>
              <a:ext cx="384" cy="3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37" name="Line 11">
              <a:extLst>
                <a:ext uri="{FF2B5EF4-FFF2-40B4-BE49-F238E27FC236}">
                  <a16:creationId xmlns:a16="http://schemas.microsoft.com/office/drawing/2014/main" id="{F95A2AEA-6C4A-BAF1-5D12-B64617363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8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38" name="Line 12">
              <a:extLst>
                <a:ext uri="{FF2B5EF4-FFF2-40B4-BE49-F238E27FC236}">
                  <a16:creationId xmlns:a16="http://schemas.microsoft.com/office/drawing/2014/main" id="{E0D1E0FC-2FDD-EB01-0F1A-9EFC7177F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92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39" name="Line 13">
              <a:extLst>
                <a:ext uri="{FF2B5EF4-FFF2-40B4-BE49-F238E27FC236}">
                  <a16:creationId xmlns:a16="http://schemas.microsoft.com/office/drawing/2014/main" id="{533C9F54-D48F-7C97-3E01-CFE1C80533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230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0" name="Line 14">
              <a:extLst>
                <a:ext uri="{FF2B5EF4-FFF2-40B4-BE49-F238E27FC236}">
                  <a16:creationId xmlns:a16="http://schemas.microsoft.com/office/drawing/2014/main" id="{0261D0D8-BD92-8DA1-E58C-9C03D55CBF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220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1" name="Line 15">
              <a:extLst>
                <a:ext uri="{FF2B5EF4-FFF2-40B4-BE49-F238E27FC236}">
                  <a16:creationId xmlns:a16="http://schemas.microsoft.com/office/drawing/2014/main" id="{5F82370F-C5A5-20A7-43BD-EED43A101B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728" y="2304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2" name="Line 16">
              <a:extLst>
                <a:ext uri="{FF2B5EF4-FFF2-40B4-BE49-F238E27FC236}">
                  <a16:creationId xmlns:a16="http://schemas.microsoft.com/office/drawing/2014/main" id="{17E7D0EF-2F9A-12A2-127D-B58C441AB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23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3" name="Line 17">
              <a:extLst>
                <a:ext uri="{FF2B5EF4-FFF2-40B4-BE49-F238E27FC236}">
                  <a16:creationId xmlns:a16="http://schemas.microsoft.com/office/drawing/2014/main" id="{1C5F86C5-9818-BC5E-6AEE-B1F38357DD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208"/>
              <a:ext cx="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4" name="Line 18">
              <a:extLst>
                <a:ext uri="{FF2B5EF4-FFF2-40B4-BE49-F238E27FC236}">
                  <a16:creationId xmlns:a16="http://schemas.microsoft.com/office/drawing/2014/main" id="{583D3E6A-8F66-541E-E10B-9F35BCC40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32" y="2208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30745" name="AutoShape 19">
              <a:extLst>
                <a:ext uri="{FF2B5EF4-FFF2-40B4-BE49-F238E27FC236}">
                  <a16:creationId xmlns:a16="http://schemas.microsoft.com/office/drawing/2014/main" id="{D65788A2-4762-5062-1C1F-ED016A229D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21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46" name="AutoShape 20">
              <a:extLst>
                <a:ext uri="{FF2B5EF4-FFF2-40B4-BE49-F238E27FC236}">
                  <a16:creationId xmlns:a16="http://schemas.microsoft.com/office/drawing/2014/main" id="{5453C2B8-1F3F-03D2-0514-A8F666022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216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it-IT" altLang="it-IT"/>
            </a:p>
          </p:txBody>
        </p:sp>
        <p:sp>
          <p:nvSpPr>
            <p:cNvPr id="30747" name="Line 21">
              <a:extLst>
                <a:ext uri="{FF2B5EF4-FFF2-40B4-BE49-F238E27FC236}">
                  <a16:creationId xmlns:a16="http://schemas.microsoft.com/office/drawing/2014/main" id="{A3B45C83-F951-40C1-1283-9EF62D489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20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0725" name="Text Box 22">
            <a:extLst>
              <a:ext uri="{FF2B5EF4-FFF2-40B4-BE49-F238E27FC236}">
                <a16:creationId xmlns:a16="http://schemas.microsoft.com/office/drawing/2014/main" id="{71CFFC00-64F5-E4B7-DE3A-D32574BE0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3438" y="4176713"/>
            <a:ext cx="1974850" cy="77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it-IT" altLang="it-IT">
                <a:latin typeface="Times New Roman" panose="02020603050405020304" pitchFamily="18" charset="0"/>
              </a:rPr>
              <a:t>Macchina</a:t>
            </a:r>
          </a:p>
          <a:p>
            <a:pPr eaLnBrk="1" hangingPunct="1"/>
            <a:r>
              <a:rPr lang="it-IT" altLang="it-IT">
                <a:latin typeface="Times New Roman" panose="02020603050405020304" pitchFamily="18" charset="0"/>
              </a:rPr>
              <a:t>Combinatoria</a:t>
            </a:r>
          </a:p>
        </p:txBody>
      </p:sp>
      <p:sp>
        <p:nvSpPr>
          <p:cNvPr id="30726" name="Text Box 23">
            <a:extLst>
              <a:ext uri="{FF2B5EF4-FFF2-40B4-BE49-F238E27FC236}">
                <a16:creationId xmlns:a16="http://schemas.microsoft.com/office/drawing/2014/main" id="{CC1845C1-B3A5-4B97-6E5B-57AAFFE29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1138" y="3024188"/>
            <a:ext cx="3571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0727" name="Text Box 24">
            <a:extLst>
              <a:ext uri="{FF2B5EF4-FFF2-40B4-BE49-F238E27FC236}">
                <a16:creationId xmlns:a16="http://schemas.microsoft.com/office/drawing/2014/main" id="{4BF73FBA-160E-2E9B-19FE-70293FC12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4248150"/>
            <a:ext cx="86201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>
                <a:latin typeface="Times New Roman" panose="02020603050405020304" pitchFamily="18" charset="0"/>
              </a:rPr>
              <a:t>Stato</a:t>
            </a:r>
          </a:p>
        </p:txBody>
      </p:sp>
      <p:sp>
        <p:nvSpPr>
          <p:cNvPr id="30728" name="Text Box 25">
            <a:extLst>
              <a:ext uri="{FF2B5EF4-FFF2-40B4-BE49-F238E27FC236}">
                <a16:creationId xmlns:a16="http://schemas.microsoft.com/office/drawing/2014/main" id="{C7377631-5566-D1A5-88B0-244B508FB0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3563" y="4895850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>
                <a:latin typeface="Times New Roman" panose="02020603050405020304" pitchFamily="18" charset="0"/>
              </a:rPr>
              <a:t>Ingresso</a:t>
            </a:r>
          </a:p>
        </p:txBody>
      </p:sp>
      <p:sp>
        <p:nvSpPr>
          <p:cNvPr id="30729" name="Text Box 26">
            <a:extLst>
              <a:ext uri="{FF2B5EF4-FFF2-40B4-BE49-F238E27FC236}">
                <a16:creationId xmlns:a16="http://schemas.microsoft.com/office/drawing/2014/main" id="{EF237180-8C64-BA63-17D5-237A082D8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500" y="4895850"/>
            <a:ext cx="10239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/>
            <a:r>
              <a:rPr lang="it-IT" altLang="it-IT">
                <a:latin typeface="Times New Roman" panose="02020603050405020304" pitchFamily="18" charset="0"/>
              </a:rPr>
              <a:t>Uscita</a:t>
            </a:r>
          </a:p>
        </p:txBody>
      </p:sp>
      <p:sp>
        <p:nvSpPr>
          <p:cNvPr id="30730" name="Text Box 27">
            <a:extLst>
              <a:ext uri="{FF2B5EF4-FFF2-40B4-BE49-F238E27FC236}">
                <a16:creationId xmlns:a16="http://schemas.microsoft.com/office/drawing/2014/main" id="{9D92A3AF-C2F8-4A68-D6EF-095917DE4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1138" y="3732213"/>
            <a:ext cx="1403350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lnSpc>
                <a:spcPct val="130000"/>
              </a:lnSpc>
            </a:pPr>
            <a:r>
              <a:rPr lang="it-IT" altLang="it-IT">
                <a:latin typeface="Times New Roman" panose="02020603050405020304" pitchFamily="18" charset="0"/>
              </a:rPr>
              <a:t>Stato</a:t>
            </a:r>
          </a:p>
          <a:p>
            <a:pPr algn="l" eaLnBrk="1" hangingPunct="1">
              <a:lnSpc>
                <a:spcPct val="130000"/>
              </a:lnSpc>
            </a:pPr>
            <a:r>
              <a:rPr lang="it-IT" altLang="it-IT">
                <a:latin typeface="Times New Roman" panose="02020603050405020304" pitchFamily="18" charset="0"/>
              </a:rPr>
              <a:t>Prossimo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egnaposto numero diapositiva 3">
            <a:extLst>
              <a:ext uri="{FF2B5EF4-FFF2-40B4-BE49-F238E27FC236}">
                <a16:creationId xmlns:a16="http://schemas.microsoft.com/office/drawing/2014/main" id="{A5E5E737-1A5B-0F83-5C32-0F21EFA84C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4706D31E-F15C-1940-B480-48DFB8388C58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14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6849361D-B67C-96A5-C559-F7CB29B222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Le Parti della Macchina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F4DF6B1-D37B-46FD-DECB-B8FA6F14BF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27200"/>
            <a:ext cx="8461375" cy="36671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L’ingresso della macchina combinatoria è l’ingresso della macchina sequenziale </a:t>
            </a:r>
            <a:r>
              <a:rPr lang="it-IT" altLang="it-IT" i="1">
                <a:ea typeface="ＭＳ Ｐゴシック" panose="020B0600070205080204" pitchFamily="34" charset="-128"/>
              </a:rPr>
              <a:t>più</a:t>
            </a:r>
            <a:r>
              <a:rPr lang="it-IT" altLang="it-IT">
                <a:ea typeface="ＭＳ Ｐゴシック" panose="020B0600070205080204" pitchFamily="34" charset="-128"/>
              </a:rPr>
              <a:t> l’uscita del ritardo (lo stato precedente).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L’uscita della macchina combinatoria è l’uscita della macchina sequenziale </a:t>
            </a:r>
            <a:r>
              <a:rPr lang="it-IT" altLang="it-IT" i="1">
                <a:ea typeface="ＭＳ Ｐゴシック" panose="020B0600070205080204" pitchFamily="34" charset="-128"/>
              </a:rPr>
              <a:t>più</a:t>
            </a:r>
            <a:r>
              <a:rPr lang="it-IT" altLang="it-IT">
                <a:ea typeface="ＭＳ Ｐゴシック" panose="020B0600070205080204" pitchFamily="34" charset="-128"/>
              </a:rPr>
              <a:t> il prossimo stato della macchina.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olo 1">
            <a:extLst>
              <a:ext uri="{FF2B5EF4-FFF2-40B4-BE49-F238E27FC236}">
                <a16:creationId xmlns:a16="http://schemas.microsoft.com/office/drawing/2014/main" id="{CE6BAE04-2C33-E6B2-0B66-06CDE0793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32770" name="Segnaposto contenuto 2">
            <a:extLst>
              <a:ext uri="{FF2B5EF4-FFF2-40B4-BE49-F238E27FC236}">
                <a16:creationId xmlns:a16="http://schemas.microsoft.com/office/drawing/2014/main" id="{80A8A09A-6CC1-B03F-E699-0276801A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Vedere slide sulla tempificazione – gruppo 4</a:t>
            </a:r>
          </a:p>
        </p:txBody>
      </p:sp>
      <p:sp>
        <p:nvSpPr>
          <p:cNvPr id="32771" name="Segnaposto numero diapositiva 3">
            <a:extLst>
              <a:ext uri="{FF2B5EF4-FFF2-40B4-BE49-F238E27FC236}">
                <a16:creationId xmlns:a16="http://schemas.microsoft.com/office/drawing/2014/main" id="{67E717FC-06C1-2119-618D-AC8416963A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853682A-7F59-B34A-BC3C-68AFF0AFAE18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15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</p:spTree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egnaposto numero diapositiva 3">
            <a:extLst>
              <a:ext uri="{FF2B5EF4-FFF2-40B4-BE49-F238E27FC236}">
                <a16:creationId xmlns:a16="http://schemas.microsoft.com/office/drawing/2014/main" id="{252CE877-909A-2CA2-E123-94741E32A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CAA4618-FEDF-3F4F-95C2-44D72473D947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16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802D661F-B09E-DE57-3B3C-389E3E981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Macchine asincrone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B0CB6CB-FBED-A0DC-0F06-8CB131471A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727200"/>
            <a:ext cx="8459787" cy="3889375"/>
          </a:xfrm>
        </p:spPr>
        <p:txBody>
          <a:bodyPr/>
          <a:lstStyle/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Una macchina con ingressi a livelli ha uno </a:t>
            </a:r>
            <a:r>
              <a:rPr lang="it-IT" altLang="it-IT" sz="2800" b="1">
                <a:ea typeface="ＭＳ Ｐゴシック" panose="020B0600070205080204" pitchFamily="34" charset="-128"/>
              </a:rPr>
              <a:t>stato stabile </a:t>
            </a:r>
            <a:r>
              <a:rPr lang="it-IT" altLang="it-IT" sz="2800" i="1">
                <a:ea typeface="ＭＳ Ｐゴシック" panose="020B0600070205080204" pitchFamily="34" charset="-128"/>
              </a:rPr>
              <a:t>q</a:t>
            </a:r>
            <a:r>
              <a:rPr lang="it-IT" altLang="it-IT" sz="2800">
                <a:ea typeface="ＭＳ Ｐゴシック" panose="020B0600070205080204" pitchFamily="34" charset="-128"/>
              </a:rPr>
              <a:t> sotto un ingresso </a:t>
            </a:r>
            <a:r>
              <a:rPr lang="it-IT" altLang="it-IT" sz="2800" i="1">
                <a:ea typeface="ＭＳ Ｐゴシック" panose="020B0600070205080204" pitchFamily="34" charset="-128"/>
              </a:rPr>
              <a:t>i</a:t>
            </a:r>
            <a:r>
              <a:rPr lang="it-IT" altLang="it-IT" sz="2800">
                <a:ea typeface="ＭＳ Ｐゴシック" panose="020B0600070205080204" pitchFamily="34" charset="-128"/>
              </a:rPr>
              <a:t> se</a:t>
            </a:r>
          </a:p>
          <a:p>
            <a:pPr eaLnBrk="1" hangingPunct="1">
              <a:buFont typeface="Wingdings" pitchFamily="2" charset="2"/>
              <a:buNone/>
            </a:pPr>
            <a:r>
              <a:rPr lang="it-IT" altLang="it-IT" sz="2800" i="1">
                <a:ea typeface="ＭＳ Ｐゴシック" panose="020B0600070205080204" pitchFamily="34" charset="-128"/>
              </a:rPr>
              <a:t>		τ(q,i) = q      </a:t>
            </a:r>
            <a:r>
              <a:rPr lang="it-IT" altLang="it-IT" sz="2800">
                <a:ea typeface="ＭＳ Ｐゴシック" panose="020B0600070205080204" pitchFamily="34" charset="-128"/>
              </a:rPr>
              <a:t>( </a:t>
            </a:r>
            <a:r>
              <a:rPr lang="it-IT" altLang="it-IT" sz="2800" i="1">
                <a:ea typeface="ＭＳ Ｐゴシック" panose="020B0600070205080204" pitchFamily="34" charset="-128"/>
              </a:rPr>
              <a:t>τ</a:t>
            </a:r>
            <a:r>
              <a:rPr lang="it-IT" altLang="it-IT" sz="2800">
                <a:ea typeface="ＭＳ Ｐゴシック" panose="020B0600070205080204" pitchFamily="34" charset="-128"/>
              </a:rPr>
              <a:t>  funzione prossimo stato)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In altre parole, applicando in maniera continua l’ingresso </a:t>
            </a:r>
            <a:r>
              <a:rPr lang="it-IT" altLang="it-IT" sz="2800" i="1">
                <a:ea typeface="ＭＳ Ｐゴシック" panose="020B0600070205080204" pitchFamily="34" charset="-128"/>
              </a:rPr>
              <a:t>i</a:t>
            </a:r>
            <a:r>
              <a:rPr lang="it-IT" altLang="it-IT" sz="2800">
                <a:ea typeface="ＭＳ Ｐゴシック" panose="020B0600070205080204" pitchFamily="34" charset="-128"/>
              </a:rPr>
              <a:t> la macchina permane nello stato </a:t>
            </a:r>
            <a:r>
              <a:rPr lang="it-IT" altLang="it-IT" sz="2800" i="1">
                <a:ea typeface="ＭＳ Ｐゴシック" panose="020B0600070205080204" pitchFamily="34" charset="-128"/>
              </a:rPr>
              <a:t>q</a:t>
            </a:r>
          </a:p>
          <a:p>
            <a:pPr eaLnBrk="1" hangingPunct="1"/>
            <a:r>
              <a:rPr lang="it-IT" altLang="it-IT" sz="2800">
                <a:ea typeface="ＭＳ Ｐゴシック" panose="020B0600070205080204" pitchFamily="34" charset="-128"/>
              </a:rPr>
              <a:t>Se partendo da qualsiasi stato ed applicando qualsiasi ingresso è sempre possibile arrivare in uno stato stabile, la macchina si dice </a:t>
            </a:r>
            <a:r>
              <a:rPr lang="it-IT" altLang="it-IT" sz="2800" b="1">
                <a:ea typeface="ＭＳ Ｐゴシック" panose="020B0600070205080204" pitchFamily="34" charset="-128"/>
              </a:rPr>
              <a:t>asincrona</a:t>
            </a:r>
            <a:endParaRPr lang="it-IT" altLang="it-IT" sz="2800">
              <a:solidFill>
                <a:srgbClr val="FF6600"/>
              </a:solidFill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egnaposto numero diapositiva 3">
            <a:extLst>
              <a:ext uri="{FF2B5EF4-FFF2-40B4-BE49-F238E27FC236}">
                <a16:creationId xmlns:a16="http://schemas.microsoft.com/office/drawing/2014/main" id="{9E058DAE-0A62-2740-4AAA-58655016D6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AC4DF09-DF38-3945-A3B2-7FD819420C0E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17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4818" name="Rectangle 65">
            <a:extLst>
              <a:ext uri="{FF2B5EF4-FFF2-40B4-BE49-F238E27FC236}">
                <a16:creationId xmlns:a16="http://schemas.microsoft.com/office/drawing/2014/main" id="{8BDF1339-AA53-96ED-7135-817B652604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Stati stabili</a:t>
            </a:r>
          </a:p>
        </p:txBody>
      </p:sp>
      <p:sp>
        <p:nvSpPr>
          <p:cNvPr id="34819" name="Oval 8">
            <a:extLst>
              <a:ext uri="{FF2B5EF4-FFF2-40B4-BE49-F238E27FC236}">
                <a16:creationId xmlns:a16="http://schemas.microsoft.com/office/drawing/2014/main" id="{9D73BC50-FB06-C289-E732-528979FD0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2303463"/>
            <a:ext cx="792162" cy="792162"/>
          </a:xfrm>
          <a:prstGeom prst="ellipse">
            <a:avLst/>
          </a:prstGeom>
          <a:solidFill>
            <a:srgbClr val="CCFFFF"/>
          </a:solidFill>
          <a:ln w="12700">
            <a:solidFill>
              <a:srgbClr val="333399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4820" name="Text Box 9">
            <a:extLst>
              <a:ext uri="{FF2B5EF4-FFF2-40B4-BE49-F238E27FC236}">
                <a16:creationId xmlns:a16="http://schemas.microsoft.com/office/drawing/2014/main" id="{F8859C42-82F3-B276-4F84-44D8A9F0D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24225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q3</a:t>
            </a:r>
          </a:p>
        </p:txBody>
      </p:sp>
      <p:sp>
        <p:nvSpPr>
          <p:cNvPr id="34821" name="Line 10">
            <a:extLst>
              <a:ext uri="{FF2B5EF4-FFF2-40B4-BE49-F238E27FC236}">
                <a16:creationId xmlns:a16="http://schemas.microsoft.com/office/drawing/2014/main" id="{7284CFBD-EF74-4909-FB81-7E498B0CB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5463" y="2566988"/>
            <a:ext cx="576262" cy="7143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2" name="Freeform 11">
            <a:extLst>
              <a:ext uri="{FF2B5EF4-FFF2-40B4-BE49-F238E27FC236}">
                <a16:creationId xmlns:a16="http://schemas.microsoft.com/office/drawing/2014/main" id="{2D574DC9-10C1-53E3-E9DC-5629115C2815}"/>
              </a:ext>
            </a:extLst>
          </p:cNvPr>
          <p:cNvSpPr>
            <a:spLocks/>
          </p:cNvSpPr>
          <p:nvPr/>
        </p:nvSpPr>
        <p:spPr bwMode="auto">
          <a:xfrm rot="-968302">
            <a:off x="4217988" y="2062163"/>
            <a:ext cx="719137" cy="479425"/>
          </a:xfrm>
          <a:custGeom>
            <a:avLst/>
            <a:gdLst>
              <a:gd name="T0" fmla="*/ 0 w 695"/>
              <a:gd name="T1" fmla="*/ 2147483647 h 302"/>
              <a:gd name="T2" fmla="*/ 2147483647 w 695"/>
              <a:gd name="T3" fmla="*/ 2147483647 h 302"/>
              <a:gd name="T4" fmla="*/ 2147483647 w 695"/>
              <a:gd name="T5" fmla="*/ 2147483647 h 302"/>
              <a:gd name="T6" fmla="*/ 2147483647 w 695"/>
              <a:gd name="T7" fmla="*/ 2147483647 h 302"/>
              <a:gd name="T8" fmla="*/ 0 60000 65536"/>
              <a:gd name="T9" fmla="*/ 0 60000 65536"/>
              <a:gd name="T10" fmla="*/ 0 60000 65536"/>
              <a:gd name="T11" fmla="*/ 0 60000 65536"/>
              <a:gd name="T12" fmla="*/ 0 w 695"/>
              <a:gd name="T13" fmla="*/ 0 h 302"/>
              <a:gd name="T14" fmla="*/ 695 w 695"/>
              <a:gd name="T15" fmla="*/ 302 h 3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5" h="302">
                <a:moveTo>
                  <a:pt x="0" y="76"/>
                </a:moveTo>
                <a:cubicBezTo>
                  <a:pt x="219" y="38"/>
                  <a:pt x="438" y="0"/>
                  <a:pt x="544" y="30"/>
                </a:cubicBezTo>
                <a:cubicBezTo>
                  <a:pt x="650" y="60"/>
                  <a:pt x="695" y="212"/>
                  <a:pt x="635" y="257"/>
                </a:cubicBezTo>
                <a:cubicBezTo>
                  <a:pt x="575" y="302"/>
                  <a:pt x="257" y="295"/>
                  <a:pt x="181" y="302"/>
                </a:cubicBezTo>
              </a:path>
            </a:pathLst>
          </a:cu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3" name="Text Box 12">
            <a:extLst>
              <a:ext uri="{FF2B5EF4-FFF2-40B4-BE49-F238E27FC236}">
                <a16:creationId xmlns:a16="http://schemas.microsoft.com/office/drawing/2014/main" id="{8F607CA5-83CD-940A-429D-8D6F428C14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4250" y="1846263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i</a:t>
            </a:r>
            <a:r>
              <a:rPr lang="it-IT" altLang="it-IT" baseline="-25000"/>
              <a:t>3</a:t>
            </a:r>
          </a:p>
        </p:txBody>
      </p:sp>
      <p:sp>
        <p:nvSpPr>
          <p:cNvPr id="34824" name="Oval 13">
            <a:extLst>
              <a:ext uri="{FF2B5EF4-FFF2-40B4-BE49-F238E27FC236}">
                <a16:creationId xmlns:a16="http://schemas.microsoft.com/office/drawing/2014/main" id="{5DFD99CC-87B9-3F08-0C9B-765286BA9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0" y="2112963"/>
            <a:ext cx="792163" cy="792162"/>
          </a:xfrm>
          <a:prstGeom prst="ellipse">
            <a:avLst/>
          </a:prstGeom>
          <a:solidFill>
            <a:srgbClr val="CCFFFF"/>
          </a:solidFill>
          <a:ln w="12700">
            <a:solidFill>
              <a:srgbClr val="333399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4825" name="Text Box 14">
            <a:extLst>
              <a:ext uri="{FF2B5EF4-FFF2-40B4-BE49-F238E27FC236}">
                <a16:creationId xmlns:a16="http://schemas.microsoft.com/office/drawing/2014/main" id="{66D218EC-91EF-7C6A-7367-54AF3DA4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5213" y="22320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q2</a:t>
            </a:r>
          </a:p>
        </p:txBody>
      </p:sp>
      <p:sp>
        <p:nvSpPr>
          <p:cNvPr id="34826" name="Line 18">
            <a:extLst>
              <a:ext uri="{FF2B5EF4-FFF2-40B4-BE49-F238E27FC236}">
                <a16:creationId xmlns:a16="http://schemas.microsoft.com/office/drawing/2014/main" id="{CD85AE17-719D-EAC3-9642-F8F859BDBC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98588" y="2519363"/>
            <a:ext cx="792162" cy="144462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7" name="Line 19">
            <a:extLst>
              <a:ext uri="{FF2B5EF4-FFF2-40B4-BE49-F238E27FC236}">
                <a16:creationId xmlns:a16="http://schemas.microsoft.com/office/drawing/2014/main" id="{428B13BE-79BE-2167-667B-9E9D3E5558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3050" y="1765300"/>
            <a:ext cx="576263" cy="360363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8" name="Line 20">
            <a:extLst>
              <a:ext uri="{FF2B5EF4-FFF2-40B4-BE49-F238E27FC236}">
                <a16:creationId xmlns:a16="http://schemas.microsoft.com/office/drawing/2014/main" id="{81FB79E2-49F8-1B54-36FC-9615334BF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5575" y="2952750"/>
            <a:ext cx="574675" cy="64770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29" name="Oval 21">
            <a:extLst>
              <a:ext uri="{FF2B5EF4-FFF2-40B4-BE49-F238E27FC236}">
                <a16:creationId xmlns:a16="http://schemas.microsoft.com/office/drawing/2014/main" id="{6CF1FDC9-D201-DA2A-8B82-5957BD52D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398713"/>
            <a:ext cx="792163" cy="792162"/>
          </a:xfrm>
          <a:prstGeom prst="ellipse">
            <a:avLst/>
          </a:prstGeom>
          <a:solidFill>
            <a:srgbClr val="CCFFFF"/>
          </a:solidFill>
          <a:ln w="12700">
            <a:solidFill>
              <a:srgbClr val="333399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4830" name="Text Box 22">
            <a:extLst>
              <a:ext uri="{FF2B5EF4-FFF2-40B4-BE49-F238E27FC236}">
                <a16:creationId xmlns:a16="http://schemas.microsoft.com/office/drawing/2014/main" id="{006BE1A8-C443-E0AB-E6E5-4222575950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25177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q1</a:t>
            </a:r>
          </a:p>
        </p:txBody>
      </p:sp>
      <p:sp>
        <p:nvSpPr>
          <p:cNvPr id="34831" name="Text Box 23">
            <a:extLst>
              <a:ext uri="{FF2B5EF4-FFF2-40B4-BE49-F238E27FC236}">
                <a16:creationId xmlns:a16="http://schemas.microsoft.com/office/drawing/2014/main" id="{67FC69BB-0F6E-9144-E0F0-697270D85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2016125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i</a:t>
            </a:r>
            <a:r>
              <a:rPr lang="it-IT" altLang="it-IT" baseline="-25000"/>
              <a:t>2</a:t>
            </a:r>
          </a:p>
        </p:txBody>
      </p:sp>
      <p:sp>
        <p:nvSpPr>
          <p:cNvPr id="34832" name="Text Box 24">
            <a:extLst>
              <a:ext uri="{FF2B5EF4-FFF2-40B4-BE49-F238E27FC236}">
                <a16:creationId xmlns:a16="http://schemas.microsoft.com/office/drawing/2014/main" id="{FD679A3C-D794-33D0-C113-32ADB6211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4125" y="2087563"/>
            <a:ext cx="576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i</a:t>
            </a:r>
            <a:r>
              <a:rPr lang="it-IT" altLang="it-IT" baseline="-25000"/>
              <a:t>1</a:t>
            </a:r>
          </a:p>
        </p:txBody>
      </p:sp>
      <p:sp>
        <p:nvSpPr>
          <p:cNvPr id="34833" name="Rectangle 25">
            <a:extLst>
              <a:ext uri="{FF2B5EF4-FFF2-40B4-BE49-F238E27FC236}">
                <a16:creationId xmlns:a16="http://schemas.microsoft.com/office/drawing/2014/main" id="{D41EE2FC-DA2D-EF62-6F86-2F25F4BE0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0613" y="1727200"/>
            <a:ext cx="1655762" cy="1584325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graphicFrame>
        <p:nvGraphicFramePr>
          <p:cNvPr id="341063" name="Group 71">
            <a:extLst>
              <a:ext uri="{FF2B5EF4-FFF2-40B4-BE49-F238E27FC236}">
                <a16:creationId xmlns:a16="http://schemas.microsoft.com/office/drawing/2014/main" id="{2F61C740-94CF-9E0E-FCC4-0E07A70EAB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42988" y="3919538"/>
          <a:ext cx="3960812" cy="1992315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3432464634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392338242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3357254986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1771483444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974887850"/>
                    </a:ext>
                  </a:extLst>
                </a:gridCol>
              </a:tblGrid>
              <a:tr h="3984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it-IT" altLang="it-IT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ＭＳ Ｐゴシック" panose="020B0600070205080204" pitchFamily="34" charset="-128"/>
                      </a:endParaRP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i</a:t>
                      </a:r>
                      <a:r>
                        <a:rPr kumimoji="0" lang="it-IT" altLang="it-IT" sz="2000" b="0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5122275"/>
                  </a:ext>
                </a:extLst>
              </a:tr>
              <a:tr h="3984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10143"/>
                  </a:ext>
                </a:extLst>
              </a:tr>
              <a:tr h="3984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806337"/>
                  </a:ext>
                </a:extLst>
              </a:tr>
              <a:tr h="3984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206591"/>
                  </a:ext>
                </a:extLst>
              </a:tr>
              <a:tr h="39846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itchFamily="2" charset="2"/>
                        <a:defRPr sz="28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4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0000"/>
                        <a:buFont typeface="Wingdings" pitchFamily="2" charset="2"/>
                        <a:defRPr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1478593"/>
                  </a:ext>
                </a:extLst>
              </a:tr>
            </a:tbl>
          </a:graphicData>
        </a:graphic>
      </p:graphicFrame>
      <p:sp>
        <p:nvSpPr>
          <p:cNvPr id="34872" name="Oval 72">
            <a:extLst>
              <a:ext uri="{FF2B5EF4-FFF2-40B4-BE49-F238E27FC236}">
                <a16:creationId xmlns:a16="http://schemas.microsoft.com/office/drawing/2014/main" id="{41C867ED-F314-EFA7-1B31-23CAA19A0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111750"/>
            <a:ext cx="431800" cy="431800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4873" name="Text Box 73">
            <a:extLst>
              <a:ext uri="{FF2B5EF4-FFF2-40B4-BE49-F238E27FC236}">
                <a16:creationId xmlns:a16="http://schemas.microsoft.com/office/drawing/2014/main" id="{DD6B0BAD-E8BC-1F9B-1089-1107A9042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3663" y="3095625"/>
            <a:ext cx="2016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Stato stabile</a:t>
            </a:r>
          </a:p>
        </p:txBody>
      </p:sp>
      <p:sp>
        <p:nvSpPr>
          <p:cNvPr id="34874" name="Line 74">
            <a:extLst>
              <a:ext uri="{FF2B5EF4-FFF2-40B4-BE49-F238E27FC236}">
                <a16:creationId xmlns:a16="http://schemas.microsoft.com/office/drawing/2014/main" id="{F2EEB90C-1021-566D-DD24-49B2642501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43438" y="2879725"/>
            <a:ext cx="1800225" cy="5048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4875" name="Line 75">
            <a:extLst>
              <a:ext uri="{FF2B5EF4-FFF2-40B4-BE49-F238E27FC236}">
                <a16:creationId xmlns:a16="http://schemas.microsoft.com/office/drawing/2014/main" id="{52142B2B-FED2-4EF5-9AE3-FC2BD27458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4300" y="3527425"/>
            <a:ext cx="2519363" cy="16573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egnaposto numero diapositiva 3">
            <a:extLst>
              <a:ext uri="{FF2B5EF4-FFF2-40B4-BE49-F238E27FC236}">
                <a16:creationId xmlns:a16="http://schemas.microsoft.com/office/drawing/2014/main" id="{A3494F0F-4D87-47B7-EED8-AFEB856B02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70EDA8F-E21A-F642-981E-0FF723FA5FBF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18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39EBAF2F-55BB-4C0C-BDE8-18C73839E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Macchine asincrone</a:t>
            </a:r>
          </a:p>
        </p:txBody>
      </p:sp>
      <p:graphicFrame>
        <p:nvGraphicFramePr>
          <p:cNvPr id="342160" name="Group 144">
            <a:extLst>
              <a:ext uri="{FF2B5EF4-FFF2-40B4-BE49-F238E27FC236}">
                <a16:creationId xmlns:a16="http://schemas.microsoft.com/office/drawing/2014/main" id="{564E2076-4B94-B85A-B518-8CA3B0AE5346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2447925"/>
          <a:ext cx="3170238" cy="1992315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875" name="Oval 145">
            <a:extLst>
              <a:ext uri="{FF2B5EF4-FFF2-40B4-BE49-F238E27FC236}">
                <a16:creationId xmlns:a16="http://schemas.microsoft.com/office/drawing/2014/main" id="{4C2EF4B2-E818-9DE0-D5A8-5D8487DC9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808288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5876" name="Oval 146">
            <a:extLst>
              <a:ext uri="{FF2B5EF4-FFF2-40B4-BE49-F238E27FC236}">
                <a16:creationId xmlns:a16="http://schemas.microsoft.com/office/drawing/2014/main" id="{8AF96638-9838-CE1C-C865-E7B11175C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3240088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5877" name="Oval 147">
            <a:extLst>
              <a:ext uri="{FF2B5EF4-FFF2-40B4-BE49-F238E27FC236}">
                <a16:creationId xmlns:a16="http://schemas.microsoft.com/office/drawing/2014/main" id="{E52AF18D-29D7-C8B1-5D88-CE51B0938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3617913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5878" name="Oval 148">
            <a:extLst>
              <a:ext uri="{FF2B5EF4-FFF2-40B4-BE49-F238E27FC236}">
                <a16:creationId xmlns:a16="http://schemas.microsoft.com/office/drawing/2014/main" id="{7884B9F4-C060-6D03-4FA9-C74CED6F3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032250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5879" name="Oval 149">
            <a:extLst>
              <a:ext uri="{FF2B5EF4-FFF2-40B4-BE49-F238E27FC236}">
                <a16:creationId xmlns:a16="http://schemas.microsoft.com/office/drawing/2014/main" id="{5DDF5AC3-6287-F99E-EAF5-005441773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4032250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5880" name="Text Box 150">
            <a:extLst>
              <a:ext uri="{FF2B5EF4-FFF2-40B4-BE49-F238E27FC236}">
                <a16:creationId xmlns:a16="http://schemas.microsoft.com/office/drawing/2014/main" id="{740CA3E4-6F44-9BCB-14FF-91DB6B6E2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727200"/>
            <a:ext cx="4537075" cy="429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/>
              <a:t>La macchina è asincrona: partendo da qualsiasi stato ed applicando una qualsiasi sequenza fissa in ingresso si perviene ad uno stato stabile. Es.:</a:t>
            </a:r>
          </a:p>
          <a:p>
            <a:pPr algn="l" eaLnBrk="1" hangingPunct="1">
              <a:spcBef>
                <a:spcPct val="50000"/>
              </a:spcBef>
            </a:pPr>
            <a:r>
              <a:rPr lang="it-IT" altLang="it-IT"/>
              <a:t>Partendo da </a:t>
            </a:r>
            <a:r>
              <a:rPr lang="it-IT" altLang="it-IT" i="1"/>
              <a:t>q1</a:t>
            </a:r>
            <a:r>
              <a:rPr lang="it-IT" altLang="it-IT"/>
              <a:t> ed applicando </a:t>
            </a:r>
            <a:r>
              <a:rPr lang="it-IT" altLang="it-IT" i="1"/>
              <a:t>i</a:t>
            </a:r>
            <a:r>
              <a:rPr lang="it-IT" altLang="it-IT" i="1" baseline="-25000"/>
              <a:t>2</a:t>
            </a:r>
            <a:r>
              <a:rPr lang="it-IT" altLang="it-IT"/>
              <a:t> si rimane in </a:t>
            </a:r>
            <a:r>
              <a:rPr lang="it-IT" altLang="it-IT" i="1"/>
              <a:t>q2 </a:t>
            </a:r>
            <a:r>
              <a:rPr lang="it-IT" altLang="it-IT"/>
              <a:t>(purché </a:t>
            </a:r>
            <a:r>
              <a:rPr lang="it-IT" altLang="it-IT" i="1"/>
              <a:t>i</a:t>
            </a:r>
            <a:r>
              <a:rPr lang="it-IT" altLang="it-IT" i="1" baseline="-25000"/>
              <a:t>2</a:t>
            </a:r>
            <a:r>
              <a:rPr lang="it-IT" altLang="it-IT"/>
              <a:t> sia applicato per un tempo sufficiente a far arrivare la macchina nello stato q2)</a:t>
            </a:r>
          </a:p>
        </p:txBody>
      </p:sp>
      <p:sp>
        <p:nvSpPr>
          <p:cNvPr id="35881" name="Freeform 151">
            <a:extLst>
              <a:ext uri="{FF2B5EF4-FFF2-40B4-BE49-F238E27FC236}">
                <a16:creationId xmlns:a16="http://schemas.microsoft.com/office/drawing/2014/main" id="{A27350E8-2501-381B-34B2-63CD7A3468D6}"/>
              </a:ext>
            </a:extLst>
          </p:cNvPr>
          <p:cNvSpPr>
            <a:spLocks/>
          </p:cNvSpPr>
          <p:nvPr/>
        </p:nvSpPr>
        <p:spPr bwMode="auto">
          <a:xfrm>
            <a:off x="2195513" y="2867025"/>
            <a:ext cx="358775" cy="157163"/>
          </a:xfrm>
          <a:custGeom>
            <a:avLst/>
            <a:gdLst>
              <a:gd name="T0" fmla="*/ 0 w 226"/>
              <a:gd name="T1" fmla="*/ 2147483647 h 99"/>
              <a:gd name="T2" fmla="*/ 2147483647 w 226"/>
              <a:gd name="T3" fmla="*/ 2147483647 h 99"/>
              <a:gd name="T4" fmla="*/ 2147483647 w 226"/>
              <a:gd name="T5" fmla="*/ 2147483647 h 99"/>
              <a:gd name="T6" fmla="*/ 0 60000 65536"/>
              <a:gd name="T7" fmla="*/ 0 60000 65536"/>
              <a:gd name="T8" fmla="*/ 0 60000 65536"/>
              <a:gd name="T9" fmla="*/ 0 w 226"/>
              <a:gd name="T10" fmla="*/ 0 h 99"/>
              <a:gd name="T11" fmla="*/ 226 w 226"/>
              <a:gd name="T12" fmla="*/ 99 h 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99">
                <a:moveTo>
                  <a:pt x="0" y="99"/>
                </a:moveTo>
                <a:cubicBezTo>
                  <a:pt x="49" y="57"/>
                  <a:pt x="98" y="16"/>
                  <a:pt x="136" y="8"/>
                </a:cubicBezTo>
                <a:cubicBezTo>
                  <a:pt x="174" y="0"/>
                  <a:pt x="211" y="46"/>
                  <a:pt x="226" y="53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5882" name="Freeform 152">
            <a:extLst>
              <a:ext uri="{FF2B5EF4-FFF2-40B4-BE49-F238E27FC236}">
                <a16:creationId xmlns:a16="http://schemas.microsoft.com/office/drawing/2014/main" id="{7A2D556A-986D-333E-F761-EFD9D278AA68}"/>
              </a:ext>
            </a:extLst>
          </p:cNvPr>
          <p:cNvSpPr>
            <a:spLocks/>
          </p:cNvSpPr>
          <p:nvPr/>
        </p:nvSpPr>
        <p:spPr bwMode="auto">
          <a:xfrm rot="5400000">
            <a:off x="2886869" y="3074194"/>
            <a:ext cx="358775" cy="157163"/>
          </a:xfrm>
          <a:custGeom>
            <a:avLst/>
            <a:gdLst>
              <a:gd name="T0" fmla="*/ 0 w 226"/>
              <a:gd name="T1" fmla="*/ 2147483647 h 99"/>
              <a:gd name="T2" fmla="*/ 2147483647 w 226"/>
              <a:gd name="T3" fmla="*/ 2147483647 h 99"/>
              <a:gd name="T4" fmla="*/ 2147483647 w 226"/>
              <a:gd name="T5" fmla="*/ 2147483647 h 99"/>
              <a:gd name="T6" fmla="*/ 0 60000 65536"/>
              <a:gd name="T7" fmla="*/ 0 60000 65536"/>
              <a:gd name="T8" fmla="*/ 0 60000 65536"/>
              <a:gd name="T9" fmla="*/ 0 w 226"/>
              <a:gd name="T10" fmla="*/ 0 h 99"/>
              <a:gd name="T11" fmla="*/ 226 w 226"/>
              <a:gd name="T12" fmla="*/ 99 h 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99">
                <a:moveTo>
                  <a:pt x="0" y="99"/>
                </a:moveTo>
                <a:cubicBezTo>
                  <a:pt x="49" y="57"/>
                  <a:pt x="98" y="16"/>
                  <a:pt x="136" y="8"/>
                </a:cubicBezTo>
                <a:cubicBezTo>
                  <a:pt x="174" y="0"/>
                  <a:pt x="211" y="46"/>
                  <a:pt x="226" y="53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5883" name="Freeform 153">
            <a:extLst>
              <a:ext uri="{FF2B5EF4-FFF2-40B4-BE49-F238E27FC236}">
                <a16:creationId xmlns:a16="http://schemas.microsoft.com/office/drawing/2014/main" id="{53119E26-9411-CC8E-B747-7D226DAFB93A}"/>
              </a:ext>
            </a:extLst>
          </p:cNvPr>
          <p:cNvSpPr>
            <a:spLocks/>
          </p:cNvSpPr>
          <p:nvPr/>
        </p:nvSpPr>
        <p:spPr bwMode="auto">
          <a:xfrm>
            <a:off x="2974975" y="3443288"/>
            <a:ext cx="288925" cy="288925"/>
          </a:xfrm>
          <a:custGeom>
            <a:avLst/>
            <a:gdLst>
              <a:gd name="T0" fmla="*/ 2147483647 w 295"/>
              <a:gd name="T1" fmla="*/ 2147483647 h 235"/>
              <a:gd name="T2" fmla="*/ 2147483647 w 295"/>
              <a:gd name="T3" fmla="*/ 2147483647 h 235"/>
              <a:gd name="T4" fmla="*/ 2147483647 w 295"/>
              <a:gd name="T5" fmla="*/ 2147483647 h 235"/>
              <a:gd name="T6" fmla="*/ 2147483647 w 295"/>
              <a:gd name="T7" fmla="*/ 2147483647 h 235"/>
              <a:gd name="T8" fmla="*/ 2147483647 w 295"/>
              <a:gd name="T9" fmla="*/ 2147483647 h 235"/>
              <a:gd name="T10" fmla="*/ 0 w 295"/>
              <a:gd name="T11" fmla="*/ 2147483647 h 2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5"/>
              <a:gd name="T19" fmla="*/ 0 h 235"/>
              <a:gd name="T20" fmla="*/ 295 w 295"/>
              <a:gd name="T21" fmla="*/ 235 h 2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5" h="235">
                <a:moveTo>
                  <a:pt x="46" y="53"/>
                </a:moveTo>
                <a:cubicBezTo>
                  <a:pt x="95" y="26"/>
                  <a:pt x="144" y="0"/>
                  <a:pt x="182" y="8"/>
                </a:cubicBezTo>
                <a:cubicBezTo>
                  <a:pt x="220" y="16"/>
                  <a:pt x="257" y="68"/>
                  <a:pt x="272" y="98"/>
                </a:cubicBezTo>
                <a:cubicBezTo>
                  <a:pt x="287" y="128"/>
                  <a:pt x="295" y="166"/>
                  <a:pt x="272" y="189"/>
                </a:cubicBezTo>
                <a:cubicBezTo>
                  <a:pt x="249" y="212"/>
                  <a:pt x="181" y="235"/>
                  <a:pt x="136" y="235"/>
                </a:cubicBezTo>
                <a:cubicBezTo>
                  <a:pt x="91" y="235"/>
                  <a:pt x="23" y="197"/>
                  <a:pt x="0" y="189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egnaposto numero diapositiva 3">
            <a:extLst>
              <a:ext uri="{FF2B5EF4-FFF2-40B4-BE49-F238E27FC236}">
                <a16:creationId xmlns:a16="http://schemas.microsoft.com/office/drawing/2014/main" id="{004738FF-CD09-8BC2-37BF-566F6E9FCD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68D36E58-FAAC-4640-AD75-2C00DF1CC26A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19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63046EA-8355-1768-5593-E0CFA6476D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Macchine asincrone</a:t>
            </a:r>
          </a:p>
        </p:txBody>
      </p:sp>
      <p:graphicFrame>
        <p:nvGraphicFramePr>
          <p:cNvPr id="343083" name="Group 43">
            <a:extLst>
              <a:ext uri="{FF2B5EF4-FFF2-40B4-BE49-F238E27FC236}">
                <a16:creationId xmlns:a16="http://schemas.microsoft.com/office/drawing/2014/main" id="{77609F66-1830-39C8-E37C-4DADDDC4A2F7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3529013"/>
          <a:ext cx="3170238" cy="1992310"/>
        </p:xfrm>
        <a:graphic>
          <a:graphicData uri="http://schemas.openxmlformats.org/drawingml/2006/table">
            <a:tbl>
              <a:tblPr/>
              <a:tblGrid>
                <a:gridCol w="790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8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i</a:t>
                      </a:r>
                      <a:r>
                        <a:rPr kumimoji="0" lang="it-IT" sz="2000" b="1" i="0" u="none" strike="noStrike" cap="none" normalizeH="0" baseline="-25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q2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q1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4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q4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q3</a:t>
                      </a:r>
                    </a:p>
                  </a:txBody>
                  <a:tcPr marL="90000" marR="90000" marT="46807" marB="468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899" name="Oval 75">
            <a:extLst>
              <a:ext uri="{FF2B5EF4-FFF2-40B4-BE49-F238E27FC236}">
                <a16:creationId xmlns:a16="http://schemas.microsoft.com/office/drawing/2014/main" id="{94EBA37E-466F-7D64-0C75-593381C8A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889375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6900" name="Oval 76">
            <a:extLst>
              <a:ext uri="{FF2B5EF4-FFF2-40B4-BE49-F238E27FC236}">
                <a16:creationId xmlns:a16="http://schemas.microsoft.com/office/drawing/2014/main" id="{AD345AA7-1155-F036-09DE-310379DBE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4321175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6901" name="Oval 77">
            <a:extLst>
              <a:ext uri="{FF2B5EF4-FFF2-40B4-BE49-F238E27FC236}">
                <a16:creationId xmlns:a16="http://schemas.microsoft.com/office/drawing/2014/main" id="{0A3BE06F-89E8-715C-E84D-708B7B3CE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8" y="4699000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6902" name="Oval 78">
            <a:extLst>
              <a:ext uri="{FF2B5EF4-FFF2-40B4-BE49-F238E27FC236}">
                <a16:creationId xmlns:a16="http://schemas.microsoft.com/office/drawing/2014/main" id="{F3F36D75-1D3C-F399-6164-9CE212B33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75" y="5113338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6903" name="Oval 79">
            <a:extLst>
              <a:ext uri="{FF2B5EF4-FFF2-40B4-BE49-F238E27FC236}">
                <a16:creationId xmlns:a16="http://schemas.microsoft.com/office/drawing/2014/main" id="{91A1841F-0B50-F91A-1C88-AF61BC67A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113338"/>
            <a:ext cx="431800" cy="431800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6904" name="Freeform 80">
            <a:extLst>
              <a:ext uri="{FF2B5EF4-FFF2-40B4-BE49-F238E27FC236}">
                <a16:creationId xmlns:a16="http://schemas.microsoft.com/office/drawing/2014/main" id="{5C763309-3D31-B751-898C-C01D2E8CB08F}"/>
              </a:ext>
            </a:extLst>
          </p:cNvPr>
          <p:cNvSpPr>
            <a:spLocks/>
          </p:cNvSpPr>
          <p:nvPr/>
        </p:nvSpPr>
        <p:spPr bwMode="auto">
          <a:xfrm>
            <a:off x="2195513" y="3948113"/>
            <a:ext cx="358775" cy="157162"/>
          </a:xfrm>
          <a:custGeom>
            <a:avLst/>
            <a:gdLst>
              <a:gd name="T0" fmla="*/ 0 w 226"/>
              <a:gd name="T1" fmla="*/ 2147483647 h 99"/>
              <a:gd name="T2" fmla="*/ 2147483647 w 226"/>
              <a:gd name="T3" fmla="*/ 2147483647 h 99"/>
              <a:gd name="T4" fmla="*/ 2147483647 w 226"/>
              <a:gd name="T5" fmla="*/ 2147483647 h 99"/>
              <a:gd name="T6" fmla="*/ 0 60000 65536"/>
              <a:gd name="T7" fmla="*/ 0 60000 65536"/>
              <a:gd name="T8" fmla="*/ 0 60000 65536"/>
              <a:gd name="T9" fmla="*/ 0 w 226"/>
              <a:gd name="T10" fmla="*/ 0 h 99"/>
              <a:gd name="T11" fmla="*/ 226 w 226"/>
              <a:gd name="T12" fmla="*/ 99 h 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99">
                <a:moveTo>
                  <a:pt x="0" y="99"/>
                </a:moveTo>
                <a:cubicBezTo>
                  <a:pt x="49" y="57"/>
                  <a:pt x="98" y="16"/>
                  <a:pt x="136" y="8"/>
                </a:cubicBezTo>
                <a:cubicBezTo>
                  <a:pt x="174" y="0"/>
                  <a:pt x="211" y="46"/>
                  <a:pt x="226" y="53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6905" name="Freeform 81">
            <a:extLst>
              <a:ext uri="{FF2B5EF4-FFF2-40B4-BE49-F238E27FC236}">
                <a16:creationId xmlns:a16="http://schemas.microsoft.com/office/drawing/2014/main" id="{09BA5EEB-7AE6-3094-4586-51C8C8BBC912}"/>
              </a:ext>
            </a:extLst>
          </p:cNvPr>
          <p:cNvSpPr>
            <a:spLocks/>
          </p:cNvSpPr>
          <p:nvPr/>
        </p:nvSpPr>
        <p:spPr bwMode="auto">
          <a:xfrm rot="5400000">
            <a:off x="2886869" y="4155281"/>
            <a:ext cx="358775" cy="157163"/>
          </a:xfrm>
          <a:custGeom>
            <a:avLst/>
            <a:gdLst>
              <a:gd name="T0" fmla="*/ 0 w 226"/>
              <a:gd name="T1" fmla="*/ 2147483647 h 99"/>
              <a:gd name="T2" fmla="*/ 2147483647 w 226"/>
              <a:gd name="T3" fmla="*/ 2147483647 h 99"/>
              <a:gd name="T4" fmla="*/ 2147483647 w 226"/>
              <a:gd name="T5" fmla="*/ 2147483647 h 99"/>
              <a:gd name="T6" fmla="*/ 0 60000 65536"/>
              <a:gd name="T7" fmla="*/ 0 60000 65536"/>
              <a:gd name="T8" fmla="*/ 0 60000 65536"/>
              <a:gd name="T9" fmla="*/ 0 w 226"/>
              <a:gd name="T10" fmla="*/ 0 h 99"/>
              <a:gd name="T11" fmla="*/ 226 w 226"/>
              <a:gd name="T12" fmla="*/ 99 h 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99">
                <a:moveTo>
                  <a:pt x="0" y="99"/>
                </a:moveTo>
                <a:cubicBezTo>
                  <a:pt x="49" y="57"/>
                  <a:pt x="98" y="16"/>
                  <a:pt x="136" y="8"/>
                </a:cubicBezTo>
                <a:cubicBezTo>
                  <a:pt x="174" y="0"/>
                  <a:pt x="211" y="46"/>
                  <a:pt x="226" y="53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6906" name="Freeform 82">
            <a:extLst>
              <a:ext uri="{FF2B5EF4-FFF2-40B4-BE49-F238E27FC236}">
                <a16:creationId xmlns:a16="http://schemas.microsoft.com/office/drawing/2014/main" id="{A09670F2-8EC5-9A32-B509-D99170548C2E}"/>
              </a:ext>
            </a:extLst>
          </p:cNvPr>
          <p:cNvSpPr>
            <a:spLocks/>
          </p:cNvSpPr>
          <p:nvPr/>
        </p:nvSpPr>
        <p:spPr bwMode="auto">
          <a:xfrm>
            <a:off x="2974975" y="4524375"/>
            <a:ext cx="288925" cy="288925"/>
          </a:xfrm>
          <a:custGeom>
            <a:avLst/>
            <a:gdLst>
              <a:gd name="T0" fmla="*/ 2147483647 w 295"/>
              <a:gd name="T1" fmla="*/ 2147483647 h 235"/>
              <a:gd name="T2" fmla="*/ 2147483647 w 295"/>
              <a:gd name="T3" fmla="*/ 2147483647 h 235"/>
              <a:gd name="T4" fmla="*/ 2147483647 w 295"/>
              <a:gd name="T5" fmla="*/ 2147483647 h 235"/>
              <a:gd name="T6" fmla="*/ 2147483647 w 295"/>
              <a:gd name="T7" fmla="*/ 2147483647 h 235"/>
              <a:gd name="T8" fmla="*/ 2147483647 w 295"/>
              <a:gd name="T9" fmla="*/ 2147483647 h 235"/>
              <a:gd name="T10" fmla="*/ 0 w 295"/>
              <a:gd name="T11" fmla="*/ 2147483647 h 2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5"/>
              <a:gd name="T19" fmla="*/ 0 h 235"/>
              <a:gd name="T20" fmla="*/ 295 w 295"/>
              <a:gd name="T21" fmla="*/ 235 h 2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5" h="235">
                <a:moveTo>
                  <a:pt x="46" y="53"/>
                </a:moveTo>
                <a:cubicBezTo>
                  <a:pt x="95" y="26"/>
                  <a:pt x="144" y="0"/>
                  <a:pt x="182" y="8"/>
                </a:cubicBezTo>
                <a:cubicBezTo>
                  <a:pt x="220" y="16"/>
                  <a:pt x="257" y="68"/>
                  <a:pt x="272" y="98"/>
                </a:cubicBezTo>
                <a:cubicBezTo>
                  <a:pt x="287" y="128"/>
                  <a:pt x="295" y="166"/>
                  <a:pt x="272" y="189"/>
                </a:cubicBezTo>
                <a:cubicBezTo>
                  <a:pt x="249" y="212"/>
                  <a:pt x="181" y="235"/>
                  <a:pt x="136" y="235"/>
                </a:cubicBezTo>
                <a:cubicBezTo>
                  <a:pt x="91" y="235"/>
                  <a:pt x="23" y="197"/>
                  <a:pt x="0" y="189"/>
                </a:cubicBezTo>
              </a:path>
            </a:pathLst>
          </a:custGeom>
          <a:noFill/>
          <a:ln w="25400">
            <a:solidFill>
              <a:srgbClr val="FF6600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6907" name="Text Box 83">
            <a:extLst>
              <a:ext uri="{FF2B5EF4-FFF2-40B4-BE49-F238E27FC236}">
                <a16:creationId xmlns:a16="http://schemas.microsoft.com/office/drawing/2014/main" id="{6200DC68-87B5-8AC7-0ED9-F0467F56B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12913"/>
            <a:ext cx="8280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/>
              <a:t>Applicando una sequenza di due ingressi in una macchina asincrona, la transizione tra uno stato stabile e l’altro avviene mediante una transizione orizzontali e poi </a:t>
            </a:r>
            <a:r>
              <a:rPr lang="it-IT" altLang="it-IT" sz="2000">
                <a:solidFill>
                  <a:srgbClr val="FF0000"/>
                </a:solidFill>
              </a:rPr>
              <a:t>k</a:t>
            </a:r>
            <a:r>
              <a:rPr lang="it-IT" altLang="it-IT" sz="2000"/>
              <a:t>  transizioni verticali verso lo stato stabile (</a:t>
            </a:r>
            <a:r>
              <a:rPr lang="it-IT" altLang="it-IT" sz="2000">
                <a:solidFill>
                  <a:srgbClr val="FF6600"/>
                </a:solidFill>
              </a:rPr>
              <a:t>ciclo lungo k</a:t>
            </a:r>
            <a:r>
              <a:rPr lang="it-IT" altLang="it-IT" sz="2000"/>
              <a:t>)</a:t>
            </a:r>
          </a:p>
        </p:txBody>
      </p:sp>
      <p:sp>
        <p:nvSpPr>
          <p:cNvPr id="36908" name="Line 84">
            <a:extLst>
              <a:ext uri="{FF2B5EF4-FFF2-40B4-BE49-F238E27FC236}">
                <a16:creationId xmlns:a16="http://schemas.microsoft.com/office/drawing/2014/main" id="{F3E1F821-BCDA-6F7D-C25B-DE1E246137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3000" y="3168650"/>
            <a:ext cx="144463" cy="7207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6909" name="Line 85">
            <a:extLst>
              <a:ext uri="{FF2B5EF4-FFF2-40B4-BE49-F238E27FC236}">
                <a16:creationId xmlns:a16="http://schemas.microsoft.com/office/drawing/2014/main" id="{03645452-A61E-A4FF-9C8A-BC245FF6BA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060700" y="3168650"/>
            <a:ext cx="0" cy="865188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6910" name="Text Box 86">
            <a:extLst>
              <a:ext uri="{FF2B5EF4-FFF2-40B4-BE49-F238E27FC236}">
                <a16:creationId xmlns:a16="http://schemas.microsoft.com/office/drawing/2014/main" id="{DDF0067A-7B4A-1636-6CF5-B530391BA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8975" y="3095625"/>
            <a:ext cx="50419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/>
              <a:t>L’unica condizione necessaria a garantire il passaggio da uno stato stabile ad un nuovo stato stabile noto è che il nuovo ingresso sia applicato </a:t>
            </a:r>
            <a:r>
              <a:rPr lang="it-IT" altLang="it-IT" sz="2000" b="1"/>
              <a:t>per un tempo sufficiente </a:t>
            </a:r>
            <a:r>
              <a:rPr lang="it-IT" altLang="it-IT" sz="2000"/>
              <a:t>a permettere la transizione attraverso gli stati intermedi</a:t>
            </a:r>
          </a:p>
        </p:txBody>
      </p:sp>
      <p:sp>
        <p:nvSpPr>
          <p:cNvPr id="36911" name="Text Box 87">
            <a:extLst>
              <a:ext uri="{FF2B5EF4-FFF2-40B4-BE49-F238E27FC236}">
                <a16:creationId xmlns:a16="http://schemas.microsoft.com/office/drawing/2014/main" id="{21003A2A-E8E9-B8D4-1F2C-6B243BCBF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148263"/>
            <a:ext cx="5041900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 u="sng"/>
              <a:t>Le uscite possono essere assegnate ai soli stati stabili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egnaposto numero diapositiva 3">
            <a:extLst>
              <a:ext uri="{FF2B5EF4-FFF2-40B4-BE49-F238E27FC236}">
                <a16:creationId xmlns:a16="http://schemas.microsoft.com/office/drawing/2014/main" id="{A37C66BC-DCDF-DBAA-D50D-E6F0470BEE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E55D144C-9ED6-114B-BB1B-131AE4812035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20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6B7417E5-5758-1C44-3136-A2F4A9DFED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Macchine asincrone</a:t>
            </a:r>
          </a:p>
        </p:txBody>
      </p:sp>
      <p:sp>
        <p:nvSpPr>
          <p:cNvPr id="37891" name="AutoShape 5">
            <a:extLst>
              <a:ext uri="{FF2B5EF4-FFF2-40B4-BE49-F238E27FC236}">
                <a16:creationId xmlns:a16="http://schemas.microsoft.com/office/drawing/2014/main" id="{80A80C42-291A-1C95-23D4-89FD58EBB2A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716463" y="3602038"/>
            <a:ext cx="1584325" cy="287337"/>
          </a:xfrm>
          <a:prstGeom prst="rightArrow">
            <a:avLst>
              <a:gd name="adj1" fmla="val 50000"/>
              <a:gd name="adj2" fmla="val 13784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8F25CBFB-C878-3D4E-6821-27B495A6256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704681" y="4155282"/>
            <a:ext cx="142875" cy="10334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3" name="AutoShape 7">
            <a:extLst>
              <a:ext uri="{FF2B5EF4-FFF2-40B4-BE49-F238E27FC236}">
                <a16:creationId xmlns:a16="http://schemas.microsoft.com/office/drawing/2014/main" id="{7B768BEE-9E67-D6DF-358D-1275989585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4537075"/>
            <a:ext cx="931863" cy="288925"/>
          </a:xfrm>
          <a:prstGeom prst="rightArrow">
            <a:avLst>
              <a:gd name="adj1" fmla="val 50000"/>
              <a:gd name="adj2" fmla="val 8063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4" name="Rectangle 8">
            <a:extLst>
              <a:ext uri="{FF2B5EF4-FFF2-40B4-BE49-F238E27FC236}">
                <a16:creationId xmlns:a16="http://schemas.microsoft.com/office/drawing/2014/main" id="{E0A3B945-84B9-AD41-AF57-2E0504E69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6650" y="3744913"/>
            <a:ext cx="185738" cy="1008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5" name="Rectangle 9">
            <a:extLst>
              <a:ext uri="{FF2B5EF4-FFF2-40B4-BE49-F238E27FC236}">
                <a16:creationId xmlns:a16="http://schemas.microsoft.com/office/drawing/2014/main" id="{9ECC4984-5446-06BB-71A8-16F9C2DEF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513" y="4392613"/>
            <a:ext cx="2143125" cy="11525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6" name="Rectangle 10">
            <a:extLst>
              <a:ext uri="{FF2B5EF4-FFF2-40B4-BE49-F238E27FC236}">
                <a16:creationId xmlns:a16="http://schemas.microsoft.com/office/drawing/2014/main" id="{8183B8B3-76CA-E627-B4AF-42DDAB235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2088" y="3457575"/>
            <a:ext cx="744537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897" name="Line 11">
            <a:extLst>
              <a:ext uri="{FF2B5EF4-FFF2-40B4-BE49-F238E27FC236}">
                <a16:creationId xmlns:a16="http://schemas.microsoft.com/office/drawing/2014/main" id="{46B7760A-1841-34DD-4F8B-A095DDBE7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9700" y="4610100"/>
            <a:ext cx="895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898" name="Line 12">
            <a:extLst>
              <a:ext uri="{FF2B5EF4-FFF2-40B4-BE49-F238E27FC236}">
                <a16:creationId xmlns:a16="http://schemas.microsoft.com/office/drawing/2014/main" id="{AA8A61D9-39B7-F148-D7C8-193BE2B1D4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9700" y="4752975"/>
            <a:ext cx="10810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899" name="Line 13">
            <a:extLst>
              <a:ext uri="{FF2B5EF4-FFF2-40B4-BE49-F238E27FC236}">
                <a16:creationId xmlns:a16="http://schemas.microsoft.com/office/drawing/2014/main" id="{CB814AC7-4E70-752D-7341-B8C0337B92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5050" y="38179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0" name="Line 14">
            <a:extLst>
              <a:ext uri="{FF2B5EF4-FFF2-40B4-BE49-F238E27FC236}">
                <a16:creationId xmlns:a16="http://schemas.microsoft.com/office/drawing/2014/main" id="{A264AA57-2A07-1D43-11FE-55C07582721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0788" y="36734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1" name="Line 15">
            <a:extLst>
              <a:ext uri="{FF2B5EF4-FFF2-40B4-BE49-F238E27FC236}">
                <a16:creationId xmlns:a16="http://schemas.microsoft.com/office/drawing/2014/main" id="{C4DEA83E-EC9C-117B-9319-3AA7ED5BBB7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22388" y="3817938"/>
            <a:ext cx="0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2" name="Line 16">
            <a:extLst>
              <a:ext uri="{FF2B5EF4-FFF2-40B4-BE49-F238E27FC236}">
                <a16:creationId xmlns:a16="http://schemas.microsoft.com/office/drawing/2014/main" id="{A64DFE6C-3214-BAE0-B164-A5073C18DD5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817938"/>
            <a:ext cx="13985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3" name="Line 17">
            <a:extLst>
              <a:ext uri="{FF2B5EF4-FFF2-40B4-BE49-F238E27FC236}">
                <a16:creationId xmlns:a16="http://schemas.microsoft.com/office/drawing/2014/main" id="{408C1D4D-0556-4A9F-8F21-6A7CAE55DE9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6650" y="3673475"/>
            <a:ext cx="0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4" name="Line 18">
            <a:extLst>
              <a:ext uri="{FF2B5EF4-FFF2-40B4-BE49-F238E27FC236}">
                <a16:creationId xmlns:a16="http://schemas.microsoft.com/office/drawing/2014/main" id="{176E86C2-77DA-F468-61AC-2FD1B7AA5B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36650" y="3673475"/>
            <a:ext cx="1584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5" name="AutoShape 19">
            <a:extLst>
              <a:ext uri="{FF2B5EF4-FFF2-40B4-BE49-F238E27FC236}">
                <a16:creationId xmlns:a16="http://schemas.microsoft.com/office/drawing/2014/main" id="{C90C5D40-4490-4F2E-0460-C2322C730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186363"/>
            <a:ext cx="1439862" cy="287337"/>
          </a:xfrm>
          <a:prstGeom prst="rightArrow">
            <a:avLst>
              <a:gd name="adj1" fmla="val 50000"/>
              <a:gd name="adj2" fmla="val 12527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06" name="AutoShape 20">
            <a:extLst>
              <a:ext uri="{FF2B5EF4-FFF2-40B4-BE49-F238E27FC236}">
                <a16:creationId xmlns:a16="http://schemas.microsoft.com/office/drawing/2014/main" id="{746EC47E-145B-3F03-268C-02F2283E2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0475" y="5184775"/>
            <a:ext cx="714375" cy="215900"/>
          </a:xfrm>
          <a:prstGeom prst="rightArrow">
            <a:avLst>
              <a:gd name="adj1" fmla="val 50000"/>
              <a:gd name="adj2" fmla="val 8272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07" name="Line 21">
            <a:extLst>
              <a:ext uri="{FF2B5EF4-FFF2-40B4-BE49-F238E27FC236}">
                <a16:creationId xmlns:a16="http://schemas.microsoft.com/office/drawing/2014/main" id="{B58586C4-AECA-4C0C-0669-15B378CF2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35650" y="3673475"/>
            <a:ext cx="465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7908" name="Rectangle 28">
            <a:extLst>
              <a:ext uri="{FF2B5EF4-FFF2-40B4-BE49-F238E27FC236}">
                <a16:creationId xmlns:a16="http://schemas.microsoft.com/office/drawing/2014/main" id="{32245BB0-DBEE-E4B4-A8CE-F92BBC908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4394200"/>
            <a:ext cx="744537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09" name="Rectangle 30">
            <a:extLst>
              <a:ext uri="{FF2B5EF4-FFF2-40B4-BE49-F238E27FC236}">
                <a16:creationId xmlns:a16="http://schemas.microsoft.com/office/drawing/2014/main" id="{2F82A278-9270-8B6A-47AA-03B811A07B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671888"/>
            <a:ext cx="211137" cy="10096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10" name="AutoShape 32">
            <a:extLst>
              <a:ext uri="{FF2B5EF4-FFF2-40B4-BE49-F238E27FC236}">
                <a16:creationId xmlns:a16="http://schemas.microsoft.com/office/drawing/2014/main" id="{BE4E636A-C4D2-42A7-E52B-FE753BC64DAE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92500" y="3602038"/>
            <a:ext cx="503238" cy="287337"/>
          </a:xfrm>
          <a:prstGeom prst="rightArrow">
            <a:avLst>
              <a:gd name="adj1" fmla="val 50000"/>
              <a:gd name="adj2" fmla="val 4378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11" name="Rectangle 33">
            <a:extLst>
              <a:ext uri="{FF2B5EF4-FFF2-40B4-BE49-F238E27FC236}">
                <a16:creationId xmlns:a16="http://schemas.microsoft.com/office/drawing/2014/main" id="{87BC9211-32B7-16C7-4FE1-BF738A1F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3457575"/>
            <a:ext cx="744538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12" name="AutoShape 37">
            <a:extLst>
              <a:ext uri="{FF2B5EF4-FFF2-40B4-BE49-F238E27FC236}">
                <a16:creationId xmlns:a16="http://schemas.microsoft.com/office/drawing/2014/main" id="{3069BABE-0C8B-3487-EEE2-7FB23060EDA6}"/>
              </a:ext>
            </a:extLst>
          </p:cNvPr>
          <p:cNvSpPr>
            <a:spLocks noChangeArrowheads="1"/>
          </p:cNvSpPr>
          <p:nvPr/>
        </p:nvSpPr>
        <p:spPr bwMode="auto">
          <a:xfrm rot="10800000" flipH="1">
            <a:off x="4211638" y="4537075"/>
            <a:ext cx="288925" cy="287338"/>
          </a:xfrm>
          <a:prstGeom prst="rightArrow">
            <a:avLst>
              <a:gd name="adj1" fmla="val 50000"/>
              <a:gd name="adj2" fmla="val 2513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13" name="Rectangle 38">
            <a:extLst>
              <a:ext uri="{FF2B5EF4-FFF2-40B4-BE49-F238E27FC236}">
                <a16:creationId xmlns:a16="http://schemas.microsoft.com/office/drawing/2014/main" id="{E76FDD98-FC08-16A1-22AE-151F0FFC27E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869281" y="2948782"/>
            <a:ext cx="136525" cy="158591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14" name="Text Box 39">
            <a:extLst>
              <a:ext uri="{FF2B5EF4-FFF2-40B4-BE49-F238E27FC236}">
                <a16:creationId xmlns:a16="http://schemas.microsoft.com/office/drawing/2014/main" id="{2ADE6E78-9A94-5E83-E088-DB8957915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4537075"/>
            <a:ext cx="1871662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/>
              <a:t>Macchina</a:t>
            </a:r>
          </a:p>
          <a:p>
            <a:pPr eaLnBrk="1" hangingPunct="1">
              <a:spcBef>
                <a:spcPct val="50000"/>
              </a:spcBef>
            </a:pPr>
            <a:r>
              <a:rPr lang="it-IT" altLang="it-IT" sz="2000"/>
              <a:t>Combinatoria</a:t>
            </a:r>
          </a:p>
        </p:txBody>
      </p:sp>
      <p:sp>
        <p:nvSpPr>
          <p:cNvPr id="37915" name="Text Box 40">
            <a:extLst>
              <a:ext uri="{FF2B5EF4-FFF2-40B4-BE49-F238E27FC236}">
                <a16:creationId xmlns:a16="http://schemas.microsoft.com/office/drawing/2014/main" id="{0FD6E6ED-0498-E0E8-FD66-F17D3915E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4575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it-IT">
                <a:cs typeface="Arial" panose="020B0604020202020204" pitchFamily="34" charset="0"/>
              </a:rPr>
              <a:t>Δ</a:t>
            </a:r>
            <a:r>
              <a:rPr lang="it-IT" altLang="it-IT" baseline="-25000">
                <a:cs typeface="Arial" panose="020B0604020202020204" pitchFamily="34" charset="0"/>
              </a:rPr>
              <a:t>l</a:t>
            </a:r>
            <a:endParaRPr lang="el-GR" altLang="it-IT" baseline="-25000">
              <a:cs typeface="Arial" panose="020B0604020202020204" pitchFamily="34" charset="0"/>
            </a:endParaRPr>
          </a:p>
        </p:txBody>
      </p:sp>
      <p:sp>
        <p:nvSpPr>
          <p:cNvPr id="37916" name="Text Box 41">
            <a:extLst>
              <a:ext uri="{FF2B5EF4-FFF2-40B4-BE49-F238E27FC236}">
                <a16:creationId xmlns:a16="http://schemas.microsoft.com/office/drawing/2014/main" id="{AB852600-A7AE-0F52-0835-B5037C6BAA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111750"/>
            <a:ext cx="1441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>
                <a:cs typeface="Arial" panose="020B0604020202020204" pitchFamily="34" charset="0"/>
              </a:rPr>
              <a:t>uscite</a:t>
            </a:r>
            <a:endParaRPr lang="el-GR" altLang="it-IT" sz="2000" baseline="-25000">
              <a:cs typeface="Arial" panose="020B0604020202020204" pitchFamily="34" charset="0"/>
            </a:endParaRPr>
          </a:p>
        </p:txBody>
      </p:sp>
      <p:sp>
        <p:nvSpPr>
          <p:cNvPr id="37917" name="Text Box 42">
            <a:extLst>
              <a:ext uri="{FF2B5EF4-FFF2-40B4-BE49-F238E27FC236}">
                <a16:creationId xmlns:a16="http://schemas.microsoft.com/office/drawing/2014/main" id="{C7A6C79C-90E1-D4AD-18B7-B2755CF38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19600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>
                <a:cs typeface="Arial" panose="020B0604020202020204" pitchFamily="34" charset="0"/>
              </a:rPr>
              <a:t>E</a:t>
            </a:r>
            <a:r>
              <a:rPr lang="it-IT" altLang="it-IT" baseline="-25000">
                <a:cs typeface="Arial" panose="020B0604020202020204" pitchFamily="34" charset="0"/>
              </a:rPr>
              <a:t>c</a:t>
            </a:r>
            <a:endParaRPr lang="el-GR" altLang="it-IT" baseline="-25000">
              <a:cs typeface="Arial" panose="020B0604020202020204" pitchFamily="34" charset="0"/>
            </a:endParaRPr>
          </a:p>
        </p:txBody>
      </p:sp>
      <p:sp>
        <p:nvSpPr>
          <p:cNvPr id="37918" name="Text Box 43">
            <a:extLst>
              <a:ext uri="{FF2B5EF4-FFF2-40B4-BE49-F238E27FC236}">
                <a16:creationId xmlns:a16="http://schemas.microsoft.com/office/drawing/2014/main" id="{E17AAED9-15FA-2AE2-C6BB-F11AC9E7FD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738" y="345757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it-IT">
                <a:cs typeface="Arial" panose="020B0604020202020204" pitchFamily="34" charset="0"/>
              </a:rPr>
              <a:t>Δ</a:t>
            </a:r>
            <a:r>
              <a:rPr lang="it-IT" altLang="it-IT" baseline="-25000">
                <a:cs typeface="Arial" panose="020B0604020202020204" pitchFamily="34" charset="0"/>
              </a:rPr>
              <a:t>c</a:t>
            </a:r>
            <a:endParaRPr lang="el-GR" altLang="it-IT" baseline="-25000">
              <a:cs typeface="Arial" panose="020B0604020202020204" pitchFamily="34" charset="0"/>
            </a:endParaRPr>
          </a:p>
        </p:txBody>
      </p:sp>
      <p:sp>
        <p:nvSpPr>
          <p:cNvPr id="37919" name="Text Box 44">
            <a:extLst>
              <a:ext uri="{FF2B5EF4-FFF2-40B4-BE49-F238E27FC236}">
                <a16:creationId xmlns:a16="http://schemas.microsoft.com/office/drawing/2014/main" id="{920E4A13-2DCF-C897-43A8-F08C3451C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8100" y="5113338"/>
            <a:ext cx="1441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>
                <a:cs typeface="Arial" panose="020B0604020202020204" pitchFamily="34" charset="0"/>
              </a:rPr>
              <a:t>ingressi</a:t>
            </a:r>
            <a:endParaRPr lang="el-GR" altLang="it-IT" sz="2000" baseline="-25000">
              <a:cs typeface="Arial" panose="020B0604020202020204" pitchFamily="34" charset="0"/>
            </a:endParaRPr>
          </a:p>
        </p:txBody>
      </p:sp>
      <p:sp>
        <p:nvSpPr>
          <p:cNvPr id="37920" name="Text Box 45">
            <a:extLst>
              <a:ext uri="{FF2B5EF4-FFF2-40B4-BE49-F238E27FC236}">
                <a16:creationId xmlns:a16="http://schemas.microsoft.com/office/drawing/2014/main" id="{88D49E24-3EED-F6DF-29E4-B2446EEBF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4465638"/>
            <a:ext cx="1441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 sz="2000">
                <a:cs typeface="Arial" panose="020B0604020202020204" pitchFamily="34" charset="0"/>
              </a:rPr>
              <a:t>stato</a:t>
            </a:r>
            <a:endParaRPr lang="el-GR" altLang="it-IT" sz="2000" baseline="-25000">
              <a:cs typeface="Arial" panose="020B0604020202020204" pitchFamily="34" charset="0"/>
            </a:endParaRPr>
          </a:p>
        </p:txBody>
      </p:sp>
      <p:sp>
        <p:nvSpPr>
          <p:cNvPr id="37921" name="Text Box 46">
            <a:extLst>
              <a:ext uri="{FF2B5EF4-FFF2-40B4-BE49-F238E27FC236}">
                <a16:creationId xmlns:a16="http://schemas.microsoft.com/office/drawing/2014/main" id="{59FC7E8D-6E9A-0BF6-4EB4-5392CB7F6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261302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it-IT">
                <a:cs typeface="Arial" panose="020B0604020202020204" pitchFamily="34" charset="0"/>
              </a:rPr>
              <a:t>Δ</a:t>
            </a:r>
            <a:r>
              <a:rPr lang="it-IT" altLang="it-IT" baseline="-25000">
                <a:cs typeface="Arial" panose="020B0604020202020204" pitchFamily="34" charset="0"/>
              </a:rPr>
              <a:t>s</a:t>
            </a:r>
            <a:endParaRPr lang="el-GR" altLang="it-IT" baseline="-25000">
              <a:cs typeface="Arial" panose="020B0604020202020204" pitchFamily="34" charset="0"/>
            </a:endParaRPr>
          </a:p>
        </p:txBody>
      </p:sp>
      <p:sp>
        <p:nvSpPr>
          <p:cNvPr id="37922" name="AutoShape 47">
            <a:extLst>
              <a:ext uri="{FF2B5EF4-FFF2-40B4-BE49-F238E27FC236}">
                <a16:creationId xmlns:a16="http://schemas.microsoft.com/office/drawing/2014/main" id="{08D02A98-FE4E-3B44-50B0-BDFC5DBF0187}"/>
              </a:ext>
            </a:extLst>
          </p:cNvPr>
          <p:cNvSpPr>
            <a:spLocks/>
          </p:cNvSpPr>
          <p:nvPr/>
        </p:nvSpPr>
        <p:spPr bwMode="auto">
          <a:xfrm rot="5400000">
            <a:off x="3599657" y="2483644"/>
            <a:ext cx="287337" cy="1368425"/>
          </a:xfrm>
          <a:prstGeom prst="leftBrace">
            <a:avLst>
              <a:gd name="adj1" fmla="val 39687"/>
              <a:gd name="adj2" fmla="val 50000"/>
            </a:avLst>
          </a:prstGeom>
          <a:noFill/>
          <a:ln w="254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23" name="Oval 48">
            <a:extLst>
              <a:ext uri="{FF2B5EF4-FFF2-40B4-BE49-F238E27FC236}">
                <a16:creationId xmlns:a16="http://schemas.microsoft.com/office/drawing/2014/main" id="{892D9088-088C-A8E7-6477-3223EF4DC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2592388"/>
            <a:ext cx="2447925" cy="1728787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24" name="Oval 49">
            <a:extLst>
              <a:ext uri="{FF2B5EF4-FFF2-40B4-BE49-F238E27FC236}">
                <a16:creationId xmlns:a16="http://schemas.microsoft.com/office/drawing/2014/main" id="{5B63BD6D-78CA-6C08-DC17-C77DB8476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4176713"/>
            <a:ext cx="1512888" cy="935037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sp>
        <p:nvSpPr>
          <p:cNvPr id="37925" name="Line 50">
            <a:extLst>
              <a:ext uri="{FF2B5EF4-FFF2-40B4-BE49-F238E27FC236}">
                <a16:creationId xmlns:a16="http://schemas.microsoft.com/office/drawing/2014/main" id="{02593576-7B57-29F4-3C22-556FF722492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92275" y="2663825"/>
            <a:ext cx="863600" cy="5762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7926" name="Line 51">
            <a:extLst>
              <a:ext uri="{FF2B5EF4-FFF2-40B4-BE49-F238E27FC236}">
                <a16:creationId xmlns:a16="http://schemas.microsoft.com/office/drawing/2014/main" id="{7B39F53F-214A-DEEB-C3BD-AE76639AA9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2592388"/>
            <a:ext cx="431800" cy="1655762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it-IT"/>
          </a:p>
        </p:txBody>
      </p:sp>
      <p:sp>
        <p:nvSpPr>
          <p:cNvPr id="37927" name="Text Box 52">
            <a:extLst>
              <a:ext uri="{FF2B5EF4-FFF2-40B4-BE49-F238E27FC236}">
                <a16:creationId xmlns:a16="http://schemas.microsoft.com/office/drawing/2014/main" id="{87EC4196-593E-4822-2AEB-15EAEAA63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1511300"/>
            <a:ext cx="2159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/>
              <a:t>ritardo inerziale della macchina combinatoria E</a:t>
            </a:r>
            <a:r>
              <a:rPr lang="it-IT" altLang="it-IT" baseline="-25000">
                <a:cs typeface="Arial" panose="020B0604020202020204" pitchFamily="34" charset="0"/>
              </a:rPr>
              <a:t>c</a:t>
            </a:r>
          </a:p>
        </p:txBody>
      </p:sp>
      <p:sp>
        <p:nvSpPr>
          <p:cNvPr id="37928" name="Text Box 53">
            <a:extLst>
              <a:ext uri="{FF2B5EF4-FFF2-40B4-BE49-F238E27FC236}">
                <a16:creationId xmlns:a16="http://schemas.microsoft.com/office/drawing/2014/main" id="{FA577F59-562C-8821-100B-A9C224CCB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39863"/>
            <a:ext cx="3529012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/>
              <a:t>ritardo puro della macchina combinatoria (</a:t>
            </a:r>
            <a:r>
              <a:rPr lang="el-GR" altLang="it-IT">
                <a:cs typeface="Arial" panose="020B0604020202020204" pitchFamily="34" charset="0"/>
              </a:rPr>
              <a:t>Δ</a:t>
            </a:r>
            <a:r>
              <a:rPr lang="it-IT" altLang="it-IT" baseline="-25000">
                <a:cs typeface="Arial" panose="020B0604020202020204" pitchFamily="34" charset="0"/>
              </a:rPr>
              <a:t>c</a:t>
            </a:r>
            <a:r>
              <a:rPr lang="it-IT" altLang="it-IT" sz="2000">
                <a:cs typeface="Arial" panose="020B0604020202020204" pitchFamily="34" charset="0"/>
              </a:rPr>
              <a:t>) più ritardo delle linee (</a:t>
            </a:r>
            <a:r>
              <a:rPr lang="el-GR" altLang="it-IT">
                <a:cs typeface="Arial" panose="020B0604020202020204" pitchFamily="34" charset="0"/>
              </a:rPr>
              <a:t>Δ</a:t>
            </a:r>
            <a:r>
              <a:rPr lang="it-IT" altLang="it-IT" baseline="-25000">
                <a:cs typeface="Arial" panose="020B0604020202020204" pitchFamily="34" charset="0"/>
              </a:rPr>
              <a:t>l</a:t>
            </a:r>
            <a:r>
              <a:rPr lang="it-IT" altLang="it-IT" sz="20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37929" name="Text Box 54">
            <a:extLst>
              <a:ext uri="{FF2B5EF4-FFF2-40B4-BE49-F238E27FC236}">
                <a16:creationId xmlns:a16="http://schemas.microsoft.com/office/drawing/2014/main" id="{2339832A-71C1-A08A-2864-FFF315C8C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488" y="2663825"/>
            <a:ext cx="2592387" cy="338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it-IT" altLang="it-IT" sz="2000"/>
              <a:t>La transizione tra due stati stabili avviene soltanto se la durata </a:t>
            </a:r>
            <a:r>
              <a:rPr lang="it-IT" altLang="it-IT" sz="2000" i="1"/>
              <a:t>d</a:t>
            </a:r>
            <a:r>
              <a:rPr lang="it-IT" altLang="it-IT" sz="2000"/>
              <a:t> dell’ingresso che genera la transizione attraverso </a:t>
            </a:r>
            <a:r>
              <a:rPr lang="it-IT" altLang="it-IT" sz="2000" i="1"/>
              <a:t>k</a:t>
            </a:r>
            <a:r>
              <a:rPr lang="it-IT" altLang="it-IT" sz="2000"/>
              <a:t> stati consecutivi è tale che</a:t>
            </a:r>
          </a:p>
          <a:p>
            <a:pPr algn="l" eaLnBrk="1" hangingPunct="1">
              <a:spcBef>
                <a:spcPct val="50000"/>
              </a:spcBef>
            </a:pPr>
            <a:r>
              <a:rPr lang="it-IT" altLang="it-IT" i="1"/>
              <a:t>d &gt; k (E</a:t>
            </a:r>
            <a:r>
              <a:rPr lang="it-IT" altLang="it-IT" i="1" baseline="-25000">
                <a:cs typeface="Arial" panose="020B0604020202020204" pitchFamily="34" charset="0"/>
              </a:rPr>
              <a:t>c</a:t>
            </a:r>
            <a:r>
              <a:rPr lang="it-IT" altLang="it-IT" i="1">
                <a:cs typeface="Arial" panose="020B0604020202020204" pitchFamily="34" charset="0"/>
              </a:rPr>
              <a:t> + </a:t>
            </a:r>
            <a:r>
              <a:rPr lang="el-GR" altLang="it-IT" i="1">
                <a:cs typeface="Arial" panose="020B0604020202020204" pitchFamily="34" charset="0"/>
              </a:rPr>
              <a:t>Δ</a:t>
            </a:r>
            <a:r>
              <a:rPr lang="it-IT" altLang="it-IT" i="1" baseline="-25000">
                <a:cs typeface="Arial" panose="020B0604020202020204" pitchFamily="34" charset="0"/>
              </a:rPr>
              <a:t>S</a:t>
            </a:r>
            <a:r>
              <a:rPr lang="it-IT" altLang="it-IT" i="1">
                <a:cs typeface="Arial" panose="020B0604020202020204" pitchFamily="34" charset="0"/>
              </a:rPr>
              <a:t> 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egnaposto numero diapositiva 2">
            <a:extLst>
              <a:ext uri="{FF2B5EF4-FFF2-40B4-BE49-F238E27FC236}">
                <a16:creationId xmlns:a16="http://schemas.microsoft.com/office/drawing/2014/main" id="{95D8299D-CD63-F2E2-CD13-E654DD0E7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B3BB3D91-29F9-EF47-8DCD-50DCA07D2333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21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D8672B45-7C92-279F-E907-831D4D90B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 sz="3200">
                <a:ea typeface="ＭＳ Ｐゴシック" panose="020B0600070205080204" pitchFamily="34" charset="-128"/>
              </a:rPr>
              <a:t>Modello di rete asincrona (fondamentale)</a:t>
            </a:r>
          </a:p>
        </p:txBody>
      </p:sp>
      <p:sp>
        <p:nvSpPr>
          <p:cNvPr id="38915" name="Rectangle 4">
            <a:extLst>
              <a:ext uri="{FF2B5EF4-FFF2-40B4-BE49-F238E27FC236}">
                <a16:creationId xmlns:a16="http://schemas.microsoft.com/office/drawing/2014/main" id="{7FF23982-206B-41EF-EE02-EA716990AB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2606675"/>
            <a:ext cx="9720263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it-IT" altLang="it-IT"/>
          </a:p>
        </p:txBody>
      </p:sp>
      <p:graphicFrame>
        <p:nvGraphicFramePr>
          <p:cNvPr id="38916" name="Object 2">
            <a:extLst>
              <a:ext uri="{FF2B5EF4-FFF2-40B4-BE49-F238E27FC236}">
                <a16:creationId xmlns:a16="http://schemas.microsoft.com/office/drawing/2014/main" id="{C7500785-E0D4-08EE-5E0F-52358FBB29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7738" y="1728788"/>
          <a:ext cx="7281862" cy="454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848600" imgH="4876800" progId="Word.Picture.8">
                  <p:embed/>
                </p:oleObj>
              </mc:Choice>
              <mc:Fallback>
                <p:oleObj r:id="rId2" imgW="7848600" imgH="48768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738" y="1728788"/>
                        <a:ext cx="7281862" cy="454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egnaposto numero diapositiva 2">
            <a:extLst>
              <a:ext uri="{FF2B5EF4-FFF2-40B4-BE49-F238E27FC236}">
                <a16:creationId xmlns:a16="http://schemas.microsoft.com/office/drawing/2014/main" id="{C4B5571C-CE5A-F690-3AD7-84063B5A6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1FA211C9-953B-4F48-8E35-B093E97C9122}" type="slidenum">
              <a:rPr lang="it-IT" altLang="it-IT" sz="1400">
                <a:solidFill>
                  <a:schemeClr val="folHlink"/>
                </a:solidFill>
              </a:rPr>
              <a:pPr eaLnBrk="1" hangingPunct="1"/>
              <a:t>22</a:t>
            </a:fld>
            <a:endParaRPr lang="it-IT" altLang="it-IT" sz="1400">
              <a:solidFill>
                <a:schemeClr val="folHlink"/>
              </a:solidFill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CE71D075-FF1F-8076-7C96-150D3B7C8A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850" y="215900"/>
            <a:ext cx="8394700" cy="503238"/>
          </a:xfrm>
        </p:spPr>
        <p:txBody>
          <a:bodyPr/>
          <a:lstStyle/>
          <a:p>
            <a:pPr eaLnBrk="1" hangingPunct="1"/>
            <a:r>
              <a:rPr lang="it-IT" altLang="it-IT" sz="3200">
                <a:ea typeface="ＭＳ Ｐゴシック" panose="020B0600070205080204" pitchFamily="34" charset="-128"/>
              </a:rPr>
              <a:t>Limiti di reti asincrone:alee multiple e corse</a:t>
            </a:r>
          </a:p>
        </p:txBody>
      </p:sp>
      <p:graphicFrame>
        <p:nvGraphicFramePr>
          <p:cNvPr id="39939" name="Object 2">
            <a:extLst>
              <a:ext uri="{FF2B5EF4-FFF2-40B4-BE49-F238E27FC236}">
                <a16:creationId xmlns:a16="http://schemas.microsoft.com/office/drawing/2014/main" id="{9C1EE534-F9F7-F5E5-D2A1-07319E6B46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6150" y="2538413"/>
          <a:ext cx="5988050" cy="374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15722600" imgH="9779000" progId="Word.Picture.8">
                  <p:embed/>
                </p:oleObj>
              </mc:Choice>
              <mc:Fallback>
                <p:oleObj name="Immagine" r:id="rId2" imgW="15722600" imgH="9779000" progId="Word.Picture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150" y="2538413"/>
                        <a:ext cx="5988050" cy="374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0" name="Text Box 4">
            <a:extLst>
              <a:ext uri="{FF2B5EF4-FFF2-40B4-BE49-F238E27FC236}">
                <a16:creationId xmlns:a16="http://schemas.microsoft.com/office/drawing/2014/main" id="{1A6846A8-AFA9-4323-CCC8-5D631A30A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00200"/>
            <a:ext cx="34290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Alee multiple NO</a:t>
            </a:r>
          </a:p>
        </p:txBody>
      </p:sp>
      <p:sp>
        <p:nvSpPr>
          <p:cNvPr id="39941" name="Text Box 5">
            <a:extLst>
              <a:ext uri="{FF2B5EF4-FFF2-40B4-BE49-F238E27FC236}">
                <a16:creationId xmlns:a16="http://schemas.microsoft.com/office/drawing/2014/main" id="{B10B0673-F148-2205-CBF4-07716B02F7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524000"/>
            <a:ext cx="3200400" cy="4699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it-IT" altLang="it-IT"/>
              <a:t>Corse (critiche) NO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1" name="Picture 2" descr="j0078711">
            <a:extLst>
              <a:ext uri="{FF2B5EF4-FFF2-40B4-BE49-F238E27FC236}">
                <a16:creationId xmlns:a16="http://schemas.microsoft.com/office/drawing/2014/main" id="{F9053C50-2CB8-DE43-D84B-A545B4219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3650" y="1392238"/>
            <a:ext cx="2103438" cy="453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2" name="Rectangle 3">
            <a:extLst>
              <a:ext uri="{FF2B5EF4-FFF2-40B4-BE49-F238E27FC236}">
                <a16:creationId xmlns:a16="http://schemas.microsoft.com/office/drawing/2014/main" id="{1F35AF58-E4D9-EDF2-CB60-8AF245010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rdi scuri">
  <a:themeElements>
    <a:clrScheme name="Bordi scuri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Bordi scuri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Bordi scuri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rdi scuri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rdi scuri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45177B960F1E44A261E08F076D1400" ma:contentTypeVersion="3" ma:contentTypeDescription="Create a new document." ma:contentTypeScope="" ma:versionID="60749ea2c40811ee273d3c0d12de8552">
  <xsd:schema xmlns:xsd="http://www.w3.org/2001/XMLSchema" xmlns:xs="http://www.w3.org/2001/XMLSchema" xmlns:p="http://schemas.microsoft.com/office/2006/metadata/properties" xmlns:ns2="58508583-b50c-41c1-8ae7-7595f9ebb610" targetNamespace="http://schemas.microsoft.com/office/2006/metadata/properties" ma:root="true" ma:fieldsID="a90d157df9c5bfcac550f8d22a627597" ns2:_="">
    <xsd:import namespace="58508583-b50c-41c1-8ae7-7595f9ebb6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508583-b50c-41c1-8ae7-7595f9ebb6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868304-DE58-4EA6-9FA9-0A2BA66D3C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7373D98-F70A-4DBF-B177-E2EF14F9EF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5472D7-6033-435D-893B-1E20B04942DF}"/>
</file>

<file path=docProps/app.xml><?xml version="1.0" encoding="utf-8"?>
<Properties xmlns="http://schemas.openxmlformats.org/officeDocument/2006/extended-properties" xmlns:vt="http://schemas.openxmlformats.org/officeDocument/2006/docPropsVTypes">
  <Template>C:\Programmi\Microsoft Office\Templates\Presentation Designs\Bordi scuri.pot</Template>
  <TotalTime>14521</TotalTime>
  <Words>1409</Words>
  <Application>Microsoft Office PowerPoint</Application>
  <PresentationFormat>Personalizzato</PresentationFormat>
  <Paragraphs>317</Paragraphs>
  <Slides>23</Slides>
  <Notes>1</Notes>
  <HiddenSlides>2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24" baseType="lpstr">
      <vt:lpstr>Bordi scuri</vt:lpstr>
      <vt:lpstr>Corso di Reti Logiche</vt:lpstr>
      <vt:lpstr>Macchine sequenziali</vt:lpstr>
      <vt:lpstr>Modello Matematico: Mealy</vt:lpstr>
      <vt:lpstr>Modello Matematico: Moore</vt:lpstr>
      <vt:lpstr>Modello realizzativo</vt:lpstr>
      <vt:lpstr>Descrizione della macchina</vt:lpstr>
      <vt:lpstr>Tabella degli stati</vt:lpstr>
      <vt:lpstr>Grafo degli stati</vt:lpstr>
      <vt:lpstr>Tabelle e grafi degli stati</vt:lpstr>
      <vt:lpstr>Esempio</vt:lpstr>
      <vt:lpstr>Esempio</vt:lpstr>
      <vt:lpstr>Esempio</vt:lpstr>
      <vt:lpstr>Modello generale</vt:lpstr>
      <vt:lpstr>Le Parti della Macchina</vt:lpstr>
      <vt:lpstr>Presentazione standard di PowerPoint</vt:lpstr>
      <vt:lpstr>Macchine asincrone</vt:lpstr>
      <vt:lpstr>Stati stabili</vt:lpstr>
      <vt:lpstr>Macchine asincrone</vt:lpstr>
      <vt:lpstr>Macchine asincrone</vt:lpstr>
      <vt:lpstr>Macchine asincrone</vt:lpstr>
      <vt:lpstr>Modello di rete asincrona (fondamentale)</vt:lpstr>
      <vt:lpstr>Limiti di reti asincrone:alee multiple e corse</vt:lpstr>
      <vt:lpstr>Domande?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Gerarchia delle Memorie</dc:title>
  <cp:lastModifiedBy>VALENTINA CASOLA</cp:lastModifiedBy>
  <cp:revision>210</cp:revision>
  <dcterms:modified xsi:type="dcterms:W3CDTF">2025-11-04T09:53:02Z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2024-02-22T10:29:30Z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78c806ab-4123-42df-9af3-0b2928923645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0x0101000E45177B960F1E44A261E08F076D1400</vt:lpwstr>
  </property>
</Properties>
</file>