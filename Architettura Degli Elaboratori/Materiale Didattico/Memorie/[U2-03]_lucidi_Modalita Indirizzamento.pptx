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3"/>
  </p:sldMasterIdLst>
  <p:notesMasterIdLst>
    <p:notesMasterId r:id="rId65"/>
  </p:notesMasterIdLst>
  <p:handoutMasterIdLst>
    <p:handoutMasterId r:id="rId66"/>
  </p:handoutMasterIdLst>
  <p:sldIdLst>
    <p:sldId id="256" r:id="rId4"/>
    <p:sldId id="317" r:id="rId5"/>
    <p:sldId id="318" r:id="rId6"/>
    <p:sldId id="319" r:id="rId7"/>
    <p:sldId id="320" r:id="rId8"/>
    <p:sldId id="354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321" r:id="rId20"/>
    <p:sldId id="274" r:id="rId21"/>
    <p:sldId id="322" r:id="rId22"/>
    <p:sldId id="323" r:id="rId23"/>
    <p:sldId id="324" r:id="rId24"/>
    <p:sldId id="325" r:id="rId25"/>
    <p:sldId id="326" r:id="rId26"/>
    <p:sldId id="327" r:id="rId27"/>
    <p:sldId id="281" r:id="rId28"/>
    <p:sldId id="328" r:id="rId29"/>
    <p:sldId id="329" r:id="rId30"/>
    <p:sldId id="330" r:id="rId31"/>
    <p:sldId id="355" r:id="rId32"/>
    <p:sldId id="285" r:id="rId33"/>
    <p:sldId id="331" r:id="rId34"/>
    <p:sldId id="332" r:id="rId35"/>
    <p:sldId id="333" r:id="rId36"/>
    <p:sldId id="334" r:id="rId37"/>
    <p:sldId id="335" r:id="rId38"/>
    <p:sldId id="336" r:id="rId39"/>
    <p:sldId id="337" r:id="rId40"/>
    <p:sldId id="293" r:id="rId41"/>
    <p:sldId id="338" r:id="rId42"/>
    <p:sldId id="339" r:id="rId43"/>
    <p:sldId id="340" r:id="rId44"/>
    <p:sldId id="341" r:id="rId45"/>
    <p:sldId id="342" r:id="rId46"/>
    <p:sldId id="343" r:id="rId47"/>
    <p:sldId id="344" r:id="rId48"/>
    <p:sldId id="345" r:id="rId49"/>
    <p:sldId id="346" r:id="rId50"/>
    <p:sldId id="347" r:id="rId51"/>
    <p:sldId id="348" r:id="rId52"/>
    <p:sldId id="349" r:id="rId53"/>
    <p:sldId id="350" r:id="rId54"/>
    <p:sldId id="307" r:id="rId55"/>
    <p:sldId id="308" r:id="rId56"/>
    <p:sldId id="316" r:id="rId57"/>
    <p:sldId id="351" r:id="rId58"/>
    <p:sldId id="352" r:id="rId59"/>
    <p:sldId id="311" r:id="rId60"/>
    <p:sldId id="312" r:id="rId61"/>
    <p:sldId id="313" r:id="rId62"/>
    <p:sldId id="314" r:id="rId63"/>
    <p:sldId id="353" r:id="rId64"/>
  </p:sldIdLst>
  <p:sldSz cx="9906000" cy="6858000" type="A4"/>
  <p:notesSz cx="6754813" cy="9969500"/>
  <p:defaultTextStyle>
    <a:defPPr>
      <a:defRPr lang="it-IT"/>
    </a:defPPr>
    <a:lvl1pPr algn="ctr" rtl="0" fontAlgn="base">
      <a:spcBef>
        <a:spcPct val="5000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ctr" rtl="0" fontAlgn="base">
      <a:spcBef>
        <a:spcPct val="5000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ctr" rtl="0" fontAlgn="base">
      <a:spcBef>
        <a:spcPct val="5000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ctr" rtl="0" fontAlgn="base">
      <a:spcBef>
        <a:spcPct val="5000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ctr" rtl="0" fontAlgn="base">
      <a:spcBef>
        <a:spcPct val="5000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bg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63DE8"/>
    <a:srgbClr val="FC0128"/>
    <a:srgbClr val="51DC00"/>
    <a:srgbClr val="FFA27C"/>
    <a:srgbClr val="FF0066"/>
    <a:srgbClr val="FF3300"/>
    <a:srgbClr val="CCFF33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slideViewPr>
    <p:cSldViewPr snapToObjects="1">
      <p:cViewPr varScale="1">
        <p:scale>
          <a:sx n="91" d="100"/>
          <a:sy n="91" d="100"/>
        </p:scale>
        <p:origin x="-624" y="-12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viewProps" Target="viewProps.xml"/><Relationship Id="rId7" Type="http://schemas.openxmlformats.org/officeDocument/2006/relationships/slide" Target="slides/slide4.xml"/><Relationship Id="rId71" Type="http://schemas.openxmlformats.org/officeDocument/2006/relationships/customXml" Target="../customXml/item3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A251FCA-3D59-E622-3083-331628D2258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1588" y="11113"/>
            <a:ext cx="2927351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defRPr sz="1000" i="1">
                <a:latin typeface="Times New Roman" panose="02020603050405020304" pitchFamily="18" charset="0"/>
              </a:defRPr>
            </a:lvl1pPr>
          </a:lstStyle>
          <a:p>
            <a:endParaRPr lang="it-IT" altLang="it-IT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756EFD4C-CDA4-DCB4-FB30-49933D1BF57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27463" y="11113"/>
            <a:ext cx="2927350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000" i="1">
                <a:latin typeface="Times New Roman" panose="02020603050405020304" pitchFamily="18" charset="0"/>
              </a:defRPr>
            </a:lvl1pPr>
          </a:lstStyle>
          <a:p>
            <a:endParaRPr lang="it-IT" altLang="it-IT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5498B4D8-B817-0E59-2D0A-0F4DC9560F95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-1588" y="9493250"/>
            <a:ext cx="2927351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defRPr sz="1000" i="1">
                <a:latin typeface="Times New Roman" panose="02020603050405020304" pitchFamily="18" charset="0"/>
              </a:defRPr>
            </a:lvl1pPr>
          </a:lstStyle>
          <a:p>
            <a:endParaRPr lang="it-IT" altLang="it-IT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AB73D07C-847E-8335-3DB5-87454C18F346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27463" y="9493250"/>
            <a:ext cx="292735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000" i="1">
                <a:latin typeface="Times New Roman" panose="02020603050405020304" pitchFamily="18" charset="0"/>
              </a:defRPr>
            </a:lvl1pPr>
          </a:lstStyle>
          <a:p>
            <a:fld id="{BA909ECE-71F2-45A9-9DE2-B5FA95F2977F}" type="slidenum">
              <a:rPr lang="it-IT" altLang="it-IT"/>
              <a:pPr/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A552FDC-590D-45F1-2D82-A76428AD4CF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1588" y="11113"/>
            <a:ext cx="2927351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l" defTabSz="762000" eaLnBrk="0" hangingPunct="0">
              <a:spcBef>
                <a:spcPct val="0"/>
              </a:spcBef>
              <a:defRPr sz="1000" i="1">
                <a:latin typeface="Times New Roman" panose="02020603050405020304" pitchFamily="18" charset="0"/>
              </a:defRPr>
            </a:lvl1pPr>
          </a:lstStyle>
          <a:p>
            <a:endParaRPr lang="it-IT" altLang="it-IT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C9B86007-228E-7D38-8758-8E1975F96A4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27463" y="11113"/>
            <a:ext cx="2927350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 eaLnBrk="0" hangingPunct="0">
              <a:spcBef>
                <a:spcPct val="0"/>
              </a:spcBef>
              <a:defRPr sz="1000" i="1">
                <a:latin typeface="Times New Roman" panose="02020603050405020304" pitchFamily="18" charset="0"/>
              </a:defRPr>
            </a:lvl1pPr>
          </a:lstStyle>
          <a:p>
            <a:endParaRPr lang="it-IT" altLang="it-IT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5F838469-F028-464E-E261-789D951D40F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-1588" y="9493250"/>
            <a:ext cx="2927351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l" defTabSz="762000" eaLnBrk="0" hangingPunct="0">
              <a:spcBef>
                <a:spcPct val="0"/>
              </a:spcBef>
              <a:defRPr sz="1000" i="1">
                <a:latin typeface="Times New Roman" panose="02020603050405020304" pitchFamily="18" charset="0"/>
              </a:defRPr>
            </a:lvl1pPr>
          </a:lstStyle>
          <a:p>
            <a:endParaRPr lang="it-IT" altLang="it-IT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BD635E24-1DB4-D400-CD60-AFB4EADFD7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27463" y="9493250"/>
            <a:ext cx="292735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 eaLnBrk="0" hangingPunct="0">
              <a:spcBef>
                <a:spcPct val="0"/>
              </a:spcBef>
              <a:defRPr sz="1000" i="1">
                <a:latin typeface="Times New Roman" panose="02020603050405020304" pitchFamily="18" charset="0"/>
              </a:defRPr>
            </a:lvl1pPr>
          </a:lstStyle>
          <a:p>
            <a:fld id="{28FDD6C3-69D6-44DE-A862-05BDA96C40A7}" type="slidenum">
              <a:rPr lang="it-IT" altLang="it-IT"/>
              <a:pPr/>
              <a:t>‹N›</a:t>
            </a:fld>
            <a:endParaRPr lang="it-IT" altLang="it-IT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819CA044-EFBA-14F7-2A6F-B46D4C3A3CB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0113" y="4738688"/>
            <a:ext cx="4953000" cy="419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delle note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14343" name="Rectangle 7">
            <a:extLst>
              <a:ext uri="{FF2B5EF4-FFF2-40B4-BE49-F238E27FC236}">
                <a16:creationId xmlns:a16="http://schemas.microsoft.com/office/drawing/2014/main" id="{C0BF99C4-3103-B65F-E362-E4A864A2C939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850900" y="869950"/>
            <a:ext cx="5051425" cy="3492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10" charset="-128"/>
        <a:cs typeface="ＭＳ Ｐゴシック" pitchFamily="-110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5">
            <a:extLst>
              <a:ext uri="{FF2B5EF4-FFF2-40B4-BE49-F238E27FC236}">
                <a16:creationId xmlns:a16="http://schemas.microsoft.com/office/drawing/2014/main" id="{A73434DE-7CC0-5AAF-EA32-EC897C2F40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C0C7B6F-BC5F-4BA1-9EF9-07A04E3DD66F}" type="slidenum">
              <a:rPr lang="it-IT" altLang="it-IT" sz="1000">
                <a:latin typeface="Times New Roman" panose="02020603050405020304" pitchFamily="18" charset="0"/>
              </a:rPr>
              <a:pPr/>
              <a:t>25</a:t>
            </a:fld>
            <a:endParaRPr lang="it-IT" altLang="it-IT" sz="1000">
              <a:latin typeface="Times New Roman" panose="02020603050405020304" pitchFamily="18" charset="0"/>
            </a:endParaRPr>
          </a:p>
        </p:txBody>
      </p:sp>
      <p:sp>
        <p:nvSpPr>
          <p:cNvPr id="40963" name="Rectangle 1026">
            <a:extLst>
              <a:ext uri="{FF2B5EF4-FFF2-40B4-BE49-F238E27FC236}">
                <a16:creationId xmlns:a16="http://schemas.microsoft.com/office/drawing/2014/main" id="{AA98A95D-B6D5-8DCB-F10C-0F321D1722A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687388" y="754063"/>
            <a:ext cx="5380037" cy="3724275"/>
          </a:xfrm>
          <a:solidFill>
            <a:srgbClr val="FFFFFF"/>
          </a:solidFill>
          <a:ln/>
        </p:spPr>
      </p:sp>
      <p:sp>
        <p:nvSpPr>
          <p:cNvPr id="40964" name="Rectangle 1027">
            <a:extLst>
              <a:ext uri="{FF2B5EF4-FFF2-40B4-BE49-F238E27FC236}">
                <a16:creationId xmlns:a16="http://schemas.microsoft.com/office/drawing/2014/main" id="{4E7E462C-50D3-8C03-00A9-5F4F524BF4FB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901700" y="4735513"/>
            <a:ext cx="4951413" cy="44862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2172" tIns="46086" rIns="92172" bIns="46086"/>
          <a:lstStyle/>
          <a:p>
            <a:pPr eaLnBrk="1" hangingPunct="1"/>
            <a:endParaRPr lang="en-US" altLang="it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7212FFF-D370-1288-B18E-10AF37EAB1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it-IT" altLang="it-IT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B5C0426-1B8C-0107-089A-8E74A67E0C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it-IT" altLang="it-IT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9F9FD9C-C2CD-2BBE-F06A-53E753893C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197BBD-C0CB-4862-9B0F-6C89EA345854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041240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4110495-C7B8-1056-D578-EF391CD9AA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it-IT" altLang="it-IT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2683D2A-0E6D-FA9F-A8D8-22A7CBF1AA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it-IT" altLang="it-IT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7B56F78-4457-95CB-5214-DBE84E5BA7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127B09-806E-40C8-B729-25CB6F4D2BB3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03686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60FC1C7-0D5E-F2A0-65ED-1AC77404B7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it-IT" altLang="it-IT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FED05B8-32DF-602C-9B7A-557A6C795E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it-IT" altLang="it-IT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ED71306-3250-39D3-56A7-ED364FEC4C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EE5159-0721-45B8-ADC9-D49A7B8D18D6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037264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20688" y="1447800"/>
            <a:ext cx="4373562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946650" y="1447800"/>
            <a:ext cx="4373563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A037DD9-A18F-4DBA-88F1-D0D2BD5322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it-IT" altLang="it-IT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ABD5245-55DA-BE49-6D5F-7200BF01B8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it-IT" altLang="it-IT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89AF670-22BA-8CD0-68DC-3EF641E8B8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F5DC82-BEC0-4C7B-BFE2-ABDAA20C06F2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65179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5198EE8-BFBD-216F-AAE3-543946733F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it-IT" altLang="it-IT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15F6614-C3B4-E3BA-D4EE-02F4444CC1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it-IT" altLang="it-IT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114666E-2E49-7CA5-9E6B-16B436F9E8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76F198-CA8C-4597-8296-F6FE02EEDEDE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289357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3A66DA-72AA-F009-A868-7E54007F1E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it-IT" alt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0FBF88-FD74-E5D2-8B18-5E11B099F3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it-IT" alt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B77D7B-41C9-01CA-4F9B-B50FE55EE5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69D217-AC72-4D4C-8CB9-50C314C1F810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030505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5B4DF94-6D7E-E2E8-9A03-21F9EFD736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it-IT" altLang="it-IT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F8BE6D4-C738-ABC2-8015-4A6A0F3528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it-IT" altLang="it-I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EDA12D6-5A3B-D60F-3864-477E942802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FB8854-C336-4D57-B87D-B32E883A35F7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235376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4A622E8-26D3-DBA6-53CB-D25A99465B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it-IT" altLang="it-IT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18AE4BE-64B1-7372-0D41-D65D7BA921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it-IT" altLang="it-IT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CA5CDB8-2A4B-2E10-D1D7-2EF85D77BF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1B6A90-9921-4F37-8EBC-D7A4A0794497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000335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73392DA-8316-C36F-4F0D-B4AE611D77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it-IT" altLang="it-IT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5A0AFCB-923B-CBEB-BC9F-851ADBC733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it-IT" altLang="it-IT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ADACBB9-CDD5-98E7-C464-638CAA385F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0B452A-CAF4-41FA-8619-D24BED656351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812137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CCA96B9-4513-0BA3-3188-3ABAEFF480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it-IT" altLang="it-IT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E59D395-89E6-3BFA-39C7-A0ACE48340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it-IT" altLang="it-IT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574C4C51-99D5-A6CC-A766-A38F783A6F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AE7B9B-62A4-4C25-A012-92AD2D4FCC1D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133270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7096125" y="188913"/>
            <a:ext cx="2224088" cy="5907087"/>
          </a:xfrm>
        </p:spPr>
        <p:txBody>
          <a:bodyPr vert="eaVert"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20688" y="188913"/>
            <a:ext cx="6523037" cy="5907087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3674040-A557-E9CE-5A03-B5F14441D9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it-IT" altLang="it-IT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F624749-21BA-9CBB-A001-9C44564E96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it-IT" altLang="it-IT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241ABC5-F590-F24C-3A83-6F13F19A7F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CEB001-99B1-45E8-903F-8CF959020E91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39582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D1DC36F-8DE4-6923-1DDF-6ED22376473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defRPr sz="1400">
                <a:latin typeface="Times New Roman" panose="02020603050405020304" pitchFamily="18" charset="0"/>
              </a:defRPr>
            </a:lvl1pPr>
          </a:lstStyle>
          <a:p>
            <a:endParaRPr lang="it-IT" altLang="it-IT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28CF309-B763-D85E-B4B3-955D94EC9A3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400">
                <a:latin typeface="Times New Roman" panose="02020603050405020304" pitchFamily="18" charset="0"/>
              </a:defRPr>
            </a:lvl1pPr>
          </a:lstStyle>
          <a:p>
            <a:endParaRPr lang="it-IT" altLang="it-IT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DDB83EE-B050-48CD-7E26-825C92C6D72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315200" y="624840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400">
                <a:latin typeface="Times New Roman" panose="02020603050405020304" pitchFamily="18" charset="0"/>
              </a:defRPr>
            </a:lvl1pPr>
          </a:lstStyle>
          <a:p>
            <a:fld id="{3DD82DCD-C698-4013-B6C2-425AACE55626}" type="slidenum">
              <a:rPr lang="it-IT" altLang="it-IT"/>
              <a:pPr/>
              <a:t>‹N›</a:t>
            </a:fld>
            <a:endParaRPr lang="it-IT" altLang="it-IT"/>
          </a:p>
        </p:txBody>
      </p:sp>
      <p:grpSp>
        <p:nvGrpSpPr>
          <p:cNvPr id="1029" name="Group 7">
            <a:extLst>
              <a:ext uri="{FF2B5EF4-FFF2-40B4-BE49-F238E27FC236}">
                <a16:creationId xmlns:a16="http://schemas.microsoft.com/office/drawing/2014/main" id="{F25915A9-E70E-5D49-1E68-C655F6761257}"/>
              </a:ext>
            </a:extLst>
          </p:cNvPr>
          <p:cNvGrpSpPr>
            <a:grpSpLocks/>
          </p:cNvGrpSpPr>
          <p:nvPr/>
        </p:nvGrpSpPr>
        <p:grpSpPr bwMode="auto">
          <a:xfrm>
            <a:off x="0" y="838200"/>
            <a:ext cx="9893300" cy="304800"/>
            <a:chOff x="0" y="624"/>
            <a:chExt cx="6232" cy="192"/>
          </a:xfrm>
        </p:grpSpPr>
        <p:sp>
          <p:nvSpPr>
            <p:cNvPr id="2" name="Rectangle 5">
              <a:extLst>
                <a:ext uri="{FF2B5EF4-FFF2-40B4-BE49-F238E27FC236}">
                  <a16:creationId xmlns:a16="http://schemas.microsoft.com/office/drawing/2014/main" id="{16027946-43C6-2518-C4AD-3041B79C5C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24"/>
              <a:ext cx="6232" cy="93"/>
            </a:xfrm>
            <a:prstGeom prst="rect">
              <a:avLst/>
            </a:prstGeom>
            <a:solidFill>
              <a:srgbClr val="E5405D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3" name="Rectangle 6">
              <a:extLst>
                <a:ext uri="{FF2B5EF4-FFF2-40B4-BE49-F238E27FC236}">
                  <a16:creationId xmlns:a16="http://schemas.microsoft.com/office/drawing/2014/main" id="{5D42A9CD-19DF-5706-8466-A17278DECD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768"/>
              <a:ext cx="6232" cy="48"/>
            </a:xfrm>
            <a:prstGeom prst="rect">
              <a:avLst/>
            </a:prstGeom>
            <a:solidFill>
              <a:srgbClr val="E5405D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it-IT" altLang="it-IT"/>
            </a:p>
          </p:txBody>
        </p:sp>
      </p:grpSp>
      <p:sp>
        <p:nvSpPr>
          <p:cNvPr id="1030" name="Rectangle 8">
            <a:extLst>
              <a:ext uri="{FF2B5EF4-FFF2-40B4-BE49-F238E27FC236}">
                <a16:creationId xmlns:a16="http://schemas.microsoft.com/office/drawing/2014/main" id="{8394DFC3-939F-DC3D-2407-47955DF912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15950" y="188913"/>
            <a:ext cx="86741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il titolo dello schema</a:t>
            </a:r>
          </a:p>
        </p:txBody>
      </p:sp>
      <p:sp>
        <p:nvSpPr>
          <p:cNvPr id="1031" name="Rectangle 9">
            <a:extLst>
              <a:ext uri="{FF2B5EF4-FFF2-40B4-BE49-F238E27FC236}">
                <a16:creationId xmlns:a16="http://schemas.microsoft.com/office/drawing/2014/main" id="{AE39F3D4-6EFC-7526-62C8-F7BA9A1F87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20688" y="1447800"/>
            <a:ext cx="8899525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1AB6AB34-3A94-CE2A-A85B-1CC0DE4A2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350" y="6423025"/>
            <a:ext cx="50990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it-IT" altLang="it-IT" sz="1200" i="1">
                <a:latin typeface="Century Gothic" panose="020B0502020202020204" pitchFamily="34" charset="0"/>
              </a:rPr>
              <a:t>DIS - Dipartimento di Informatica e Sistemistica- Università di Napoli</a:t>
            </a:r>
          </a:p>
        </p:txBody>
      </p:sp>
      <p:pic>
        <p:nvPicPr>
          <p:cNvPr id="1033" name="Picture 13">
            <a:extLst>
              <a:ext uri="{FF2B5EF4-FFF2-40B4-BE49-F238E27FC236}">
                <a16:creationId xmlns:a16="http://schemas.microsoft.com/office/drawing/2014/main" id="{436FB1AA-8E37-D402-6389-5B504759830B}"/>
              </a:ext>
            </a:extLst>
          </p:cNvPr>
          <p:cNvPicPr>
            <a:picLocks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0213" y="6181725"/>
            <a:ext cx="596900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itchFamily="-107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itchFamily="-107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itchFamily="-107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itchFamily="-107" charset="0"/>
          <a:ea typeface="ＭＳ Ｐゴシック" pitchFamily="-110" charset="-128"/>
          <a:cs typeface="ＭＳ Ｐゴシック" pitchFamily="-110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itchFamily="-107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itchFamily="-107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itchFamily="-107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itchFamily="-107" charset="0"/>
        </a:defRPr>
      </a:lvl9pPr>
    </p:titleStyle>
    <p:bodyStyle>
      <a:lvl1pPr marL="342900" indent="-342900" algn="just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Ø"/>
        <a:defRPr sz="2800">
          <a:solidFill>
            <a:schemeClr val="tx1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742950" indent="-285750" algn="just" rtl="0" eaLnBrk="0" fontAlgn="base" hangingPunct="0">
        <a:spcBef>
          <a:spcPct val="20000"/>
        </a:spcBef>
        <a:spcAft>
          <a:spcPct val="0"/>
        </a:spcAft>
        <a:buClr>
          <a:srgbClr val="E5405D"/>
        </a:buClr>
        <a:buChar char="»"/>
        <a:defRPr sz="24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just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¨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just" rtl="0" eaLnBrk="0" fontAlgn="base" hangingPunct="0">
        <a:spcBef>
          <a:spcPct val="20000"/>
        </a:spcBef>
        <a:spcAft>
          <a:spcPct val="0"/>
        </a:spcAft>
        <a:buClr>
          <a:srgbClr val="E5405D"/>
        </a:buClr>
        <a:buSzPct val="64000"/>
        <a:buFont typeface="Monotype Sorts" pitchFamily="-110" charset="2"/>
        <a:buChar char="l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just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just" rtl="0" fontAlgn="base">
        <a:spcBef>
          <a:spcPct val="20000"/>
        </a:spcBef>
        <a:spcAft>
          <a:spcPct val="0"/>
        </a:spcAft>
        <a:buClr>
          <a:schemeClr val="hlink"/>
        </a:buClr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6pPr>
      <a:lvl7pPr marL="2971800" indent="-228600" algn="just" rtl="0" fontAlgn="base">
        <a:spcBef>
          <a:spcPct val="20000"/>
        </a:spcBef>
        <a:spcAft>
          <a:spcPct val="0"/>
        </a:spcAft>
        <a:buClr>
          <a:schemeClr val="hlink"/>
        </a:buClr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7pPr>
      <a:lvl8pPr marL="3429000" indent="-228600" algn="just" rtl="0" fontAlgn="base">
        <a:spcBef>
          <a:spcPct val="20000"/>
        </a:spcBef>
        <a:spcAft>
          <a:spcPct val="0"/>
        </a:spcAft>
        <a:buClr>
          <a:schemeClr val="hlink"/>
        </a:buClr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8pPr>
      <a:lvl9pPr marL="3886200" indent="-228600" algn="just" rtl="0" fontAlgn="base">
        <a:spcBef>
          <a:spcPct val="20000"/>
        </a:spcBef>
        <a:spcAft>
          <a:spcPct val="0"/>
        </a:spcAft>
        <a:buClr>
          <a:schemeClr val="hlink"/>
        </a:buClr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egnaposto numero diapositiva 5">
            <a:extLst>
              <a:ext uri="{FF2B5EF4-FFF2-40B4-BE49-F238E27FC236}">
                <a16:creationId xmlns:a16="http://schemas.microsoft.com/office/drawing/2014/main" id="{68CCD0BE-89B2-91DB-6FF2-9243C3707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DA7F753-1322-4E75-9802-989A4DF0C16A}" type="slidenum">
              <a:rPr lang="it-IT" altLang="it-IT" sz="1400">
                <a:latin typeface="Times New Roman" panose="02020603050405020304" pitchFamily="18" charset="0"/>
              </a:rPr>
              <a:pPr/>
              <a:t>1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0ACF1F22-A8CD-A787-B875-7AFEAA09078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066800" y="1524000"/>
            <a:ext cx="7772400" cy="1143000"/>
          </a:xfrm>
          <a:noFill/>
        </p:spPr>
        <p:txBody>
          <a:bodyPr anchor="ctr"/>
          <a:lstStyle/>
          <a:p>
            <a:pPr algn="ctr"/>
            <a:r>
              <a:rPr lang="en-US" altLang="it-IT" sz="4000">
                <a:solidFill>
                  <a:srgbClr val="FC0128"/>
                </a:solidFill>
                <a:ea typeface="ＭＳ Ｐゴシック" panose="020B0600070205080204" pitchFamily="34" charset="-128"/>
              </a:rPr>
              <a:t>Indirizzamento</a:t>
            </a:r>
            <a:endParaRPr lang="it-IT" altLang="it-IT" sz="4000">
              <a:solidFill>
                <a:srgbClr val="FC0128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30C8BD90-DDD7-5E61-DE11-F32ADCA7D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276600"/>
            <a:ext cx="85344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</a:pPr>
            <a:r>
              <a:rPr lang="it-IT" altLang="it-IT" sz="3200"/>
              <a:t>Corso di Calcolatori Elettronici I</a:t>
            </a:r>
          </a:p>
          <a:p>
            <a:pPr>
              <a:spcBef>
                <a:spcPct val="20000"/>
              </a:spcBef>
            </a:pPr>
            <a:endParaRPr lang="it-IT" altLang="it-IT" sz="3200"/>
          </a:p>
          <a:p>
            <a:pPr>
              <a:spcBef>
                <a:spcPct val="20000"/>
              </a:spcBef>
            </a:pPr>
            <a:r>
              <a:rPr lang="it-IT" altLang="it-IT" sz="2400"/>
              <a:t>Dipartimento di Informatica e Sistemistica</a:t>
            </a:r>
          </a:p>
          <a:p>
            <a:pPr>
              <a:spcBef>
                <a:spcPct val="20000"/>
              </a:spcBef>
            </a:pPr>
            <a:r>
              <a:rPr lang="it-IT" altLang="it-IT" sz="2400"/>
              <a:t>Università degli Studi di Napoli “Federico II”</a:t>
            </a:r>
            <a:endParaRPr lang="it-IT" altLang="it-IT" sz="180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egnaposto numero diapositiva 5">
            <a:extLst>
              <a:ext uri="{FF2B5EF4-FFF2-40B4-BE49-F238E27FC236}">
                <a16:creationId xmlns:a16="http://schemas.microsoft.com/office/drawing/2014/main" id="{0BD64E2A-171A-5DF3-B40B-C8C1BEAAB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57FEC6E-B37F-48CA-8BE9-BB3058CE08D9}" type="slidenum">
              <a:rPr lang="it-IT" altLang="it-IT" sz="1400">
                <a:latin typeface="Times New Roman" panose="02020603050405020304" pitchFamily="18" charset="0"/>
              </a:rPr>
              <a:pPr/>
              <a:t>2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E344B465-D73D-39B0-E909-154B8FE026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Sommario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CEA9C809-1E24-F7D8-B977-AE06535DB4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0688" y="1447800"/>
            <a:ext cx="8899525" cy="4789488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it-IT" altLang="it-IT">
                <a:ea typeface="ＭＳ Ｐゴシック" panose="020B0600070205080204" pitchFamily="34" charset="-128"/>
              </a:rPr>
              <a:t>Concetti preliminari</a:t>
            </a:r>
          </a:p>
          <a:p>
            <a:pPr eaLnBrk="1" hangingPunct="1">
              <a:spcBef>
                <a:spcPct val="0"/>
              </a:spcBef>
            </a:pPr>
            <a:r>
              <a:rPr lang="it-IT" altLang="it-IT">
                <a:ea typeface="ＭＳ Ｐゴシック" panose="020B0600070205080204" pitchFamily="34" charset="-128"/>
              </a:rPr>
              <a:t>Modi di indirizzamento fondamentali</a:t>
            </a:r>
          </a:p>
          <a:p>
            <a:pPr eaLnBrk="1" hangingPunct="1">
              <a:spcBef>
                <a:spcPct val="0"/>
              </a:spcBef>
            </a:pPr>
            <a:r>
              <a:rPr lang="it-IT" altLang="it-IT">
                <a:ea typeface="ＭＳ Ｐゴシック" panose="020B0600070205080204" pitchFamily="34" charset="-128"/>
              </a:rPr>
              <a:t>Altri modi di indirizzamento (cenni)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egnaposto numero diapositiva 5">
            <a:extLst>
              <a:ext uri="{FF2B5EF4-FFF2-40B4-BE49-F238E27FC236}">
                <a16:creationId xmlns:a16="http://schemas.microsoft.com/office/drawing/2014/main" id="{20D9C9C2-C5B9-C3D9-2A94-AB847B3AB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9C5DA67-7B8F-4F0F-ACF8-0CCA1D0DDCFE}" type="slidenum">
              <a:rPr lang="it-IT" altLang="it-IT" sz="1400">
                <a:latin typeface="Times New Roman" panose="02020603050405020304" pitchFamily="18" charset="0"/>
              </a:rPr>
              <a:pPr/>
              <a:t>3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6D1C69D3-47D4-65DC-3121-682D65CD56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Memoria centrale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C0649937-6F12-1ADA-3F11-EE037C1125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0688" y="1447800"/>
            <a:ext cx="8899525" cy="2701925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it-IT" altLang="it-IT" sz="2400">
                <a:ea typeface="ＭＳ Ｐゴシック" panose="020B0600070205080204" pitchFamily="34" charset="-128"/>
              </a:rPr>
              <a:t>La memoria centrale di un computer è organizzata come un array di stringhe di bit di lunghezza m, dette </a:t>
            </a:r>
            <a:r>
              <a:rPr lang="it-IT" altLang="it-IT" sz="2400" i="1">
                <a:ea typeface="ＭＳ Ｐゴシック" panose="020B0600070205080204" pitchFamily="34" charset="-128"/>
              </a:rPr>
              <a:t>parole </a:t>
            </a:r>
            <a:r>
              <a:rPr lang="it-IT" altLang="it-IT" sz="2400">
                <a:ea typeface="ＭＳ Ｐゴシック" panose="020B0600070205080204" pitchFamily="34" charset="-128"/>
              </a:rPr>
              <a:t>o</a:t>
            </a:r>
            <a:r>
              <a:rPr lang="it-IT" altLang="it-IT" sz="2400" i="1">
                <a:ea typeface="ＭＳ Ｐゴシック" panose="020B0600070205080204" pitchFamily="34" charset="-128"/>
              </a:rPr>
              <a:t> word</a:t>
            </a:r>
            <a:r>
              <a:rPr lang="it-IT" altLang="it-IT" sz="2400">
                <a:ea typeface="ＭＳ Ｐゴシック" panose="020B0600070205080204" pitchFamily="34" charset="-128"/>
              </a:rPr>
              <a:t> (</a:t>
            </a:r>
            <a:r>
              <a:rPr lang="it-IT" altLang="it-IT" sz="1600">
                <a:ea typeface="ＭＳ Ｐゴシック" panose="020B0600070205080204" pitchFamily="34" charset="-128"/>
              </a:rPr>
              <a:t>m = LUNGHEZZA DI PAROLA</a:t>
            </a:r>
            <a:r>
              <a:rPr lang="it-IT" altLang="it-IT" sz="2000">
                <a:ea typeface="ＭＳ Ｐゴシック" panose="020B0600070205080204" pitchFamily="34" charset="-128"/>
              </a:rPr>
              <a:t>)</a:t>
            </a:r>
            <a:endParaRPr lang="it-IT" altLang="it-IT" sz="2400">
              <a:ea typeface="ＭＳ Ｐゴシック" panose="020B0600070205080204" pitchFamily="34" charset="-128"/>
            </a:endParaRPr>
          </a:p>
          <a:p>
            <a:pPr eaLnBrk="1" hangingPunct="1">
              <a:spcBef>
                <a:spcPct val="0"/>
              </a:spcBef>
            </a:pPr>
            <a:r>
              <a:rPr lang="it-IT" altLang="it-IT" sz="2400">
                <a:ea typeface="ＭＳ Ｐゴシック" panose="020B0600070205080204" pitchFamily="34" charset="-128"/>
              </a:rPr>
              <a:t>Gli m bit di una parola sono accessibili dal processore </a:t>
            </a:r>
            <a:br>
              <a:rPr lang="it-IT" altLang="it-IT" sz="2400">
                <a:ea typeface="ＭＳ Ｐゴシック" panose="020B0600070205080204" pitchFamily="34" charset="-128"/>
              </a:rPr>
            </a:br>
            <a:r>
              <a:rPr lang="it-IT" altLang="it-IT" sz="2400">
                <a:ea typeface="ＭＳ Ｐゴシック" panose="020B0600070205080204" pitchFamily="34" charset="-128"/>
              </a:rPr>
              <a:t>(in lettura/scrittura) mediante un’unica operazione</a:t>
            </a:r>
          </a:p>
          <a:p>
            <a:pPr eaLnBrk="1" hangingPunct="1">
              <a:spcBef>
                <a:spcPct val="0"/>
              </a:spcBef>
            </a:pPr>
            <a:r>
              <a:rPr lang="it-IT" altLang="it-IT" sz="2400">
                <a:ea typeface="ＭＳ Ｐゴシック" panose="020B0600070205080204" pitchFamily="34" charset="-128"/>
              </a:rPr>
              <a:t>Ogni parola è individuata da un </a:t>
            </a:r>
            <a:r>
              <a:rPr lang="it-IT" altLang="it-IT" sz="2400" i="1">
                <a:ea typeface="ＭＳ Ｐゴシック" panose="020B0600070205080204" pitchFamily="34" charset="-128"/>
              </a:rPr>
              <a:t>indirizzo</a:t>
            </a:r>
            <a:r>
              <a:rPr lang="it-IT" altLang="it-IT" sz="2400">
                <a:ea typeface="ＭＳ Ｐゴシック" panose="020B0600070205080204" pitchFamily="34" charset="-128"/>
              </a:rPr>
              <a:t>, cioè un intero compreso tra 0 e N-1 (</a:t>
            </a:r>
            <a:r>
              <a:rPr lang="it-IT" altLang="it-IT" sz="1600">
                <a:ea typeface="ＭＳ Ｐゴシック" panose="020B0600070205080204" pitchFamily="34" charset="-128"/>
              </a:rPr>
              <a:t>SPAZIO DI INDIRIZZAMENTO</a:t>
            </a:r>
            <a:r>
              <a:rPr lang="it-IT" altLang="it-IT" sz="2400">
                <a:ea typeface="ＭＳ Ｐゴシック" panose="020B0600070205080204" pitchFamily="34" charset="-128"/>
              </a:rPr>
              <a:t>), con N = 2</a:t>
            </a:r>
            <a:r>
              <a:rPr lang="it-IT" altLang="it-IT" sz="2400" baseline="30000">
                <a:ea typeface="ＭＳ Ｐゴシック" panose="020B0600070205080204" pitchFamily="34" charset="-128"/>
              </a:rPr>
              <a:t>c</a:t>
            </a:r>
            <a:endParaRPr lang="it-IT" altLang="it-IT">
              <a:ea typeface="ＭＳ Ｐゴシック" panose="020B0600070205080204" pitchFamily="34" charset="-128"/>
            </a:endParaRPr>
          </a:p>
        </p:txBody>
      </p:sp>
      <p:grpSp>
        <p:nvGrpSpPr>
          <p:cNvPr id="17413" name="Group 4">
            <a:extLst>
              <a:ext uri="{FF2B5EF4-FFF2-40B4-BE49-F238E27FC236}">
                <a16:creationId xmlns:a16="http://schemas.microsoft.com/office/drawing/2014/main" id="{0852CBF6-E381-2598-2BA4-824C04FD09C3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4156075"/>
            <a:ext cx="6191250" cy="1925638"/>
            <a:chOff x="1296" y="2544"/>
            <a:chExt cx="3900" cy="1213"/>
          </a:xfrm>
        </p:grpSpPr>
        <p:grpSp>
          <p:nvGrpSpPr>
            <p:cNvPr id="17414" name="Group 5">
              <a:extLst>
                <a:ext uri="{FF2B5EF4-FFF2-40B4-BE49-F238E27FC236}">
                  <a16:creationId xmlns:a16="http://schemas.microsoft.com/office/drawing/2014/main" id="{3CA892F0-1CB2-C4D8-E6B3-E2A0291508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72" y="2544"/>
              <a:ext cx="725" cy="1154"/>
              <a:chOff x="3456" y="2880"/>
              <a:chExt cx="768" cy="1344"/>
            </a:xfrm>
          </p:grpSpPr>
          <p:grpSp>
            <p:nvGrpSpPr>
              <p:cNvPr id="17431" name="Group 6">
                <a:extLst>
                  <a:ext uri="{FF2B5EF4-FFF2-40B4-BE49-F238E27FC236}">
                    <a16:creationId xmlns:a16="http://schemas.microsoft.com/office/drawing/2014/main" id="{EC905A7C-BD8D-4B38-94F8-FF11A0DA99B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56" y="2880"/>
                <a:ext cx="768" cy="192"/>
                <a:chOff x="3456" y="2880"/>
                <a:chExt cx="768" cy="192"/>
              </a:xfrm>
            </p:grpSpPr>
            <p:sp>
              <p:nvSpPr>
                <p:cNvPr id="17438" name="Rectangle 7">
                  <a:extLst>
                    <a:ext uri="{FF2B5EF4-FFF2-40B4-BE49-F238E27FC236}">
                      <a16:creationId xmlns:a16="http://schemas.microsoft.com/office/drawing/2014/main" id="{D645646E-BB86-0A00-9877-BC7160340A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56" y="2880"/>
                  <a:ext cx="9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/>
                  <a:endParaRPr lang="it-IT" altLang="it-IT"/>
                </a:p>
              </p:txBody>
            </p:sp>
            <p:sp>
              <p:nvSpPr>
                <p:cNvPr id="17439" name="Rectangle 8">
                  <a:extLst>
                    <a:ext uri="{FF2B5EF4-FFF2-40B4-BE49-F238E27FC236}">
                      <a16:creationId xmlns:a16="http://schemas.microsoft.com/office/drawing/2014/main" id="{71852199-9E59-2650-6083-4AE0DB5413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2880"/>
                  <a:ext cx="9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/>
                  <a:endParaRPr lang="it-IT" altLang="it-IT"/>
                </a:p>
              </p:txBody>
            </p:sp>
            <p:sp>
              <p:nvSpPr>
                <p:cNvPr id="17440" name="Rectangle 9">
                  <a:extLst>
                    <a:ext uri="{FF2B5EF4-FFF2-40B4-BE49-F238E27FC236}">
                      <a16:creationId xmlns:a16="http://schemas.microsoft.com/office/drawing/2014/main" id="{9D2CA403-0821-9F4E-5BD4-3AE3297F3C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48" y="2880"/>
                  <a:ext cx="9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/>
                  <a:endParaRPr lang="it-IT" altLang="it-IT"/>
                </a:p>
              </p:txBody>
            </p:sp>
            <p:sp>
              <p:nvSpPr>
                <p:cNvPr id="17441" name="Rectangle 10">
                  <a:extLst>
                    <a:ext uri="{FF2B5EF4-FFF2-40B4-BE49-F238E27FC236}">
                      <a16:creationId xmlns:a16="http://schemas.microsoft.com/office/drawing/2014/main" id="{BC52B8E7-CC09-7478-04C0-BADC9EF732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44" y="2880"/>
                  <a:ext cx="9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/>
                  <a:endParaRPr lang="it-IT" altLang="it-IT"/>
                </a:p>
              </p:txBody>
            </p:sp>
            <p:sp>
              <p:nvSpPr>
                <p:cNvPr id="17442" name="Rectangle 11">
                  <a:extLst>
                    <a:ext uri="{FF2B5EF4-FFF2-40B4-BE49-F238E27FC236}">
                      <a16:creationId xmlns:a16="http://schemas.microsoft.com/office/drawing/2014/main" id="{C9E3E371-08E2-08FE-931A-F433B5413A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40" y="2880"/>
                  <a:ext cx="9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/>
                  <a:endParaRPr lang="it-IT" altLang="it-IT"/>
                </a:p>
              </p:txBody>
            </p:sp>
            <p:sp>
              <p:nvSpPr>
                <p:cNvPr id="17443" name="Rectangle 12">
                  <a:extLst>
                    <a:ext uri="{FF2B5EF4-FFF2-40B4-BE49-F238E27FC236}">
                      <a16:creationId xmlns:a16="http://schemas.microsoft.com/office/drawing/2014/main" id="{94BBCE7F-6FBE-57D2-422D-651DF8A0E7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36" y="2880"/>
                  <a:ext cx="9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/>
                  <a:endParaRPr lang="it-IT" altLang="it-IT"/>
                </a:p>
              </p:txBody>
            </p:sp>
            <p:sp>
              <p:nvSpPr>
                <p:cNvPr id="17444" name="Rectangle 13">
                  <a:extLst>
                    <a:ext uri="{FF2B5EF4-FFF2-40B4-BE49-F238E27FC236}">
                      <a16:creationId xmlns:a16="http://schemas.microsoft.com/office/drawing/2014/main" id="{E8C6CB82-85EF-BC8E-C8E8-995CEEEAEE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32" y="2880"/>
                  <a:ext cx="9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/>
                  <a:endParaRPr lang="it-IT" altLang="it-IT"/>
                </a:p>
              </p:txBody>
            </p:sp>
            <p:sp>
              <p:nvSpPr>
                <p:cNvPr id="17445" name="Rectangle 14">
                  <a:extLst>
                    <a:ext uri="{FF2B5EF4-FFF2-40B4-BE49-F238E27FC236}">
                      <a16:creationId xmlns:a16="http://schemas.microsoft.com/office/drawing/2014/main" id="{08E98500-89A7-EED3-3A95-F17DC5B5F6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28" y="2880"/>
                  <a:ext cx="9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/>
                  <a:endParaRPr lang="it-IT" altLang="it-IT"/>
                </a:p>
              </p:txBody>
            </p:sp>
          </p:grpSp>
          <p:sp>
            <p:nvSpPr>
              <p:cNvPr id="17432" name="Rectangle 15">
                <a:extLst>
                  <a:ext uri="{FF2B5EF4-FFF2-40B4-BE49-F238E27FC236}">
                    <a16:creationId xmlns:a16="http://schemas.microsoft.com/office/drawing/2014/main" id="{8B8F8D33-23F6-3431-D19A-200E9D8FED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3072"/>
                <a:ext cx="768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it-IT" altLang="it-IT"/>
              </a:p>
            </p:txBody>
          </p:sp>
          <p:sp>
            <p:nvSpPr>
              <p:cNvPr id="17433" name="Rectangle 16">
                <a:extLst>
                  <a:ext uri="{FF2B5EF4-FFF2-40B4-BE49-F238E27FC236}">
                    <a16:creationId xmlns:a16="http://schemas.microsoft.com/office/drawing/2014/main" id="{0E606540-9E8A-A291-0DB6-39C7CEC1AE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3264"/>
                <a:ext cx="768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it-IT" altLang="it-IT"/>
              </a:p>
            </p:txBody>
          </p:sp>
          <p:sp>
            <p:nvSpPr>
              <p:cNvPr id="17434" name="Rectangle 17">
                <a:extLst>
                  <a:ext uri="{FF2B5EF4-FFF2-40B4-BE49-F238E27FC236}">
                    <a16:creationId xmlns:a16="http://schemas.microsoft.com/office/drawing/2014/main" id="{FF3E37ED-C449-02FC-8A07-C29B3B47E8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3456"/>
                <a:ext cx="768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it-IT" altLang="it-IT"/>
              </a:p>
            </p:txBody>
          </p:sp>
          <p:sp>
            <p:nvSpPr>
              <p:cNvPr id="17435" name="Rectangle 18">
                <a:extLst>
                  <a:ext uri="{FF2B5EF4-FFF2-40B4-BE49-F238E27FC236}">
                    <a16:creationId xmlns:a16="http://schemas.microsoft.com/office/drawing/2014/main" id="{4B19549E-949C-90B7-FE7E-5C1D01139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3648"/>
                <a:ext cx="768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it-IT" altLang="it-IT"/>
              </a:p>
            </p:txBody>
          </p:sp>
          <p:sp>
            <p:nvSpPr>
              <p:cNvPr id="17436" name="Rectangle 19">
                <a:extLst>
                  <a:ext uri="{FF2B5EF4-FFF2-40B4-BE49-F238E27FC236}">
                    <a16:creationId xmlns:a16="http://schemas.microsoft.com/office/drawing/2014/main" id="{151131E6-E24A-F94A-51C5-4D81782E46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3840"/>
                <a:ext cx="768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it-IT" altLang="it-IT"/>
              </a:p>
            </p:txBody>
          </p:sp>
          <p:sp>
            <p:nvSpPr>
              <p:cNvPr id="17437" name="Rectangle 20">
                <a:extLst>
                  <a:ext uri="{FF2B5EF4-FFF2-40B4-BE49-F238E27FC236}">
                    <a16:creationId xmlns:a16="http://schemas.microsoft.com/office/drawing/2014/main" id="{598522D9-958E-B53F-95CD-055DA73621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4032"/>
                <a:ext cx="768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it-IT" altLang="it-IT"/>
              </a:p>
            </p:txBody>
          </p:sp>
        </p:grpSp>
        <p:sp>
          <p:nvSpPr>
            <p:cNvPr id="17415" name="Text Box 21">
              <a:extLst>
                <a:ext uri="{FF2B5EF4-FFF2-40B4-BE49-F238E27FC236}">
                  <a16:creationId xmlns:a16="http://schemas.microsoft.com/office/drawing/2014/main" id="{07751E70-FF58-CE2A-796B-C60BE465E0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8" y="2544"/>
              <a:ext cx="408" cy="1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it-IT" altLang="it-IT" sz="1600"/>
                <a:t>0</a:t>
              </a:r>
              <a:br>
                <a:rPr lang="it-IT" altLang="it-IT" sz="1600"/>
              </a:br>
              <a:r>
                <a:rPr lang="it-IT" altLang="it-IT" sz="1600"/>
                <a:t>1</a:t>
              </a:r>
              <a:br>
                <a:rPr lang="it-IT" altLang="it-IT" sz="1600"/>
              </a:br>
              <a:r>
                <a:rPr lang="it-IT" altLang="it-IT" sz="1600"/>
                <a:t>2</a:t>
              </a:r>
              <a:br>
                <a:rPr lang="it-IT" altLang="it-IT" sz="1600"/>
              </a:br>
              <a:r>
                <a:rPr lang="it-IT" altLang="it-IT" sz="1600"/>
                <a:t>..</a:t>
              </a:r>
              <a:br>
                <a:rPr lang="it-IT" altLang="it-IT" sz="1600"/>
              </a:br>
              <a:r>
                <a:rPr lang="it-IT" altLang="it-IT" sz="1600"/>
                <a:t>..</a:t>
              </a:r>
            </a:p>
            <a:p>
              <a:pPr algn="l"/>
              <a:r>
                <a:rPr lang="it-IT" altLang="it-IT" sz="1600"/>
                <a:t>N-2</a:t>
              </a:r>
              <a:br>
                <a:rPr lang="it-IT" altLang="it-IT" sz="1600"/>
              </a:br>
              <a:r>
                <a:rPr lang="it-IT" altLang="it-IT" sz="1600"/>
                <a:t>N-1</a:t>
              </a:r>
            </a:p>
          </p:txBody>
        </p:sp>
        <p:sp>
          <p:nvSpPr>
            <p:cNvPr id="17416" name="Line 22">
              <a:extLst>
                <a:ext uri="{FF2B5EF4-FFF2-40B4-BE49-F238E27FC236}">
                  <a16:creationId xmlns:a16="http://schemas.microsoft.com/office/drawing/2014/main" id="{BC1933AA-6C59-36F1-E105-AB22072611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02" y="2626"/>
              <a:ext cx="1270" cy="4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grpSp>
          <p:nvGrpSpPr>
            <p:cNvPr id="17417" name="Group 23">
              <a:extLst>
                <a:ext uri="{FF2B5EF4-FFF2-40B4-BE49-F238E27FC236}">
                  <a16:creationId xmlns:a16="http://schemas.microsoft.com/office/drawing/2014/main" id="{E141CE04-A6A0-A145-B018-45661AD0F0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32" y="3121"/>
              <a:ext cx="1814" cy="294"/>
              <a:chOff x="576" y="3024"/>
              <a:chExt cx="1920" cy="343"/>
            </a:xfrm>
          </p:grpSpPr>
          <p:sp>
            <p:nvSpPr>
              <p:cNvPr id="17423" name="Text Box 24">
                <a:extLst>
                  <a:ext uri="{FF2B5EF4-FFF2-40B4-BE49-F238E27FC236}">
                    <a16:creationId xmlns:a16="http://schemas.microsoft.com/office/drawing/2014/main" id="{48989742-327D-A890-B409-18D59F0837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3024"/>
                <a:ext cx="240" cy="34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it-IT" altLang="it-IT" sz="2400"/>
                  <a:t>7</a:t>
                </a:r>
              </a:p>
            </p:txBody>
          </p:sp>
          <p:sp>
            <p:nvSpPr>
              <p:cNvPr id="17424" name="Text Box 25">
                <a:extLst>
                  <a:ext uri="{FF2B5EF4-FFF2-40B4-BE49-F238E27FC236}">
                    <a16:creationId xmlns:a16="http://schemas.microsoft.com/office/drawing/2014/main" id="{DFEDAC30-B295-40C8-3308-2A0BEFA655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6" y="3024"/>
                <a:ext cx="241" cy="34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it-IT" altLang="it-IT" sz="2400"/>
                  <a:t>6</a:t>
                </a:r>
              </a:p>
            </p:txBody>
          </p:sp>
          <p:sp>
            <p:nvSpPr>
              <p:cNvPr id="17425" name="Text Box 26">
                <a:extLst>
                  <a:ext uri="{FF2B5EF4-FFF2-40B4-BE49-F238E27FC236}">
                    <a16:creationId xmlns:a16="http://schemas.microsoft.com/office/drawing/2014/main" id="{A6DA2645-135B-9849-1E90-DD4E3AA7B6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7" y="3024"/>
                <a:ext cx="239" cy="34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it-IT" altLang="it-IT" sz="2400"/>
                  <a:t>5</a:t>
                </a:r>
              </a:p>
            </p:txBody>
          </p:sp>
          <p:sp>
            <p:nvSpPr>
              <p:cNvPr id="17426" name="Text Box 27">
                <a:extLst>
                  <a:ext uri="{FF2B5EF4-FFF2-40B4-BE49-F238E27FC236}">
                    <a16:creationId xmlns:a16="http://schemas.microsoft.com/office/drawing/2014/main" id="{9E31710D-A65E-08FA-CC0E-2C889B425B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34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it-IT" altLang="it-IT" sz="2400"/>
                  <a:t>4</a:t>
                </a:r>
              </a:p>
            </p:txBody>
          </p:sp>
          <p:sp>
            <p:nvSpPr>
              <p:cNvPr id="17427" name="Text Box 28">
                <a:extLst>
                  <a:ext uri="{FF2B5EF4-FFF2-40B4-BE49-F238E27FC236}">
                    <a16:creationId xmlns:a16="http://schemas.microsoft.com/office/drawing/2014/main" id="{25FF8719-AF28-67B7-566A-0C00352ED0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36" y="3024"/>
                <a:ext cx="240" cy="34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it-IT" altLang="it-IT" sz="2400"/>
                  <a:t>3</a:t>
                </a:r>
              </a:p>
            </p:txBody>
          </p:sp>
          <p:sp>
            <p:nvSpPr>
              <p:cNvPr id="17428" name="Text Box 29">
                <a:extLst>
                  <a:ext uri="{FF2B5EF4-FFF2-40B4-BE49-F238E27FC236}">
                    <a16:creationId xmlns:a16="http://schemas.microsoft.com/office/drawing/2014/main" id="{B334BD21-AD5A-20A0-307B-1CA6DB39FB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3024"/>
                <a:ext cx="241" cy="34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it-IT" altLang="it-IT" sz="2400"/>
                  <a:t>2</a:t>
                </a:r>
              </a:p>
            </p:txBody>
          </p:sp>
          <p:sp>
            <p:nvSpPr>
              <p:cNvPr id="17429" name="Text Box 30">
                <a:extLst>
                  <a:ext uri="{FF2B5EF4-FFF2-40B4-BE49-F238E27FC236}">
                    <a16:creationId xmlns:a16="http://schemas.microsoft.com/office/drawing/2014/main" id="{16D9094A-D0C3-FE7A-870F-95331071F9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7" y="3024"/>
                <a:ext cx="239" cy="34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it-IT" altLang="it-IT" sz="2400"/>
                  <a:t>1</a:t>
                </a:r>
              </a:p>
            </p:txBody>
          </p:sp>
          <p:sp>
            <p:nvSpPr>
              <p:cNvPr id="17430" name="Text Box 31">
                <a:extLst>
                  <a:ext uri="{FF2B5EF4-FFF2-40B4-BE49-F238E27FC236}">
                    <a16:creationId xmlns:a16="http://schemas.microsoft.com/office/drawing/2014/main" id="{DFD5482F-897C-EC93-11E4-CF40E11C2B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56" y="3024"/>
                <a:ext cx="240" cy="34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it-IT" altLang="it-IT" sz="2400"/>
                  <a:t>0</a:t>
                </a:r>
              </a:p>
            </p:txBody>
          </p:sp>
        </p:grpSp>
        <p:sp>
          <p:nvSpPr>
            <p:cNvPr id="17418" name="Text Box 32">
              <a:extLst>
                <a:ext uri="{FF2B5EF4-FFF2-40B4-BE49-F238E27FC236}">
                  <a16:creationId xmlns:a16="http://schemas.microsoft.com/office/drawing/2014/main" id="{017CB949-814A-C6CC-2662-AD1ED7B8E7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1" y="2880"/>
              <a:ext cx="45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it-IT" altLang="it-IT" sz="2400"/>
                <a:t>bit</a:t>
              </a:r>
            </a:p>
          </p:txBody>
        </p:sp>
        <p:sp>
          <p:nvSpPr>
            <p:cNvPr id="17419" name="Text Box 33">
              <a:extLst>
                <a:ext uri="{FF2B5EF4-FFF2-40B4-BE49-F238E27FC236}">
                  <a16:creationId xmlns:a16="http://schemas.microsoft.com/office/drawing/2014/main" id="{B30BD15B-AEEE-0152-9A00-B179F69E60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4" y="2880"/>
              <a:ext cx="45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it-IT" altLang="it-IT" sz="2400"/>
                <a:t>bit</a:t>
              </a:r>
            </a:p>
          </p:txBody>
        </p:sp>
        <p:sp>
          <p:nvSpPr>
            <p:cNvPr id="17420" name="Text Box 34">
              <a:extLst>
                <a:ext uri="{FF2B5EF4-FFF2-40B4-BE49-F238E27FC236}">
                  <a16:creationId xmlns:a16="http://schemas.microsoft.com/office/drawing/2014/main" id="{4CF91B5A-39AE-AEF4-EA23-A1ED126814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3409"/>
              <a:ext cx="59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it-IT" altLang="it-IT" sz="2400"/>
                <a:t>MSB</a:t>
              </a:r>
            </a:p>
          </p:txBody>
        </p:sp>
        <p:sp>
          <p:nvSpPr>
            <p:cNvPr id="17421" name="Text Box 35">
              <a:extLst>
                <a:ext uri="{FF2B5EF4-FFF2-40B4-BE49-F238E27FC236}">
                  <a16:creationId xmlns:a16="http://schemas.microsoft.com/office/drawing/2014/main" id="{C218DECA-8564-BCD2-7ACA-0AC8D61DDE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3" y="3409"/>
              <a:ext cx="49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it-IT" altLang="it-IT" sz="2400"/>
                <a:t>LSB</a:t>
              </a:r>
            </a:p>
          </p:txBody>
        </p:sp>
        <p:sp>
          <p:nvSpPr>
            <p:cNvPr id="17422" name="Text Box 36">
              <a:extLst>
                <a:ext uri="{FF2B5EF4-FFF2-40B4-BE49-F238E27FC236}">
                  <a16:creationId xmlns:a16="http://schemas.microsoft.com/office/drawing/2014/main" id="{EC0CFE54-D9B6-3E72-62AD-BF4F83C28A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6" y="2670"/>
              <a:ext cx="590" cy="285"/>
            </a:xfrm>
            <a:prstGeom prst="rect">
              <a:avLst/>
            </a:prstGeom>
            <a:noFill/>
            <a:ln w="9525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it-IT" sz="2300"/>
                <a:t>m = 8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egnaposto numero diapositiva 5">
            <a:extLst>
              <a:ext uri="{FF2B5EF4-FFF2-40B4-BE49-F238E27FC236}">
                <a16:creationId xmlns:a16="http://schemas.microsoft.com/office/drawing/2014/main" id="{60A1EE05-8104-29CA-C115-6EE60A12F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787F790-A5DB-44C4-B96C-8124D1C19013}" type="slidenum">
              <a:rPr lang="it-IT" altLang="it-IT" sz="1400">
                <a:latin typeface="Times New Roman" panose="02020603050405020304" pitchFamily="18" charset="0"/>
              </a:rPr>
              <a:pPr/>
              <a:t>4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665266AD-4924-D084-17F4-73F49E1BF5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Organizzazione della memoria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B6299807-71F4-AF22-E362-C374BE2618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0688" y="1447800"/>
            <a:ext cx="8899525" cy="21256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it-IT" altLang="it-IT" sz="2000">
                <a:ea typeface="ＭＳ Ｐゴシック" panose="020B0600070205080204" pitchFamily="34" charset="-128"/>
              </a:rPr>
              <a:t>I processori “a parola” accedono alla memoria con un parallelismo di 16 bit, 32 bit o 64 bit (larghezza della parola)</a:t>
            </a:r>
            <a:endParaRPr lang="it-IT" altLang="it-IT" sz="24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it-IT" altLang="it-IT" sz="2000">
                <a:ea typeface="ＭＳ Ｐゴシック" panose="020B0600070205080204" pitchFamily="34" charset="-128"/>
              </a:rPr>
              <a:t>Tipicamente, la memoria è sempre </a:t>
            </a:r>
            <a:r>
              <a:rPr lang="it-IT" altLang="it-IT" sz="2000" i="1">
                <a:ea typeface="ＭＳ Ｐゴシック" panose="020B0600070205080204" pitchFamily="34" charset="-128"/>
              </a:rPr>
              <a:t>byte-addressable</a:t>
            </a:r>
            <a:r>
              <a:rPr lang="it-IT" altLang="it-IT" sz="2000">
                <a:ea typeface="ＭＳ Ｐゴシック" panose="020B0600070205080204" pitchFamily="34" charset="-128"/>
              </a:rPr>
              <a:t>, cioè la più piccola unità di memoria indirizzabile è il byte (</a:t>
            </a:r>
            <a:r>
              <a:rPr lang="it-IT" altLang="it-IT" sz="2000" i="1">
                <a:ea typeface="ＭＳ Ｐゴシック" panose="020B0600070205080204" pitchFamily="34" charset="-128"/>
              </a:rPr>
              <a:t>locazione</a:t>
            </a:r>
            <a:r>
              <a:rPr lang="it-IT" altLang="it-IT" sz="2000">
                <a:ea typeface="ＭＳ Ｐゴシック" panose="020B0600070205080204" pitchFamily="34" charset="-128"/>
              </a:rPr>
              <a:t>), anche quando la larghezza della parola è maggiore (2, 4 oppure 8 byte)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it-IT" altLang="it-IT" sz="2000">
                <a:ea typeface="ＭＳ Ｐゴシック" panose="020B0600070205080204" pitchFamily="34" charset="-128"/>
              </a:rPr>
              <a:t>I byte costituenti una word possono essere disposti in due modi alternativi: </a:t>
            </a:r>
            <a:r>
              <a:rPr lang="it-IT" altLang="it-IT" sz="2000">
                <a:solidFill>
                  <a:srgbClr val="FF3300"/>
                </a:solidFill>
                <a:ea typeface="ＭＳ Ｐゴシック" panose="020B0600070205080204" pitchFamily="34" charset="-128"/>
              </a:rPr>
              <a:t>big endian</a:t>
            </a:r>
            <a:r>
              <a:rPr lang="it-IT" altLang="it-IT" sz="2000">
                <a:ea typeface="ＭＳ Ｐゴシック" panose="020B0600070205080204" pitchFamily="34" charset="-128"/>
              </a:rPr>
              <a:t> e </a:t>
            </a:r>
            <a:r>
              <a:rPr lang="it-IT" altLang="it-IT" sz="2000">
                <a:solidFill>
                  <a:srgbClr val="FF3300"/>
                </a:solidFill>
                <a:ea typeface="ＭＳ Ｐゴシック" panose="020B0600070205080204" pitchFamily="34" charset="-128"/>
              </a:rPr>
              <a:t>little endian</a:t>
            </a:r>
          </a:p>
        </p:txBody>
      </p:sp>
      <p:grpSp>
        <p:nvGrpSpPr>
          <p:cNvPr id="18437" name="Group 4">
            <a:extLst>
              <a:ext uri="{FF2B5EF4-FFF2-40B4-BE49-F238E27FC236}">
                <a16:creationId xmlns:a16="http://schemas.microsoft.com/office/drawing/2014/main" id="{5753BAB9-FD52-83BE-88F5-433119BB6ADC}"/>
              </a:ext>
            </a:extLst>
          </p:cNvPr>
          <p:cNvGrpSpPr>
            <a:grpSpLocks/>
          </p:cNvGrpSpPr>
          <p:nvPr/>
        </p:nvGrpSpPr>
        <p:grpSpPr bwMode="auto">
          <a:xfrm>
            <a:off x="438150" y="4083050"/>
            <a:ext cx="4870450" cy="1784350"/>
            <a:chOff x="192" y="2976"/>
            <a:chExt cx="2832" cy="1124"/>
          </a:xfrm>
        </p:grpSpPr>
        <p:sp>
          <p:nvSpPr>
            <p:cNvPr id="18483" name="Text Box 5">
              <a:extLst>
                <a:ext uri="{FF2B5EF4-FFF2-40B4-BE49-F238E27FC236}">
                  <a16:creationId xmlns:a16="http://schemas.microsoft.com/office/drawing/2014/main" id="{6718D2A0-A7DE-AC4F-B374-CE2B7F501A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2976"/>
              <a:ext cx="864" cy="10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it-IT" altLang="it-IT" sz="1800"/>
                <a:t>Parola 0</a:t>
              </a:r>
              <a:br>
                <a:rPr lang="it-IT" altLang="it-IT" sz="1800"/>
              </a:br>
              <a:r>
                <a:rPr lang="it-IT" altLang="it-IT" sz="1800"/>
                <a:t>Parola 4</a:t>
              </a:r>
              <a:br>
                <a:rPr lang="it-IT" altLang="it-IT" sz="1800"/>
              </a:br>
              <a:r>
                <a:rPr lang="it-IT" altLang="it-IT" sz="1800"/>
                <a:t>..</a:t>
              </a:r>
              <a:br>
                <a:rPr lang="it-IT" altLang="it-IT" sz="1800"/>
              </a:br>
              <a:r>
                <a:rPr lang="it-IT" altLang="it-IT" sz="1800"/>
                <a:t>..</a:t>
              </a:r>
              <a:br>
                <a:rPr lang="it-IT" altLang="it-IT" sz="1800"/>
              </a:br>
              <a:br>
                <a:rPr lang="it-IT" altLang="it-IT" sz="1800"/>
              </a:br>
              <a:r>
                <a:rPr lang="it-IT" altLang="it-IT" sz="1800"/>
                <a:t> Parola 2</a:t>
              </a:r>
              <a:r>
                <a:rPr lang="it-IT" altLang="it-IT" sz="1800" baseline="30000"/>
                <a:t>k</a:t>
              </a:r>
              <a:r>
                <a:rPr lang="it-IT" altLang="it-IT" sz="1800"/>
                <a:t>-4</a:t>
              </a:r>
            </a:p>
          </p:txBody>
        </p:sp>
        <p:grpSp>
          <p:nvGrpSpPr>
            <p:cNvPr id="18484" name="Group 6">
              <a:extLst>
                <a:ext uri="{FF2B5EF4-FFF2-40B4-BE49-F238E27FC236}">
                  <a16:creationId xmlns:a16="http://schemas.microsoft.com/office/drawing/2014/main" id="{76621213-A759-D7B4-DA31-6347919164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2976"/>
              <a:ext cx="1920" cy="212"/>
              <a:chOff x="384" y="2544"/>
              <a:chExt cx="1920" cy="212"/>
            </a:xfrm>
          </p:grpSpPr>
          <p:sp>
            <p:nvSpPr>
              <p:cNvPr id="18504" name="Rectangle 7">
                <a:extLst>
                  <a:ext uri="{FF2B5EF4-FFF2-40B4-BE49-F238E27FC236}">
                    <a16:creationId xmlns:a16="http://schemas.microsoft.com/office/drawing/2014/main" id="{394E73CB-A698-1982-0E99-8FF89BC037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2544"/>
                <a:ext cx="48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it-IT" altLang="it-IT"/>
              </a:p>
            </p:txBody>
          </p:sp>
          <p:sp>
            <p:nvSpPr>
              <p:cNvPr id="18505" name="Rectangle 8">
                <a:extLst>
                  <a:ext uri="{FF2B5EF4-FFF2-40B4-BE49-F238E27FC236}">
                    <a16:creationId xmlns:a16="http://schemas.microsoft.com/office/drawing/2014/main" id="{A0058F83-6BC9-1FFD-E3C6-4179CFD03A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544"/>
                <a:ext cx="48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it-IT" altLang="it-IT"/>
              </a:p>
            </p:txBody>
          </p:sp>
          <p:sp>
            <p:nvSpPr>
              <p:cNvPr id="18506" name="Rectangle 9">
                <a:extLst>
                  <a:ext uri="{FF2B5EF4-FFF2-40B4-BE49-F238E27FC236}">
                    <a16:creationId xmlns:a16="http://schemas.microsoft.com/office/drawing/2014/main" id="{5FEED4EA-264D-EABB-48CF-4E165F8D22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544"/>
                <a:ext cx="48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it-IT" altLang="it-IT"/>
              </a:p>
            </p:txBody>
          </p:sp>
          <p:sp>
            <p:nvSpPr>
              <p:cNvPr id="18507" name="Rectangle 10">
                <a:extLst>
                  <a:ext uri="{FF2B5EF4-FFF2-40B4-BE49-F238E27FC236}">
                    <a16:creationId xmlns:a16="http://schemas.microsoft.com/office/drawing/2014/main" id="{97449A8E-C91E-D433-DF26-1BCB2B661F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4" y="2544"/>
                <a:ext cx="48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it-IT" altLang="it-IT"/>
              </a:p>
            </p:txBody>
          </p:sp>
          <p:sp>
            <p:nvSpPr>
              <p:cNvPr id="18508" name="Text Box 11">
                <a:extLst>
                  <a:ext uri="{FF2B5EF4-FFF2-40B4-BE49-F238E27FC236}">
                    <a16:creationId xmlns:a16="http://schemas.microsoft.com/office/drawing/2014/main" id="{466271E8-C813-8FBD-25A7-44EA55AD66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8" y="2544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it-IT" altLang="it-IT" sz="1600"/>
                  <a:t>0</a:t>
                </a:r>
              </a:p>
            </p:txBody>
          </p:sp>
          <p:sp>
            <p:nvSpPr>
              <p:cNvPr id="18509" name="Text Box 12">
                <a:extLst>
                  <a:ext uri="{FF2B5EF4-FFF2-40B4-BE49-F238E27FC236}">
                    <a16:creationId xmlns:a16="http://schemas.microsoft.com/office/drawing/2014/main" id="{65BD9AFF-6A54-2868-5A0A-59941686B3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8" y="2544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it-IT" altLang="it-IT" sz="1600"/>
                  <a:t>1</a:t>
                </a:r>
              </a:p>
            </p:txBody>
          </p:sp>
          <p:sp>
            <p:nvSpPr>
              <p:cNvPr id="18510" name="Text Box 13">
                <a:extLst>
                  <a:ext uri="{FF2B5EF4-FFF2-40B4-BE49-F238E27FC236}">
                    <a16:creationId xmlns:a16="http://schemas.microsoft.com/office/drawing/2014/main" id="{93E4712E-40C7-7A3D-7EE5-3D0024880C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2544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it-IT" altLang="it-IT" sz="1600"/>
                  <a:t>2</a:t>
                </a:r>
              </a:p>
            </p:txBody>
          </p:sp>
          <p:sp>
            <p:nvSpPr>
              <p:cNvPr id="18511" name="Text Box 14">
                <a:extLst>
                  <a:ext uri="{FF2B5EF4-FFF2-40B4-BE49-F238E27FC236}">
                    <a16:creationId xmlns:a16="http://schemas.microsoft.com/office/drawing/2014/main" id="{C7E2894D-3D90-4C92-61F9-9298C07CC6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2544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it-IT" altLang="it-IT" sz="1600"/>
                  <a:t>3</a:t>
                </a:r>
              </a:p>
            </p:txBody>
          </p:sp>
        </p:grpSp>
        <p:grpSp>
          <p:nvGrpSpPr>
            <p:cNvPr id="18485" name="Group 15">
              <a:extLst>
                <a:ext uri="{FF2B5EF4-FFF2-40B4-BE49-F238E27FC236}">
                  <a16:creationId xmlns:a16="http://schemas.microsoft.com/office/drawing/2014/main" id="{6D1BCD62-D7CF-8FEA-FACD-507ED3E7F8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3168"/>
              <a:ext cx="1920" cy="212"/>
              <a:chOff x="384" y="2544"/>
              <a:chExt cx="1920" cy="212"/>
            </a:xfrm>
          </p:grpSpPr>
          <p:sp>
            <p:nvSpPr>
              <p:cNvPr id="18496" name="Rectangle 16">
                <a:extLst>
                  <a:ext uri="{FF2B5EF4-FFF2-40B4-BE49-F238E27FC236}">
                    <a16:creationId xmlns:a16="http://schemas.microsoft.com/office/drawing/2014/main" id="{D7CED6EC-91A3-C563-5EE6-D37055E783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2544"/>
                <a:ext cx="48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it-IT" altLang="it-IT"/>
              </a:p>
            </p:txBody>
          </p:sp>
          <p:sp>
            <p:nvSpPr>
              <p:cNvPr id="18497" name="Rectangle 17">
                <a:extLst>
                  <a:ext uri="{FF2B5EF4-FFF2-40B4-BE49-F238E27FC236}">
                    <a16:creationId xmlns:a16="http://schemas.microsoft.com/office/drawing/2014/main" id="{558A2711-A0D9-44C0-4E17-3E66B50CE6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544"/>
                <a:ext cx="48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it-IT" altLang="it-IT"/>
              </a:p>
            </p:txBody>
          </p:sp>
          <p:sp>
            <p:nvSpPr>
              <p:cNvPr id="18498" name="Rectangle 18">
                <a:extLst>
                  <a:ext uri="{FF2B5EF4-FFF2-40B4-BE49-F238E27FC236}">
                    <a16:creationId xmlns:a16="http://schemas.microsoft.com/office/drawing/2014/main" id="{98981013-2C33-A447-EC34-A61C8A0B3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544"/>
                <a:ext cx="48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it-IT" altLang="it-IT"/>
              </a:p>
            </p:txBody>
          </p:sp>
          <p:sp>
            <p:nvSpPr>
              <p:cNvPr id="18499" name="Rectangle 19">
                <a:extLst>
                  <a:ext uri="{FF2B5EF4-FFF2-40B4-BE49-F238E27FC236}">
                    <a16:creationId xmlns:a16="http://schemas.microsoft.com/office/drawing/2014/main" id="{7E64EF8E-488E-A3AF-2AE8-B8E6DA60ED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4" y="2544"/>
                <a:ext cx="48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it-IT" altLang="it-IT"/>
              </a:p>
            </p:txBody>
          </p:sp>
          <p:sp>
            <p:nvSpPr>
              <p:cNvPr id="18500" name="Text Box 20">
                <a:extLst>
                  <a:ext uri="{FF2B5EF4-FFF2-40B4-BE49-F238E27FC236}">
                    <a16:creationId xmlns:a16="http://schemas.microsoft.com/office/drawing/2014/main" id="{6D54A684-747A-96E2-FC4F-83EB1BB1B3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8" y="2544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it-IT" altLang="it-IT" sz="1600"/>
                  <a:t>4</a:t>
                </a:r>
              </a:p>
            </p:txBody>
          </p:sp>
          <p:sp>
            <p:nvSpPr>
              <p:cNvPr id="18501" name="Text Box 21">
                <a:extLst>
                  <a:ext uri="{FF2B5EF4-FFF2-40B4-BE49-F238E27FC236}">
                    <a16:creationId xmlns:a16="http://schemas.microsoft.com/office/drawing/2014/main" id="{41E7A467-4156-D083-594E-D03701136F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8" y="2544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it-IT" altLang="it-IT" sz="1600"/>
                  <a:t>5</a:t>
                </a:r>
              </a:p>
            </p:txBody>
          </p:sp>
          <p:sp>
            <p:nvSpPr>
              <p:cNvPr id="18502" name="Text Box 22">
                <a:extLst>
                  <a:ext uri="{FF2B5EF4-FFF2-40B4-BE49-F238E27FC236}">
                    <a16:creationId xmlns:a16="http://schemas.microsoft.com/office/drawing/2014/main" id="{EB5368EE-4BCB-3D3D-B4D0-6BCDB2EF34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2544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it-IT" altLang="it-IT" sz="1600"/>
                  <a:t>6</a:t>
                </a:r>
              </a:p>
            </p:txBody>
          </p:sp>
          <p:sp>
            <p:nvSpPr>
              <p:cNvPr id="18503" name="Text Box 23">
                <a:extLst>
                  <a:ext uri="{FF2B5EF4-FFF2-40B4-BE49-F238E27FC236}">
                    <a16:creationId xmlns:a16="http://schemas.microsoft.com/office/drawing/2014/main" id="{6D86F51A-FA40-432B-FC2B-D4DD906C6B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2544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it-IT" altLang="it-IT" sz="1600"/>
                  <a:t>7</a:t>
                </a:r>
              </a:p>
            </p:txBody>
          </p:sp>
        </p:grpSp>
        <p:sp>
          <p:nvSpPr>
            <p:cNvPr id="18486" name="Rectangle 24">
              <a:extLst>
                <a:ext uri="{FF2B5EF4-FFF2-40B4-BE49-F238E27FC236}">
                  <a16:creationId xmlns:a16="http://schemas.microsoft.com/office/drawing/2014/main" id="{D783F0C8-C88F-B738-50E7-83BC590BF8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3360"/>
              <a:ext cx="1920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8487" name="Rectangle 25">
              <a:extLst>
                <a:ext uri="{FF2B5EF4-FFF2-40B4-BE49-F238E27FC236}">
                  <a16:creationId xmlns:a16="http://schemas.microsoft.com/office/drawing/2014/main" id="{643FF8BE-8EE3-FE27-35CF-874B280D26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3888"/>
              <a:ext cx="48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8488" name="Rectangle 26">
              <a:extLst>
                <a:ext uri="{FF2B5EF4-FFF2-40B4-BE49-F238E27FC236}">
                  <a16:creationId xmlns:a16="http://schemas.microsoft.com/office/drawing/2014/main" id="{1A2FA585-1FB4-39A4-6F82-6BA9A349C6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3888"/>
              <a:ext cx="48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8489" name="Rectangle 27">
              <a:extLst>
                <a:ext uri="{FF2B5EF4-FFF2-40B4-BE49-F238E27FC236}">
                  <a16:creationId xmlns:a16="http://schemas.microsoft.com/office/drawing/2014/main" id="{0EBDB200-ED9F-8D69-8FD1-E683CC5B2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888"/>
              <a:ext cx="48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8490" name="Rectangle 28">
              <a:extLst>
                <a:ext uri="{FF2B5EF4-FFF2-40B4-BE49-F238E27FC236}">
                  <a16:creationId xmlns:a16="http://schemas.microsoft.com/office/drawing/2014/main" id="{58C43573-D705-2BB0-8458-C7BDAB1055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3888"/>
              <a:ext cx="48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8491" name="Text Box 29">
              <a:extLst>
                <a:ext uri="{FF2B5EF4-FFF2-40B4-BE49-F238E27FC236}">
                  <a16:creationId xmlns:a16="http://schemas.microsoft.com/office/drawing/2014/main" id="{9CE5ABE2-64B1-8D1C-DA49-51D00ADAE0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3888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it-IT" altLang="it-IT" sz="1600"/>
                <a:t>2</a:t>
              </a:r>
              <a:r>
                <a:rPr lang="it-IT" altLang="it-IT" sz="1600" baseline="30000"/>
                <a:t>k</a:t>
              </a:r>
              <a:r>
                <a:rPr lang="it-IT" altLang="it-IT" sz="1600"/>
                <a:t>-4</a:t>
              </a:r>
            </a:p>
          </p:txBody>
        </p:sp>
        <p:sp>
          <p:nvSpPr>
            <p:cNvPr id="18492" name="Text Box 30">
              <a:extLst>
                <a:ext uri="{FF2B5EF4-FFF2-40B4-BE49-F238E27FC236}">
                  <a16:creationId xmlns:a16="http://schemas.microsoft.com/office/drawing/2014/main" id="{CE7481A1-A0F8-1973-6C2C-9B5200B168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3888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it-IT" altLang="it-IT" sz="1600"/>
                <a:t>2</a:t>
              </a:r>
              <a:r>
                <a:rPr lang="it-IT" altLang="it-IT" sz="1600" baseline="30000"/>
                <a:t>k</a:t>
              </a:r>
              <a:r>
                <a:rPr lang="it-IT" altLang="it-IT" sz="1600"/>
                <a:t>-3</a:t>
              </a:r>
            </a:p>
          </p:txBody>
        </p:sp>
        <p:sp>
          <p:nvSpPr>
            <p:cNvPr id="18493" name="Text Box 31">
              <a:extLst>
                <a:ext uri="{FF2B5EF4-FFF2-40B4-BE49-F238E27FC236}">
                  <a16:creationId xmlns:a16="http://schemas.microsoft.com/office/drawing/2014/main" id="{A112D1E5-C352-29BD-F689-8CF8271A7E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3888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it-IT" altLang="it-IT" sz="1600"/>
                <a:t>2</a:t>
              </a:r>
              <a:r>
                <a:rPr lang="it-IT" altLang="it-IT" sz="1600" baseline="30000"/>
                <a:t>k</a:t>
              </a:r>
              <a:r>
                <a:rPr lang="it-IT" altLang="it-IT" sz="1600"/>
                <a:t>-2</a:t>
              </a:r>
            </a:p>
          </p:txBody>
        </p:sp>
        <p:sp>
          <p:nvSpPr>
            <p:cNvPr id="18494" name="Text Box 32">
              <a:extLst>
                <a:ext uri="{FF2B5EF4-FFF2-40B4-BE49-F238E27FC236}">
                  <a16:creationId xmlns:a16="http://schemas.microsoft.com/office/drawing/2014/main" id="{65C7AA12-87A1-3753-E808-76ED5179CC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888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it-IT" altLang="it-IT" sz="1600"/>
                <a:t>2</a:t>
              </a:r>
              <a:r>
                <a:rPr lang="it-IT" altLang="it-IT" sz="1600" baseline="30000"/>
                <a:t>k</a:t>
              </a:r>
              <a:r>
                <a:rPr lang="it-IT" altLang="it-IT" sz="1600"/>
                <a:t>-1</a:t>
              </a:r>
            </a:p>
          </p:txBody>
        </p:sp>
        <p:sp>
          <p:nvSpPr>
            <p:cNvPr id="18495" name="Text Box 33">
              <a:extLst>
                <a:ext uri="{FF2B5EF4-FFF2-40B4-BE49-F238E27FC236}">
                  <a16:creationId xmlns:a16="http://schemas.microsoft.com/office/drawing/2014/main" id="{FD3F7829-FAFC-0B1E-71B7-526B19BEA3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3504"/>
              <a:ext cx="1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it-IT" altLang="it-IT" sz="2400"/>
                <a:t>. . . .</a:t>
              </a:r>
            </a:p>
          </p:txBody>
        </p:sp>
      </p:grpSp>
      <p:grpSp>
        <p:nvGrpSpPr>
          <p:cNvPr id="18438" name="Group 34">
            <a:extLst>
              <a:ext uri="{FF2B5EF4-FFF2-40B4-BE49-F238E27FC236}">
                <a16:creationId xmlns:a16="http://schemas.microsoft.com/office/drawing/2014/main" id="{86195B8F-A41F-AAE6-F906-C0A69B1ADF25}"/>
              </a:ext>
            </a:extLst>
          </p:cNvPr>
          <p:cNvGrpSpPr>
            <a:grpSpLocks/>
          </p:cNvGrpSpPr>
          <p:nvPr/>
        </p:nvGrpSpPr>
        <p:grpSpPr bwMode="auto">
          <a:xfrm>
            <a:off x="5143500" y="4083050"/>
            <a:ext cx="4870450" cy="1784350"/>
            <a:chOff x="384" y="2544"/>
            <a:chExt cx="2832" cy="1124"/>
          </a:xfrm>
        </p:grpSpPr>
        <p:sp>
          <p:nvSpPr>
            <p:cNvPr id="18454" name="Text Box 35">
              <a:extLst>
                <a:ext uri="{FF2B5EF4-FFF2-40B4-BE49-F238E27FC236}">
                  <a16:creationId xmlns:a16="http://schemas.microsoft.com/office/drawing/2014/main" id="{3D6B6D8A-CE6C-EB56-A632-5098C3987C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2544"/>
              <a:ext cx="864" cy="10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it-IT" altLang="it-IT" sz="1800"/>
                <a:t>Parola 0</a:t>
              </a:r>
              <a:br>
                <a:rPr lang="it-IT" altLang="it-IT" sz="1800"/>
              </a:br>
              <a:r>
                <a:rPr lang="it-IT" altLang="it-IT" sz="1800"/>
                <a:t>Parola 4</a:t>
              </a:r>
              <a:br>
                <a:rPr lang="it-IT" altLang="it-IT" sz="1800"/>
              </a:br>
              <a:r>
                <a:rPr lang="it-IT" altLang="it-IT" sz="1800"/>
                <a:t>..</a:t>
              </a:r>
              <a:br>
                <a:rPr lang="it-IT" altLang="it-IT" sz="1800"/>
              </a:br>
              <a:r>
                <a:rPr lang="it-IT" altLang="it-IT" sz="1800"/>
                <a:t>..</a:t>
              </a:r>
              <a:br>
                <a:rPr lang="it-IT" altLang="it-IT" sz="1800"/>
              </a:br>
              <a:br>
                <a:rPr lang="it-IT" altLang="it-IT" sz="1800"/>
              </a:br>
              <a:r>
                <a:rPr lang="it-IT" altLang="it-IT" sz="1800"/>
                <a:t> Parola 2</a:t>
              </a:r>
              <a:r>
                <a:rPr lang="it-IT" altLang="it-IT" sz="1800" baseline="30000"/>
                <a:t>k</a:t>
              </a:r>
              <a:r>
                <a:rPr lang="it-IT" altLang="it-IT" sz="1800"/>
                <a:t>-4</a:t>
              </a:r>
            </a:p>
          </p:txBody>
        </p:sp>
        <p:grpSp>
          <p:nvGrpSpPr>
            <p:cNvPr id="18455" name="Group 36">
              <a:extLst>
                <a:ext uri="{FF2B5EF4-FFF2-40B4-BE49-F238E27FC236}">
                  <a16:creationId xmlns:a16="http://schemas.microsoft.com/office/drawing/2014/main" id="{98F00684-3D07-B46F-C187-BA5AF2131E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2544"/>
              <a:ext cx="1920" cy="212"/>
              <a:chOff x="384" y="2544"/>
              <a:chExt cx="1920" cy="212"/>
            </a:xfrm>
          </p:grpSpPr>
          <p:sp>
            <p:nvSpPr>
              <p:cNvPr id="18475" name="Rectangle 37">
                <a:extLst>
                  <a:ext uri="{FF2B5EF4-FFF2-40B4-BE49-F238E27FC236}">
                    <a16:creationId xmlns:a16="http://schemas.microsoft.com/office/drawing/2014/main" id="{307E8B1B-7D9C-2C19-60D5-7A874D822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2544"/>
                <a:ext cx="48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it-IT" altLang="it-IT"/>
              </a:p>
            </p:txBody>
          </p:sp>
          <p:sp>
            <p:nvSpPr>
              <p:cNvPr id="18476" name="Rectangle 38">
                <a:extLst>
                  <a:ext uri="{FF2B5EF4-FFF2-40B4-BE49-F238E27FC236}">
                    <a16:creationId xmlns:a16="http://schemas.microsoft.com/office/drawing/2014/main" id="{4AF8D891-4318-B3AC-431F-431B5970A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544"/>
                <a:ext cx="48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it-IT" altLang="it-IT"/>
              </a:p>
            </p:txBody>
          </p:sp>
          <p:sp>
            <p:nvSpPr>
              <p:cNvPr id="18477" name="Rectangle 39">
                <a:extLst>
                  <a:ext uri="{FF2B5EF4-FFF2-40B4-BE49-F238E27FC236}">
                    <a16:creationId xmlns:a16="http://schemas.microsoft.com/office/drawing/2014/main" id="{5C2C0CDA-1DE9-2107-3B65-57B8F11ACA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544"/>
                <a:ext cx="48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it-IT" altLang="it-IT"/>
              </a:p>
            </p:txBody>
          </p:sp>
          <p:sp>
            <p:nvSpPr>
              <p:cNvPr id="18478" name="Rectangle 40">
                <a:extLst>
                  <a:ext uri="{FF2B5EF4-FFF2-40B4-BE49-F238E27FC236}">
                    <a16:creationId xmlns:a16="http://schemas.microsoft.com/office/drawing/2014/main" id="{C930BB18-8CED-E0D7-C97E-104D16B7D3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4" y="2544"/>
                <a:ext cx="48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it-IT" altLang="it-IT"/>
              </a:p>
            </p:txBody>
          </p:sp>
          <p:sp>
            <p:nvSpPr>
              <p:cNvPr id="18479" name="Text Box 41">
                <a:extLst>
                  <a:ext uri="{FF2B5EF4-FFF2-40B4-BE49-F238E27FC236}">
                    <a16:creationId xmlns:a16="http://schemas.microsoft.com/office/drawing/2014/main" id="{8142596F-AB6F-6E9B-C98A-9EFAC77E89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8" y="2544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it-IT" altLang="it-IT" sz="1600"/>
                  <a:t>3</a:t>
                </a:r>
              </a:p>
            </p:txBody>
          </p:sp>
          <p:sp>
            <p:nvSpPr>
              <p:cNvPr id="18480" name="Text Box 42">
                <a:extLst>
                  <a:ext uri="{FF2B5EF4-FFF2-40B4-BE49-F238E27FC236}">
                    <a16:creationId xmlns:a16="http://schemas.microsoft.com/office/drawing/2014/main" id="{B854EFAA-506B-A2DB-E3A2-D68E72B71C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8" y="2544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it-IT" altLang="it-IT" sz="1600"/>
                  <a:t>2</a:t>
                </a:r>
              </a:p>
            </p:txBody>
          </p:sp>
          <p:sp>
            <p:nvSpPr>
              <p:cNvPr id="18481" name="Text Box 43">
                <a:extLst>
                  <a:ext uri="{FF2B5EF4-FFF2-40B4-BE49-F238E27FC236}">
                    <a16:creationId xmlns:a16="http://schemas.microsoft.com/office/drawing/2014/main" id="{95D5CDF5-77AD-D555-9095-D46D7C17AF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2544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it-IT" altLang="it-IT" sz="1600"/>
                  <a:t>1</a:t>
                </a:r>
              </a:p>
            </p:txBody>
          </p:sp>
          <p:sp>
            <p:nvSpPr>
              <p:cNvPr id="18482" name="Text Box 44">
                <a:extLst>
                  <a:ext uri="{FF2B5EF4-FFF2-40B4-BE49-F238E27FC236}">
                    <a16:creationId xmlns:a16="http://schemas.microsoft.com/office/drawing/2014/main" id="{5B27557D-60F6-19DE-8066-7E66D0DD7C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2544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it-IT" altLang="it-IT" sz="1600"/>
                  <a:t>0</a:t>
                </a:r>
              </a:p>
            </p:txBody>
          </p:sp>
        </p:grpSp>
        <p:grpSp>
          <p:nvGrpSpPr>
            <p:cNvPr id="18456" name="Group 45">
              <a:extLst>
                <a:ext uri="{FF2B5EF4-FFF2-40B4-BE49-F238E27FC236}">
                  <a16:creationId xmlns:a16="http://schemas.microsoft.com/office/drawing/2014/main" id="{A200AEC7-80AA-9DAF-2184-5DB72F0262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2736"/>
              <a:ext cx="1920" cy="212"/>
              <a:chOff x="384" y="2544"/>
              <a:chExt cx="1920" cy="212"/>
            </a:xfrm>
          </p:grpSpPr>
          <p:sp>
            <p:nvSpPr>
              <p:cNvPr id="18467" name="Rectangle 46">
                <a:extLst>
                  <a:ext uri="{FF2B5EF4-FFF2-40B4-BE49-F238E27FC236}">
                    <a16:creationId xmlns:a16="http://schemas.microsoft.com/office/drawing/2014/main" id="{25F76626-89E0-4E5A-6257-2D4F7D7C1B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2544"/>
                <a:ext cx="48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it-IT" altLang="it-IT"/>
              </a:p>
            </p:txBody>
          </p:sp>
          <p:sp>
            <p:nvSpPr>
              <p:cNvPr id="18468" name="Rectangle 47">
                <a:extLst>
                  <a:ext uri="{FF2B5EF4-FFF2-40B4-BE49-F238E27FC236}">
                    <a16:creationId xmlns:a16="http://schemas.microsoft.com/office/drawing/2014/main" id="{02A6460A-03C1-F329-5A74-50DBA18AC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544"/>
                <a:ext cx="48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it-IT" altLang="it-IT"/>
              </a:p>
            </p:txBody>
          </p:sp>
          <p:sp>
            <p:nvSpPr>
              <p:cNvPr id="18469" name="Rectangle 48">
                <a:extLst>
                  <a:ext uri="{FF2B5EF4-FFF2-40B4-BE49-F238E27FC236}">
                    <a16:creationId xmlns:a16="http://schemas.microsoft.com/office/drawing/2014/main" id="{12F6155F-EDD6-F128-7F87-834D6CABAE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544"/>
                <a:ext cx="48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it-IT" altLang="it-IT"/>
              </a:p>
            </p:txBody>
          </p:sp>
          <p:sp>
            <p:nvSpPr>
              <p:cNvPr id="18470" name="Rectangle 49">
                <a:extLst>
                  <a:ext uri="{FF2B5EF4-FFF2-40B4-BE49-F238E27FC236}">
                    <a16:creationId xmlns:a16="http://schemas.microsoft.com/office/drawing/2014/main" id="{72D41875-07B0-A275-D63E-608E85DEEB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4" y="2544"/>
                <a:ext cx="48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it-IT" altLang="it-IT"/>
              </a:p>
            </p:txBody>
          </p:sp>
          <p:sp>
            <p:nvSpPr>
              <p:cNvPr id="18471" name="Text Box 50">
                <a:extLst>
                  <a:ext uri="{FF2B5EF4-FFF2-40B4-BE49-F238E27FC236}">
                    <a16:creationId xmlns:a16="http://schemas.microsoft.com/office/drawing/2014/main" id="{822EF055-1501-DE97-7440-AFF2A236F6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8" y="2544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it-IT" altLang="it-IT" sz="1600"/>
                  <a:t>7</a:t>
                </a:r>
              </a:p>
            </p:txBody>
          </p:sp>
          <p:sp>
            <p:nvSpPr>
              <p:cNvPr id="18472" name="Text Box 51">
                <a:extLst>
                  <a:ext uri="{FF2B5EF4-FFF2-40B4-BE49-F238E27FC236}">
                    <a16:creationId xmlns:a16="http://schemas.microsoft.com/office/drawing/2014/main" id="{68A1B4B8-BAF7-A5EA-9F8F-39A621EC0D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8" y="2544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it-IT" altLang="it-IT" sz="1600"/>
                  <a:t>6</a:t>
                </a:r>
              </a:p>
            </p:txBody>
          </p:sp>
          <p:sp>
            <p:nvSpPr>
              <p:cNvPr id="18473" name="Text Box 52">
                <a:extLst>
                  <a:ext uri="{FF2B5EF4-FFF2-40B4-BE49-F238E27FC236}">
                    <a16:creationId xmlns:a16="http://schemas.microsoft.com/office/drawing/2014/main" id="{3B35B6CD-4B89-71C5-1B9B-98D11356FF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2544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it-IT" altLang="it-IT" sz="1600"/>
                  <a:t>5</a:t>
                </a:r>
              </a:p>
            </p:txBody>
          </p:sp>
          <p:sp>
            <p:nvSpPr>
              <p:cNvPr id="18474" name="Text Box 53">
                <a:extLst>
                  <a:ext uri="{FF2B5EF4-FFF2-40B4-BE49-F238E27FC236}">
                    <a16:creationId xmlns:a16="http://schemas.microsoft.com/office/drawing/2014/main" id="{F085DB3D-7846-3B0A-B7F7-AEC4C58115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2544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it-IT" altLang="it-IT" sz="1600"/>
                  <a:t>4</a:t>
                </a:r>
              </a:p>
            </p:txBody>
          </p:sp>
        </p:grpSp>
        <p:sp>
          <p:nvSpPr>
            <p:cNvPr id="18457" name="Rectangle 54">
              <a:extLst>
                <a:ext uri="{FF2B5EF4-FFF2-40B4-BE49-F238E27FC236}">
                  <a16:creationId xmlns:a16="http://schemas.microsoft.com/office/drawing/2014/main" id="{5ED2883C-8AA0-FB69-0AC2-E342FB455B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928"/>
              <a:ext cx="1920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8458" name="Rectangle 55">
              <a:extLst>
                <a:ext uri="{FF2B5EF4-FFF2-40B4-BE49-F238E27FC236}">
                  <a16:creationId xmlns:a16="http://schemas.microsoft.com/office/drawing/2014/main" id="{C09F2542-00DB-2D4A-1206-A2BDE138D1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3456"/>
              <a:ext cx="48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8459" name="Rectangle 56">
              <a:extLst>
                <a:ext uri="{FF2B5EF4-FFF2-40B4-BE49-F238E27FC236}">
                  <a16:creationId xmlns:a16="http://schemas.microsoft.com/office/drawing/2014/main" id="{E1BCD4B8-9D57-03E2-EA99-A018CE3DD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3456"/>
              <a:ext cx="48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8460" name="Rectangle 57">
              <a:extLst>
                <a:ext uri="{FF2B5EF4-FFF2-40B4-BE49-F238E27FC236}">
                  <a16:creationId xmlns:a16="http://schemas.microsoft.com/office/drawing/2014/main" id="{F1545916-10D4-7596-DDCD-A4D8E6FA26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3456"/>
              <a:ext cx="48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8461" name="Rectangle 58">
              <a:extLst>
                <a:ext uri="{FF2B5EF4-FFF2-40B4-BE49-F238E27FC236}">
                  <a16:creationId xmlns:a16="http://schemas.microsoft.com/office/drawing/2014/main" id="{8999DDA2-44A1-A2C0-6336-5A4CD01BFE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3456"/>
              <a:ext cx="48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8462" name="Text Box 59">
              <a:extLst>
                <a:ext uri="{FF2B5EF4-FFF2-40B4-BE49-F238E27FC236}">
                  <a16:creationId xmlns:a16="http://schemas.microsoft.com/office/drawing/2014/main" id="{51B5C7EF-94B2-A53A-CC1E-30F6667C84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456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it-IT" altLang="it-IT" sz="1600"/>
                <a:t>2</a:t>
              </a:r>
              <a:r>
                <a:rPr lang="it-IT" altLang="it-IT" sz="1600" baseline="30000"/>
                <a:t>k</a:t>
              </a:r>
              <a:r>
                <a:rPr lang="it-IT" altLang="it-IT" sz="1600"/>
                <a:t>-1</a:t>
              </a:r>
            </a:p>
          </p:txBody>
        </p:sp>
        <p:sp>
          <p:nvSpPr>
            <p:cNvPr id="18463" name="Text Box 60">
              <a:extLst>
                <a:ext uri="{FF2B5EF4-FFF2-40B4-BE49-F238E27FC236}">
                  <a16:creationId xmlns:a16="http://schemas.microsoft.com/office/drawing/2014/main" id="{0602EF2E-9E32-6EA6-1C9E-0F773B2507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3456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it-IT" altLang="it-IT" sz="1600"/>
                <a:t>2</a:t>
              </a:r>
              <a:r>
                <a:rPr lang="it-IT" altLang="it-IT" sz="1600" baseline="30000"/>
                <a:t>k</a:t>
              </a:r>
              <a:r>
                <a:rPr lang="it-IT" altLang="it-IT" sz="1600"/>
                <a:t>-2</a:t>
              </a:r>
            </a:p>
          </p:txBody>
        </p:sp>
        <p:sp>
          <p:nvSpPr>
            <p:cNvPr id="18464" name="Text Box 61">
              <a:extLst>
                <a:ext uri="{FF2B5EF4-FFF2-40B4-BE49-F238E27FC236}">
                  <a16:creationId xmlns:a16="http://schemas.microsoft.com/office/drawing/2014/main" id="{1DE072E6-0CCD-3CAE-4D27-BAA77D74EF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3456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it-IT" altLang="it-IT" sz="1600"/>
                <a:t>2</a:t>
              </a:r>
              <a:r>
                <a:rPr lang="it-IT" altLang="it-IT" sz="1600" baseline="30000"/>
                <a:t>k</a:t>
              </a:r>
              <a:r>
                <a:rPr lang="it-IT" altLang="it-IT" sz="1600"/>
                <a:t>-3</a:t>
              </a:r>
            </a:p>
          </p:txBody>
        </p:sp>
        <p:sp>
          <p:nvSpPr>
            <p:cNvPr id="18465" name="Text Box 62">
              <a:extLst>
                <a:ext uri="{FF2B5EF4-FFF2-40B4-BE49-F238E27FC236}">
                  <a16:creationId xmlns:a16="http://schemas.microsoft.com/office/drawing/2014/main" id="{2468B136-26ED-1B68-7BF2-AE4B8A9F83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3456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it-IT" altLang="it-IT" sz="1600"/>
                <a:t>2</a:t>
              </a:r>
              <a:r>
                <a:rPr lang="it-IT" altLang="it-IT" sz="1600" baseline="30000"/>
                <a:t>k</a:t>
              </a:r>
              <a:r>
                <a:rPr lang="it-IT" altLang="it-IT" sz="1600"/>
                <a:t>-4</a:t>
              </a:r>
            </a:p>
          </p:txBody>
        </p:sp>
        <p:sp>
          <p:nvSpPr>
            <p:cNvPr id="18466" name="Text Box 63">
              <a:extLst>
                <a:ext uri="{FF2B5EF4-FFF2-40B4-BE49-F238E27FC236}">
                  <a16:creationId xmlns:a16="http://schemas.microsoft.com/office/drawing/2014/main" id="{D8808C3C-3965-E745-608C-517422D2EB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3072"/>
              <a:ext cx="1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it-IT" altLang="it-IT" sz="2400"/>
                <a:t>. . . .</a:t>
              </a:r>
            </a:p>
          </p:txBody>
        </p:sp>
      </p:grpSp>
      <p:sp>
        <p:nvSpPr>
          <p:cNvPr id="18439" name="Text Box 64">
            <a:extLst>
              <a:ext uri="{FF2B5EF4-FFF2-40B4-BE49-F238E27FC236}">
                <a16:creationId xmlns:a16="http://schemas.microsoft.com/office/drawing/2014/main" id="{4061E0B0-9AFC-9B2D-8B7D-A16ABDC78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550" y="5911850"/>
            <a:ext cx="3549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it-IT" altLang="it-IT"/>
              <a:t>Disposizione BIG-ENDIAN</a:t>
            </a:r>
            <a:endParaRPr lang="it-IT" altLang="it-IT" sz="2400"/>
          </a:p>
        </p:txBody>
      </p:sp>
      <p:sp>
        <p:nvSpPr>
          <p:cNvPr id="18440" name="Text Box 65">
            <a:extLst>
              <a:ext uri="{FF2B5EF4-FFF2-40B4-BE49-F238E27FC236}">
                <a16:creationId xmlns:a16="http://schemas.microsoft.com/office/drawing/2014/main" id="{5BEEC017-3642-8107-142B-7B5AC7FF74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1450" y="5911850"/>
            <a:ext cx="3797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it-IT" altLang="it-IT"/>
              <a:t>Disposizione LITTLE-ENDIAN</a:t>
            </a:r>
            <a:endParaRPr lang="it-IT" altLang="it-IT" sz="2400"/>
          </a:p>
        </p:txBody>
      </p:sp>
      <p:sp>
        <p:nvSpPr>
          <p:cNvPr id="18441" name="Text Box 66">
            <a:extLst>
              <a:ext uri="{FF2B5EF4-FFF2-40B4-BE49-F238E27FC236}">
                <a16:creationId xmlns:a16="http://schemas.microsoft.com/office/drawing/2014/main" id="{B310F943-2A58-63EA-4FB0-49F05EA91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050" y="3778250"/>
            <a:ext cx="1238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it-IT" sz="1800"/>
              <a:t>MS byte</a:t>
            </a:r>
          </a:p>
        </p:txBody>
      </p:sp>
      <p:sp>
        <p:nvSpPr>
          <p:cNvPr id="18442" name="Text Box 67">
            <a:extLst>
              <a:ext uri="{FF2B5EF4-FFF2-40B4-BE49-F238E27FC236}">
                <a16:creationId xmlns:a16="http://schemas.microsoft.com/office/drawing/2014/main" id="{182B7B6D-3ED4-BF14-47F6-1B18F8EFC4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2100" y="3778250"/>
            <a:ext cx="1238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it-IT" sz="1800"/>
              <a:t>LS byte</a:t>
            </a:r>
          </a:p>
        </p:txBody>
      </p:sp>
      <p:sp>
        <p:nvSpPr>
          <p:cNvPr id="18443" name="Text Box 68">
            <a:extLst>
              <a:ext uri="{FF2B5EF4-FFF2-40B4-BE49-F238E27FC236}">
                <a16:creationId xmlns:a16="http://schemas.microsoft.com/office/drawing/2014/main" id="{10FC6626-2507-36CC-EE56-17EE4D2FA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0950" y="3778250"/>
            <a:ext cx="1238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it-IT" sz="1800"/>
              <a:t>MS byte</a:t>
            </a:r>
          </a:p>
        </p:txBody>
      </p:sp>
      <p:sp>
        <p:nvSpPr>
          <p:cNvPr id="18444" name="Text Box 69">
            <a:extLst>
              <a:ext uri="{FF2B5EF4-FFF2-40B4-BE49-F238E27FC236}">
                <a16:creationId xmlns:a16="http://schemas.microsoft.com/office/drawing/2014/main" id="{7FBE76BD-9332-0DD4-7A98-8D2C356DF9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7450" y="3778250"/>
            <a:ext cx="1238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it-IT" sz="1800"/>
              <a:t>LS byte</a:t>
            </a:r>
          </a:p>
        </p:txBody>
      </p:sp>
      <p:sp>
        <p:nvSpPr>
          <p:cNvPr id="18445" name="Line 74">
            <a:extLst>
              <a:ext uri="{FF2B5EF4-FFF2-40B4-BE49-F238E27FC236}">
                <a16:creationId xmlns:a16="http://schemas.microsoft.com/office/drawing/2014/main" id="{F6A777B2-15A0-9BEF-BCC0-AB09976B85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01100" y="3946525"/>
            <a:ext cx="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8446" name="Line 75">
            <a:extLst>
              <a:ext uri="{FF2B5EF4-FFF2-40B4-BE49-F238E27FC236}">
                <a16:creationId xmlns:a16="http://schemas.microsoft.com/office/drawing/2014/main" id="{72BC4F03-5C9F-9CE1-B429-16513E2031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53450" y="3946525"/>
            <a:ext cx="2476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8447" name="Line 76">
            <a:extLst>
              <a:ext uri="{FF2B5EF4-FFF2-40B4-BE49-F238E27FC236}">
                <a16:creationId xmlns:a16="http://schemas.microsoft.com/office/drawing/2014/main" id="{461AC54F-C6AE-65A6-CD6B-5BE179AF1F8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86225" y="3946525"/>
            <a:ext cx="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8448" name="Line 77">
            <a:extLst>
              <a:ext uri="{FF2B5EF4-FFF2-40B4-BE49-F238E27FC236}">
                <a16:creationId xmlns:a16="http://schemas.microsoft.com/office/drawing/2014/main" id="{8DFE8AF6-6A14-0314-42C3-7E4FA0557F7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38575" y="3946525"/>
            <a:ext cx="2476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8449" name="Oval 79">
            <a:extLst>
              <a:ext uri="{FF2B5EF4-FFF2-40B4-BE49-F238E27FC236}">
                <a16:creationId xmlns:a16="http://schemas.microsoft.com/office/drawing/2014/main" id="{E1C767E2-8094-358A-2C68-0DF3EDAF52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1725" y="4057650"/>
            <a:ext cx="355600" cy="355600"/>
          </a:xfrm>
          <a:prstGeom prst="ellips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8450" name="Oval 80">
            <a:extLst>
              <a:ext uri="{FF2B5EF4-FFF2-40B4-BE49-F238E27FC236}">
                <a16:creationId xmlns:a16="http://schemas.microsoft.com/office/drawing/2014/main" id="{61FC0515-42C4-F174-D4F0-DC396EFAC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9550" y="4057650"/>
            <a:ext cx="355600" cy="355600"/>
          </a:xfrm>
          <a:prstGeom prst="ellips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8451" name="Text Box 81">
            <a:extLst>
              <a:ext uri="{FF2B5EF4-FFF2-40B4-BE49-F238E27FC236}">
                <a16:creationId xmlns:a16="http://schemas.microsoft.com/office/drawing/2014/main" id="{51753281-2B1D-2948-809A-66E64C2FE7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4900" y="3473450"/>
            <a:ext cx="36655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sz="1400" b="1">
                <a:solidFill>
                  <a:srgbClr val="FF3300"/>
                </a:solidFill>
              </a:rPr>
              <a:t>posizione del byte in memoria</a:t>
            </a:r>
          </a:p>
        </p:txBody>
      </p:sp>
      <p:sp>
        <p:nvSpPr>
          <p:cNvPr id="18452" name="Line 83">
            <a:extLst>
              <a:ext uri="{FF2B5EF4-FFF2-40B4-BE49-F238E27FC236}">
                <a16:creationId xmlns:a16="http://schemas.microsoft.com/office/drawing/2014/main" id="{A3EADAB5-0A30-4C4E-F595-43352E036652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4800" y="3778250"/>
            <a:ext cx="796925" cy="30797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8453" name="Line 84">
            <a:extLst>
              <a:ext uri="{FF2B5EF4-FFF2-40B4-BE49-F238E27FC236}">
                <a16:creationId xmlns:a16="http://schemas.microsoft.com/office/drawing/2014/main" id="{DA23F7DB-5DDC-1759-CFC4-CB6CD8BE438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35150" y="3778250"/>
            <a:ext cx="2470150" cy="30797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egnaposto numero diapositiva 5">
            <a:extLst>
              <a:ext uri="{FF2B5EF4-FFF2-40B4-BE49-F238E27FC236}">
                <a16:creationId xmlns:a16="http://schemas.microsoft.com/office/drawing/2014/main" id="{29300CD0-5730-237C-34A4-F46D017A3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390417C-58B6-406B-A1C2-F976D2076F07}" type="slidenum">
              <a:rPr lang="it-IT" altLang="it-IT" sz="1400">
                <a:latin typeface="Times New Roman" panose="02020603050405020304" pitchFamily="18" charset="0"/>
              </a:rPr>
              <a:pPr/>
              <a:t>5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08FA9F04-6215-7010-CB84-72916591AF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Dimensioni degli indirizzi e dei registri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97B9D93E-FE4E-DE5C-F046-8783D3DAFC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Address size:</a:t>
            </a:r>
          </a:p>
          <a:p>
            <a:pPr lvl="1" eaLnBrk="1" hangingPunct="1"/>
            <a:r>
              <a:rPr lang="it-IT" altLang="it-IT" sz="2000">
                <a:ea typeface="ＭＳ Ｐゴシック" panose="020B0600070205080204" pitchFamily="34" charset="-128"/>
              </a:rPr>
              <a:t>Numero di bit che compongono un indirizzo di memoria</a:t>
            </a:r>
          </a:p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Register size:</a:t>
            </a:r>
          </a:p>
          <a:p>
            <a:pPr lvl="1" eaLnBrk="1" hangingPunct="1"/>
            <a:r>
              <a:rPr lang="it-IT" altLang="it-IT" sz="2000">
                <a:ea typeface="ＭＳ Ｐゴシック" panose="020B0600070205080204" pitchFamily="34" charset="-128"/>
              </a:rPr>
              <a:t>Numero di bit che compongono un registro</a:t>
            </a:r>
          </a:p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Non è detto che le due dimensioni coincidano. Tipicamente, la seconda è uguale o maggiore della prima</a:t>
            </a:r>
          </a:p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Non è detto che tutti i bit del registro vengano fisicamente connessi con la memoria. Ciò implica che:</a:t>
            </a:r>
          </a:p>
          <a:p>
            <a:pPr lvl="1" eaLnBrk="1" hangingPunct="1"/>
            <a:r>
              <a:rPr lang="it-IT" altLang="it-IT" sz="2000">
                <a:ea typeface="ＭＳ Ｐゴシック" panose="020B0600070205080204" pitchFamily="34" charset="-128"/>
              </a:rPr>
              <a:t>Lo spazio di indirizzamento logico è in generale diverso dallo spazio di indirizzamento fisico</a:t>
            </a:r>
          </a:p>
          <a:p>
            <a:pPr lvl="1" eaLnBrk="1" hangingPunct="1"/>
            <a:r>
              <a:rPr lang="it-IT" altLang="it-IT" sz="2000">
                <a:ea typeface="ＭＳ Ｐゴシック" panose="020B0600070205080204" pitchFamily="34" charset="-128"/>
              </a:rPr>
              <a:t>Possono sorgere problemi di “aliasing”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egnaposto numero diapositiva 4">
            <a:extLst>
              <a:ext uri="{FF2B5EF4-FFF2-40B4-BE49-F238E27FC236}">
                <a16:creationId xmlns:a16="http://schemas.microsoft.com/office/drawing/2014/main" id="{5263DBCB-32C0-6FD1-0600-99C650EB1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71A4806-C4E3-45F6-A2F3-31C8C003ADEE}" type="slidenum">
              <a:rPr lang="it-IT" altLang="it-IT" sz="1400">
                <a:latin typeface="Times New Roman" panose="02020603050405020304" pitchFamily="18" charset="0"/>
              </a:rPr>
              <a:pPr/>
              <a:t>6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20483" name="Rectangle 4">
            <a:extLst>
              <a:ext uri="{FF2B5EF4-FFF2-40B4-BE49-F238E27FC236}">
                <a16:creationId xmlns:a16="http://schemas.microsoft.com/office/drawing/2014/main" id="{5385A69B-105E-FADE-FF7D-41A9E8AF5C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Dimensioni degli indirizzi e dei registri</a:t>
            </a:r>
            <a:endParaRPr lang="en-US" altLang="it-IT">
              <a:ea typeface="ＭＳ Ｐゴシック" panose="020B0600070205080204" pitchFamily="34" charset="-128"/>
            </a:endParaRPr>
          </a:p>
        </p:txBody>
      </p:sp>
      <p:graphicFrame>
        <p:nvGraphicFramePr>
          <p:cNvPr id="453674" name="Group 42">
            <a:extLst>
              <a:ext uri="{FF2B5EF4-FFF2-40B4-BE49-F238E27FC236}">
                <a16:creationId xmlns:a16="http://schemas.microsoft.com/office/drawing/2014/main" id="{3EECBC0E-630B-3E52-874E-8D31AC790AFB}"/>
              </a:ext>
            </a:extLst>
          </p:cNvPr>
          <p:cNvGraphicFramePr>
            <a:graphicFrameLocks noGrp="1"/>
          </p:cNvGraphicFramePr>
          <p:nvPr/>
        </p:nvGraphicFramePr>
        <p:xfrm>
          <a:off x="631825" y="1501775"/>
          <a:ext cx="277813" cy="4402143"/>
        </p:xfrm>
        <a:graphic>
          <a:graphicData uri="http://schemas.openxmlformats.org/drawingml/2006/table">
            <a:tbl>
              <a:tblPr/>
              <a:tblGrid>
                <a:gridCol w="277813">
                  <a:extLst>
                    <a:ext uri="{9D8B030D-6E8A-4147-A177-3AD203B41FA5}">
                      <a16:colId xmlns:a16="http://schemas.microsoft.com/office/drawing/2014/main" val="2131802696"/>
                    </a:ext>
                  </a:extLst>
                </a:gridCol>
              </a:tblGrid>
              <a:tr h="274638"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just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it-IT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741013"/>
                  </a:ext>
                </a:extLst>
              </a:tr>
              <a:tr h="276225"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just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it-IT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9924207"/>
                  </a:ext>
                </a:extLst>
              </a:tr>
              <a:tr h="274638"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just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it-IT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9722285"/>
                  </a:ext>
                </a:extLst>
              </a:tr>
              <a:tr h="274638"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just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it-IT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6771371"/>
                  </a:ext>
                </a:extLst>
              </a:tr>
              <a:tr h="276225"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just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it-IT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400074"/>
                  </a:ext>
                </a:extLst>
              </a:tr>
              <a:tr h="274638"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just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it-IT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770888"/>
                  </a:ext>
                </a:extLst>
              </a:tr>
              <a:tr h="274638"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just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it-IT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8627613"/>
                  </a:ext>
                </a:extLst>
              </a:tr>
              <a:tr h="276225"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just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it-IT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508344"/>
                  </a:ext>
                </a:extLst>
              </a:tr>
              <a:tr h="274638"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just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it-IT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2843612"/>
                  </a:ext>
                </a:extLst>
              </a:tr>
              <a:tr h="274638"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just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it-IT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5724104"/>
                  </a:ext>
                </a:extLst>
              </a:tr>
              <a:tr h="274638"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just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it-IT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5373278"/>
                  </a:ext>
                </a:extLst>
              </a:tr>
              <a:tr h="276225"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just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it-IT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3623047"/>
                  </a:ext>
                </a:extLst>
              </a:tr>
              <a:tr h="274638"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just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it-IT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1302486"/>
                  </a:ext>
                </a:extLst>
              </a:tr>
              <a:tr h="274638"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just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it-IT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9122934"/>
                  </a:ext>
                </a:extLst>
              </a:tr>
              <a:tr h="276225"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just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it-IT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631723"/>
                  </a:ext>
                </a:extLst>
              </a:tr>
              <a:tr h="274638"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just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it-IT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722233"/>
                  </a:ext>
                </a:extLst>
              </a:tr>
            </a:tbl>
          </a:graphicData>
        </a:graphic>
      </p:graphicFrame>
      <p:sp>
        <p:nvSpPr>
          <p:cNvPr id="20520" name="Rectangle 43">
            <a:extLst>
              <a:ext uri="{FF2B5EF4-FFF2-40B4-BE49-F238E27FC236}">
                <a16:creationId xmlns:a16="http://schemas.microsoft.com/office/drawing/2014/main" id="{548E93D9-E906-2B59-4760-E153C44BB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1557338"/>
            <a:ext cx="2160587" cy="385286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20521" name="Text Box 44">
            <a:extLst>
              <a:ext uri="{FF2B5EF4-FFF2-40B4-BE49-F238E27FC236}">
                <a16:creationId xmlns:a16="http://schemas.microsoft.com/office/drawing/2014/main" id="{93CAA898-9419-FA34-DC5C-48E893689F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2659063"/>
            <a:ext cx="2160587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b="1"/>
              <a:t>memoria</a:t>
            </a:r>
          </a:p>
          <a:p>
            <a:pPr eaLnBrk="1" hangingPunct="1"/>
            <a:r>
              <a:rPr lang="en-US" altLang="it-IT"/>
              <a:t>2</a:t>
            </a:r>
            <a:r>
              <a:rPr lang="en-US" altLang="it-IT" baseline="30000"/>
              <a:t>12</a:t>
            </a:r>
            <a:r>
              <a:rPr lang="en-US" altLang="it-IT"/>
              <a:t> locazioni fisiche </a:t>
            </a:r>
            <a:r>
              <a:rPr lang="en-US" altLang="it-IT">
                <a:sym typeface="Wingdings" panose="05000000000000000000" pitchFamily="2" charset="2"/>
              </a:rPr>
              <a:t> indirizzo di 12 bit</a:t>
            </a:r>
            <a:endParaRPr lang="en-US" altLang="it-IT"/>
          </a:p>
        </p:txBody>
      </p:sp>
      <p:sp>
        <p:nvSpPr>
          <p:cNvPr id="20522" name="Text Box 45">
            <a:extLst>
              <a:ext uri="{FF2B5EF4-FFF2-40B4-BE49-F238E27FC236}">
                <a16:creationId xmlns:a16="http://schemas.microsoft.com/office/drawing/2014/main" id="{54FF7CAE-3E41-CC69-ED66-FBBBCD4D7A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25" y="5445125"/>
            <a:ext cx="1966913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b="1"/>
              <a:t>registro indirizzi</a:t>
            </a:r>
          </a:p>
          <a:p>
            <a:pPr eaLnBrk="1" hangingPunct="1"/>
            <a:r>
              <a:rPr lang="en-US" altLang="it-IT"/>
              <a:t>(16 bit)</a:t>
            </a:r>
          </a:p>
        </p:txBody>
      </p:sp>
      <p:sp>
        <p:nvSpPr>
          <p:cNvPr id="20523" name="Line 46">
            <a:extLst>
              <a:ext uri="{FF2B5EF4-FFF2-40B4-BE49-F238E27FC236}">
                <a16:creationId xmlns:a16="http://schemas.microsoft.com/office/drawing/2014/main" id="{6F9A4B47-FF4A-30FD-265B-BFBB526A4905}"/>
              </a:ext>
            </a:extLst>
          </p:cNvPr>
          <p:cNvSpPr>
            <a:spLocks noChangeShapeType="1"/>
          </p:cNvSpPr>
          <p:nvPr/>
        </p:nvSpPr>
        <p:spPr bwMode="auto">
          <a:xfrm>
            <a:off x="909638" y="1700213"/>
            <a:ext cx="26543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it-IT"/>
          </a:p>
        </p:txBody>
      </p:sp>
      <p:sp>
        <p:nvSpPr>
          <p:cNvPr id="20524" name="Line 47">
            <a:extLst>
              <a:ext uri="{FF2B5EF4-FFF2-40B4-BE49-F238E27FC236}">
                <a16:creationId xmlns:a16="http://schemas.microsoft.com/office/drawing/2014/main" id="{BBAF56C8-3809-2FB2-83A9-7DD9B2F6CC83}"/>
              </a:ext>
            </a:extLst>
          </p:cNvPr>
          <p:cNvSpPr>
            <a:spLocks noChangeShapeType="1"/>
          </p:cNvSpPr>
          <p:nvPr/>
        </p:nvSpPr>
        <p:spPr bwMode="auto">
          <a:xfrm>
            <a:off x="898525" y="1979613"/>
            <a:ext cx="26543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it-IT"/>
          </a:p>
        </p:txBody>
      </p:sp>
      <p:sp>
        <p:nvSpPr>
          <p:cNvPr id="20525" name="Line 48">
            <a:extLst>
              <a:ext uri="{FF2B5EF4-FFF2-40B4-BE49-F238E27FC236}">
                <a16:creationId xmlns:a16="http://schemas.microsoft.com/office/drawing/2014/main" id="{362E5115-CAB5-B417-E5A7-792D14A33787}"/>
              </a:ext>
            </a:extLst>
          </p:cNvPr>
          <p:cNvSpPr>
            <a:spLocks noChangeShapeType="1"/>
          </p:cNvSpPr>
          <p:nvPr/>
        </p:nvSpPr>
        <p:spPr bwMode="auto">
          <a:xfrm>
            <a:off x="909638" y="2225675"/>
            <a:ext cx="26543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it-IT"/>
          </a:p>
        </p:txBody>
      </p:sp>
      <p:sp>
        <p:nvSpPr>
          <p:cNvPr id="20526" name="Line 49">
            <a:extLst>
              <a:ext uri="{FF2B5EF4-FFF2-40B4-BE49-F238E27FC236}">
                <a16:creationId xmlns:a16="http://schemas.microsoft.com/office/drawing/2014/main" id="{34145598-337B-E1CA-2F02-AA06D40D5A94}"/>
              </a:ext>
            </a:extLst>
          </p:cNvPr>
          <p:cNvSpPr>
            <a:spLocks noChangeShapeType="1"/>
          </p:cNvSpPr>
          <p:nvPr/>
        </p:nvSpPr>
        <p:spPr bwMode="auto">
          <a:xfrm>
            <a:off x="898525" y="2505075"/>
            <a:ext cx="26543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it-IT"/>
          </a:p>
        </p:txBody>
      </p:sp>
      <p:sp>
        <p:nvSpPr>
          <p:cNvPr id="20527" name="Line 50">
            <a:extLst>
              <a:ext uri="{FF2B5EF4-FFF2-40B4-BE49-F238E27FC236}">
                <a16:creationId xmlns:a16="http://schemas.microsoft.com/office/drawing/2014/main" id="{D29BF768-8ADE-6D52-C7B4-9FB7252D3123}"/>
              </a:ext>
            </a:extLst>
          </p:cNvPr>
          <p:cNvSpPr>
            <a:spLocks noChangeShapeType="1"/>
          </p:cNvSpPr>
          <p:nvPr/>
        </p:nvSpPr>
        <p:spPr bwMode="auto">
          <a:xfrm>
            <a:off x="909638" y="2794000"/>
            <a:ext cx="26543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it-IT"/>
          </a:p>
        </p:txBody>
      </p:sp>
      <p:sp>
        <p:nvSpPr>
          <p:cNvPr id="20528" name="Line 51">
            <a:extLst>
              <a:ext uri="{FF2B5EF4-FFF2-40B4-BE49-F238E27FC236}">
                <a16:creationId xmlns:a16="http://schemas.microsoft.com/office/drawing/2014/main" id="{973AC582-A712-CED1-800B-1C6551EC6398}"/>
              </a:ext>
            </a:extLst>
          </p:cNvPr>
          <p:cNvSpPr>
            <a:spLocks noChangeShapeType="1"/>
          </p:cNvSpPr>
          <p:nvPr/>
        </p:nvSpPr>
        <p:spPr bwMode="auto">
          <a:xfrm>
            <a:off x="898525" y="3081338"/>
            <a:ext cx="26543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it-IT"/>
          </a:p>
        </p:txBody>
      </p:sp>
      <p:sp>
        <p:nvSpPr>
          <p:cNvPr id="20529" name="Line 52">
            <a:extLst>
              <a:ext uri="{FF2B5EF4-FFF2-40B4-BE49-F238E27FC236}">
                <a16:creationId xmlns:a16="http://schemas.microsoft.com/office/drawing/2014/main" id="{01B397B1-0F45-2002-A2F7-5B1BFEE284C5}"/>
              </a:ext>
            </a:extLst>
          </p:cNvPr>
          <p:cNvSpPr>
            <a:spLocks noChangeShapeType="1"/>
          </p:cNvSpPr>
          <p:nvPr/>
        </p:nvSpPr>
        <p:spPr bwMode="auto">
          <a:xfrm>
            <a:off x="909638" y="3352800"/>
            <a:ext cx="26543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it-IT"/>
          </a:p>
        </p:txBody>
      </p:sp>
      <p:sp>
        <p:nvSpPr>
          <p:cNvPr id="20530" name="Line 53">
            <a:extLst>
              <a:ext uri="{FF2B5EF4-FFF2-40B4-BE49-F238E27FC236}">
                <a16:creationId xmlns:a16="http://schemas.microsoft.com/office/drawing/2014/main" id="{6F6DACF7-BA95-0380-3D9F-41100F73CF3E}"/>
              </a:ext>
            </a:extLst>
          </p:cNvPr>
          <p:cNvSpPr>
            <a:spLocks noChangeShapeType="1"/>
          </p:cNvSpPr>
          <p:nvPr/>
        </p:nvSpPr>
        <p:spPr bwMode="auto">
          <a:xfrm>
            <a:off x="898525" y="3636963"/>
            <a:ext cx="26543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it-IT"/>
          </a:p>
        </p:txBody>
      </p:sp>
      <p:sp>
        <p:nvSpPr>
          <p:cNvPr id="20531" name="Line 54">
            <a:extLst>
              <a:ext uri="{FF2B5EF4-FFF2-40B4-BE49-F238E27FC236}">
                <a16:creationId xmlns:a16="http://schemas.microsoft.com/office/drawing/2014/main" id="{D4718ED5-D655-A43F-D3E3-BC1C87A8D4F8}"/>
              </a:ext>
            </a:extLst>
          </p:cNvPr>
          <p:cNvSpPr>
            <a:spLocks noChangeShapeType="1"/>
          </p:cNvSpPr>
          <p:nvPr/>
        </p:nvSpPr>
        <p:spPr bwMode="auto">
          <a:xfrm>
            <a:off x="898525" y="3903663"/>
            <a:ext cx="26543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it-IT"/>
          </a:p>
        </p:txBody>
      </p:sp>
      <p:sp>
        <p:nvSpPr>
          <p:cNvPr id="20532" name="Line 55">
            <a:extLst>
              <a:ext uri="{FF2B5EF4-FFF2-40B4-BE49-F238E27FC236}">
                <a16:creationId xmlns:a16="http://schemas.microsoft.com/office/drawing/2014/main" id="{0B485D78-0392-8EC9-1ED5-0BCA824ED5DD}"/>
              </a:ext>
            </a:extLst>
          </p:cNvPr>
          <p:cNvSpPr>
            <a:spLocks noChangeShapeType="1"/>
          </p:cNvSpPr>
          <p:nvPr/>
        </p:nvSpPr>
        <p:spPr bwMode="auto">
          <a:xfrm>
            <a:off x="898525" y="4170363"/>
            <a:ext cx="26543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it-IT"/>
          </a:p>
        </p:txBody>
      </p:sp>
      <p:sp>
        <p:nvSpPr>
          <p:cNvPr id="20533" name="Line 56">
            <a:extLst>
              <a:ext uri="{FF2B5EF4-FFF2-40B4-BE49-F238E27FC236}">
                <a16:creationId xmlns:a16="http://schemas.microsoft.com/office/drawing/2014/main" id="{2D19A82A-25C9-4BC9-EDBC-034CD8F65309}"/>
              </a:ext>
            </a:extLst>
          </p:cNvPr>
          <p:cNvSpPr>
            <a:spLocks noChangeShapeType="1"/>
          </p:cNvSpPr>
          <p:nvPr/>
        </p:nvSpPr>
        <p:spPr bwMode="auto">
          <a:xfrm>
            <a:off x="898525" y="4449763"/>
            <a:ext cx="26543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it-IT"/>
          </a:p>
        </p:txBody>
      </p:sp>
      <p:sp>
        <p:nvSpPr>
          <p:cNvPr id="20534" name="Line 57">
            <a:extLst>
              <a:ext uri="{FF2B5EF4-FFF2-40B4-BE49-F238E27FC236}">
                <a16:creationId xmlns:a16="http://schemas.microsoft.com/office/drawing/2014/main" id="{B3CAE7F0-A0B3-964B-B70A-A8A30F2FBA28}"/>
              </a:ext>
            </a:extLst>
          </p:cNvPr>
          <p:cNvSpPr>
            <a:spLocks noChangeShapeType="1"/>
          </p:cNvSpPr>
          <p:nvPr/>
        </p:nvSpPr>
        <p:spPr bwMode="auto">
          <a:xfrm>
            <a:off x="898525" y="4716463"/>
            <a:ext cx="26543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it-IT"/>
          </a:p>
        </p:txBody>
      </p:sp>
      <p:sp>
        <p:nvSpPr>
          <p:cNvPr id="20535" name="Text Box 58">
            <a:extLst>
              <a:ext uri="{FF2B5EF4-FFF2-40B4-BE49-F238E27FC236}">
                <a16:creationId xmlns:a16="http://schemas.microsoft.com/office/drawing/2014/main" id="{711827C1-EA93-24E7-8C09-2497019B9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5525" y="1341438"/>
            <a:ext cx="3527425" cy="476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/>
            <a:r>
              <a:rPr lang="en-US" altLang="it-IT" sz="1800"/>
              <a:t>In questo esempio, il registro indirizzi presente all’interno del processore ha 16 bit, ma la memoria esterna ha solo 2</a:t>
            </a:r>
            <a:r>
              <a:rPr lang="en-US" altLang="it-IT" sz="1800" baseline="30000"/>
              <a:t>12</a:t>
            </a:r>
            <a:r>
              <a:rPr lang="en-US" altLang="it-IT" sz="1800"/>
              <a:t> locazioni fisiche, quindo solo 12 bit del registro indirizzi sono collegate al bus indirizzi della memoria</a:t>
            </a:r>
          </a:p>
          <a:p>
            <a:pPr algn="l" eaLnBrk="1" hangingPunct="1"/>
            <a:r>
              <a:rPr lang="en-US" altLang="it-IT" sz="1800"/>
              <a:t>Diversi valori del registro indirizzi possono attivare la stessa locazione di memoria. Ad es.: $A3B2 e $93B2, poiché differiscono solo per i 4 bit più significativi</a:t>
            </a:r>
          </a:p>
          <a:p>
            <a:pPr algn="l" eaLnBrk="1" hangingPunct="1"/>
            <a:r>
              <a:rPr lang="en-US" altLang="it-IT" sz="1800"/>
              <a:t>Questo fenomeno prende il nome di </a:t>
            </a:r>
            <a:r>
              <a:rPr lang="en-US" altLang="it-IT" sz="1800" b="1"/>
              <a:t>aliasing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egnaposto numero diapositiva 5">
            <a:extLst>
              <a:ext uri="{FF2B5EF4-FFF2-40B4-BE49-F238E27FC236}">
                <a16:creationId xmlns:a16="http://schemas.microsoft.com/office/drawing/2014/main" id="{7E2C0167-4781-0E66-D279-3964E8A1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5955221-35B9-4DE6-A37D-0DCB921A2373}" type="slidenum">
              <a:rPr lang="it-IT" altLang="it-IT" sz="1400">
                <a:latin typeface="Times New Roman" panose="02020603050405020304" pitchFamily="18" charset="0"/>
              </a:rPr>
              <a:pPr/>
              <a:t>7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027288D0-CF1B-E4B6-72A7-67AAA92054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Esercizio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C446A526-A553-62BE-FBE8-1778AF4575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Tracciare lo schema di un’architettura di memoria con le seguenti caratteristiche: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Spazio di indirizzamento logico: 1MB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Spazio di indirizzamento fisico: 1MB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Ampiezza di parola: 1 byte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Granularità dell’accesso: byte addressable</a:t>
            </a:r>
          </a:p>
          <a:p>
            <a:pPr lvl="1" eaLnBrk="1" hangingPunct="1"/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egnaposto numero diapositiva 5">
            <a:extLst>
              <a:ext uri="{FF2B5EF4-FFF2-40B4-BE49-F238E27FC236}">
                <a16:creationId xmlns:a16="http://schemas.microsoft.com/office/drawing/2014/main" id="{E6CEAA13-4292-A5B8-1DA9-06A78610C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275083E-092D-4214-866F-6024EE5C15ED}" type="slidenum">
              <a:rPr lang="it-IT" altLang="it-IT" sz="1400">
                <a:latin typeface="Times New Roman" panose="02020603050405020304" pitchFamily="18" charset="0"/>
              </a:rPr>
              <a:pPr/>
              <a:t>8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81260623-87C2-31D3-7D78-72CEE22197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Soluzione</a:t>
            </a:r>
          </a:p>
        </p:txBody>
      </p:sp>
      <p:sp>
        <p:nvSpPr>
          <p:cNvPr id="324611" name="Rectangle 3">
            <a:extLst>
              <a:ext uri="{FF2B5EF4-FFF2-40B4-BE49-F238E27FC236}">
                <a16:creationId xmlns:a16="http://schemas.microsoft.com/office/drawing/2014/main" id="{C5663C0B-C2D4-C872-FD6A-7CB3A3FAF4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5661025"/>
            <a:ext cx="9296400" cy="792163"/>
          </a:xfrm>
        </p:spPr>
        <p:txBody>
          <a:bodyPr/>
          <a:lstStyle/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Nota: Il processore MC68008 è organizzato in maniera simile</a:t>
            </a:r>
          </a:p>
        </p:txBody>
      </p:sp>
      <p:sp>
        <p:nvSpPr>
          <p:cNvPr id="324612" name="Rectangle 4">
            <a:extLst>
              <a:ext uri="{FF2B5EF4-FFF2-40B4-BE49-F238E27FC236}">
                <a16:creationId xmlns:a16="http://schemas.microsoft.com/office/drawing/2014/main" id="{45621A72-884E-549F-EA9A-A2DCE43FFB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987675"/>
            <a:ext cx="4191000" cy="495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24613" name="Text Box 5">
            <a:extLst>
              <a:ext uri="{FF2B5EF4-FFF2-40B4-BE49-F238E27FC236}">
                <a16:creationId xmlns:a16="http://schemas.microsoft.com/office/drawing/2014/main" id="{4BBFBD3C-4ADA-5E9D-094C-D48D7AFF1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3048000"/>
            <a:ext cx="4191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it-IT" altLang="it-IT" sz="1800" i="1"/>
              <a:t>valori da </a:t>
            </a:r>
            <a:r>
              <a:rPr lang="it-IT" altLang="it-IT" sz="1800"/>
              <a:t>00000 </a:t>
            </a:r>
            <a:r>
              <a:rPr lang="it-IT" altLang="it-IT" sz="1800" i="1"/>
              <a:t> a</a:t>
            </a:r>
            <a:r>
              <a:rPr lang="it-IT" altLang="it-IT" sz="1800"/>
              <a:t> FFFFF</a:t>
            </a:r>
          </a:p>
        </p:txBody>
      </p:sp>
      <p:sp>
        <p:nvSpPr>
          <p:cNvPr id="324615" name="Text Box 7">
            <a:extLst>
              <a:ext uri="{FF2B5EF4-FFF2-40B4-BE49-F238E27FC236}">
                <a16:creationId xmlns:a16="http://schemas.microsoft.com/office/drawing/2014/main" id="{EB6FB5C5-38F5-CF0B-C324-DA89881418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900" y="3951288"/>
            <a:ext cx="3403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it-IT" altLang="it-IT"/>
              <a:t>20 bit</a:t>
            </a:r>
          </a:p>
        </p:txBody>
      </p:sp>
      <p:sp>
        <p:nvSpPr>
          <p:cNvPr id="22536" name="Rectangle 8">
            <a:extLst>
              <a:ext uri="{FF2B5EF4-FFF2-40B4-BE49-F238E27FC236}">
                <a16:creationId xmlns:a16="http://schemas.microsoft.com/office/drawing/2014/main" id="{B1D03DD3-2554-6AF6-AC73-B6241D5741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00" y="1785938"/>
            <a:ext cx="2492375" cy="495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24617" name="Text Box 9">
            <a:extLst>
              <a:ext uri="{FF2B5EF4-FFF2-40B4-BE49-F238E27FC236}">
                <a16:creationId xmlns:a16="http://schemas.microsoft.com/office/drawing/2014/main" id="{FFEB4699-E50E-2337-2203-D0B75559F1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1550" y="1785938"/>
            <a:ext cx="124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it-IT" altLang="it-IT"/>
              <a:t>--</a:t>
            </a:r>
          </a:p>
        </p:txBody>
      </p:sp>
      <p:sp>
        <p:nvSpPr>
          <p:cNvPr id="22538" name="Rectangle 10">
            <a:extLst>
              <a:ext uri="{FF2B5EF4-FFF2-40B4-BE49-F238E27FC236}">
                <a16:creationId xmlns:a16="http://schemas.microsoft.com/office/drawing/2014/main" id="{F2973AC5-DD4F-0474-C495-C48B754D8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00" y="2281238"/>
            <a:ext cx="2492375" cy="4937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24619" name="Text Box 11">
            <a:extLst>
              <a:ext uri="{FF2B5EF4-FFF2-40B4-BE49-F238E27FC236}">
                <a16:creationId xmlns:a16="http://schemas.microsoft.com/office/drawing/2014/main" id="{028814AF-6D96-7B49-CADA-54D417E48C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1550" y="2346325"/>
            <a:ext cx="124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it-IT" altLang="it-IT"/>
              <a:t>--</a:t>
            </a:r>
          </a:p>
        </p:txBody>
      </p:sp>
      <p:sp>
        <p:nvSpPr>
          <p:cNvPr id="22540" name="Rectangle 12">
            <a:extLst>
              <a:ext uri="{FF2B5EF4-FFF2-40B4-BE49-F238E27FC236}">
                <a16:creationId xmlns:a16="http://schemas.microsoft.com/office/drawing/2014/main" id="{ACA2DCAC-5EB0-43DB-6DDA-D3A68049D2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00" y="2774950"/>
            <a:ext cx="2492375" cy="13604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22541" name="Rectangle 13">
            <a:extLst>
              <a:ext uri="{FF2B5EF4-FFF2-40B4-BE49-F238E27FC236}">
                <a16:creationId xmlns:a16="http://schemas.microsoft.com/office/drawing/2014/main" id="{6FEF8941-3885-9F3B-E7B5-9D0FC2E9A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00" y="4135438"/>
            <a:ext cx="2492375" cy="495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24622" name="Text Box 14">
            <a:extLst>
              <a:ext uri="{FF2B5EF4-FFF2-40B4-BE49-F238E27FC236}">
                <a16:creationId xmlns:a16="http://schemas.microsoft.com/office/drawing/2014/main" id="{E0B05045-87FA-43B6-AFDC-15B474B5C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213" y="4175125"/>
            <a:ext cx="1905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it-IT" altLang="it-IT"/>
              <a:t>--</a:t>
            </a:r>
          </a:p>
        </p:txBody>
      </p:sp>
      <p:sp>
        <p:nvSpPr>
          <p:cNvPr id="22543" name="Text Box 15">
            <a:extLst>
              <a:ext uri="{FF2B5EF4-FFF2-40B4-BE49-F238E27FC236}">
                <a16:creationId xmlns:a16="http://schemas.microsoft.com/office/drawing/2014/main" id="{E360BB30-615F-8557-1302-3450997B23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1863" y="3022600"/>
            <a:ext cx="13096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it-IT" altLang="it-IT"/>
              <a:t>. . . .</a:t>
            </a:r>
          </a:p>
        </p:txBody>
      </p:sp>
      <p:sp>
        <p:nvSpPr>
          <p:cNvPr id="324624" name="Text Box 16">
            <a:extLst>
              <a:ext uri="{FF2B5EF4-FFF2-40B4-BE49-F238E27FC236}">
                <a16:creationId xmlns:a16="http://schemas.microsoft.com/office/drawing/2014/main" id="{E53DFBAA-5B93-9FAD-1B86-33ECCFAF50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9875" y="1785938"/>
            <a:ext cx="1243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it-IT" altLang="it-IT"/>
              <a:t>00000</a:t>
            </a:r>
          </a:p>
        </p:txBody>
      </p:sp>
      <p:sp>
        <p:nvSpPr>
          <p:cNvPr id="324625" name="Text Box 17">
            <a:extLst>
              <a:ext uri="{FF2B5EF4-FFF2-40B4-BE49-F238E27FC236}">
                <a16:creationId xmlns:a16="http://schemas.microsoft.com/office/drawing/2014/main" id="{82B85182-43CC-37D8-80BA-F5D814C129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9875" y="2346325"/>
            <a:ext cx="1243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it-IT" altLang="it-IT"/>
              <a:t>00001</a:t>
            </a:r>
          </a:p>
        </p:txBody>
      </p:sp>
      <p:sp>
        <p:nvSpPr>
          <p:cNvPr id="324626" name="Text Box 18">
            <a:extLst>
              <a:ext uri="{FF2B5EF4-FFF2-40B4-BE49-F238E27FC236}">
                <a16:creationId xmlns:a16="http://schemas.microsoft.com/office/drawing/2014/main" id="{EA39E983-9BD2-C70C-078A-0A1EEF683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9875" y="4175125"/>
            <a:ext cx="1243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it-IT" altLang="it-IT"/>
              <a:t>FFFFF</a:t>
            </a:r>
          </a:p>
        </p:txBody>
      </p:sp>
      <p:sp>
        <p:nvSpPr>
          <p:cNvPr id="324628" name="Text Box 20">
            <a:extLst>
              <a:ext uri="{FF2B5EF4-FFF2-40B4-BE49-F238E27FC236}">
                <a16:creationId xmlns:a16="http://schemas.microsoft.com/office/drawing/2014/main" id="{09B4CDF3-BD28-D831-48A0-6E653DCE7F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5013325"/>
            <a:ext cx="1981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it-IT" altLang="it-IT"/>
              <a:t>8 bit</a:t>
            </a:r>
          </a:p>
        </p:txBody>
      </p:sp>
      <p:sp>
        <p:nvSpPr>
          <p:cNvPr id="22548" name="AutoShape 22">
            <a:extLst>
              <a:ext uri="{FF2B5EF4-FFF2-40B4-BE49-F238E27FC236}">
                <a16:creationId xmlns:a16="http://schemas.microsoft.com/office/drawing/2014/main" id="{34D61720-D69B-CD9F-31DE-08C2D33EA62F}"/>
              </a:ext>
            </a:extLst>
          </p:cNvPr>
          <p:cNvSpPr>
            <a:spLocks/>
          </p:cNvSpPr>
          <p:nvPr/>
        </p:nvSpPr>
        <p:spPr bwMode="auto">
          <a:xfrm rot="-5400000">
            <a:off x="2414588" y="1866900"/>
            <a:ext cx="287338" cy="3748087"/>
          </a:xfrm>
          <a:prstGeom prst="leftBrace">
            <a:avLst>
              <a:gd name="adj1" fmla="val 108701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22549" name="AutoShape 23">
            <a:extLst>
              <a:ext uri="{FF2B5EF4-FFF2-40B4-BE49-F238E27FC236}">
                <a16:creationId xmlns:a16="http://schemas.microsoft.com/office/drawing/2014/main" id="{900D1733-EBDD-6941-9AE3-05AE6814DA4B}"/>
              </a:ext>
            </a:extLst>
          </p:cNvPr>
          <p:cNvSpPr>
            <a:spLocks/>
          </p:cNvSpPr>
          <p:nvPr/>
        </p:nvSpPr>
        <p:spPr bwMode="auto">
          <a:xfrm rot="-5400000">
            <a:off x="7821613" y="3787775"/>
            <a:ext cx="287337" cy="2163763"/>
          </a:xfrm>
          <a:prstGeom prst="leftBrace">
            <a:avLst>
              <a:gd name="adj1" fmla="val 6275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24637" name="Text Box 29">
            <a:extLst>
              <a:ext uri="{FF2B5EF4-FFF2-40B4-BE49-F238E27FC236}">
                <a16:creationId xmlns:a16="http://schemas.microsoft.com/office/drawing/2014/main" id="{3492E1B2-1F75-EBA2-0A56-6859AE002E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0" y="2438400"/>
            <a:ext cx="3403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it-IT" altLang="it-IT" b="1"/>
              <a:t>Address Register</a:t>
            </a:r>
          </a:p>
        </p:txBody>
      </p:sp>
      <p:sp>
        <p:nvSpPr>
          <p:cNvPr id="22551" name="Text Box 30">
            <a:extLst>
              <a:ext uri="{FF2B5EF4-FFF2-40B4-BE49-F238E27FC236}">
                <a16:creationId xmlns:a16="http://schemas.microsoft.com/office/drawing/2014/main" id="{DBE5CE87-A747-FAB5-9E4D-B3793332C1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1863" y="1371600"/>
            <a:ext cx="13096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it-IT" altLang="it-IT" b="1"/>
              <a:t>Memoria</a:t>
            </a:r>
          </a:p>
        </p:txBody>
      </p:sp>
      <p:sp>
        <p:nvSpPr>
          <p:cNvPr id="324639" name="Text Box 31">
            <a:extLst>
              <a:ext uri="{FF2B5EF4-FFF2-40B4-BE49-F238E27FC236}">
                <a16:creationId xmlns:a16="http://schemas.microsoft.com/office/drawing/2014/main" id="{D446BA45-C2F9-2B9F-F188-A1E90354D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6488" y="4832350"/>
            <a:ext cx="1981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it-IT" altLang="it-IT"/>
              <a:t>20 bit</a:t>
            </a:r>
          </a:p>
        </p:txBody>
      </p:sp>
      <p:sp>
        <p:nvSpPr>
          <p:cNvPr id="22553" name="AutoShape 32">
            <a:extLst>
              <a:ext uri="{FF2B5EF4-FFF2-40B4-BE49-F238E27FC236}">
                <a16:creationId xmlns:a16="http://schemas.microsoft.com/office/drawing/2014/main" id="{6515C514-4875-6E79-84C7-B327B43A55D4}"/>
              </a:ext>
            </a:extLst>
          </p:cNvPr>
          <p:cNvSpPr>
            <a:spLocks/>
          </p:cNvSpPr>
          <p:nvPr/>
        </p:nvSpPr>
        <p:spPr bwMode="auto">
          <a:xfrm rot="-5400000">
            <a:off x="5753894" y="4226719"/>
            <a:ext cx="238125" cy="1046163"/>
          </a:xfrm>
          <a:prstGeom prst="leftBrace">
            <a:avLst>
              <a:gd name="adj1" fmla="val 36611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22554" name="Text Box 33">
            <a:extLst>
              <a:ext uri="{FF2B5EF4-FFF2-40B4-BE49-F238E27FC236}">
                <a16:creationId xmlns:a16="http://schemas.microsoft.com/office/drawing/2014/main" id="{ACBCFCEA-8420-216C-8CD1-A3AB5C7BCB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9238" y="1412875"/>
            <a:ext cx="1338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it-IT" altLang="it-IT" b="1"/>
              <a:t>indirizzo</a:t>
            </a:r>
          </a:p>
        </p:txBody>
      </p:sp>
      <p:sp>
        <p:nvSpPr>
          <p:cNvPr id="22555" name="Line 36">
            <a:extLst>
              <a:ext uri="{FF2B5EF4-FFF2-40B4-BE49-F238E27FC236}">
                <a16:creationId xmlns:a16="http://schemas.microsoft.com/office/drawing/2014/main" id="{928F4B40-D4CB-5A54-7A59-9DC1BE4FB87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6375" y="1990725"/>
            <a:ext cx="0" cy="996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it-IT"/>
          </a:p>
        </p:txBody>
      </p:sp>
      <p:sp>
        <p:nvSpPr>
          <p:cNvPr id="22556" name="Line 37">
            <a:extLst>
              <a:ext uri="{FF2B5EF4-FFF2-40B4-BE49-F238E27FC236}">
                <a16:creationId xmlns:a16="http://schemas.microsoft.com/office/drawing/2014/main" id="{8126852C-D050-2AFD-967E-64BF3E3544A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6375" y="1989138"/>
            <a:ext cx="13684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24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4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4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24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4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324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4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324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4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324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24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324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24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611" grpId="0" build="p" autoUpdateAnimBg="0"/>
      <p:bldP spid="324612" grpId="0" animBg="1"/>
      <p:bldP spid="324613" grpId="0" autoUpdateAnimBg="0"/>
      <p:bldP spid="324615" grpId="0" autoUpdateAnimBg="0"/>
      <p:bldP spid="324617" grpId="0" autoUpdateAnimBg="0"/>
      <p:bldP spid="324619" grpId="0" autoUpdateAnimBg="0"/>
      <p:bldP spid="324622" grpId="0" autoUpdateAnimBg="0"/>
      <p:bldP spid="324624" grpId="0" autoUpdateAnimBg="0"/>
      <p:bldP spid="324625" grpId="0" autoUpdateAnimBg="0"/>
      <p:bldP spid="324626" grpId="0" autoUpdateAnimBg="0"/>
      <p:bldP spid="324628" grpId="0" autoUpdateAnimBg="0"/>
      <p:bldP spid="324637" grpId="0" autoUpdateAnimBg="0"/>
      <p:bldP spid="324639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egnaposto numero diapositiva 5">
            <a:extLst>
              <a:ext uri="{FF2B5EF4-FFF2-40B4-BE49-F238E27FC236}">
                <a16:creationId xmlns:a16="http://schemas.microsoft.com/office/drawing/2014/main" id="{398FB292-8F40-B321-2EF9-9CE5CE9AE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B086C80-2018-4783-BB26-9C0E3A4A0E39}" type="slidenum">
              <a:rPr lang="it-IT" altLang="it-IT" sz="1400">
                <a:latin typeface="Times New Roman" panose="02020603050405020304" pitchFamily="18" charset="0"/>
              </a:rPr>
              <a:pPr/>
              <a:t>9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6BCE0494-813F-0197-5A51-E67CBB85BC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Esercizio</a:t>
            </a: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65D650A4-EFD7-CFFD-FE12-C263470D35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Tracciare lo schema di un’architettura di memoria con le seguenti caratteristiche: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Spazio di indirizzamento logico: 4GB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Spazio di indirizzamento fisico: 16MB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Ampiezza di parola: 2 byte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Granularità dell’accesso: byte addressable</a:t>
            </a:r>
          </a:p>
          <a:p>
            <a:pPr lvl="1" eaLnBrk="1" hangingPunct="1"/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egnaposto numero diapositiva 5">
            <a:extLst>
              <a:ext uri="{FF2B5EF4-FFF2-40B4-BE49-F238E27FC236}">
                <a16:creationId xmlns:a16="http://schemas.microsoft.com/office/drawing/2014/main" id="{6FEB76D2-72DF-A1F1-61FC-04E7C9451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FFAB550-11E2-4A56-9372-6E33D5045F5C}" type="slidenum">
              <a:rPr lang="it-IT" altLang="it-IT" sz="1400">
                <a:latin typeface="Times New Roman" panose="02020603050405020304" pitchFamily="18" charset="0"/>
              </a:rPr>
              <a:pPr/>
              <a:t>10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E261DA2B-249D-2D15-2FD1-BB919F3F77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Soluzione</a:t>
            </a:r>
          </a:p>
        </p:txBody>
      </p:sp>
      <p:sp>
        <p:nvSpPr>
          <p:cNvPr id="326659" name="Rectangle 3">
            <a:extLst>
              <a:ext uri="{FF2B5EF4-FFF2-40B4-BE49-F238E27FC236}">
                <a16:creationId xmlns:a16="http://schemas.microsoft.com/office/drawing/2014/main" id="{A696B660-EE5E-6222-5315-678E8EE017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5675313"/>
            <a:ext cx="9296400" cy="1066800"/>
          </a:xfrm>
        </p:spPr>
        <p:txBody>
          <a:bodyPr/>
          <a:lstStyle/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Nota: I processori MC68000 e MC68010 sono organizzati in maniera simile</a:t>
            </a:r>
          </a:p>
        </p:txBody>
      </p:sp>
      <p:sp>
        <p:nvSpPr>
          <p:cNvPr id="326660" name="Rectangle 4">
            <a:extLst>
              <a:ext uri="{FF2B5EF4-FFF2-40B4-BE49-F238E27FC236}">
                <a16:creationId xmlns:a16="http://schemas.microsoft.com/office/drawing/2014/main" id="{ABCDA58C-DE75-2F68-5B01-E051F96B0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987675"/>
            <a:ext cx="4191000" cy="495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26661" name="Text Box 5">
            <a:extLst>
              <a:ext uri="{FF2B5EF4-FFF2-40B4-BE49-F238E27FC236}">
                <a16:creationId xmlns:a16="http://schemas.microsoft.com/office/drawing/2014/main" id="{EF8CC9E1-B882-7F71-6AA3-483E8EB3E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3048000"/>
            <a:ext cx="3810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it-IT" altLang="it-IT"/>
              <a:t>00000000 - FFFFFFFF</a:t>
            </a:r>
          </a:p>
        </p:txBody>
      </p:sp>
      <p:sp>
        <p:nvSpPr>
          <p:cNvPr id="326662" name="Text Box 6">
            <a:extLst>
              <a:ext uri="{FF2B5EF4-FFF2-40B4-BE49-F238E27FC236}">
                <a16:creationId xmlns:a16="http://schemas.microsoft.com/office/drawing/2014/main" id="{D06F2D32-89D9-B53A-7370-3531854655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0" y="2438400"/>
            <a:ext cx="3403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it-IT" altLang="it-IT" b="1"/>
              <a:t>Address Register</a:t>
            </a:r>
          </a:p>
        </p:txBody>
      </p:sp>
      <p:sp>
        <p:nvSpPr>
          <p:cNvPr id="326663" name="Text Box 7">
            <a:extLst>
              <a:ext uri="{FF2B5EF4-FFF2-40B4-BE49-F238E27FC236}">
                <a16:creationId xmlns:a16="http://schemas.microsoft.com/office/drawing/2014/main" id="{5E91F813-7448-6FE2-F28F-D236A907D0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00" y="3925888"/>
            <a:ext cx="3403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it-IT" altLang="it-IT"/>
              <a:t>32 bit</a:t>
            </a:r>
          </a:p>
        </p:txBody>
      </p:sp>
      <p:sp>
        <p:nvSpPr>
          <p:cNvPr id="24585" name="Rectangle 8">
            <a:extLst>
              <a:ext uri="{FF2B5EF4-FFF2-40B4-BE49-F238E27FC236}">
                <a16:creationId xmlns:a16="http://schemas.microsoft.com/office/drawing/2014/main" id="{7F7395C4-2B5E-25BD-7A05-0981E8B5E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00" y="1785938"/>
            <a:ext cx="2492375" cy="495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26665" name="Text Box 9">
            <a:extLst>
              <a:ext uri="{FF2B5EF4-FFF2-40B4-BE49-F238E27FC236}">
                <a16:creationId xmlns:a16="http://schemas.microsoft.com/office/drawing/2014/main" id="{CEC832BA-3066-51DD-D44A-B7F3B764FD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1550" y="1785938"/>
            <a:ext cx="124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it-IT" altLang="it-IT"/>
              <a:t>--   --</a:t>
            </a:r>
          </a:p>
        </p:txBody>
      </p:sp>
      <p:sp>
        <p:nvSpPr>
          <p:cNvPr id="24587" name="Rectangle 10">
            <a:extLst>
              <a:ext uri="{FF2B5EF4-FFF2-40B4-BE49-F238E27FC236}">
                <a16:creationId xmlns:a16="http://schemas.microsoft.com/office/drawing/2014/main" id="{F347E6CE-D1B0-603F-3EA4-68BDADDB4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00" y="2281238"/>
            <a:ext cx="2492375" cy="4937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26667" name="Text Box 11">
            <a:extLst>
              <a:ext uri="{FF2B5EF4-FFF2-40B4-BE49-F238E27FC236}">
                <a16:creationId xmlns:a16="http://schemas.microsoft.com/office/drawing/2014/main" id="{7C8D2C32-89F5-B6E6-433E-34A3483B7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1550" y="2346325"/>
            <a:ext cx="124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it-IT" altLang="it-IT"/>
              <a:t>--   --</a:t>
            </a:r>
          </a:p>
        </p:txBody>
      </p:sp>
      <p:sp>
        <p:nvSpPr>
          <p:cNvPr id="24589" name="Rectangle 12">
            <a:extLst>
              <a:ext uri="{FF2B5EF4-FFF2-40B4-BE49-F238E27FC236}">
                <a16:creationId xmlns:a16="http://schemas.microsoft.com/office/drawing/2014/main" id="{DAD6E99C-CACD-82BA-6E1F-EAB18CCD2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00" y="2774950"/>
            <a:ext cx="2492375" cy="13604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24590" name="Rectangle 13">
            <a:extLst>
              <a:ext uri="{FF2B5EF4-FFF2-40B4-BE49-F238E27FC236}">
                <a16:creationId xmlns:a16="http://schemas.microsoft.com/office/drawing/2014/main" id="{B1ADA628-1178-BFCA-2A6B-4A5DE456BD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00" y="4135438"/>
            <a:ext cx="2492375" cy="495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26670" name="Text Box 14">
            <a:extLst>
              <a:ext uri="{FF2B5EF4-FFF2-40B4-BE49-F238E27FC236}">
                <a16:creationId xmlns:a16="http://schemas.microsoft.com/office/drawing/2014/main" id="{85B7FE0E-263B-38DF-78EC-7676A34214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4175125"/>
            <a:ext cx="21256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it-IT" altLang="it-IT" sz="1900"/>
              <a:t>--   </a:t>
            </a:r>
            <a:r>
              <a:rPr lang="it-IT" altLang="it-IT"/>
              <a:t>--</a:t>
            </a:r>
          </a:p>
        </p:txBody>
      </p:sp>
      <p:sp>
        <p:nvSpPr>
          <p:cNvPr id="24592" name="Text Box 15">
            <a:extLst>
              <a:ext uri="{FF2B5EF4-FFF2-40B4-BE49-F238E27FC236}">
                <a16:creationId xmlns:a16="http://schemas.microsoft.com/office/drawing/2014/main" id="{5934DB25-CEBB-7B59-48E5-BE7B5C338F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1863" y="3022600"/>
            <a:ext cx="13096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it-IT" altLang="it-IT"/>
              <a:t>. . . .</a:t>
            </a:r>
          </a:p>
        </p:txBody>
      </p:sp>
      <p:sp>
        <p:nvSpPr>
          <p:cNvPr id="326672" name="Text Box 16">
            <a:extLst>
              <a:ext uri="{FF2B5EF4-FFF2-40B4-BE49-F238E27FC236}">
                <a16:creationId xmlns:a16="http://schemas.microsoft.com/office/drawing/2014/main" id="{F9A10AEA-725A-E8DC-6AD3-275A25AB6E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9875" y="1785938"/>
            <a:ext cx="1243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it-IT" altLang="it-IT"/>
              <a:t>000000</a:t>
            </a:r>
          </a:p>
        </p:txBody>
      </p:sp>
      <p:sp>
        <p:nvSpPr>
          <p:cNvPr id="326673" name="Text Box 17">
            <a:extLst>
              <a:ext uri="{FF2B5EF4-FFF2-40B4-BE49-F238E27FC236}">
                <a16:creationId xmlns:a16="http://schemas.microsoft.com/office/drawing/2014/main" id="{A8C3E853-3F8E-28DB-D8F0-867376A77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9875" y="2346325"/>
            <a:ext cx="1243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it-IT" altLang="it-IT"/>
              <a:t>000002</a:t>
            </a:r>
          </a:p>
        </p:txBody>
      </p:sp>
      <p:sp>
        <p:nvSpPr>
          <p:cNvPr id="326674" name="Text Box 18">
            <a:extLst>
              <a:ext uri="{FF2B5EF4-FFF2-40B4-BE49-F238E27FC236}">
                <a16:creationId xmlns:a16="http://schemas.microsoft.com/office/drawing/2014/main" id="{1C2D145A-A09B-0F1D-1BB8-5BCD0FCAA4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9875" y="4175125"/>
            <a:ext cx="1243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it-IT" altLang="it-IT"/>
              <a:t>FFFFFE</a:t>
            </a:r>
          </a:p>
        </p:txBody>
      </p:sp>
      <p:sp>
        <p:nvSpPr>
          <p:cNvPr id="24596" name="Text Box 19">
            <a:extLst>
              <a:ext uri="{FF2B5EF4-FFF2-40B4-BE49-F238E27FC236}">
                <a16:creationId xmlns:a16="http://schemas.microsoft.com/office/drawing/2014/main" id="{9284D5AE-B60E-3186-238C-88CF572C56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1863" y="1371600"/>
            <a:ext cx="13096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it-IT" altLang="it-IT" b="1"/>
              <a:t>Memoria</a:t>
            </a:r>
          </a:p>
        </p:txBody>
      </p:sp>
      <p:sp>
        <p:nvSpPr>
          <p:cNvPr id="326676" name="Text Box 20">
            <a:extLst>
              <a:ext uri="{FF2B5EF4-FFF2-40B4-BE49-F238E27FC236}">
                <a16:creationId xmlns:a16="http://schemas.microsoft.com/office/drawing/2014/main" id="{EB5802F1-8164-3635-0229-F828D8E77D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2300" y="4976813"/>
            <a:ext cx="1981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it-IT" altLang="it-IT"/>
              <a:t>16 bit</a:t>
            </a:r>
          </a:p>
        </p:txBody>
      </p:sp>
      <p:sp>
        <p:nvSpPr>
          <p:cNvPr id="24598" name="AutoShape 21">
            <a:extLst>
              <a:ext uri="{FF2B5EF4-FFF2-40B4-BE49-F238E27FC236}">
                <a16:creationId xmlns:a16="http://schemas.microsoft.com/office/drawing/2014/main" id="{B49AF9F6-8B69-898F-8152-1B9669DFE199}"/>
              </a:ext>
            </a:extLst>
          </p:cNvPr>
          <p:cNvSpPr>
            <a:spLocks/>
          </p:cNvSpPr>
          <p:nvPr/>
        </p:nvSpPr>
        <p:spPr bwMode="auto">
          <a:xfrm rot="-5400000">
            <a:off x="2414588" y="1866900"/>
            <a:ext cx="287338" cy="3748087"/>
          </a:xfrm>
          <a:prstGeom prst="leftBrace">
            <a:avLst>
              <a:gd name="adj1" fmla="val 108701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24599" name="AutoShape 22">
            <a:extLst>
              <a:ext uri="{FF2B5EF4-FFF2-40B4-BE49-F238E27FC236}">
                <a16:creationId xmlns:a16="http://schemas.microsoft.com/office/drawing/2014/main" id="{B85A52E1-DA67-82BF-996C-9150F4C06614}"/>
              </a:ext>
            </a:extLst>
          </p:cNvPr>
          <p:cNvSpPr>
            <a:spLocks/>
          </p:cNvSpPr>
          <p:nvPr/>
        </p:nvSpPr>
        <p:spPr bwMode="auto">
          <a:xfrm rot="-5400000">
            <a:off x="7821613" y="3787775"/>
            <a:ext cx="287337" cy="2163763"/>
          </a:xfrm>
          <a:prstGeom prst="leftBrace">
            <a:avLst>
              <a:gd name="adj1" fmla="val 6275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26679" name="Text Box 23">
            <a:extLst>
              <a:ext uri="{FF2B5EF4-FFF2-40B4-BE49-F238E27FC236}">
                <a16:creationId xmlns:a16="http://schemas.microsoft.com/office/drawing/2014/main" id="{1983D566-DA5C-B1D9-E620-08AF08B66D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6488" y="4832350"/>
            <a:ext cx="1981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it-IT" altLang="it-IT"/>
              <a:t>24 bit</a:t>
            </a:r>
          </a:p>
        </p:txBody>
      </p:sp>
      <p:sp>
        <p:nvSpPr>
          <p:cNvPr id="24601" name="AutoShape 24">
            <a:extLst>
              <a:ext uri="{FF2B5EF4-FFF2-40B4-BE49-F238E27FC236}">
                <a16:creationId xmlns:a16="http://schemas.microsoft.com/office/drawing/2014/main" id="{6E92A0B9-2DAB-C505-8331-36C8328A7137}"/>
              </a:ext>
            </a:extLst>
          </p:cNvPr>
          <p:cNvSpPr>
            <a:spLocks/>
          </p:cNvSpPr>
          <p:nvPr/>
        </p:nvSpPr>
        <p:spPr bwMode="auto">
          <a:xfrm rot="-5400000">
            <a:off x="5753894" y="4226719"/>
            <a:ext cx="238125" cy="1046163"/>
          </a:xfrm>
          <a:prstGeom prst="leftBrace">
            <a:avLst>
              <a:gd name="adj1" fmla="val 36611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24602" name="Text Box 25">
            <a:extLst>
              <a:ext uri="{FF2B5EF4-FFF2-40B4-BE49-F238E27FC236}">
                <a16:creationId xmlns:a16="http://schemas.microsoft.com/office/drawing/2014/main" id="{3039D5AF-0068-EBD5-9C8F-CD1B350CDC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9238" y="1412875"/>
            <a:ext cx="1338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it-IT" altLang="it-IT" b="1"/>
              <a:t>indirizzo</a:t>
            </a:r>
          </a:p>
        </p:txBody>
      </p:sp>
      <p:sp>
        <p:nvSpPr>
          <p:cNvPr id="24603" name="Line 26">
            <a:extLst>
              <a:ext uri="{FF2B5EF4-FFF2-40B4-BE49-F238E27FC236}">
                <a16:creationId xmlns:a16="http://schemas.microsoft.com/office/drawing/2014/main" id="{F7FE8007-26B8-3796-02C0-F7BCB51279A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6375" y="1990725"/>
            <a:ext cx="0" cy="996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it-IT"/>
          </a:p>
        </p:txBody>
      </p:sp>
      <p:sp>
        <p:nvSpPr>
          <p:cNvPr id="24604" name="Line 27">
            <a:extLst>
              <a:ext uri="{FF2B5EF4-FFF2-40B4-BE49-F238E27FC236}">
                <a16:creationId xmlns:a16="http://schemas.microsoft.com/office/drawing/2014/main" id="{129BD1EC-49E6-6E32-CD2F-D831CC667C9E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6375" y="1989138"/>
            <a:ext cx="13684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26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26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6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6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26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6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326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6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326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6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326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326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26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659" grpId="0" build="p" autoUpdateAnimBg="0"/>
      <p:bldP spid="326660" grpId="0" animBg="1"/>
      <p:bldP spid="326661" grpId="0" autoUpdateAnimBg="0"/>
      <p:bldP spid="326662" grpId="0" autoUpdateAnimBg="0"/>
      <p:bldP spid="326663" grpId="0" autoUpdateAnimBg="0"/>
      <p:bldP spid="326665" grpId="0" autoUpdateAnimBg="0"/>
      <p:bldP spid="326667" grpId="0" autoUpdateAnimBg="0"/>
      <p:bldP spid="326670" grpId="0" autoUpdateAnimBg="0"/>
      <p:bldP spid="326672" grpId="0" autoUpdateAnimBg="0"/>
      <p:bldP spid="326673" grpId="0" autoUpdateAnimBg="0"/>
      <p:bldP spid="326674" grpId="0" autoUpdateAnimBg="0"/>
      <p:bldP spid="326676" grpId="0" autoUpdateAnimBg="0"/>
      <p:bldP spid="326679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egnaposto numero diapositiva 5">
            <a:extLst>
              <a:ext uri="{FF2B5EF4-FFF2-40B4-BE49-F238E27FC236}">
                <a16:creationId xmlns:a16="http://schemas.microsoft.com/office/drawing/2014/main" id="{9167BF03-FEE3-53AF-AA17-D91B63CA8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D861878-B55D-4BC4-81CB-BAD22B3B88A3}" type="slidenum">
              <a:rPr lang="it-IT" altLang="it-IT" sz="1400">
                <a:latin typeface="Times New Roman" panose="02020603050405020304" pitchFamily="18" charset="0"/>
              </a:rPr>
              <a:pPr/>
              <a:t>11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F869C974-B22E-588D-525B-47ACA98536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Esercizio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8AE72DFB-E701-B80B-4415-75F3DFBC82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Tracciare lo schema di un’architettura di memoria con le seguenti caratteristiche: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Spazio di indirizzamento logico: 4GB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Spazio di indirizzamento fisico: 4GB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Ampiezza di parola: 4 byte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Granularità dell’accesso: byte addressable</a:t>
            </a:r>
          </a:p>
          <a:p>
            <a:pPr lvl="1" eaLnBrk="1" hangingPunct="1"/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egnaposto numero diapositiva 5">
            <a:extLst>
              <a:ext uri="{FF2B5EF4-FFF2-40B4-BE49-F238E27FC236}">
                <a16:creationId xmlns:a16="http://schemas.microsoft.com/office/drawing/2014/main" id="{1E77B996-9BA0-EC7B-E272-86D6AD83D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5D5C6EB-20D8-4C60-83D4-1CD6DB6796FE}" type="slidenum">
              <a:rPr lang="it-IT" altLang="it-IT" sz="1400">
                <a:latin typeface="Times New Roman" panose="02020603050405020304" pitchFamily="18" charset="0"/>
              </a:rPr>
              <a:pPr/>
              <a:t>12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8B9DAC1A-B0C3-39CC-A13F-CD98B4740D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Soluzione</a:t>
            </a:r>
          </a:p>
        </p:txBody>
      </p:sp>
      <p:sp>
        <p:nvSpPr>
          <p:cNvPr id="328707" name="Rectangle 3">
            <a:extLst>
              <a:ext uri="{FF2B5EF4-FFF2-40B4-BE49-F238E27FC236}">
                <a16:creationId xmlns:a16="http://schemas.microsoft.com/office/drawing/2014/main" id="{408C7733-76FB-AF4A-253F-C412EE5687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5602288"/>
            <a:ext cx="9296400" cy="1066800"/>
          </a:xfrm>
        </p:spPr>
        <p:txBody>
          <a:bodyPr/>
          <a:lstStyle/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Nota: I processori MC68020 e successivi sono organizzati in maniera simile</a:t>
            </a:r>
          </a:p>
        </p:txBody>
      </p:sp>
      <p:sp>
        <p:nvSpPr>
          <p:cNvPr id="328708" name="Rectangle 4">
            <a:extLst>
              <a:ext uri="{FF2B5EF4-FFF2-40B4-BE49-F238E27FC236}">
                <a16:creationId xmlns:a16="http://schemas.microsoft.com/office/drawing/2014/main" id="{A3D563A0-B758-0FDE-4E62-7997D8531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987675"/>
            <a:ext cx="4191000" cy="495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28709" name="Text Box 5">
            <a:extLst>
              <a:ext uri="{FF2B5EF4-FFF2-40B4-BE49-F238E27FC236}">
                <a16:creationId xmlns:a16="http://schemas.microsoft.com/office/drawing/2014/main" id="{4684AE9F-7B36-6CDD-4028-9558F3C9F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400" y="3048000"/>
            <a:ext cx="271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it-IT" altLang="it-IT"/>
              <a:t>00000000- FFFFFFFF</a:t>
            </a:r>
          </a:p>
        </p:txBody>
      </p:sp>
      <p:sp>
        <p:nvSpPr>
          <p:cNvPr id="328711" name="Text Box 7">
            <a:extLst>
              <a:ext uri="{FF2B5EF4-FFF2-40B4-BE49-F238E27FC236}">
                <a16:creationId xmlns:a16="http://schemas.microsoft.com/office/drawing/2014/main" id="{866AD817-3BF8-FC2E-D1B6-C25306AFE5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000" y="3878263"/>
            <a:ext cx="3403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it-IT" altLang="it-IT"/>
              <a:t>32 bit</a:t>
            </a:r>
          </a:p>
        </p:txBody>
      </p:sp>
      <p:sp>
        <p:nvSpPr>
          <p:cNvPr id="26632" name="Rectangle 8">
            <a:extLst>
              <a:ext uri="{FF2B5EF4-FFF2-40B4-BE49-F238E27FC236}">
                <a16:creationId xmlns:a16="http://schemas.microsoft.com/office/drawing/2014/main" id="{2A98B878-525A-DEBF-9FD7-8653FAC67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00" y="1785938"/>
            <a:ext cx="2492375" cy="495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28713" name="Text Box 9">
            <a:extLst>
              <a:ext uri="{FF2B5EF4-FFF2-40B4-BE49-F238E27FC236}">
                <a16:creationId xmlns:a16="http://schemas.microsoft.com/office/drawing/2014/main" id="{A680911F-B631-F47E-26E4-F0E30D784F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8800" y="1785938"/>
            <a:ext cx="2070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it-IT" altLang="it-IT"/>
              <a:t>--  --  --  --</a:t>
            </a:r>
          </a:p>
        </p:txBody>
      </p:sp>
      <p:sp>
        <p:nvSpPr>
          <p:cNvPr id="26634" name="Rectangle 10">
            <a:extLst>
              <a:ext uri="{FF2B5EF4-FFF2-40B4-BE49-F238E27FC236}">
                <a16:creationId xmlns:a16="http://schemas.microsoft.com/office/drawing/2014/main" id="{C52AA9AF-4A4D-06AE-D2ED-1C04CF5CE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00" y="2281238"/>
            <a:ext cx="2492375" cy="4937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28715" name="Text Box 11">
            <a:extLst>
              <a:ext uri="{FF2B5EF4-FFF2-40B4-BE49-F238E27FC236}">
                <a16:creationId xmlns:a16="http://schemas.microsoft.com/office/drawing/2014/main" id="{5F490D1E-F037-49AB-B729-6199907C22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7700" y="2346325"/>
            <a:ext cx="1892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it-IT" altLang="it-IT"/>
              <a:t>--  --  --  --</a:t>
            </a:r>
          </a:p>
        </p:txBody>
      </p:sp>
      <p:sp>
        <p:nvSpPr>
          <p:cNvPr id="26636" name="Rectangle 12">
            <a:extLst>
              <a:ext uri="{FF2B5EF4-FFF2-40B4-BE49-F238E27FC236}">
                <a16:creationId xmlns:a16="http://schemas.microsoft.com/office/drawing/2014/main" id="{5E387C24-25EE-0F7A-F653-76DD733BEE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00" y="2774950"/>
            <a:ext cx="2492375" cy="13604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26637" name="Rectangle 13">
            <a:extLst>
              <a:ext uri="{FF2B5EF4-FFF2-40B4-BE49-F238E27FC236}">
                <a16:creationId xmlns:a16="http://schemas.microsoft.com/office/drawing/2014/main" id="{36756BCF-A139-6224-DDEE-76B4CA2F5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00" y="4135438"/>
            <a:ext cx="2492375" cy="495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28718" name="Text Box 14">
            <a:extLst>
              <a:ext uri="{FF2B5EF4-FFF2-40B4-BE49-F238E27FC236}">
                <a16:creationId xmlns:a16="http://schemas.microsoft.com/office/drawing/2014/main" id="{9FD1C872-BF6B-FD31-39FA-E197A7AFCE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3225" y="4175125"/>
            <a:ext cx="2301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it-IT" altLang="it-IT"/>
              <a:t>--  --  --  --</a:t>
            </a:r>
          </a:p>
        </p:txBody>
      </p:sp>
      <p:sp>
        <p:nvSpPr>
          <p:cNvPr id="26639" name="Text Box 15">
            <a:extLst>
              <a:ext uri="{FF2B5EF4-FFF2-40B4-BE49-F238E27FC236}">
                <a16:creationId xmlns:a16="http://schemas.microsoft.com/office/drawing/2014/main" id="{1B4637FF-FD42-B57B-C580-C0B5166EA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1863" y="3022600"/>
            <a:ext cx="13096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it-IT" altLang="it-IT"/>
              <a:t>. . . .</a:t>
            </a:r>
          </a:p>
        </p:txBody>
      </p:sp>
      <p:sp>
        <p:nvSpPr>
          <p:cNvPr id="328720" name="Text Box 16">
            <a:extLst>
              <a:ext uri="{FF2B5EF4-FFF2-40B4-BE49-F238E27FC236}">
                <a16:creationId xmlns:a16="http://schemas.microsoft.com/office/drawing/2014/main" id="{E95F5238-AA58-703E-21F2-1460855830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1785938"/>
            <a:ext cx="1487488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it-IT" altLang="it-IT" sz="1900"/>
              <a:t>00000000</a:t>
            </a:r>
          </a:p>
        </p:txBody>
      </p:sp>
      <p:sp>
        <p:nvSpPr>
          <p:cNvPr id="328721" name="Text Box 17">
            <a:extLst>
              <a:ext uri="{FF2B5EF4-FFF2-40B4-BE49-F238E27FC236}">
                <a16:creationId xmlns:a16="http://schemas.microsoft.com/office/drawing/2014/main" id="{15B5988B-0189-1E63-3C47-D62FAAE91D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2346325"/>
            <a:ext cx="1487488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it-IT" altLang="it-IT" sz="1900"/>
              <a:t>00000004</a:t>
            </a:r>
          </a:p>
        </p:txBody>
      </p:sp>
      <p:sp>
        <p:nvSpPr>
          <p:cNvPr id="328722" name="Text Box 18">
            <a:extLst>
              <a:ext uri="{FF2B5EF4-FFF2-40B4-BE49-F238E27FC236}">
                <a16:creationId xmlns:a16="http://schemas.microsoft.com/office/drawing/2014/main" id="{C7D6F88C-3165-17E6-D037-CA3D2D4285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4175125"/>
            <a:ext cx="14874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it-IT" altLang="it-IT"/>
              <a:t>FFFFFFFC</a:t>
            </a:r>
          </a:p>
        </p:txBody>
      </p:sp>
      <p:sp>
        <p:nvSpPr>
          <p:cNvPr id="328724" name="Text Box 20">
            <a:extLst>
              <a:ext uri="{FF2B5EF4-FFF2-40B4-BE49-F238E27FC236}">
                <a16:creationId xmlns:a16="http://schemas.microsoft.com/office/drawing/2014/main" id="{5635189F-747C-E87D-E86F-D49C7746FC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7700" y="4929188"/>
            <a:ext cx="1981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it-IT" altLang="it-IT"/>
              <a:t>32 bit</a:t>
            </a:r>
          </a:p>
        </p:txBody>
      </p:sp>
      <p:sp>
        <p:nvSpPr>
          <p:cNvPr id="328725" name="Text Box 21">
            <a:extLst>
              <a:ext uri="{FF2B5EF4-FFF2-40B4-BE49-F238E27FC236}">
                <a16:creationId xmlns:a16="http://schemas.microsoft.com/office/drawing/2014/main" id="{7B6F62F1-17D3-BB7F-1FD7-0ECFC580B9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0" y="2438400"/>
            <a:ext cx="3403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it-IT" altLang="it-IT" b="1"/>
              <a:t>Address Register</a:t>
            </a:r>
          </a:p>
        </p:txBody>
      </p:sp>
      <p:sp>
        <p:nvSpPr>
          <p:cNvPr id="26645" name="Text Box 22">
            <a:extLst>
              <a:ext uri="{FF2B5EF4-FFF2-40B4-BE49-F238E27FC236}">
                <a16:creationId xmlns:a16="http://schemas.microsoft.com/office/drawing/2014/main" id="{BC3C10C2-8170-AB74-43E4-E330AA74C9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1863" y="1371600"/>
            <a:ext cx="13096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it-IT" altLang="it-IT" b="1"/>
              <a:t>Memoria</a:t>
            </a:r>
          </a:p>
        </p:txBody>
      </p:sp>
      <p:sp>
        <p:nvSpPr>
          <p:cNvPr id="26646" name="AutoShape 23">
            <a:extLst>
              <a:ext uri="{FF2B5EF4-FFF2-40B4-BE49-F238E27FC236}">
                <a16:creationId xmlns:a16="http://schemas.microsoft.com/office/drawing/2014/main" id="{4C74EEF6-C928-919F-CE58-2D5BD2D2E71A}"/>
              </a:ext>
            </a:extLst>
          </p:cNvPr>
          <p:cNvSpPr>
            <a:spLocks/>
          </p:cNvSpPr>
          <p:nvPr/>
        </p:nvSpPr>
        <p:spPr bwMode="auto">
          <a:xfrm rot="-5400000">
            <a:off x="2414588" y="1866900"/>
            <a:ext cx="287338" cy="3748087"/>
          </a:xfrm>
          <a:prstGeom prst="leftBrace">
            <a:avLst>
              <a:gd name="adj1" fmla="val 108701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26647" name="AutoShape 24">
            <a:extLst>
              <a:ext uri="{FF2B5EF4-FFF2-40B4-BE49-F238E27FC236}">
                <a16:creationId xmlns:a16="http://schemas.microsoft.com/office/drawing/2014/main" id="{CC9E5A1F-E254-B5AC-A4C3-57B1B1F73AC0}"/>
              </a:ext>
            </a:extLst>
          </p:cNvPr>
          <p:cNvSpPr>
            <a:spLocks/>
          </p:cNvSpPr>
          <p:nvPr/>
        </p:nvSpPr>
        <p:spPr bwMode="auto">
          <a:xfrm rot="-5400000">
            <a:off x="7821613" y="3787775"/>
            <a:ext cx="287337" cy="2163763"/>
          </a:xfrm>
          <a:prstGeom prst="leftBrace">
            <a:avLst>
              <a:gd name="adj1" fmla="val 6275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28729" name="Text Box 25">
            <a:extLst>
              <a:ext uri="{FF2B5EF4-FFF2-40B4-BE49-F238E27FC236}">
                <a16:creationId xmlns:a16="http://schemas.microsoft.com/office/drawing/2014/main" id="{4BD83FA1-797F-18FD-71AA-47892B1BC5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6488" y="4832350"/>
            <a:ext cx="1981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it-IT" altLang="it-IT"/>
              <a:t>32 bit</a:t>
            </a:r>
          </a:p>
        </p:txBody>
      </p:sp>
      <p:sp>
        <p:nvSpPr>
          <p:cNvPr id="26649" name="AutoShape 26">
            <a:extLst>
              <a:ext uri="{FF2B5EF4-FFF2-40B4-BE49-F238E27FC236}">
                <a16:creationId xmlns:a16="http://schemas.microsoft.com/office/drawing/2014/main" id="{D0C2F1C7-7A18-BB2B-E003-D647ABD4A836}"/>
              </a:ext>
            </a:extLst>
          </p:cNvPr>
          <p:cNvSpPr>
            <a:spLocks/>
          </p:cNvSpPr>
          <p:nvPr/>
        </p:nvSpPr>
        <p:spPr bwMode="auto">
          <a:xfrm rot="-5400000">
            <a:off x="5753894" y="4226719"/>
            <a:ext cx="238125" cy="1046163"/>
          </a:xfrm>
          <a:prstGeom prst="leftBrace">
            <a:avLst>
              <a:gd name="adj1" fmla="val 36611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26650" name="Text Box 27">
            <a:extLst>
              <a:ext uri="{FF2B5EF4-FFF2-40B4-BE49-F238E27FC236}">
                <a16:creationId xmlns:a16="http://schemas.microsoft.com/office/drawing/2014/main" id="{291D4348-01F5-B526-31D9-C37D95D740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9238" y="1412875"/>
            <a:ext cx="1338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it-IT" altLang="it-IT" b="1"/>
              <a:t>indirizzo</a:t>
            </a:r>
          </a:p>
        </p:txBody>
      </p:sp>
      <p:sp>
        <p:nvSpPr>
          <p:cNvPr id="26651" name="Line 28">
            <a:extLst>
              <a:ext uri="{FF2B5EF4-FFF2-40B4-BE49-F238E27FC236}">
                <a16:creationId xmlns:a16="http://schemas.microsoft.com/office/drawing/2014/main" id="{482DB30C-6861-2591-CCCA-37EC9474482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6375" y="1990725"/>
            <a:ext cx="0" cy="996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it-IT"/>
          </a:p>
        </p:txBody>
      </p:sp>
      <p:sp>
        <p:nvSpPr>
          <p:cNvPr id="26652" name="Line 29">
            <a:extLst>
              <a:ext uri="{FF2B5EF4-FFF2-40B4-BE49-F238E27FC236}">
                <a16:creationId xmlns:a16="http://schemas.microsoft.com/office/drawing/2014/main" id="{FE766D93-869B-B6C5-5732-785FE5E61D7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6375" y="1989138"/>
            <a:ext cx="1089025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28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8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8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28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8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328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8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328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8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328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28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328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28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707" grpId="0" build="p" autoUpdateAnimBg="0"/>
      <p:bldP spid="328708" grpId="0" animBg="1"/>
      <p:bldP spid="328709" grpId="0" autoUpdateAnimBg="0"/>
      <p:bldP spid="328711" grpId="0" autoUpdateAnimBg="0"/>
      <p:bldP spid="328713" grpId="0" autoUpdateAnimBg="0"/>
      <p:bldP spid="328715" grpId="0" autoUpdateAnimBg="0"/>
      <p:bldP spid="328718" grpId="0" autoUpdateAnimBg="0"/>
      <p:bldP spid="328720" grpId="0" autoUpdateAnimBg="0"/>
      <p:bldP spid="328721" grpId="0" autoUpdateAnimBg="0"/>
      <p:bldP spid="328722" grpId="0" autoUpdateAnimBg="0"/>
      <p:bldP spid="328724" grpId="0" autoUpdateAnimBg="0"/>
      <p:bldP spid="328725" grpId="0" autoUpdateAnimBg="0"/>
      <p:bldP spid="328729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egnaposto numero diapositiva 5">
            <a:extLst>
              <a:ext uri="{FF2B5EF4-FFF2-40B4-BE49-F238E27FC236}">
                <a16:creationId xmlns:a16="http://schemas.microsoft.com/office/drawing/2014/main" id="{34701DFF-8BAC-2B7C-86E6-0AA9E5A77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FEE3A06-53FF-4B5F-AAF1-9871395DA8B6}" type="slidenum">
              <a:rPr lang="it-IT" altLang="it-IT" sz="1400">
                <a:latin typeface="Times New Roman" panose="02020603050405020304" pitchFamily="18" charset="0"/>
              </a:rPr>
              <a:pPr/>
              <a:t>13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CE1E45C7-59D3-68C4-96F3-771C573331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Esercizio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13B6FDB5-6E50-6EF2-490B-09A2F52B94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Il processore MC68000 ha la seguente architettura di memoria: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Spazio di indirizzamento logico: 4GB (32 bit)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Spazio di indirizzamento fisico: 16MB (24 bit)</a:t>
            </a:r>
          </a:p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Il processore MC68020 ha la seguente architettura di memoria: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Spazio di indirizzamento logico: 4GB (32 bit)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Spazio di indirizzamento fisico: 4GB  (32 bit)</a:t>
            </a:r>
          </a:p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Individuare le regioni di aliasing tra i due processori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egnaposto numero diapositiva 5">
            <a:extLst>
              <a:ext uri="{FF2B5EF4-FFF2-40B4-BE49-F238E27FC236}">
                <a16:creationId xmlns:a16="http://schemas.microsoft.com/office/drawing/2014/main" id="{770EA9AA-D1B2-8109-94FD-E4B3F804F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59352E8-9896-447E-9AF8-F62012255E56}" type="slidenum">
              <a:rPr lang="it-IT" altLang="it-IT" sz="1400">
                <a:latin typeface="Times New Roman" panose="02020603050405020304" pitchFamily="18" charset="0"/>
              </a:rPr>
              <a:pPr/>
              <a:t>14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F454D9B5-7920-D6FE-E35C-9233F709F6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Soluzione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ABB4D118-6398-AE5E-EF90-93B687BAE2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0688" y="1447800"/>
            <a:ext cx="8899525" cy="1620838"/>
          </a:xfrm>
        </p:spPr>
        <p:txBody>
          <a:bodyPr/>
          <a:lstStyle/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Esistono, per ogni indirizzo del processore MC68000, 256 indirizzi distinti  del processore MC68020.</a:t>
            </a:r>
          </a:p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Le regioni di aliasing sono individuate dalla corrispondenza:</a:t>
            </a:r>
          </a:p>
        </p:txBody>
      </p:sp>
      <p:grpSp>
        <p:nvGrpSpPr>
          <p:cNvPr id="28677" name="Group 4">
            <a:extLst>
              <a:ext uri="{FF2B5EF4-FFF2-40B4-BE49-F238E27FC236}">
                <a16:creationId xmlns:a16="http://schemas.microsoft.com/office/drawing/2014/main" id="{C7D43A19-B80F-118A-B48E-C01C8BA1CDF5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3352800"/>
            <a:ext cx="7391400" cy="2590800"/>
            <a:chOff x="768" y="2208"/>
            <a:chExt cx="4656" cy="1632"/>
          </a:xfrm>
        </p:grpSpPr>
        <p:sp>
          <p:nvSpPr>
            <p:cNvPr id="28678" name="Text Box 5">
              <a:extLst>
                <a:ext uri="{FF2B5EF4-FFF2-40B4-BE49-F238E27FC236}">
                  <a16:creationId xmlns:a16="http://schemas.microsoft.com/office/drawing/2014/main" id="{8CA042FD-82C6-7F14-BF1E-EB9ECFC205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2860"/>
              <a:ext cx="16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it-IT" altLang="it-IT" sz="2800" b="1"/>
                <a:t>XXXXXX</a:t>
              </a:r>
            </a:p>
          </p:txBody>
        </p:sp>
        <p:grpSp>
          <p:nvGrpSpPr>
            <p:cNvPr id="28679" name="Group 6">
              <a:extLst>
                <a:ext uri="{FF2B5EF4-FFF2-40B4-BE49-F238E27FC236}">
                  <a16:creationId xmlns:a16="http://schemas.microsoft.com/office/drawing/2014/main" id="{B8FBEF8F-7E78-7A63-1A93-A61A6DA803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2" y="2208"/>
              <a:ext cx="1632" cy="1632"/>
              <a:chOff x="3792" y="2208"/>
              <a:chExt cx="1632" cy="1632"/>
            </a:xfrm>
          </p:grpSpPr>
          <p:sp>
            <p:nvSpPr>
              <p:cNvPr id="28682" name="Text Box 7">
                <a:extLst>
                  <a:ext uri="{FF2B5EF4-FFF2-40B4-BE49-F238E27FC236}">
                    <a16:creationId xmlns:a16="http://schemas.microsoft.com/office/drawing/2014/main" id="{D6BE6A1F-A986-6252-5772-600FFA9C94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92" y="2208"/>
                <a:ext cx="163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it-IT" altLang="it-IT" sz="2800" b="1"/>
                  <a:t>00XXXXXX</a:t>
                </a:r>
              </a:p>
            </p:txBody>
          </p:sp>
          <p:sp>
            <p:nvSpPr>
              <p:cNvPr id="28683" name="Text Box 8">
                <a:extLst>
                  <a:ext uri="{FF2B5EF4-FFF2-40B4-BE49-F238E27FC236}">
                    <a16:creationId xmlns:a16="http://schemas.microsoft.com/office/drawing/2014/main" id="{5DC9E460-C941-1EE2-6760-6A5DAD4CA0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92" y="3033"/>
                <a:ext cx="163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it-IT" altLang="it-IT" sz="2800" b="1"/>
                  <a:t>…</a:t>
                </a:r>
              </a:p>
            </p:txBody>
          </p:sp>
          <p:sp>
            <p:nvSpPr>
              <p:cNvPr id="28684" name="Text Box 9">
                <a:extLst>
                  <a:ext uri="{FF2B5EF4-FFF2-40B4-BE49-F238E27FC236}">
                    <a16:creationId xmlns:a16="http://schemas.microsoft.com/office/drawing/2014/main" id="{0A53E53D-2810-409F-8775-D74B646447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92" y="2640"/>
                <a:ext cx="163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it-IT" altLang="it-IT" sz="2800" b="1"/>
                  <a:t>01XXXXXX</a:t>
                </a:r>
              </a:p>
            </p:txBody>
          </p:sp>
          <p:sp>
            <p:nvSpPr>
              <p:cNvPr id="28685" name="Text Box 10">
                <a:extLst>
                  <a:ext uri="{FF2B5EF4-FFF2-40B4-BE49-F238E27FC236}">
                    <a16:creationId xmlns:a16="http://schemas.microsoft.com/office/drawing/2014/main" id="{0CAC356B-CDAF-B001-35B1-3FEBD33C7A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92" y="3513"/>
                <a:ext cx="163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it-IT" altLang="it-IT" sz="2800" b="1"/>
                  <a:t>FFXXXXXX</a:t>
                </a:r>
              </a:p>
            </p:txBody>
          </p:sp>
        </p:grpSp>
        <p:sp>
          <p:nvSpPr>
            <p:cNvPr id="28680" name="Line 11">
              <a:extLst>
                <a:ext uri="{FF2B5EF4-FFF2-40B4-BE49-F238E27FC236}">
                  <a16:creationId xmlns:a16="http://schemas.microsoft.com/office/drawing/2014/main" id="{F03A86B4-05EA-4D6C-EAEE-0B28A9AFC0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52" y="2400"/>
              <a:ext cx="1392" cy="56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8681" name="Line 12">
              <a:extLst>
                <a:ext uri="{FF2B5EF4-FFF2-40B4-BE49-F238E27FC236}">
                  <a16:creationId xmlns:a16="http://schemas.microsoft.com/office/drawing/2014/main" id="{51FC112C-65FE-E3CC-0E88-586CCC70F1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52" y="3129"/>
              <a:ext cx="1392" cy="56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egnaposto numero diapositiva 5">
            <a:extLst>
              <a:ext uri="{FF2B5EF4-FFF2-40B4-BE49-F238E27FC236}">
                <a16:creationId xmlns:a16="http://schemas.microsoft.com/office/drawing/2014/main" id="{51286DFC-02DB-2C26-ABC6-1A295BDA1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134613E-4182-41E3-9A74-34546610DDAC}" type="slidenum">
              <a:rPr lang="it-IT" altLang="it-IT" sz="1400">
                <a:latin typeface="Times New Roman" panose="02020603050405020304" pitchFamily="18" charset="0"/>
              </a:rPr>
              <a:pPr/>
              <a:t>15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9B81F1B5-ED0A-EA82-D8C5-456E5BDFFE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Esercizio</a:t>
            </a: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123CA993-312C-CD87-D5CB-443F777452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0688" y="1447800"/>
            <a:ext cx="8899525" cy="1447800"/>
          </a:xfrm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Supponendo di estendere un indirizzo di 16 bit con il MSB, individuare la regione dello spazio di indirizzamento a 32 bit acceduta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egnaposto numero diapositiva 5">
            <a:extLst>
              <a:ext uri="{FF2B5EF4-FFF2-40B4-BE49-F238E27FC236}">
                <a16:creationId xmlns:a16="http://schemas.microsoft.com/office/drawing/2014/main" id="{261EEBA6-86E8-99BD-C9B2-6F05C9BDA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78FDBC9-D321-48D9-A486-349317E0AB61}" type="slidenum">
              <a:rPr lang="it-IT" altLang="it-IT" sz="1400">
                <a:latin typeface="Times New Roman" panose="02020603050405020304" pitchFamily="18" charset="0"/>
              </a:rPr>
              <a:pPr/>
              <a:t>16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25CDFD82-414F-47EC-9ED8-DDAF756D94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Soluzione</a:t>
            </a:r>
          </a:p>
        </p:txBody>
      </p:sp>
      <p:sp>
        <p:nvSpPr>
          <p:cNvPr id="332803" name="Rectangle 3">
            <a:extLst>
              <a:ext uri="{FF2B5EF4-FFF2-40B4-BE49-F238E27FC236}">
                <a16:creationId xmlns:a16="http://schemas.microsoft.com/office/drawing/2014/main" id="{F411EFE3-F96B-8C61-261B-C3532BCFE6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0688" y="1295400"/>
            <a:ext cx="2398712" cy="494188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Gli indirizzi tra 0000 e 7FFE vengono mappati sui primi 32KB dello spazio di 4GB 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Gli indirizzi tra 8000 e FFFE vengono mappati sugli ultimi 32KB dello spazio di 4GB</a:t>
            </a:r>
          </a:p>
        </p:txBody>
      </p:sp>
      <p:sp>
        <p:nvSpPr>
          <p:cNvPr id="332804" name="Text Box 4">
            <a:extLst>
              <a:ext uri="{FF2B5EF4-FFF2-40B4-BE49-F238E27FC236}">
                <a16:creationId xmlns:a16="http://schemas.microsoft.com/office/drawing/2014/main" id="{F3313004-72D6-C3A3-0299-30C481AF2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3300" y="1187450"/>
            <a:ext cx="1028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it-IT" altLang="it-IT" sz="2800" b="1"/>
              <a:t>0000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6D872DDA-B799-46B1-3754-16BE64CA5CAD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1752600"/>
            <a:ext cx="3200400" cy="609600"/>
            <a:chOff x="3836" y="1632"/>
            <a:chExt cx="2016" cy="384"/>
          </a:xfrm>
        </p:grpSpPr>
        <p:sp>
          <p:nvSpPr>
            <p:cNvPr id="30747" name="Text Box 6">
              <a:extLst>
                <a:ext uri="{FF2B5EF4-FFF2-40B4-BE49-F238E27FC236}">
                  <a16:creationId xmlns:a16="http://schemas.microsoft.com/office/drawing/2014/main" id="{A192DC65-0CBB-9FB7-2161-4F486E454C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6" y="1661"/>
              <a:ext cx="2016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it-IT" altLang="it-IT" sz="2600" b="1"/>
                <a:t>0000000000000000</a:t>
              </a:r>
            </a:p>
          </p:txBody>
        </p:sp>
        <p:sp>
          <p:nvSpPr>
            <p:cNvPr id="30748" name="Rectangle 7">
              <a:extLst>
                <a:ext uri="{FF2B5EF4-FFF2-40B4-BE49-F238E27FC236}">
                  <a16:creationId xmlns:a16="http://schemas.microsoft.com/office/drawing/2014/main" id="{27A1FFCD-9D33-20CF-1005-69DED3315C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6" y="1632"/>
              <a:ext cx="2016" cy="3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it-IT" altLang="it-IT"/>
            </a:p>
          </p:txBody>
        </p:sp>
      </p:grpSp>
      <p:sp>
        <p:nvSpPr>
          <p:cNvPr id="332808" name="Text Box 8">
            <a:extLst>
              <a:ext uri="{FF2B5EF4-FFF2-40B4-BE49-F238E27FC236}">
                <a16:creationId xmlns:a16="http://schemas.microsoft.com/office/drawing/2014/main" id="{0C9DB8FC-439D-C276-9B8B-0FA4B351E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1798638"/>
            <a:ext cx="32004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it-IT" altLang="it-IT" sz="2600" b="1"/>
              <a:t>0000000000000000</a:t>
            </a:r>
          </a:p>
        </p:txBody>
      </p:sp>
      <p:sp>
        <p:nvSpPr>
          <p:cNvPr id="332809" name="Rectangle 9">
            <a:extLst>
              <a:ext uri="{FF2B5EF4-FFF2-40B4-BE49-F238E27FC236}">
                <a16:creationId xmlns:a16="http://schemas.microsoft.com/office/drawing/2014/main" id="{A63A552D-2DB6-7B02-0E85-43BB94309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1752600"/>
            <a:ext cx="3200400" cy="609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32810" name="Text Box 10">
            <a:extLst>
              <a:ext uri="{FF2B5EF4-FFF2-40B4-BE49-F238E27FC236}">
                <a16:creationId xmlns:a16="http://schemas.microsoft.com/office/drawing/2014/main" id="{B6F1ADB1-B811-CB1D-D318-9197D83E4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3300" y="2406650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it-IT" altLang="it-IT" sz="2800" b="1"/>
              <a:t>7FFE</a:t>
            </a:r>
          </a:p>
        </p:txBody>
      </p:sp>
      <p:grpSp>
        <p:nvGrpSpPr>
          <p:cNvPr id="3" name="Group 11">
            <a:extLst>
              <a:ext uri="{FF2B5EF4-FFF2-40B4-BE49-F238E27FC236}">
                <a16:creationId xmlns:a16="http://schemas.microsoft.com/office/drawing/2014/main" id="{347A83F2-CED6-0B8E-405A-0A72080E7F9A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2971800"/>
            <a:ext cx="3200400" cy="609600"/>
            <a:chOff x="3836" y="1632"/>
            <a:chExt cx="2016" cy="384"/>
          </a:xfrm>
        </p:grpSpPr>
        <p:sp>
          <p:nvSpPr>
            <p:cNvPr id="30745" name="Text Box 12">
              <a:extLst>
                <a:ext uri="{FF2B5EF4-FFF2-40B4-BE49-F238E27FC236}">
                  <a16:creationId xmlns:a16="http://schemas.microsoft.com/office/drawing/2014/main" id="{154ECC2A-68C1-59CA-47FB-8FCFDDA04E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6" y="1661"/>
              <a:ext cx="2016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it-IT" altLang="it-IT" sz="2600" b="1"/>
                <a:t>0111111111111110</a:t>
              </a:r>
            </a:p>
          </p:txBody>
        </p:sp>
        <p:sp>
          <p:nvSpPr>
            <p:cNvPr id="30746" name="Rectangle 13">
              <a:extLst>
                <a:ext uri="{FF2B5EF4-FFF2-40B4-BE49-F238E27FC236}">
                  <a16:creationId xmlns:a16="http://schemas.microsoft.com/office/drawing/2014/main" id="{D4B86EB1-869B-11CB-C622-36925AC68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6" y="1632"/>
              <a:ext cx="2016" cy="3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it-IT" altLang="it-IT"/>
            </a:p>
          </p:txBody>
        </p:sp>
      </p:grpSp>
      <p:sp>
        <p:nvSpPr>
          <p:cNvPr id="332814" name="Text Box 14">
            <a:extLst>
              <a:ext uri="{FF2B5EF4-FFF2-40B4-BE49-F238E27FC236}">
                <a16:creationId xmlns:a16="http://schemas.microsoft.com/office/drawing/2014/main" id="{72ED130C-8C53-AB84-0568-86E3B8B4D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3017838"/>
            <a:ext cx="32004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it-IT" altLang="it-IT" sz="2600" b="1"/>
              <a:t>0000000000000000</a:t>
            </a:r>
          </a:p>
        </p:txBody>
      </p:sp>
      <p:sp>
        <p:nvSpPr>
          <p:cNvPr id="332815" name="Rectangle 15">
            <a:extLst>
              <a:ext uri="{FF2B5EF4-FFF2-40B4-BE49-F238E27FC236}">
                <a16:creationId xmlns:a16="http://schemas.microsoft.com/office/drawing/2014/main" id="{BE23366A-57ED-9BBD-CFA3-13E03CA83A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2971800"/>
            <a:ext cx="3200400" cy="609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32816" name="Text Box 16">
            <a:extLst>
              <a:ext uri="{FF2B5EF4-FFF2-40B4-BE49-F238E27FC236}">
                <a16:creationId xmlns:a16="http://schemas.microsoft.com/office/drawing/2014/main" id="{8B1F75E5-6899-91BE-C04C-D55F439A36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3300" y="3657600"/>
            <a:ext cx="1028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it-IT" altLang="it-IT" sz="2800" b="1"/>
              <a:t>8000</a:t>
            </a:r>
          </a:p>
        </p:txBody>
      </p:sp>
      <p:grpSp>
        <p:nvGrpSpPr>
          <p:cNvPr id="4" name="Group 17">
            <a:extLst>
              <a:ext uri="{FF2B5EF4-FFF2-40B4-BE49-F238E27FC236}">
                <a16:creationId xmlns:a16="http://schemas.microsoft.com/office/drawing/2014/main" id="{9C83D9B1-AA01-EA9D-C3B6-F38F1277F9FD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4222750"/>
            <a:ext cx="3200400" cy="609600"/>
            <a:chOff x="3836" y="1632"/>
            <a:chExt cx="2016" cy="384"/>
          </a:xfrm>
        </p:grpSpPr>
        <p:sp>
          <p:nvSpPr>
            <p:cNvPr id="30743" name="Text Box 18">
              <a:extLst>
                <a:ext uri="{FF2B5EF4-FFF2-40B4-BE49-F238E27FC236}">
                  <a16:creationId xmlns:a16="http://schemas.microsoft.com/office/drawing/2014/main" id="{EE47EFCC-1C97-B71B-951C-2E5B89F739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6" y="1661"/>
              <a:ext cx="2016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it-IT" altLang="it-IT" sz="2600" b="1"/>
                <a:t>1000000000000000</a:t>
              </a:r>
            </a:p>
          </p:txBody>
        </p:sp>
        <p:sp>
          <p:nvSpPr>
            <p:cNvPr id="30744" name="Rectangle 19">
              <a:extLst>
                <a:ext uri="{FF2B5EF4-FFF2-40B4-BE49-F238E27FC236}">
                  <a16:creationId xmlns:a16="http://schemas.microsoft.com/office/drawing/2014/main" id="{78CE4B80-F415-8A73-CDFE-2D6AB5A608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6" y="1632"/>
              <a:ext cx="2016" cy="3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it-IT" altLang="it-IT"/>
            </a:p>
          </p:txBody>
        </p:sp>
      </p:grpSp>
      <p:sp>
        <p:nvSpPr>
          <p:cNvPr id="332820" name="Text Box 20">
            <a:extLst>
              <a:ext uri="{FF2B5EF4-FFF2-40B4-BE49-F238E27FC236}">
                <a16:creationId xmlns:a16="http://schemas.microsoft.com/office/drawing/2014/main" id="{3D54FE3F-B3BF-5A0F-4D25-78B8E5F91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4268788"/>
            <a:ext cx="32004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it-IT" altLang="it-IT" sz="2600" b="1"/>
              <a:t>1111111111111111</a:t>
            </a:r>
          </a:p>
        </p:txBody>
      </p:sp>
      <p:sp>
        <p:nvSpPr>
          <p:cNvPr id="332821" name="Rectangle 21">
            <a:extLst>
              <a:ext uri="{FF2B5EF4-FFF2-40B4-BE49-F238E27FC236}">
                <a16:creationId xmlns:a16="http://schemas.microsoft.com/office/drawing/2014/main" id="{38B013A9-805C-CB2A-3D8E-9027CCB7B9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222750"/>
            <a:ext cx="3200400" cy="609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32822" name="Text Box 22">
            <a:extLst>
              <a:ext uri="{FF2B5EF4-FFF2-40B4-BE49-F238E27FC236}">
                <a16:creationId xmlns:a16="http://schemas.microsoft.com/office/drawing/2014/main" id="{58368508-E1C5-0E21-3FCE-2A976D0343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7100" y="4845050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it-IT" altLang="it-IT" sz="2800" b="1"/>
              <a:t>FFFE</a:t>
            </a:r>
          </a:p>
        </p:txBody>
      </p:sp>
      <p:grpSp>
        <p:nvGrpSpPr>
          <p:cNvPr id="5" name="Group 23">
            <a:extLst>
              <a:ext uri="{FF2B5EF4-FFF2-40B4-BE49-F238E27FC236}">
                <a16:creationId xmlns:a16="http://schemas.microsoft.com/office/drawing/2014/main" id="{88910D78-F6F3-E010-E23F-512730491E5D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5410200"/>
            <a:ext cx="3200400" cy="609600"/>
            <a:chOff x="3836" y="1632"/>
            <a:chExt cx="2016" cy="384"/>
          </a:xfrm>
        </p:grpSpPr>
        <p:sp>
          <p:nvSpPr>
            <p:cNvPr id="30741" name="Text Box 24">
              <a:extLst>
                <a:ext uri="{FF2B5EF4-FFF2-40B4-BE49-F238E27FC236}">
                  <a16:creationId xmlns:a16="http://schemas.microsoft.com/office/drawing/2014/main" id="{2D456D30-C2DF-F342-FF90-1CF1FD20FE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6" y="1661"/>
              <a:ext cx="2016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it-IT" altLang="it-IT" sz="2600" b="1"/>
                <a:t>1111111111111110</a:t>
              </a:r>
            </a:p>
          </p:txBody>
        </p:sp>
        <p:sp>
          <p:nvSpPr>
            <p:cNvPr id="30742" name="Rectangle 25">
              <a:extLst>
                <a:ext uri="{FF2B5EF4-FFF2-40B4-BE49-F238E27FC236}">
                  <a16:creationId xmlns:a16="http://schemas.microsoft.com/office/drawing/2014/main" id="{B5D73627-18B2-1D42-5C11-39EAA13475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6" y="1632"/>
              <a:ext cx="2016" cy="3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it-IT" altLang="it-IT"/>
            </a:p>
          </p:txBody>
        </p:sp>
      </p:grpSp>
      <p:sp>
        <p:nvSpPr>
          <p:cNvPr id="332826" name="Text Box 26">
            <a:extLst>
              <a:ext uri="{FF2B5EF4-FFF2-40B4-BE49-F238E27FC236}">
                <a16:creationId xmlns:a16="http://schemas.microsoft.com/office/drawing/2014/main" id="{BE7460E1-CDE4-CE4E-23B8-509EFF01A6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5456238"/>
            <a:ext cx="32004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it-IT" altLang="it-IT" sz="2600" b="1"/>
              <a:t>1111111111111111</a:t>
            </a:r>
          </a:p>
        </p:txBody>
      </p:sp>
      <p:sp>
        <p:nvSpPr>
          <p:cNvPr id="332827" name="Rectangle 27">
            <a:extLst>
              <a:ext uri="{FF2B5EF4-FFF2-40B4-BE49-F238E27FC236}">
                <a16:creationId xmlns:a16="http://schemas.microsoft.com/office/drawing/2014/main" id="{5EA5D3BB-24A6-8FD9-3965-462CCD6D6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410200"/>
            <a:ext cx="3200400" cy="609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2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32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32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32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" fill="hold"/>
                                        <p:tgtEl>
                                          <p:spTgt spid="3328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" fill="hold"/>
                                        <p:tgtEl>
                                          <p:spTgt spid="3328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32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332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75" fill="hold"/>
                                        <p:tgtEl>
                                          <p:spTgt spid="3328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75" fill="hold"/>
                                        <p:tgtEl>
                                          <p:spTgt spid="3328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332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332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75" fill="hold"/>
                                        <p:tgtEl>
                                          <p:spTgt spid="332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75" fill="hold"/>
                                        <p:tgtEl>
                                          <p:spTgt spid="332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332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332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75" fill="hold"/>
                                        <p:tgtEl>
                                          <p:spTgt spid="3328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75" fill="hold"/>
                                        <p:tgtEl>
                                          <p:spTgt spid="3328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2803" grpId="0" build="p" autoUpdateAnimBg="0"/>
      <p:bldP spid="332804" grpId="0" autoUpdateAnimBg="0"/>
      <p:bldP spid="332808" grpId="0" autoUpdateAnimBg="0"/>
      <p:bldP spid="332809" grpId="0" animBg="1"/>
      <p:bldP spid="332810" grpId="0" autoUpdateAnimBg="0"/>
      <p:bldP spid="332814" grpId="0" autoUpdateAnimBg="0"/>
      <p:bldP spid="332815" grpId="0" animBg="1"/>
      <p:bldP spid="332816" grpId="0" autoUpdateAnimBg="0"/>
      <p:bldP spid="332820" grpId="0" autoUpdateAnimBg="0"/>
      <p:bldP spid="332821" grpId="0" animBg="1"/>
      <p:bldP spid="332822" grpId="0" autoUpdateAnimBg="0"/>
      <p:bldP spid="332826" grpId="0" autoUpdateAnimBg="0"/>
      <p:bldP spid="33282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egnaposto numero diapositiva 5">
            <a:extLst>
              <a:ext uri="{FF2B5EF4-FFF2-40B4-BE49-F238E27FC236}">
                <a16:creationId xmlns:a16="http://schemas.microsoft.com/office/drawing/2014/main" id="{613E8C26-0DE4-6EDB-8CB9-3B2FF9121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E83DBDC-5BCC-43D3-9DD8-28D20A188E60}" type="slidenum">
              <a:rPr lang="it-IT" altLang="it-IT" sz="1400">
                <a:latin typeface="Times New Roman" panose="02020603050405020304" pitchFamily="18" charset="0"/>
              </a:rPr>
              <a:pPr/>
              <a:t>17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9B19FCFA-9097-FD21-8755-1A4AEBE0AB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Modi di indirizzamento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9C45A885-2172-BE4B-A342-2FFEAD6A4A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Indicano come la CPU accede agli operandi usati dalle proprie istruzioni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La loro funzione è quella di fornire un indirizzo effettivo (EA) per l’operando di un’istruzione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Es: In un’istruzione per la manipolazione di un dato, l’indirizzo effettivo è l’indirizzo del dato da manipolare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Es: In un’istruzione di salto, l’indirizzo effettivo è l’indirizzo dell’istruzione a cui saltare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Sono possibili moltissimi modi di indirizzamento. Nessun processore li supporta tutti, ma il 68000 ne supporta una buona parte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egnaposto numero diapositiva 5">
            <a:extLst>
              <a:ext uri="{FF2B5EF4-FFF2-40B4-BE49-F238E27FC236}">
                <a16:creationId xmlns:a16="http://schemas.microsoft.com/office/drawing/2014/main" id="{C86C50A2-EC58-F431-6755-CC8B7A8B2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10DF091-5D48-4D73-ACA0-22F8C4C3C1EB}" type="slidenum">
              <a:rPr lang="it-IT" altLang="it-IT" sz="1400">
                <a:latin typeface="Times New Roman" panose="02020603050405020304" pitchFamily="18" charset="0"/>
              </a:rPr>
              <a:pPr/>
              <a:t>18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D982D620-5AB1-9143-C274-93CB7B8B0A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Modi di Indirizzamento del 68K</a:t>
            </a: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5205406E-38EB-C995-17B6-96239DBAE8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8950" y="1296988"/>
            <a:ext cx="4495800" cy="5372100"/>
          </a:xfrm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Register Direct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Data-register Direct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Address-register Direct</a:t>
            </a:r>
          </a:p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Immediate (or Literal)</a:t>
            </a:r>
          </a:p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Absolute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Short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Long</a:t>
            </a:r>
          </a:p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Address-register Indirect</a:t>
            </a:r>
          </a:p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Auto-Increment</a:t>
            </a:r>
          </a:p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Auto-Decrement</a:t>
            </a:r>
          </a:p>
        </p:txBody>
      </p:sp>
      <p:sp>
        <p:nvSpPr>
          <p:cNvPr id="32773" name="Rectangle 4">
            <a:extLst>
              <a:ext uri="{FF2B5EF4-FFF2-40B4-BE49-F238E27FC236}">
                <a16:creationId xmlns:a16="http://schemas.microsoft.com/office/drawing/2014/main" id="{E683790B-2436-8070-94E2-B02821FBB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7088" y="1309688"/>
            <a:ext cx="3465512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-110" charset="2"/>
              <a:buChar char="l"/>
            </a:pPr>
            <a:r>
              <a:rPr lang="it-IT" altLang="it-IT" sz="2800"/>
              <a:t>Indexed short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-110" charset="2"/>
              <a:buChar char="l"/>
            </a:pPr>
            <a:r>
              <a:rPr lang="it-IT" altLang="it-IT" sz="2800"/>
              <a:t>Based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-110" charset="2"/>
              <a:buChar char="l"/>
            </a:pPr>
            <a:r>
              <a:rPr lang="it-IT" altLang="it-IT" sz="2800"/>
              <a:t>Based Indexed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-110" charset="2"/>
              <a:buChar char="l"/>
            </a:pPr>
            <a:r>
              <a:rPr lang="it-IT" altLang="it-IT" sz="2800"/>
              <a:t>Short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-110" charset="2"/>
              <a:buChar char="l"/>
            </a:pPr>
            <a:r>
              <a:rPr lang="it-IT" altLang="it-IT" sz="2800"/>
              <a:t>Long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-110" charset="2"/>
              <a:buChar char="l"/>
            </a:pPr>
            <a:r>
              <a:rPr lang="it-IT" altLang="it-IT" sz="2800"/>
              <a:t>Relative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-110" charset="2"/>
              <a:buChar char="l"/>
            </a:pPr>
            <a:r>
              <a:rPr lang="it-IT" altLang="it-IT" sz="2800"/>
              <a:t>Relative Indexed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-110" charset="2"/>
              <a:buChar char="l"/>
            </a:pPr>
            <a:r>
              <a:rPr lang="it-IT" altLang="it-IT" sz="2800"/>
              <a:t>Short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-110" charset="2"/>
              <a:buChar char="l"/>
            </a:pPr>
            <a:r>
              <a:rPr lang="it-IT" altLang="it-IT" sz="2800"/>
              <a:t>Long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egnaposto numero diapositiva 5">
            <a:extLst>
              <a:ext uri="{FF2B5EF4-FFF2-40B4-BE49-F238E27FC236}">
                <a16:creationId xmlns:a16="http://schemas.microsoft.com/office/drawing/2014/main" id="{B5E813DA-E055-1E25-10AD-F9B99EFA3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5A250A0-94F4-415C-A286-1E60A3376E74}" type="slidenum">
              <a:rPr lang="it-IT" altLang="it-IT" sz="1400">
                <a:latin typeface="Times New Roman" panose="02020603050405020304" pitchFamily="18" charset="0"/>
              </a:rPr>
              <a:pPr/>
              <a:t>19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7AEB5D15-B795-8189-BE17-7817B13FF2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Register Direct Addressing</a:t>
            </a:r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FB785111-0D70-6327-9099-CB12B31263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0688" y="1447800"/>
            <a:ext cx="8899525" cy="3276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È il modo di indirizzamento più semplice 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La sorgente o la destinazione di un operando è un registro dati o un registro indirizzi 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Se il registro è un operando sorgente, il contenuto del registro specificato fornisce l’operando sorgente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Se il registro è un operando destinazione, esso viene caricato con il valore specificato dall’istruzione</a:t>
            </a:r>
          </a:p>
        </p:txBody>
      </p:sp>
      <p:sp>
        <p:nvSpPr>
          <p:cNvPr id="33797" name="Rectangle 4">
            <a:extLst>
              <a:ext uri="{FF2B5EF4-FFF2-40B4-BE49-F238E27FC236}">
                <a16:creationId xmlns:a16="http://schemas.microsoft.com/office/drawing/2014/main" id="{11B4CED1-264A-7622-86F4-AAE07CC03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813" y="4797425"/>
            <a:ext cx="91567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</a:pPr>
            <a:r>
              <a:rPr lang="it-IT" altLang="it-IT">
                <a:latin typeface="LetterGothic" charset="0"/>
              </a:rPr>
              <a:t>MOVE.B D0,D3	</a:t>
            </a:r>
            <a:r>
              <a:rPr lang="it-IT" altLang="it-IT">
                <a:latin typeface="GillSans" charset="0"/>
              </a:rPr>
              <a:t>Copia l’operando sorgente in D0 nel  registro D3</a:t>
            </a:r>
            <a:r>
              <a:rPr lang="it-IT" altLang="it-IT">
                <a:latin typeface="LetterGothic" charset="0"/>
              </a:rPr>
              <a:t>	</a:t>
            </a:r>
          </a:p>
          <a:p>
            <a:pPr algn="l">
              <a:spcBef>
                <a:spcPct val="0"/>
              </a:spcBef>
            </a:pPr>
            <a:r>
              <a:rPr lang="it-IT" altLang="it-IT">
                <a:latin typeface="LetterGothic" charset="0"/>
              </a:rPr>
              <a:t>SUB.L  A0,D3 	</a:t>
            </a:r>
            <a:r>
              <a:rPr lang="it-IT" altLang="it-IT">
                <a:latin typeface="GillSans" charset="0"/>
              </a:rPr>
              <a:t>Sottrae l’operando sorgente nel registro A0 dal registro D3</a:t>
            </a:r>
            <a:endParaRPr lang="it-IT" altLang="it-IT">
              <a:latin typeface="LetterGothic" charset="0"/>
            </a:endParaRPr>
          </a:p>
          <a:p>
            <a:pPr algn="l">
              <a:spcBef>
                <a:spcPct val="0"/>
              </a:spcBef>
            </a:pPr>
            <a:r>
              <a:rPr lang="it-IT" altLang="it-IT">
                <a:latin typeface="LetterGothic" charset="0"/>
              </a:rPr>
              <a:t>CMP.W  D2,D0 	</a:t>
            </a:r>
            <a:r>
              <a:rPr lang="it-IT" altLang="it-IT">
                <a:latin typeface="GillSans" charset="0"/>
              </a:rPr>
              <a:t>Confronta l’op. sorgente nel registro D2 con il registro D0</a:t>
            </a:r>
            <a:endParaRPr lang="it-IT" altLang="it-IT">
              <a:latin typeface="LetterGothic" charset="0"/>
            </a:endParaRPr>
          </a:p>
          <a:p>
            <a:pPr algn="l">
              <a:spcBef>
                <a:spcPct val="0"/>
              </a:spcBef>
            </a:pPr>
            <a:r>
              <a:rPr lang="it-IT" altLang="it-IT">
                <a:latin typeface="LetterGothic" charset="0"/>
              </a:rPr>
              <a:t>ADD    D3,D4 	</a:t>
            </a:r>
            <a:r>
              <a:rPr lang="it-IT" altLang="it-IT">
                <a:latin typeface="GillSans" charset="0"/>
              </a:rPr>
              <a:t>Somma l’operando sorgente nel registro D3 al registro D4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egnaposto numero diapositiva 5">
            <a:extLst>
              <a:ext uri="{FF2B5EF4-FFF2-40B4-BE49-F238E27FC236}">
                <a16:creationId xmlns:a16="http://schemas.microsoft.com/office/drawing/2014/main" id="{A503D8DC-8ED3-9E78-B1B6-689B4B6ED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6F3AAE6-3E9A-4786-A04F-2AF4D4A5FA7A}" type="slidenum">
              <a:rPr lang="it-IT" altLang="it-IT" sz="1400">
                <a:latin typeface="Times New Roman" panose="02020603050405020304" pitchFamily="18" charset="0"/>
              </a:rPr>
              <a:pPr/>
              <a:t>20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222C975D-856A-4303-9E77-79850FE6ED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Register Direct Addressing – Funzionamento</a:t>
            </a:r>
          </a:p>
        </p:txBody>
      </p:sp>
      <p:pic>
        <p:nvPicPr>
          <p:cNvPr id="34820" name="Picture 4">
            <a:extLst>
              <a:ext uri="{FF2B5EF4-FFF2-40B4-BE49-F238E27FC236}">
                <a16:creationId xmlns:a16="http://schemas.microsoft.com/office/drawing/2014/main" id="{562EBCE5-5621-F2C2-B594-4874894C79EE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4413" y="2049463"/>
            <a:ext cx="5792787" cy="2744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1893" name="Rectangle 5">
            <a:extLst>
              <a:ext uri="{FF2B5EF4-FFF2-40B4-BE49-F238E27FC236}">
                <a16:creationId xmlns:a16="http://schemas.microsoft.com/office/drawing/2014/main" id="{B050F123-5184-5982-3EFD-9F27FA20E1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963" y="5197475"/>
            <a:ext cx="825976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</a:pPr>
            <a:r>
              <a:rPr lang="it-IT" altLang="it-IT" sz="2400"/>
              <a:t>L’istruzione MOVE.B D0,D1 usa registri</a:t>
            </a:r>
          </a:p>
          <a:p>
            <a:pPr algn="l">
              <a:spcBef>
                <a:spcPct val="0"/>
              </a:spcBef>
            </a:pPr>
            <a:r>
              <a:rPr lang="it-IT" altLang="it-IT" sz="2400"/>
              <a:t>dati sia per l’operando sorgente che per quello destinazione</a:t>
            </a:r>
          </a:p>
        </p:txBody>
      </p:sp>
      <p:sp>
        <p:nvSpPr>
          <p:cNvPr id="421894" name="Rectangle 6">
            <a:extLst>
              <a:ext uri="{FF2B5EF4-FFF2-40B4-BE49-F238E27FC236}">
                <a16:creationId xmlns:a16="http://schemas.microsoft.com/office/drawing/2014/main" id="{790313AC-BDE0-094F-5865-CACF35464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9675" y="2879725"/>
            <a:ext cx="306863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</a:pPr>
            <a:r>
              <a:rPr lang="it-IT" altLang="it-IT" sz="2400"/>
              <a:t>L’operando sorgente </a:t>
            </a:r>
          </a:p>
          <a:p>
            <a:pPr algn="l">
              <a:spcBef>
                <a:spcPct val="0"/>
              </a:spcBef>
            </a:pPr>
            <a:r>
              <a:rPr lang="it-IT" altLang="it-IT" sz="2400"/>
              <a:t>è il registro dati D0</a:t>
            </a:r>
          </a:p>
        </p:txBody>
      </p:sp>
      <p:grpSp>
        <p:nvGrpSpPr>
          <p:cNvPr id="2" name="Group 7">
            <a:extLst>
              <a:ext uri="{FF2B5EF4-FFF2-40B4-BE49-F238E27FC236}">
                <a16:creationId xmlns:a16="http://schemas.microsoft.com/office/drawing/2014/main" id="{47F1D6F5-730D-0E4D-CC03-90DEF6FC325F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1508125"/>
            <a:ext cx="4905375" cy="822325"/>
            <a:chOff x="2304" y="950"/>
            <a:chExt cx="2854" cy="518"/>
          </a:xfrm>
        </p:grpSpPr>
        <p:sp>
          <p:nvSpPr>
            <p:cNvPr id="34824" name="Line 8">
              <a:extLst>
                <a:ext uri="{FF2B5EF4-FFF2-40B4-BE49-F238E27FC236}">
                  <a16:creationId xmlns:a16="http://schemas.microsoft.com/office/drawing/2014/main" id="{EAF5EDD8-0EF2-8F6E-B5A5-E4A87A1866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04" y="1201"/>
              <a:ext cx="1440" cy="2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4825" name="Rectangle 9">
              <a:extLst>
                <a:ext uri="{FF2B5EF4-FFF2-40B4-BE49-F238E27FC236}">
                  <a16:creationId xmlns:a16="http://schemas.microsoft.com/office/drawing/2014/main" id="{D3E1D7F3-EC4A-B330-E809-C7636A31CB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9" y="950"/>
              <a:ext cx="1519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defTabSz="7620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lang="it-IT" altLang="it-IT" sz="2400"/>
                <a:t>L’istruzione indica</a:t>
              </a:r>
            </a:p>
            <a:p>
              <a:pPr algn="l">
                <a:spcBef>
                  <a:spcPct val="0"/>
                </a:spcBef>
              </a:pPr>
              <a:r>
                <a:rPr lang="it-IT" altLang="it-IT" sz="2400"/>
                <a:t>il registro dati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1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1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18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218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893" grpId="0" autoUpdateAnimBg="0"/>
      <p:bldP spid="421894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egnaposto numero diapositiva 5">
            <a:extLst>
              <a:ext uri="{FF2B5EF4-FFF2-40B4-BE49-F238E27FC236}">
                <a16:creationId xmlns:a16="http://schemas.microsoft.com/office/drawing/2014/main" id="{65B970C7-2203-718F-C329-651D17353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AB66488-E502-4369-ACF0-30828A54A832}" type="slidenum">
              <a:rPr lang="it-IT" altLang="it-IT" sz="1400">
                <a:latin typeface="Times New Roman" panose="02020603050405020304" pitchFamily="18" charset="0"/>
              </a:rPr>
              <a:pPr/>
              <a:t>21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D1551E55-66D8-5B68-A014-54E537F49E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Register Direct Addressing – Funzionamento</a:t>
            </a:r>
          </a:p>
        </p:txBody>
      </p:sp>
      <p:pic>
        <p:nvPicPr>
          <p:cNvPr id="35844" name="Picture 4">
            <a:extLst>
              <a:ext uri="{FF2B5EF4-FFF2-40B4-BE49-F238E27FC236}">
                <a16:creationId xmlns:a16="http://schemas.microsoft.com/office/drawing/2014/main" id="{369938B7-06E5-3374-3B6B-139A4ECAD386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4713" y="2049463"/>
            <a:ext cx="5322887" cy="2744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2917" name="Rectangle 5">
            <a:extLst>
              <a:ext uri="{FF2B5EF4-FFF2-40B4-BE49-F238E27FC236}">
                <a16:creationId xmlns:a16="http://schemas.microsoft.com/office/drawing/2014/main" id="{8F8343A3-3E68-62D6-4A6B-1BBEDC6EB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2325" y="4860925"/>
            <a:ext cx="359568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</a:pPr>
            <a:r>
              <a:rPr lang="it-IT" altLang="it-IT" sz="2400"/>
              <a:t>L’operando destinazione </a:t>
            </a:r>
          </a:p>
          <a:p>
            <a:pPr algn="l">
              <a:spcBef>
                <a:spcPct val="0"/>
              </a:spcBef>
            </a:pPr>
            <a:r>
              <a:rPr lang="it-IT" altLang="it-IT" sz="2400"/>
              <a:t>è il registro dati D1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29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2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2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2917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egnaposto numero diapositiva 5">
            <a:extLst>
              <a:ext uri="{FF2B5EF4-FFF2-40B4-BE49-F238E27FC236}">
                <a16:creationId xmlns:a16="http://schemas.microsoft.com/office/drawing/2014/main" id="{AE415207-A995-F592-040A-0AA78B063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2E1C854-85D2-449E-A2C4-5F18011AF647}" type="slidenum">
              <a:rPr lang="it-IT" altLang="it-IT" sz="1400">
                <a:latin typeface="Times New Roman" panose="02020603050405020304" pitchFamily="18" charset="0"/>
              </a:rPr>
              <a:pPr/>
              <a:t>22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1C38812A-4D11-0217-1111-BCFD734CB0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Register Direct Addressing – Funzionamento</a:t>
            </a:r>
          </a:p>
        </p:txBody>
      </p:sp>
      <p:pic>
        <p:nvPicPr>
          <p:cNvPr id="36868" name="Picture 4">
            <a:extLst>
              <a:ext uri="{FF2B5EF4-FFF2-40B4-BE49-F238E27FC236}">
                <a16:creationId xmlns:a16="http://schemas.microsoft.com/office/drawing/2014/main" id="{A4B13E15-28D6-D4ED-9FAF-71D2BCDACE54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7700" y="2049463"/>
            <a:ext cx="5322888" cy="2744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3941" name="Rectangle 5">
            <a:extLst>
              <a:ext uri="{FF2B5EF4-FFF2-40B4-BE49-F238E27FC236}">
                <a16:creationId xmlns:a16="http://schemas.microsoft.com/office/drawing/2014/main" id="{14567058-B506-10AA-7BB2-15B1B62BF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3525" y="4937125"/>
            <a:ext cx="5559425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</a:pPr>
            <a:r>
              <a:rPr lang="it-IT" altLang="it-IT" sz="2400"/>
              <a:t>L’effetto di questa istruzione è quello di </a:t>
            </a:r>
          </a:p>
          <a:p>
            <a:pPr algn="l">
              <a:spcBef>
                <a:spcPct val="0"/>
              </a:spcBef>
            </a:pPr>
            <a:r>
              <a:rPr lang="it-IT" altLang="it-IT" sz="2400"/>
              <a:t>copiare il contenuto del registro dati D0 </a:t>
            </a:r>
          </a:p>
          <a:p>
            <a:pPr algn="l">
              <a:spcBef>
                <a:spcPct val="0"/>
              </a:spcBef>
            </a:pPr>
            <a:r>
              <a:rPr lang="it-IT" altLang="it-IT" sz="2400"/>
              <a:t>nel registro dati D1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3941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egnaposto numero diapositiva 5">
            <a:extLst>
              <a:ext uri="{FF2B5EF4-FFF2-40B4-BE49-F238E27FC236}">
                <a16:creationId xmlns:a16="http://schemas.microsoft.com/office/drawing/2014/main" id="{8D40EE4D-CE68-686D-7F84-9AFC0CF90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4BA3269-0134-459C-9701-2B209BA34055}" type="slidenum">
              <a:rPr lang="it-IT" altLang="it-IT" sz="1400">
                <a:latin typeface="Times New Roman" panose="02020603050405020304" pitchFamily="18" charset="0"/>
              </a:rPr>
              <a:pPr/>
              <a:t>23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698986B0-2C59-64B1-ADFA-9910840078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Register Direct Addressing - Caratteristiche</a:t>
            </a: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C62CFABC-2761-5B88-E852-8C5CFE0F14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È veloce, perché non c’è bisogno di accedere alla memoria esterna</a:t>
            </a:r>
          </a:p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Fa uso di istruzioni corte, perché usa soltanto tre bit per specificare uno degli otto registri dati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Mode = 0, reg = 0-7 per Dn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Mode = 1, reg = 0-7 per An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Ad esempio, per codificare la MOVE D0,D1 bastano 16 bit di parola codice (non sono necessarie parole aggiuntive)</a:t>
            </a:r>
          </a:p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I programmatori lo usano per memorizzare variabili che sono usate di frequente (scratchpad storage)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egnaposto numero diapositiva 5">
            <a:extLst>
              <a:ext uri="{FF2B5EF4-FFF2-40B4-BE49-F238E27FC236}">
                <a16:creationId xmlns:a16="http://schemas.microsoft.com/office/drawing/2014/main" id="{EACE350F-929B-338B-41C7-17D3DEC5F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A4E3680-4A54-43A6-A29B-F8BC00821D0B}" type="slidenum">
              <a:rPr lang="it-IT" altLang="it-IT" sz="1400">
                <a:latin typeface="Times New Roman" panose="02020603050405020304" pitchFamily="18" charset="0"/>
              </a:rPr>
              <a:pPr/>
              <a:t>24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1C180DBD-5E50-8C04-3BB4-647711FAAD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Immediate Addressing</a:t>
            </a:r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41FA7853-0D91-909D-5FA7-6243EAECF9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0688" y="1447800"/>
            <a:ext cx="8899525" cy="2486025"/>
          </a:xfrm>
        </p:spPr>
        <p:txBody>
          <a:bodyPr/>
          <a:lstStyle/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L’operando effettivo costituisce parte dell’istruzione</a:t>
            </a:r>
          </a:p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Può essere usato unicamente per specificare un operando sorgente (non si può scrivere su una costante!)</a:t>
            </a:r>
          </a:p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È indicato da un simbolo  # davanti all’operando sorgente</a:t>
            </a:r>
          </a:p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Un operando immediato è anche chiamato </a:t>
            </a:r>
            <a:r>
              <a:rPr lang="it-IT" altLang="it-IT" sz="2400" i="1">
                <a:ea typeface="ＭＳ Ｐゴシック" panose="020B0600070205080204" pitchFamily="34" charset="-128"/>
              </a:rPr>
              <a:t>literal</a:t>
            </a:r>
          </a:p>
        </p:txBody>
      </p:sp>
      <p:sp>
        <p:nvSpPr>
          <p:cNvPr id="38917" name="Rectangle 4">
            <a:extLst>
              <a:ext uri="{FF2B5EF4-FFF2-40B4-BE49-F238E27FC236}">
                <a16:creationId xmlns:a16="http://schemas.microsoft.com/office/drawing/2014/main" id="{9EC996DA-A091-B6C0-6A82-A8822E8A7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550" y="4149725"/>
            <a:ext cx="906145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</a:pPr>
            <a:r>
              <a:rPr lang="it-IT" altLang="it-IT" sz="2400">
                <a:latin typeface="LetterGothic" charset="0"/>
              </a:rPr>
              <a:t>Esempio:</a:t>
            </a:r>
          </a:p>
          <a:p>
            <a:pPr algn="l">
              <a:spcBef>
                <a:spcPct val="0"/>
              </a:spcBef>
            </a:pPr>
            <a:endParaRPr lang="it-IT" altLang="it-IT" sz="2400">
              <a:latin typeface="LetterGothic" charset="0"/>
            </a:endParaRPr>
          </a:p>
          <a:p>
            <a:pPr algn="l">
              <a:spcBef>
                <a:spcPct val="0"/>
              </a:spcBef>
            </a:pPr>
            <a:r>
              <a:rPr lang="it-IT" altLang="it-IT" sz="2400">
                <a:latin typeface="LetterGothic" charset="0"/>
              </a:rPr>
              <a:t>MOVE.B #4,D0        Usa l’operando sorgente immediato 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egnaposto numero diapositiva 4">
            <a:extLst>
              <a:ext uri="{FF2B5EF4-FFF2-40B4-BE49-F238E27FC236}">
                <a16:creationId xmlns:a16="http://schemas.microsoft.com/office/drawing/2014/main" id="{5C710D0F-12C9-A815-6E0D-5A74FA2F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CAC1591-2EAE-41FE-AEBD-B3007672A1DF}" type="slidenum">
              <a:rPr lang="it-IT" altLang="it-IT" sz="1400">
                <a:latin typeface="Times New Roman" panose="02020603050405020304" pitchFamily="18" charset="0"/>
              </a:rPr>
              <a:pPr/>
              <a:t>25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pic>
        <p:nvPicPr>
          <p:cNvPr id="39939" name="Picture 2">
            <a:extLst>
              <a:ext uri="{FF2B5EF4-FFF2-40B4-BE49-F238E27FC236}">
                <a16:creationId xmlns:a16="http://schemas.microsoft.com/office/drawing/2014/main" id="{980480A6-6C0A-8D36-1274-029FE55B1723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2038" y="2322513"/>
            <a:ext cx="5322887" cy="219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9187" name="Rectangle 3">
            <a:extLst>
              <a:ext uri="{FF2B5EF4-FFF2-40B4-BE49-F238E27FC236}">
                <a16:creationId xmlns:a16="http://schemas.microsoft.com/office/drawing/2014/main" id="{F7BEE22C-A383-384E-F47C-0E541F7C0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113" y="4556125"/>
            <a:ext cx="83566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</a:pPr>
            <a:r>
              <a:rPr lang="it-IT" altLang="it-IT" sz="2400"/>
              <a:t>L’istruzione MOVE.B #4,D0 usa un operando sorgente literal</a:t>
            </a:r>
          </a:p>
          <a:p>
            <a:pPr algn="l">
              <a:spcBef>
                <a:spcPct val="0"/>
              </a:spcBef>
            </a:pPr>
            <a:r>
              <a:rPr lang="it-IT" altLang="it-IT" sz="2400"/>
              <a:t>ed un operando destinazione register direct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CF3B13C6-21E8-0814-FEDF-DD6E3A69C2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Immediate Addressing - Funzionamento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9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9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9187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egnaposto numero diapositiva 5">
            <a:extLst>
              <a:ext uri="{FF2B5EF4-FFF2-40B4-BE49-F238E27FC236}">
                <a16:creationId xmlns:a16="http://schemas.microsoft.com/office/drawing/2014/main" id="{D7AA1557-A5DB-4855-257C-0584BF78D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07DB1C0-7AAA-4C47-AB57-0C77DA3E1944}" type="slidenum">
              <a:rPr lang="it-IT" altLang="it-IT" sz="1400">
                <a:latin typeface="Times New Roman" panose="02020603050405020304" pitchFamily="18" charset="0"/>
              </a:rPr>
              <a:pPr/>
              <a:t>26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8D854F01-DEB3-93F2-CA6B-200CC463F9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Immediate Addressing - Funzionamento </a:t>
            </a:r>
          </a:p>
        </p:txBody>
      </p:sp>
      <p:pic>
        <p:nvPicPr>
          <p:cNvPr id="41988" name="Picture 4">
            <a:extLst>
              <a:ext uri="{FF2B5EF4-FFF2-40B4-BE49-F238E27FC236}">
                <a16:creationId xmlns:a16="http://schemas.microsoft.com/office/drawing/2014/main" id="{531D1564-8D95-719C-50C8-D9DBB0B3D452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9888" y="2322513"/>
            <a:ext cx="5322887" cy="219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5">
            <a:extLst>
              <a:ext uri="{FF2B5EF4-FFF2-40B4-BE49-F238E27FC236}">
                <a16:creationId xmlns:a16="http://schemas.microsoft.com/office/drawing/2014/main" id="{BEE43C3B-6087-05AD-D9CD-6EBA5AF2F169}"/>
              </a:ext>
            </a:extLst>
          </p:cNvPr>
          <p:cNvGrpSpPr>
            <a:grpSpLocks/>
          </p:cNvGrpSpPr>
          <p:nvPr/>
        </p:nvGrpSpPr>
        <p:grpSpPr bwMode="auto">
          <a:xfrm>
            <a:off x="3317875" y="2117725"/>
            <a:ext cx="5768975" cy="822325"/>
            <a:chOff x="2304" y="1334"/>
            <a:chExt cx="3356" cy="518"/>
          </a:xfrm>
        </p:grpSpPr>
        <p:sp>
          <p:nvSpPr>
            <p:cNvPr id="41990" name="Line 6">
              <a:extLst>
                <a:ext uri="{FF2B5EF4-FFF2-40B4-BE49-F238E27FC236}">
                  <a16:creationId xmlns:a16="http://schemas.microsoft.com/office/drawing/2014/main" id="{5B77CCC8-180B-BEBA-C792-BA522686A2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04" y="1440"/>
              <a:ext cx="1008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991" name="Rectangle 7">
              <a:extLst>
                <a:ext uri="{FF2B5EF4-FFF2-40B4-BE49-F238E27FC236}">
                  <a16:creationId xmlns:a16="http://schemas.microsoft.com/office/drawing/2014/main" id="{269C1753-1B41-684F-35E3-A6F9ED47AE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2" y="1334"/>
              <a:ext cx="2358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defTabSz="7620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lang="it-IT" altLang="it-IT" sz="2400"/>
                <a:t>L’operando sorgente literal è</a:t>
              </a:r>
            </a:p>
            <a:p>
              <a:pPr algn="l">
                <a:spcBef>
                  <a:spcPct val="0"/>
                </a:spcBef>
              </a:pPr>
              <a:r>
                <a:rPr lang="it-IT" altLang="it-IT" sz="2400"/>
                <a:t>parte dell’istruzione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egnaposto numero diapositiva 5">
            <a:extLst>
              <a:ext uri="{FF2B5EF4-FFF2-40B4-BE49-F238E27FC236}">
                <a16:creationId xmlns:a16="http://schemas.microsoft.com/office/drawing/2014/main" id="{6141E84A-FF7C-DAC0-A4C3-EEA8A25AC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C0C566A-E465-4B80-B1A4-A5B8CA75FDD5}" type="slidenum">
              <a:rPr lang="it-IT" altLang="it-IT" sz="1400">
                <a:latin typeface="Times New Roman" panose="02020603050405020304" pitchFamily="18" charset="0"/>
              </a:rPr>
              <a:pPr/>
              <a:t>27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FABFEE00-9C33-7DB9-C93C-230FE35526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Immediate Addressing - Funzionamento </a:t>
            </a:r>
          </a:p>
        </p:txBody>
      </p:sp>
      <p:pic>
        <p:nvPicPr>
          <p:cNvPr id="43012" name="Picture 4">
            <a:extLst>
              <a:ext uri="{FF2B5EF4-FFF2-40B4-BE49-F238E27FC236}">
                <a16:creationId xmlns:a16="http://schemas.microsoft.com/office/drawing/2014/main" id="{AED6A57D-0014-6E1D-17D6-CE31723FB6ED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0" y="2322513"/>
            <a:ext cx="5322888" cy="219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8037" name="Rectangle 5">
            <a:extLst>
              <a:ext uri="{FF2B5EF4-FFF2-40B4-BE49-F238E27FC236}">
                <a16:creationId xmlns:a16="http://schemas.microsoft.com/office/drawing/2014/main" id="{78E604D5-4ABC-A4F1-3094-5726DED6B8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5" y="4632325"/>
            <a:ext cx="586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</a:pPr>
            <a:r>
              <a:rPr lang="it-IT" altLang="it-IT" sz="2400"/>
              <a:t>L’operando destinazione è un registro dati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8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8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8037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egnaposto numero diapositiva 5">
            <a:extLst>
              <a:ext uri="{FF2B5EF4-FFF2-40B4-BE49-F238E27FC236}">
                <a16:creationId xmlns:a16="http://schemas.microsoft.com/office/drawing/2014/main" id="{7EF5E0A3-202D-A27B-B1DB-E8D6D651D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4CC727C-D6AE-4040-8AC6-C8DCA44CF2E8}" type="slidenum">
              <a:rPr lang="it-IT" altLang="it-IT" sz="1400">
                <a:latin typeface="Times New Roman" panose="02020603050405020304" pitchFamily="18" charset="0"/>
              </a:rPr>
              <a:pPr/>
              <a:t>28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A2671588-D63F-19B6-EB29-5416842059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Immediate Addressing - Funzionamento </a:t>
            </a:r>
          </a:p>
        </p:txBody>
      </p:sp>
      <p:pic>
        <p:nvPicPr>
          <p:cNvPr id="44036" name="Picture 4">
            <a:extLst>
              <a:ext uri="{FF2B5EF4-FFF2-40B4-BE49-F238E27FC236}">
                <a16:creationId xmlns:a16="http://schemas.microsoft.com/office/drawing/2014/main" id="{023D08FA-366C-4BDC-CDB6-4EE10FE26F54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2322513"/>
            <a:ext cx="5322888" cy="219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9061" name="Rectangle 5">
            <a:extLst>
              <a:ext uri="{FF2B5EF4-FFF2-40B4-BE49-F238E27FC236}">
                <a16:creationId xmlns:a16="http://schemas.microsoft.com/office/drawing/2014/main" id="{9EB22094-51D6-6566-714C-A4CB3DBB7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0" y="4479925"/>
            <a:ext cx="825658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</a:pPr>
            <a:r>
              <a:rPr lang="it-IT" altLang="it-IT" sz="2400"/>
              <a:t>L’effetto di questa istruzione è quello di copiare il valore del </a:t>
            </a:r>
          </a:p>
          <a:p>
            <a:pPr algn="l">
              <a:spcBef>
                <a:spcPct val="0"/>
              </a:spcBef>
            </a:pPr>
            <a:r>
              <a:rPr lang="it-IT" altLang="it-IT" sz="2400"/>
              <a:t>literal 4 nel registro dati D0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90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9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9061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egnaposto numero diapositiva 5">
            <a:extLst>
              <a:ext uri="{FF2B5EF4-FFF2-40B4-BE49-F238E27FC236}">
                <a16:creationId xmlns:a16="http://schemas.microsoft.com/office/drawing/2014/main" id="{0D83A07F-082A-F806-9C5E-B97440DB7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70E0856-AD34-44B4-A85F-A15A8EDC8B5F}" type="slidenum">
              <a:rPr lang="it-IT" altLang="it-IT" sz="1400">
                <a:latin typeface="Times New Roman" panose="02020603050405020304" pitchFamily="18" charset="0"/>
              </a:rPr>
              <a:pPr/>
              <a:t>29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33B4B3CD-25F8-B140-EDF4-A50DDBC064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Immediate Addressing - Caratteristiche</a:t>
            </a:r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B78BB710-D0E4-3579-C4DD-1D69FF2A30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it-IT">
                <a:ea typeface="ＭＳ Ｐゴシック" panose="020B0600070205080204" pitchFamily="34" charset="-128"/>
              </a:rPr>
              <a:t>Se la costante da manipolare ha dimensioni ridotte (pochi bit) è possibile codificarla direttamente nei 16 bit dell’istruzione</a:t>
            </a:r>
          </a:p>
          <a:p>
            <a:pPr lvl="1" eaLnBrk="1" hangingPunct="1"/>
            <a:r>
              <a:rPr lang="en-US" altLang="it-IT">
                <a:ea typeface="ＭＳ Ｐゴシック" panose="020B0600070205080204" pitchFamily="34" charset="-128"/>
              </a:rPr>
              <a:t>non sono necessarie parole aggiuntive per codificare il </a:t>
            </a:r>
            <a:r>
              <a:rPr lang="en-US" altLang="it-IT" i="1">
                <a:ea typeface="ＭＳ Ｐゴシック" panose="020B0600070205080204" pitchFamily="34" charset="-128"/>
              </a:rPr>
              <a:t>literal </a:t>
            </a:r>
            <a:r>
              <a:rPr lang="en-US" altLang="it-IT">
                <a:ea typeface="ＭＳ Ｐゴシック" panose="020B0600070205080204" pitchFamily="34" charset="-128"/>
              </a:rPr>
              <a:t>oltre alla parola codice di 16 bit</a:t>
            </a:r>
          </a:p>
          <a:p>
            <a:pPr lvl="1" eaLnBrk="1" hangingPunct="1"/>
            <a:r>
              <a:rPr lang="en-US" altLang="it-IT">
                <a:ea typeface="ＭＳ Ｐゴシック" panose="020B0600070205080204" pitchFamily="34" charset="-128"/>
              </a:rPr>
              <a:t>se l’operando destinazione è un registro (</a:t>
            </a:r>
            <a:r>
              <a:rPr lang="en-US" altLang="it-IT" i="1">
                <a:ea typeface="ＭＳ Ｐゴシック" panose="020B0600070205080204" pitchFamily="34" charset="-128"/>
              </a:rPr>
              <a:t>register direct addressing</a:t>
            </a:r>
            <a:r>
              <a:rPr lang="en-US" altLang="it-IT">
                <a:ea typeface="ＭＳ Ｐゴシック" panose="020B0600070205080204" pitchFamily="34" charset="-128"/>
              </a:rPr>
              <a:t>), l’intera istruzione viene codificata su 16 bit</a:t>
            </a:r>
          </a:p>
          <a:p>
            <a:pPr lvl="1" eaLnBrk="1" hangingPunct="1"/>
            <a:r>
              <a:rPr lang="en-US" altLang="it-IT">
                <a:ea typeface="ＭＳ Ｐゴシック" panose="020B0600070205080204" pitchFamily="34" charset="-128"/>
              </a:rPr>
              <a:t>non sono necessarie ulteriori (lenti) accessi in memoria</a:t>
            </a:r>
          </a:p>
          <a:p>
            <a:pPr eaLnBrk="1" hangingPunct="1"/>
            <a:r>
              <a:rPr lang="en-US" altLang="it-IT">
                <a:ea typeface="ＭＳ Ｐゴシック" panose="020B0600070205080204" pitchFamily="34" charset="-128"/>
              </a:rPr>
              <a:t>Se la costante è “lunga”, è necessario usare una o più parole aggiuntive che seguono la parola codice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egnaposto numero diapositiva 5">
            <a:extLst>
              <a:ext uri="{FF2B5EF4-FFF2-40B4-BE49-F238E27FC236}">
                <a16:creationId xmlns:a16="http://schemas.microsoft.com/office/drawing/2014/main" id="{348D055A-3540-C73B-EBDC-EF2F1CECC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DBE02EC-2E3F-48FB-9543-3A229C2A0EB5}" type="slidenum">
              <a:rPr lang="it-IT" altLang="it-IT" sz="1400">
                <a:latin typeface="Times New Roman" panose="02020603050405020304" pitchFamily="18" charset="0"/>
              </a:rPr>
              <a:pPr/>
              <a:t>30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46083" name="Rectangle 1026">
            <a:extLst>
              <a:ext uri="{FF2B5EF4-FFF2-40B4-BE49-F238E27FC236}">
                <a16:creationId xmlns:a16="http://schemas.microsoft.com/office/drawing/2014/main" id="{1410FB40-B2B5-A598-1F06-5FE053890E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Absolute Addressing (o Direct Addressing)</a:t>
            </a:r>
          </a:p>
        </p:txBody>
      </p:sp>
      <p:sp>
        <p:nvSpPr>
          <p:cNvPr id="46084" name="Rectangle 1027">
            <a:extLst>
              <a:ext uri="{FF2B5EF4-FFF2-40B4-BE49-F238E27FC236}">
                <a16:creationId xmlns:a16="http://schemas.microsoft.com/office/drawing/2014/main" id="{CC76AE4E-F6B6-222F-2388-10AE387A25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È il modo più semplice per specificare un indirizzo di memoria completo</a:t>
            </a:r>
          </a:p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L’istruzione fornisce l’indirizzo dell’operando in memoria</a:t>
            </a:r>
          </a:p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Richiede due accessi in memoria: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Il primo è per prelevare l’istruzione e l’indirizzo assoluto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Il secondo è per accedere all’operando effettivo</a:t>
            </a:r>
          </a:p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Esempio:</a:t>
            </a:r>
          </a:p>
          <a:p>
            <a:pPr lvl="1" eaLnBrk="1" hangingPunct="1"/>
            <a:r>
              <a:rPr lang="it-IT" altLang="it-IT" sz="2000">
                <a:ea typeface="ＭＳ Ｐゴシック" panose="020B0600070205080204" pitchFamily="34" charset="-128"/>
              </a:rPr>
              <a:t>CLR.B 1234 azzera il contenuto della locazione di memoria 1234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egnaposto numero diapositiva 5">
            <a:extLst>
              <a:ext uri="{FF2B5EF4-FFF2-40B4-BE49-F238E27FC236}">
                <a16:creationId xmlns:a16="http://schemas.microsoft.com/office/drawing/2014/main" id="{B0F87BAC-B144-6460-3976-F9D7E43D6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95FF680-C1D3-4052-B738-0E0D3AF8AB5E}" type="slidenum">
              <a:rPr lang="it-IT" altLang="it-IT" sz="1400">
                <a:latin typeface="Times New Roman" panose="02020603050405020304" pitchFamily="18" charset="0"/>
              </a:rPr>
              <a:pPr/>
              <a:t>31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2FF2B501-D0BB-322A-5208-393AADDAB0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Absolute Addressing - Funzionamento</a:t>
            </a:r>
          </a:p>
        </p:txBody>
      </p:sp>
      <p:pic>
        <p:nvPicPr>
          <p:cNvPr id="47108" name="Picture 4">
            <a:extLst>
              <a:ext uri="{FF2B5EF4-FFF2-40B4-BE49-F238E27FC236}">
                <a16:creationId xmlns:a16="http://schemas.microsoft.com/office/drawing/2014/main" id="{93290773-E070-B03E-6D15-D38F1BA1F62B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111375"/>
            <a:ext cx="5670550" cy="261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085" name="Rectangle 5">
            <a:extLst>
              <a:ext uri="{FF2B5EF4-FFF2-40B4-BE49-F238E27FC236}">
                <a16:creationId xmlns:a16="http://schemas.microsoft.com/office/drawing/2014/main" id="{5CFB6CDF-3CA0-3C73-BAB5-B0D0D13C5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8450" y="2193925"/>
            <a:ext cx="48641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</a:pPr>
            <a:r>
              <a:rPr lang="it-IT" altLang="it-IT" sz="2400"/>
              <a:t>Questa istruzione ha un operando </a:t>
            </a:r>
          </a:p>
          <a:p>
            <a:pPr algn="l">
              <a:spcBef>
                <a:spcPct val="0"/>
              </a:spcBef>
            </a:pPr>
            <a:r>
              <a:rPr lang="it-IT" altLang="it-IT" sz="2400"/>
              <a:t>absolute</a:t>
            </a:r>
          </a:p>
        </p:txBody>
      </p:sp>
      <p:sp>
        <p:nvSpPr>
          <p:cNvPr id="430086" name="Rectangle 6">
            <a:extLst>
              <a:ext uri="{FF2B5EF4-FFF2-40B4-BE49-F238E27FC236}">
                <a16:creationId xmlns:a16="http://schemas.microsoft.com/office/drawing/2014/main" id="{62551C03-1304-55BE-B2FD-B21C2E4647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6650" y="4784725"/>
            <a:ext cx="306863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</a:pPr>
            <a:r>
              <a:rPr lang="it-IT" altLang="it-IT" sz="2400"/>
              <a:t>L’operando sorgente </a:t>
            </a:r>
          </a:p>
          <a:p>
            <a:pPr algn="l">
              <a:spcBef>
                <a:spcPct val="0"/>
              </a:spcBef>
            </a:pPr>
            <a:r>
              <a:rPr lang="it-IT" altLang="it-IT" sz="2400"/>
              <a:t>è in memoria</a:t>
            </a:r>
          </a:p>
        </p:txBody>
      </p:sp>
      <p:sp>
        <p:nvSpPr>
          <p:cNvPr id="430087" name="Rectangle 7">
            <a:extLst>
              <a:ext uri="{FF2B5EF4-FFF2-40B4-BE49-F238E27FC236}">
                <a16:creationId xmlns:a16="http://schemas.microsoft.com/office/drawing/2014/main" id="{1B984F77-2D93-75F2-EAC5-D0AAE12778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1200" y="4632325"/>
            <a:ext cx="48641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</a:pPr>
            <a:r>
              <a:rPr lang="it-IT" altLang="it-IT" sz="2400"/>
              <a:t>L’operando destinazione usa </a:t>
            </a:r>
          </a:p>
          <a:p>
            <a:pPr algn="l">
              <a:spcBef>
                <a:spcPct val="0"/>
              </a:spcBef>
            </a:pPr>
            <a:r>
              <a:rPr lang="it-IT" altLang="it-IT" sz="2400"/>
              <a:t>il direct addressing per un registro </a:t>
            </a:r>
          </a:p>
          <a:p>
            <a:pPr algn="l">
              <a:spcBef>
                <a:spcPct val="0"/>
              </a:spcBef>
            </a:pPr>
            <a:r>
              <a:rPr lang="it-IT" altLang="it-IT" sz="2400"/>
              <a:t>dati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0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0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00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00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085" grpId="0" autoUpdateAnimBg="0"/>
      <p:bldP spid="430086" grpId="0" autoUpdateAnimBg="0"/>
      <p:bldP spid="430087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egnaposto numero diapositiva 5">
            <a:extLst>
              <a:ext uri="{FF2B5EF4-FFF2-40B4-BE49-F238E27FC236}">
                <a16:creationId xmlns:a16="http://schemas.microsoft.com/office/drawing/2014/main" id="{71862D07-29E7-6140-A08E-EB01B994A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49F3629-E68E-41E9-A327-0583212AC59A}" type="slidenum">
              <a:rPr lang="it-IT" altLang="it-IT" sz="1400">
                <a:latin typeface="Times New Roman" panose="02020603050405020304" pitchFamily="18" charset="0"/>
              </a:rPr>
              <a:pPr/>
              <a:t>32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64E2E96A-C645-6809-202F-43CC40D016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Absolute Addressing - Funzionamento</a:t>
            </a:r>
          </a:p>
        </p:txBody>
      </p:sp>
      <p:pic>
        <p:nvPicPr>
          <p:cNvPr id="48132" name="Picture 4">
            <a:extLst>
              <a:ext uri="{FF2B5EF4-FFF2-40B4-BE49-F238E27FC236}">
                <a16:creationId xmlns:a16="http://schemas.microsoft.com/office/drawing/2014/main" id="{395FE53A-33D9-4D5F-D663-0F8F01472B75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111375"/>
            <a:ext cx="5670550" cy="261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5">
            <a:extLst>
              <a:ext uri="{FF2B5EF4-FFF2-40B4-BE49-F238E27FC236}">
                <a16:creationId xmlns:a16="http://schemas.microsoft.com/office/drawing/2014/main" id="{671EB1AD-B939-C102-B739-253CA2C08D70}"/>
              </a:ext>
            </a:extLst>
          </p:cNvPr>
          <p:cNvGrpSpPr>
            <a:grpSpLocks/>
          </p:cNvGrpSpPr>
          <p:nvPr/>
        </p:nvGrpSpPr>
        <p:grpSpPr bwMode="auto">
          <a:xfrm>
            <a:off x="3382963" y="1965325"/>
            <a:ext cx="5300662" cy="822325"/>
            <a:chOff x="2352" y="1238"/>
            <a:chExt cx="3083" cy="518"/>
          </a:xfrm>
        </p:grpSpPr>
        <p:sp>
          <p:nvSpPr>
            <p:cNvPr id="48140" name="Rectangle 6">
              <a:extLst>
                <a:ext uri="{FF2B5EF4-FFF2-40B4-BE49-F238E27FC236}">
                  <a16:creationId xmlns:a16="http://schemas.microsoft.com/office/drawing/2014/main" id="{0BF4FA86-248E-C48B-A074-8E4A8E7B1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0" y="1238"/>
              <a:ext cx="2565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defTabSz="7620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lang="it-IT" altLang="it-IT" sz="2400"/>
                <a:t>L’indirizzo dell’operando forma </a:t>
              </a:r>
            </a:p>
            <a:p>
              <a:pPr algn="l">
                <a:spcBef>
                  <a:spcPct val="0"/>
                </a:spcBef>
              </a:pPr>
              <a:r>
                <a:rPr lang="it-IT" altLang="it-IT" sz="2400"/>
                <a:t>parte dell’istruzione</a:t>
              </a:r>
            </a:p>
          </p:txBody>
        </p:sp>
        <p:sp>
          <p:nvSpPr>
            <p:cNvPr id="48141" name="Line 7">
              <a:extLst>
                <a:ext uri="{FF2B5EF4-FFF2-40B4-BE49-F238E27FC236}">
                  <a16:creationId xmlns:a16="http://schemas.microsoft.com/office/drawing/2014/main" id="{55F53E3E-5912-4C46-D57E-567EE60440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52" y="1344"/>
              <a:ext cx="576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3" name="Group 8">
            <a:extLst>
              <a:ext uri="{FF2B5EF4-FFF2-40B4-BE49-F238E27FC236}">
                <a16:creationId xmlns:a16="http://schemas.microsoft.com/office/drawing/2014/main" id="{6D93953E-1901-AF75-2DA2-54FB8CC2BA47}"/>
              </a:ext>
            </a:extLst>
          </p:cNvPr>
          <p:cNvGrpSpPr>
            <a:grpSpLocks/>
          </p:cNvGrpSpPr>
          <p:nvPr/>
        </p:nvGrpSpPr>
        <p:grpSpPr bwMode="auto">
          <a:xfrm>
            <a:off x="1136650" y="4114800"/>
            <a:ext cx="7445375" cy="1568450"/>
            <a:chOff x="1046" y="2592"/>
            <a:chExt cx="4330" cy="988"/>
          </a:xfrm>
        </p:grpSpPr>
        <p:sp>
          <p:nvSpPr>
            <p:cNvPr id="48138" name="Rectangle 9">
              <a:extLst>
                <a:ext uri="{FF2B5EF4-FFF2-40B4-BE49-F238E27FC236}">
                  <a16:creationId xmlns:a16="http://schemas.microsoft.com/office/drawing/2014/main" id="{CDC636B3-418C-03CC-1A53-A0CFC82F67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" y="3062"/>
              <a:ext cx="4330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defTabSz="7620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lang="it-IT" altLang="it-IT" sz="2400"/>
                <a:t>Una volta che la CPU ha letto l’indirizzo dell’operando</a:t>
              </a:r>
            </a:p>
            <a:p>
              <a:pPr algn="l">
                <a:spcBef>
                  <a:spcPct val="0"/>
                </a:spcBef>
              </a:pPr>
              <a:r>
                <a:rPr lang="it-IT" altLang="it-IT" sz="2400"/>
                <a:t>dall’istruzione, la CPU accede all’operando effettivo</a:t>
              </a:r>
            </a:p>
          </p:txBody>
        </p:sp>
        <p:sp>
          <p:nvSpPr>
            <p:cNvPr id="48139" name="Line 10">
              <a:extLst>
                <a:ext uri="{FF2B5EF4-FFF2-40B4-BE49-F238E27FC236}">
                  <a16:creationId xmlns:a16="http://schemas.microsoft.com/office/drawing/2014/main" id="{5572B112-CFED-5B4A-88D9-06EDF9AA8B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00" y="2592"/>
              <a:ext cx="96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4" name="Group 11">
            <a:extLst>
              <a:ext uri="{FF2B5EF4-FFF2-40B4-BE49-F238E27FC236}">
                <a16:creationId xmlns:a16="http://schemas.microsoft.com/office/drawing/2014/main" id="{14BE4025-79FF-FF29-E8FC-702ADD13C211}"/>
              </a:ext>
            </a:extLst>
          </p:cNvPr>
          <p:cNvGrpSpPr>
            <a:grpSpLocks/>
          </p:cNvGrpSpPr>
          <p:nvPr/>
        </p:nvGrpSpPr>
        <p:grpSpPr bwMode="auto">
          <a:xfrm>
            <a:off x="3135313" y="3184525"/>
            <a:ext cx="6048375" cy="701675"/>
            <a:chOff x="2208" y="2006"/>
            <a:chExt cx="3519" cy="442"/>
          </a:xfrm>
        </p:grpSpPr>
        <p:sp>
          <p:nvSpPr>
            <p:cNvPr id="48136" name="Line 12">
              <a:extLst>
                <a:ext uri="{FF2B5EF4-FFF2-40B4-BE49-F238E27FC236}">
                  <a16:creationId xmlns:a16="http://schemas.microsoft.com/office/drawing/2014/main" id="{7816E40D-870E-FC44-3FBC-42F7ADBB08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08" y="2160"/>
              <a:ext cx="120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8137" name="Rectangle 13">
              <a:extLst>
                <a:ext uri="{FF2B5EF4-FFF2-40B4-BE49-F238E27FC236}">
                  <a16:creationId xmlns:a16="http://schemas.microsoft.com/office/drawing/2014/main" id="{A0A73713-E7D1-EDAF-3120-BB85D55BBF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1" y="2006"/>
              <a:ext cx="23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defTabSz="7620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lang="it-IT" altLang="it-IT" sz="2400"/>
                <a:t>Questo è l’operando effettivo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egnaposto numero diapositiva 5">
            <a:extLst>
              <a:ext uri="{FF2B5EF4-FFF2-40B4-BE49-F238E27FC236}">
                <a16:creationId xmlns:a16="http://schemas.microsoft.com/office/drawing/2014/main" id="{A82540E2-8A01-C079-5705-35B842F1E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4869161-65F1-4169-AF6F-48C0DE624723}" type="slidenum">
              <a:rPr lang="it-IT" altLang="it-IT" sz="1400">
                <a:latin typeface="Times New Roman" panose="02020603050405020304" pitchFamily="18" charset="0"/>
              </a:rPr>
              <a:pPr/>
              <a:t>33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E885931A-24B1-9D9E-D4AC-9AA7B51BC5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Absolute Addressing - Funzionamento</a:t>
            </a:r>
          </a:p>
        </p:txBody>
      </p:sp>
      <p:pic>
        <p:nvPicPr>
          <p:cNvPr id="49156" name="Picture 4">
            <a:extLst>
              <a:ext uri="{FF2B5EF4-FFF2-40B4-BE49-F238E27FC236}">
                <a16:creationId xmlns:a16="http://schemas.microsoft.com/office/drawing/2014/main" id="{15C0F89C-6F7E-E5EE-93DC-75CACAA8FD20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988" y="2111375"/>
            <a:ext cx="5670550" cy="261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2133" name="Rectangle 5">
            <a:extLst>
              <a:ext uri="{FF2B5EF4-FFF2-40B4-BE49-F238E27FC236}">
                <a16:creationId xmlns:a16="http://schemas.microsoft.com/office/drawing/2014/main" id="{38A9C6D1-FEDF-D1F9-EA5D-162BC4CA3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8938" y="4937125"/>
            <a:ext cx="6513512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</a:pPr>
            <a:r>
              <a:rPr lang="it-IT" altLang="it-IT" sz="2400"/>
              <a:t>L’effetto di MOVE.B 20,D0</a:t>
            </a:r>
          </a:p>
          <a:p>
            <a:pPr algn="l">
              <a:spcBef>
                <a:spcPct val="0"/>
              </a:spcBef>
            </a:pPr>
            <a:r>
              <a:rPr lang="it-IT" altLang="it-IT" sz="2400"/>
              <a:t>è quello di leggere il contenuto della locazione </a:t>
            </a:r>
          </a:p>
          <a:p>
            <a:pPr algn="l">
              <a:spcBef>
                <a:spcPct val="0"/>
              </a:spcBef>
            </a:pPr>
            <a:r>
              <a:rPr lang="it-IT" altLang="it-IT" sz="2400"/>
              <a:t>di memoria 20 e copiarlo nel registro D0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2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2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2133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egnaposto numero diapositiva 5">
            <a:extLst>
              <a:ext uri="{FF2B5EF4-FFF2-40B4-BE49-F238E27FC236}">
                <a16:creationId xmlns:a16="http://schemas.microsoft.com/office/drawing/2014/main" id="{828D7549-E353-AEBC-D220-76C5D0FE1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1EF70B1-0932-44D3-9D1E-F71B40CC9B7E}" type="slidenum">
              <a:rPr lang="it-IT" altLang="it-IT" sz="1400">
                <a:latin typeface="Times New Roman" panose="02020603050405020304" pitchFamily="18" charset="0"/>
              </a:rPr>
              <a:pPr/>
              <a:t>34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762BF044-9819-AFA3-5EDF-5654B76903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Esempio modi fondamentali</a:t>
            </a:r>
          </a:p>
        </p:txBody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9B0609F9-964E-FEE5-EB74-D2FCE3F82B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0688" y="1447800"/>
            <a:ext cx="8899525" cy="2268538"/>
          </a:xfrm>
        </p:spPr>
        <p:txBody>
          <a:bodyPr/>
          <a:lstStyle/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Consideriamo questo statement in linguaggio di alto livello: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it-IT" altLang="it-IT" sz="2400">
                <a:ea typeface="ＭＳ Ｐゴシック" panose="020B0600070205080204" pitchFamily="34" charset="-128"/>
              </a:rPr>
              <a:t>		</a:t>
            </a:r>
            <a:r>
              <a:rPr lang="it-IT" altLang="it-IT" sz="2000">
                <a:ea typeface="ＭＳ Ｐゴシック" panose="020B0600070205080204" pitchFamily="34" charset="-128"/>
              </a:rPr>
              <a:t>char z, y = 27;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it-IT" altLang="it-IT" sz="2000">
                <a:ea typeface="ＭＳ Ｐゴシック" panose="020B0600070205080204" pitchFamily="34" charset="-128"/>
              </a:rPr>
              <a:t>		z = y + 24;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it-IT" altLang="it-IT" sz="2000">
              <a:ea typeface="ＭＳ Ｐゴシック" panose="020B0600070205080204" pitchFamily="34" charset="-128"/>
            </a:endParaRPr>
          </a:p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>
                <a:ea typeface="ＭＳ Ｐゴシック" panose="020B0600070205080204" pitchFamily="34" charset="-128"/>
              </a:rPr>
              <a:t>Il seguente frammento di codice lo implementa:</a:t>
            </a:r>
          </a:p>
        </p:txBody>
      </p:sp>
      <p:sp>
        <p:nvSpPr>
          <p:cNvPr id="50181" name="Rectangle 4">
            <a:extLst>
              <a:ext uri="{FF2B5EF4-FFF2-40B4-BE49-F238E27FC236}">
                <a16:creationId xmlns:a16="http://schemas.microsoft.com/office/drawing/2014/main" id="{284AE517-E6C6-6375-3F7F-FA1B9319B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562350"/>
            <a:ext cx="7926388" cy="253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</a:pPr>
            <a:r>
              <a:rPr lang="it-IT" altLang="it-IT">
                <a:latin typeface="LetterGothic" charset="0"/>
              </a:rPr>
              <a:t>	</a:t>
            </a:r>
            <a:r>
              <a:rPr lang="it-IT" altLang="it-IT"/>
              <a:t>ORG     $400   	Inizio del codice     </a:t>
            </a:r>
          </a:p>
          <a:p>
            <a:pPr algn="l">
              <a:spcBef>
                <a:spcPct val="0"/>
              </a:spcBef>
            </a:pPr>
            <a:r>
              <a:rPr lang="it-IT" altLang="it-IT"/>
              <a:t>	MOVE.B  Y,D0</a:t>
            </a:r>
          </a:p>
          <a:p>
            <a:pPr algn="l">
              <a:spcBef>
                <a:spcPct val="0"/>
              </a:spcBef>
            </a:pPr>
            <a:r>
              <a:rPr lang="it-IT" altLang="it-IT"/>
              <a:t>	ADD     #24,D0</a:t>
            </a:r>
          </a:p>
          <a:p>
            <a:pPr algn="l">
              <a:spcBef>
                <a:spcPct val="0"/>
              </a:spcBef>
            </a:pPr>
            <a:r>
              <a:rPr lang="it-IT" altLang="it-IT"/>
              <a:t>	MOVE.B  D0,Z</a:t>
            </a:r>
          </a:p>
          <a:p>
            <a:pPr algn="l">
              <a:spcBef>
                <a:spcPct val="0"/>
              </a:spcBef>
            </a:pPr>
            <a:r>
              <a:rPr lang="it-IT" altLang="it-IT"/>
              <a:t>	</a:t>
            </a:r>
          </a:p>
          <a:p>
            <a:pPr algn="l">
              <a:spcBef>
                <a:spcPct val="0"/>
              </a:spcBef>
            </a:pPr>
            <a:r>
              <a:rPr lang="it-IT" altLang="it-IT"/>
              <a:t>	ORG     $600   	Inizio dell’area dati</a:t>
            </a:r>
          </a:p>
          <a:p>
            <a:pPr algn="l">
              <a:spcBef>
                <a:spcPct val="0"/>
              </a:spcBef>
            </a:pPr>
            <a:r>
              <a:rPr lang="it-IT" altLang="it-IT"/>
              <a:t>Y	DC.B    27       	Memorizza la costante 27 in memoria </a:t>
            </a:r>
          </a:p>
          <a:p>
            <a:pPr algn="l">
              <a:spcBef>
                <a:spcPct val="0"/>
              </a:spcBef>
            </a:pPr>
            <a:r>
              <a:rPr lang="it-IT" altLang="it-IT"/>
              <a:t>Z	DS.B     1         	Riserva un byte per Z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egnaposto numero diapositiva 5">
            <a:extLst>
              <a:ext uri="{FF2B5EF4-FFF2-40B4-BE49-F238E27FC236}">
                <a16:creationId xmlns:a16="http://schemas.microsoft.com/office/drawing/2014/main" id="{75D2ADA9-741A-0050-1F11-4FC30EDBD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0C9FFC0-3C7D-4400-A0EC-867223D27C86}" type="slidenum">
              <a:rPr lang="it-IT" altLang="it-IT" sz="1400">
                <a:latin typeface="Times New Roman" panose="02020603050405020304" pitchFamily="18" charset="0"/>
              </a:rPr>
              <a:pPr/>
              <a:t>35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181E4183-C1F1-92C4-4754-4233A78A41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Il Programma Assemblato</a:t>
            </a:r>
          </a:p>
        </p:txBody>
      </p:sp>
      <p:sp>
        <p:nvSpPr>
          <p:cNvPr id="51204" name="Rectangle 4">
            <a:extLst>
              <a:ext uri="{FF2B5EF4-FFF2-40B4-BE49-F238E27FC236}">
                <a16:creationId xmlns:a16="http://schemas.microsoft.com/office/drawing/2014/main" id="{255395B5-61F4-B555-B6E9-28EE5B82A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852613"/>
            <a:ext cx="9220200" cy="366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</a:pPr>
            <a:r>
              <a:rPr lang="it-IT" altLang="it-IT" sz="2600">
                <a:latin typeface="LetterGothic" charset="0"/>
              </a:rPr>
              <a:t>1 	00000400                    			ORG         $400</a:t>
            </a:r>
          </a:p>
          <a:p>
            <a:pPr algn="l">
              <a:spcBef>
                <a:spcPct val="0"/>
              </a:spcBef>
            </a:pPr>
            <a:r>
              <a:rPr lang="it-IT" altLang="it-IT" sz="2600">
                <a:latin typeface="LetterGothic" charset="0"/>
              </a:rPr>
              <a:t>2 	00000400 103900000600      		MOVE.B   Y,D0</a:t>
            </a:r>
          </a:p>
          <a:p>
            <a:pPr algn="l">
              <a:spcBef>
                <a:spcPct val="0"/>
              </a:spcBef>
            </a:pPr>
            <a:r>
              <a:rPr lang="it-IT" altLang="it-IT" sz="2600">
                <a:latin typeface="LetterGothic" charset="0"/>
              </a:rPr>
              <a:t>3  	00000406 06000018           		ADD.B      #24,D0</a:t>
            </a:r>
          </a:p>
          <a:p>
            <a:pPr algn="l">
              <a:spcBef>
                <a:spcPct val="0"/>
              </a:spcBef>
            </a:pPr>
            <a:r>
              <a:rPr lang="it-IT" altLang="it-IT" sz="2600">
                <a:latin typeface="LetterGothic" charset="0"/>
              </a:rPr>
              <a:t>4 	0000040A 13C000000601       		MOVE.B   D0,Z</a:t>
            </a:r>
          </a:p>
          <a:p>
            <a:pPr algn="l">
              <a:spcBef>
                <a:spcPct val="0"/>
              </a:spcBef>
            </a:pPr>
            <a:r>
              <a:rPr lang="it-IT" altLang="it-IT" sz="2600">
                <a:latin typeface="LetterGothic" charset="0"/>
              </a:rPr>
              <a:t>5  	00000410 4E722700           		STOP        #$2700</a:t>
            </a:r>
          </a:p>
          <a:p>
            <a:pPr algn="l">
              <a:spcBef>
                <a:spcPct val="0"/>
              </a:spcBef>
            </a:pPr>
            <a:r>
              <a:rPr lang="it-IT" altLang="it-IT" sz="2600">
                <a:latin typeface="LetterGothic" charset="0"/>
              </a:rPr>
              <a:t>6                        *</a:t>
            </a:r>
          </a:p>
          <a:p>
            <a:pPr algn="l">
              <a:spcBef>
                <a:spcPct val="0"/>
              </a:spcBef>
            </a:pPr>
            <a:r>
              <a:rPr lang="it-IT" altLang="it-IT" sz="2600">
                <a:latin typeface="LetterGothic" charset="0"/>
              </a:rPr>
              <a:t>7 	00000600                   			ORG      $600</a:t>
            </a:r>
          </a:p>
          <a:p>
            <a:pPr algn="l">
              <a:spcBef>
                <a:spcPct val="0"/>
              </a:spcBef>
            </a:pPr>
            <a:r>
              <a:rPr lang="it-IT" altLang="it-IT" sz="2600">
                <a:latin typeface="LetterGothic" charset="0"/>
              </a:rPr>
              <a:t>8 	00000600 1B           		        Y:    	DC.B     27</a:t>
            </a:r>
          </a:p>
          <a:p>
            <a:pPr algn="l">
              <a:spcBef>
                <a:spcPct val="0"/>
              </a:spcBef>
            </a:pPr>
            <a:r>
              <a:rPr lang="it-IT" altLang="it-IT" sz="2600">
                <a:latin typeface="LetterGothic" charset="0"/>
              </a:rPr>
              <a:t>9  	00000601 00000001   	        Z:   	DS.B     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egnaposto numero diapositiva 5">
            <a:extLst>
              <a:ext uri="{FF2B5EF4-FFF2-40B4-BE49-F238E27FC236}">
                <a16:creationId xmlns:a16="http://schemas.microsoft.com/office/drawing/2014/main" id="{5440A789-F5DE-5B7F-144C-9D601E843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9CFFE57-6C6C-4E59-A226-C555E404621C}" type="slidenum">
              <a:rPr lang="it-IT" altLang="it-IT" sz="1400">
                <a:latin typeface="Times New Roman" panose="02020603050405020304" pitchFamily="18" charset="0"/>
              </a:rPr>
              <a:pPr/>
              <a:t>36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8897E4B0-06B8-795F-78B8-D59CCEA9CE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Mappa della Memoria del programma</a:t>
            </a:r>
          </a:p>
        </p:txBody>
      </p:sp>
      <p:sp>
        <p:nvSpPr>
          <p:cNvPr id="52228" name="Rectangle 4">
            <a:extLst>
              <a:ext uri="{FF2B5EF4-FFF2-40B4-BE49-F238E27FC236}">
                <a16:creationId xmlns:a16="http://schemas.microsoft.com/office/drawing/2014/main" id="{D7258C32-5DBA-0078-8E1D-8E2E627C0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3438" y="2598738"/>
            <a:ext cx="1036637" cy="2286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25603F01-42E3-3D1E-E4BB-AF9E8C03F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1063" y="2941638"/>
            <a:ext cx="519112" cy="2270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2230" name="Rectangle 6">
            <a:extLst>
              <a:ext uri="{FF2B5EF4-FFF2-40B4-BE49-F238E27FC236}">
                <a16:creationId xmlns:a16="http://schemas.microsoft.com/office/drawing/2014/main" id="{38910DFA-C9D6-265C-1299-C856DE015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2825" y="2571750"/>
            <a:ext cx="296863" cy="2286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2231" name="Rectangle 7">
            <a:extLst>
              <a:ext uri="{FF2B5EF4-FFF2-40B4-BE49-F238E27FC236}">
                <a16:creationId xmlns:a16="http://schemas.microsoft.com/office/drawing/2014/main" id="{24698C48-70B5-3C2B-8394-59B4E56EC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2088" y="3282950"/>
            <a:ext cx="296862" cy="2270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2232" name="Rectangle 8">
            <a:extLst>
              <a:ext uri="{FF2B5EF4-FFF2-40B4-BE49-F238E27FC236}">
                <a16:creationId xmlns:a16="http://schemas.microsoft.com/office/drawing/2014/main" id="{D186B58D-1E79-C972-F8FC-61F9DD02B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1850" y="3295650"/>
            <a:ext cx="1050925" cy="2270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2233" name="Rectangle 9">
            <a:extLst>
              <a:ext uri="{FF2B5EF4-FFF2-40B4-BE49-F238E27FC236}">
                <a16:creationId xmlns:a16="http://schemas.microsoft.com/office/drawing/2014/main" id="{58B658EF-C2FF-F23C-2F09-A06B606EF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913" y="2600325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234" name="Rectangle 10">
            <a:extLst>
              <a:ext uri="{FF2B5EF4-FFF2-40B4-BE49-F238E27FC236}">
                <a16:creationId xmlns:a16="http://schemas.microsoft.com/office/drawing/2014/main" id="{CABE4936-C1AF-BE03-4824-D695B7554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75" y="2600325"/>
            <a:ext cx="1127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235" name="Rectangle 11">
            <a:extLst>
              <a:ext uri="{FF2B5EF4-FFF2-40B4-BE49-F238E27FC236}">
                <a16:creationId xmlns:a16="http://schemas.microsoft.com/office/drawing/2014/main" id="{051B43C8-FBF1-1E31-B227-C72F41F8D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438" y="2600325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236" name="Rectangle 12">
            <a:extLst>
              <a:ext uri="{FF2B5EF4-FFF2-40B4-BE49-F238E27FC236}">
                <a16:creationId xmlns:a16="http://schemas.microsoft.com/office/drawing/2014/main" id="{5AE9B5AF-2048-C7FE-938F-9A81E3C79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200" y="2600325"/>
            <a:ext cx="1127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4</a:t>
            </a:r>
            <a:endParaRPr lang="it-IT" altLang="it-IT" sz="2800" b="1"/>
          </a:p>
        </p:txBody>
      </p:sp>
      <p:sp>
        <p:nvSpPr>
          <p:cNvPr id="52237" name="Rectangle 13">
            <a:extLst>
              <a:ext uri="{FF2B5EF4-FFF2-40B4-BE49-F238E27FC236}">
                <a16:creationId xmlns:a16="http://schemas.microsoft.com/office/drawing/2014/main" id="{E5BEF338-0A8F-6716-F928-64E28D5E1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6963" y="2600325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238" name="Rectangle 14">
            <a:extLst>
              <a:ext uri="{FF2B5EF4-FFF2-40B4-BE49-F238E27FC236}">
                <a16:creationId xmlns:a16="http://schemas.microsoft.com/office/drawing/2014/main" id="{98A244A8-60BF-DBA1-3FA3-1D537E317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8725" y="2600325"/>
            <a:ext cx="1127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239" name="Rectangle 15">
            <a:extLst>
              <a:ext uri="{FF2B5EF4-FFF2-40B4-BE49-F238E27FC236}">
                <a16:creationId xmlns:a16="http://schemas.microsoft.com/office/drawing/2014/main" id="{2B86611C-A3E1-3DF8-9500-AE10BC240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00" y="2600325"/>
            <a:ext cx="1127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1</a:t>
            </a:r>
            <a:endParaRPr lang="it-IT" altLang="it-IT" sz="2800" b="1"/>
          </a:p>
        </p:txBody>
      </p:sp>
      <p:sp>
        <p:nvSpPr>
          <p:cNvPr id="52240" name="Rectangle 16">
            <a:extLst>
              <a:ext uri="{FF2B5EF4-FFF2-40B4-BE49-F238E27FC236}">
                <a16:creationId xmlns:a16="http://schemas.microsoft.com/office/drawing/2014/main" id="{513CAC9B-FC32-BF8A-B3F9-57C25BB2D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0850" y="2600325"/>
            <a:ext cx="1127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241" name="Rectangle 17">
            <a:extLst>
              <a:ext uri="{FF2B5EF4-FFF2-40B4-BE49-F238E27FC236}">
                <a16:creationId xmlns:a16="http://schemas.microsoft.com/office/drawing/2014/main" id="{443ADDE2-D79B-27A7-4CE1-5218ECB6E0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2613" y="2600325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3</a:t>
            </a:r>
            <a:endParaRPr lang="it-IT" altLang="it-IT" sz="2800" b="1"/>
          </a:p>
        </p:txBody>
      </p:sp>
      <p:sp>
        <p:nvSpPr>
          <p:cNvPr id="52242" name="Rectangle 18">
            <a:extLst>
              <a:ext uri="{FF2B5EF4-FFF2-40B4-BE49-F238E27FC236}">
                <a16:creationId xmlns:a16="http://schemas.microsoft.com/office/drawing/2014/main" id="{694E99B8-C66E-5069-9B3A-907CCFB18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4375" y="2600325"/>
            <a:ext cx="1127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9</a:t>
            </a:r>
            <a:endParaRPr lang="it-IT" altLang="it-IT" sz="2800" b="1"/>
          </a:p>
        </p:txBody>
      </p:sp>
      <p:sp>
        <p:nvSpPr>
          <p:cNvPr id="52243" name="Rectangle 19">
            <a:extLst>
              <a:ext uri="{FF2B5EF4-FFF2-40B4-BE49-F238E27FC236}">
                <a16:creationId xmlns:a16="http://schemas.microsoft.com/office/drawing/2014/main" id="{B0E5222F-8654-F9CE-0102-0992262E1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9638" y="2600325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244" name="Rectangle 20">
            <a:extLst>
              <a:ext uri="{FF2B5EF4-FFF2-40B4-BE49-F238E27FC236}">
                <a16:creationId xmlns:a16="http://schemas.microsoft.com/office/drawing/2014/main" id="{E37C3D48-DD71-71B1-879F-B21CFEB49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1400" y="2600325"/>
            <a:ext cx="1127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245" name="Rectangle 21">
            <a:extLst>
              <a:ext uri="{FF2B5EF4-FFF2-40B4-BE49-F238E27FC236}">
                <a16:creationId xmlns:a16="http://schemas.microsoft.com/office/drawing/2014/main" id="{B2886AB9-30A2-9B98-0692-54E6E5DC7D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3163" y="2600325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246" name="Rectangle 22">
            <a:extLst>
              <a:ext uri="{FF2B5EF4-FFF2-40B4-BE49-F238E27FC236}">
                <a16:creationId xmlns:a16="http://schemas.microsoft.com/office/drawing/2014/main" id="{D138E29C-1C29-3215-6803-BD420B0D9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4925" y="2600325"/>
            <a:ext cx="1127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247" name="Rectangle 23">
            <a:extLst>
              <a:ext uri="{FF2B5EF4-FFF2-40B4-BE49-F238E27FC236}">
                <a16:creationId xmlns:a16="http://schemas.microsoft.com/office/drawing/2014/main" id="{8E2F80CD-F7EA-10EA-07AE-4BD546A869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6688" y="2600325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248" name="Rectangle 24">
            <a:extLst>
              <a:ext uri="{FF2B5EF4-FFF2-40B4-BE49-F238E27FC236}">
                <a16:creationId xmlns:a16="http://schemas.microsoft.com/office/drawing/2014/main" id="{A0C85FC1-E983-2C77-AB33-51E511B67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8450" y="2600325"/>
            <a:ext cx="1127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6</a:t>
            </a:r>
            <a:endParaRPr lang="it-IT" altLang="it-IT" sz="2800" b="1"/>
          </a:p>
        </p:txBody>
      </p:sp>
      <p:sp>
        <p:nvSpPr>
          <p:cNvPr id="52249" name="Rectangle 25">
            <a:extLst>
              <a:ext uri="{FF2B5EF4-FFF2-40B4-BE49-F238E27FC236}">
                <a16:creationId xmlns:a16="http://schemas.microsoft.com/office/drawing/2014/main" id="{6DCDC0B4-B8F2-3A6B-B2C1-D0B77C601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0213" y="2600325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250" name="Rectangle 26">
            <a:extLst>
              <a:ext uri="{FF2B5EF4-FFF2-40B4-BE49-F238E27FC236}">
                <a16:creationId xmlns:a16="http://schemas.microsoft.com/office/drawing/2014/main" id="{A395180E-7CD6-E2B3-D054-C92324094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1975" y="2600325"/>
            <a:ext cx="1127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251" name="Rectangle 27">
            <a:extLst>
              <a:ext uri="{FF2B5EF4-FFF2-40B4-BE49-F238E27FC236}">
                <a16:creationId xmlns:a16="http://schemas.microsoft.com/office/drawing/2014/main" id="{64CD7984-215C-41CF-5C24-EDF3706794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0675" y="2600325"/>
            <a:ext cx="1698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M</a:t>
            </a:r>
            <a:endParaRPr lang="it-IT" altLang="it-IT" sz="2800" b="1"/>
          </a:p>
        </p:txBody>
      </p:sp>
      <p:sp>
        <p:nvSpPr>
          <p:cNvPr id="52252" name="Rectangle 28">
            <a:extLst>
              <a:ext uri="{FF2B5EF4-FFF2-40B4-BE49-F238E27FC236}">
                <a16:creationId xmlns:a16="http://schemas.microsoft.com/office/drawing/2014/main" id="{4AE417F8-3BBA-3F1B-CCE8-769BFA271F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0213" y="2600325"/>
            <a:ext cx="158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O</a:t>
            </a:r>
            <a:endParaRPr lang="it-IT" altLang="it-IT" sz="2800" b="1"/>
          </a:p>
        </p:txBody>
      </p:sp>
      <p:sp>
        <p:nvSpPr>
          <p:cNvPr id="52253" name="Rectangle 29">
            <a:extLst>
              <a:ext uri="{FF2B5EF4-FFF2-40B4-BE49-F238E27FC236}">
                <a16:creationId xmlns:a16="http://schemas.microsoft.com/office/drawing/2014/main" id="{9C91064F-0F7E-547F-2125-70C3220BBC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4675" y="2600325"/>
            <a:ext cx="1349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V</a:t>
            </a:r>
            <a:endParaRPr lang="it-IT" altLang="it-IT" sz="2800" b="1"/>
          </a:p>
        </p:txBody>
      </p:sp>
      <p:sp>
        <p:nvSpPr>
          <p:cNvPr id="52254" name="Rectangle 30">
            <a:extLst>
              <a:ext uri="{FF2B5EF4-FFF2-40B4-BE49-F238E27FC236}">
                <a16:creationId xmlns:a16="http://schemas.microsoft.com/office/drawing/2014/main" id="{AFDAC81D-76EF-8B37-9DFB-FCF8443F49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7388" y="2600325"/>
            <a:ext cx="13493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E</a:t>
            </a:r>
            <a:endParaRPr lang="it-IT" altLang="it-IT" sz="2800" b="1"/>
          </a:p>
        </p:txBody>
      </p:sp>
      <p:sp>
        <p:nvSpPr>
          <p:cNvPr id="52255" name="Rectangle 31">
            <a:extLst>
              <a:ext uri="{FF2B5EF4-FFF2-40B4-BE49-F238E27FC236}">
                <a16:creationId xmlns:a16="http://schemas.microsoft.com/office/drawing/2014/main" id="{11FAD4F9-6F18-2A7B-0AB9-83E9E92C8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8513" y="2600325"/>
            <a:ext cx="571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.</a:t>
            </a:r>
            <a:endParaRPr lang="it-IT" altLang="it-IT" sz="2800" b="1"/>
          </a:p>
        </p:txBody>
      </p:sp>
      <p:sp>
        <p:nvSpPr>
          <p:cNvPr id="52256" name="Rectangle 32">
            <a:extLst>
              <a:ext uri="{FF2B5EF4-FFF2-40B4-BE49-F238E27FC236}">
                <a16:creationId xmlns:a16="http://schemas.microsoft.com/office/drawing/2014/main" id="{7EBDAEC1-085B-667D-A617-25291D93E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8363" y="2600325"/>
            <a:ext cx="13493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B</a:t>
            </a:r>
            <a:endParaRPr lang="it-IT" altLang="it-IT" sz="2800" b="1"/>
          </a:p>
        </p:txBody>
      </p:sp>
      <p:sp>
        <p:nvSpPr>
          <p:cNvPr id="52257" name="Rectangle 33">
            <a:extLst>
              <a:ext uri="{FF2B5EF4-FFF2-40B4-BE49-F238E27FC236}">
                <a16:creationId xmlns:a16="http://schemas.microsoft.com/office/drawing/2014/main" id="{BEE472B1-5A47-5A4D-6C51-B84FAAF34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313" y="2600325"/>
            <a:ext cx="13493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Y</a:t>
            </a:r>
            <a:endParaRPr lang="it-IT" altLang="it-IT" sz="2800" b="1"/>
          </a:p>
        </p:txBody>
      </p:sp>
      <p:sp>
        <p:nvSpPr>
          <p:cNvPr id="52258" name="Rectangle 34">
            <a:extLst>
              <a:ext uri="{FF2B5EF4-FFF2-40B4-BE49-F238E27FC236}">
                <a16:creationId xmlns:a16="http://schemas.microsoft.com/office/drawing/2014/main" id="{1FE955FC-9415-B4BB-6D3D-0FEF0EDF9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3788" y="2600325"/>
            <a:ext cx="571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,</a:t>
            </a:r>
            <a:endParaRPr lang="it-IT" altLang="it-IT" sz="2800" b="1"/>
          </a:p>
        </p:txBody>
      </p:sp>
      <p:sp>
        <p:nvSpPr>
          <p:cNvPr id="52259" name="Rectangle 35">
            <a:extLst>
              <a:ext uri="{FF2B5EF4-FFF2-40B4-BE49-F238E27FC236}">
                <a16:creationId xmlns:a16="http://schemas.microsoft.com/office/drawing/2014/main" id="{A4413CD0-C0B2-5CC5-549D-EBC020479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2600325"/>
            <a:ext cx="1460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D</a:t>
            </a:r>
            <a:endParaRPr lang="it-IT" altLang="it-IT" sz="2800" b="1"/>
          </a:p>
        </p:txBody>
      </p:sp>
      <p:sp>
        <p:nvSpPr>
          <p:cNvPr id="52260" name="Rectangle 36">
            <a:extLst>
              <a:ext uri="{FF2B5EF4-FFF2-40B4-BE49-F238E27FC236}">
                <a16:creationId xmlns:a16="http://schemas.microsoft.com/office/drawing/2014/main" id="{C96031F1-CB64-E077-9DFC-C2CAEEC88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1788" y="2600325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261" name="Rectangle 37">
            <a:extLst>
              <a:ext uri="{FF2B5EF4-FFF2-40B4-BE49-F238E27FC236}">
                <a16:creationId xmlns:a16="http://schemas.microsoft.com/office/drawing/2014/main" id="{AF19F6DC-981F-7D03-06C0-580DF8217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913" y="2941638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262" name="Rectangle 38">
            <a:extLst>
              <a:ext uri="{FF2B5EF4-FFF2-40B4-BE49-F238E27FC236}">
                <a16:creationId xmlns:a16="http://schemas.microsoft.com/office/drawing/2014/main" id="{66051C56-BD31-B912-9728-4DC0C718C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263" y="2941638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263" name="Rectangle 39">
            <a:extLst>
              <a:ext uri="{FF2B5EF4-FFF2-40B4-BE49-F238E27FC236}">
                <a16:creationId xmlns:a16="http://schemas.microsoft.com/office/drawing/2014/main" id="{2CFAF722-7AF0-B477-94D7-66884ECD6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438" y="2941638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264" name="Rectangle 40">
            <a:extLst>
              <a:ext uri="{FF2B5EF4-FFF2-40B4-BE49-F238E27FC236}">
                <a16:creationId xmlns:a16="http://schemas.microsoft.com/office/drawing/2014/main" id="{99703F98-1475-36D7-5717-92566E083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788" y="2941638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4</a:t>
            </a:r>
            <a:endParaRPr lang="it-IT" altLang="it-IT" sz="2800" b="1"/>
          </a:p>
        </p:txBody>
      </p:sp>
      <p:sp>
        <p:nvSpPr>
          <p:cNvPr id="52265" name="Rectangle 41">
            <a:extLst>
              <a:ext uri="{FF2B5EF4-FFF2-40B4-BE49-F238E27FC236}">
                <a16:creationId xmlns:a16="http://schemas.microsoft.com/office/drawing/2014/main" id="{DE51F360-4FD6-985B-3387-368E7430F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6963" y="2941638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266" name="Rectangle 42">
            <a:extLst>
              <a:ext uri="{FF2B5EF4-FFF2-40B4-BE49-F238E27FC236}">
                <a16:creationId xmlns:a16="http://schemas.microsoft.com/office/drawing/2014/main" id="{1113C263-90AC-A3B2-C555-F07BAF8D6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0313" y="2941638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6</a:t>
            </a:r>
            <a:endParaRPr lang="it-IT" altLang="it-IT" sz="2800" b="1"/>
          </a:p>
        </p:txBody>
      </p:sp>
      <p:sp>
        <p:nvSpPr>
          <p:cNvPr id="52267" name="Rectangle 43">
            <a:extLst>
              <a:ext uri="{FF2B5EF4-FFF2-40B4-BE49-F238E27FC236}">
                <a16:creationId xmlns:a16="http://schemas.microsoft.com/office/drawing/2014/main" id="{36AAB132-0777-B2C3-FFB7-FE9E015FD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3375" y="2941638"/>
            <a:ext cx="1127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268" name="Rectangle 44">
            <a:extLst>
              <a:ext uri="{FF2B5EF4-FFF2-40B4-BE49-F238E27FC236}">
                <a16:creationId xmlns:a16="http://schemas.microsoft.com/office/drawing/2014/main" id="{3D9FE49E-6754-C475-3114-639DC6378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5138" y="2941638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6</a:t>
            </a:r>
            <a:endParaRPr lang="it-IT" altLang="it-IT" sz="2800" b="1"/>
          </a:p>
        </p:txBody>
      </p:sp>
      <p:sp>
        <p:nvSpPr>
          <p:cNvPr id="52269" name="Rectangle 45">
            <a:extLst>
              <a:ext uri="{FF2B5EF4-FFF2-40B4-BE49-F238E27FC236}">
                <a16:creationId xmlns:a16="http://schemas.microsoft.com/office/drawing/2014/main" id="{C4C50156-6480-6BDA-4065-BAA40C88C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900" y="2941638"/>
            <a:ext cx="1127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270" name="Rectangle 46">
            <a:extLst>
              <a:ext uri="{FF2B5EF4-FFF2-40B4-BE49-F238E27FC236}">
                <a16:creationId xmlns:a16="http://schemas.microsoft.com/office/drawing/2014/main" id="{8CC19DC5-14D4-AE30-7A3E-41902DA5B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8663" y="2941638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271" name="Rectangle 48">
            <a:extLst>
              <a:ext uri="{FF2B5EF4-FFF2-40B4-BE49-F238E27FC236}">
                <a16:creationId xmlns:a16="http://schemas.microsoft.com/office/drawing/2014/main" id="{BED4E916-5A63-5ADC-EB44-FEC9832BF0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5688" y="2941638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272" name="Rectangle 49">
            <a:extLst>
              <a:ext uri="{FF2B5EF4-FFF2-40B4-BE49-F238E27FC236}">
                <a16:creationId xmlns:a16="http://schemas.microsoft.com/office/drawing/2014/main" id="{A2BF33DA-1DF0-686C-ADBC-D363A0F640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7450" y="2941638"/>
            <a:ext cx="1127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1</a:t>
            </a:r>
            <a:endParaRPr lang="it-IT" altLang="it-IT" sz="2800" b="1"/>
          </a:p>
        </p:txBody>
      </p:sp>
      <p:sp>
        <p:nvSpPr>
          <p:cNvPr id="52273" name="Rectangle 50">
            <a:extLst>
              <a:ext uri="{FF2B5EF4-FFF2-40B4-BE49-F238E27FC236}">
                <a16:creationId xmlns:a16="http://schemas.microsoft.com/office/drawing/2014/main" id="{449D8481-F077-E602-27F1-98884E43F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2941638"/>
            <a:ext cx="1127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8</a:t>
            </a:r>
            <a:endParaRPr lang="it-IT" altLang="it-IT" sz="2800" b="1"/>
          </a:p>
        </p:txBody>
      </p:sp>
      <p:sp>
        <p:nvSpPr>
          <p:cNvPr id="52274" name="Rectangle 51">
            <a:extLst>
              <a:ext uri="{FF2B5EF4-FFF2-40B4-BE49-F238E27FC236}">
                <a16:creationId xmlns:a16="http://schemas.microsoft.com/office/drawing/2014/main" id="{78FDE260-D6B7-82B6-88F4-ADBC5F30FF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5438" y="2941638"/>
            <a:ext cx="13493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A</a:t>
            </a:r>
            <a:endParaRPr lang="it-IT" altLang="it-IT" sz="2800" b="1"/>
          </a:p>
        </p:txBody>
      </p:sp>
      <p:sp>
        <p:nvSpPr>
          <p:cNvPr id="52275" name="Rectangle 52">
            <a:extLst>
              <a:ext uri="{FF2B5EF4-FFF2-40B4-BE49-F238E27FC236}">
                <a16:creationId xmlns:a16="http://schemas.microsoft.com/office/drawing/2014/main" id="{B6E678B0-5436-48CF-44ED-389FC6394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0850" y="2941638"/>
            <a:ext cx="1460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D</a:t>
            </a:r>
            <a:endParaRPr lang="it-IT" altLang="it-IT" sz="2800" b="1"/>
          </a:p>
        </p:txBody>
      </p:sp>
      <p:sp>
        <p:nvSpPr>
          <p:cNvPr id="52276" name="Rectangle 53">
            <a:extLst>
              <a:ext uri="{FF2B5EF4-FFF2-40B4-BE49-F238E27FC236}">
                <a16:creationId xmlns:a16="http://schemas.microsoft.com/office/drawing/2014/main" id="{63405836-BAC0-2904-7400-D28696786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2613" y="2941638"/>
            <a:ext cx="1460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D</a:t>
            </a:r>
            <a:endParaRPr lang="it-IT" altLang="it-IT" sz="2800" b="1"/>
          </a:p>
        </p:txBody>
      </p:sp>
      <p:sp>
        <p:nvSpPr>
          <p:cNvPr id="52277" name="Rectangle 54">
            <a:extLst>
              <a:ext uri="{FF2B5EF4-FFF2-40B4-BE49-F238E27FC236}">
                <a16:creationId xmlns:a16="http://schemas.microsoft.com/office/drawing/2014/main" id="{8AFDC867-8956-AAD8-315A-E5063F2C96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1038" y="2941638"/>
            <a:ext cx="571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.</a:t>
            </a:r>
            <a:endParaRPr lang="it-IT" altLang="it-IT" sz="2800" b="1"/>
          </a:p>
        </p:txBody>
      </p:sp>
      <p:sp>
        <p:nvSpPr>
          <p:cNvPr id="52278" name="Rectangle 55">
            <a:extLst>
              <a:ext uri="{FF2B5EF4-FFF2-40B4-BE49-F238E27FC236}">
                <a16:creationId xmlns:a16="http://schemas.microsoft.com/office/drawing/2014/main" id="{5DD3EF83-34A8-0475-4D66-36F8B369D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2963" y="2941638"/>
            <a:ext cx="13493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B</a:t>
            </a:r>
            <a:endParaRPr lang="it-IT" altLang="it-IT" sz="2800" b="1"/>
          </a:p>
        </p:txBody>
      </p:sp>
      <p:grpSp>
        <p:nvGrpSpPr>
          <p:cNvPr id="52279" name="Group 56">
            <a:extLst>
              <a:ext uri="{FF2B5EF4-FFF2-40B4-BE49-F238E27FC236}">
                <a16:creationId xmlns:a16="http://schemas.microsoft.com/office/drawing/2014/main" id="{041CF4F3-3794-745B-47A4-683DB3C6E190}"/>
              </a:ext>
            </a:extLst>
          </p:cNvPr>
          <p:cNvGrpSpPr>
            <a:grpSpLocks/>
          </p:cNvGrpSpPr>
          <p:nvPr/>
        </p:nvGrpSpPr>
        <p:grpSpPr bwMode="auto">
          <a:xfrm>
            <a:off x="4826000" y="2941638"/>
            <a:ext cx="771525" cy="244475"/>
            <a:chOff x="3165" y="1949"/>
            <a:chExt cx="486" cy="154"/>
          </a:xfrm>
        </p:grpSpPr>
        <p:sp>
          <p:nvSpPr>
            <p:cNvPr id="52387" name="Rectangle 57">
              <a:extLst>
                <a:ext uri="{FF2B5EF4-FFF2-40B4-BE49-F238E27FC236}">
                  <a16:creationId xmlns:a16="http://schemas.microsoft.com/office/drawing/2014/main" id="{A97BD0C1-5896-AD16-8BDE-5E1A42D43C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2" y="1949"/>
              <a:ext cx="186" cy="14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52388" name="Rectangle 58">
              <a:extLst>
                <a:ext uri="{FF2B5EF4-FFF2-40B4-BE49-F238E27FC236}">
                  <a16:creationId xmlns:a16="http://schemas.microsoft.com/office/drawing/2014/main" id="{E8E3CCF0-1373-E1BB-A60A-5FBB905F7E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5" y="1949"/>
              <a:ext cx="7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it-IT" altLang="it-IT" sz="1600">
                  <a:solidFill>
                    <a:srgbClr val="000000"/>
                  </a:solidFill>
                </a:rPr>
                <a:t>#</a:t>
              </a:r>
              <a:endParaRPr lang="it-IT" altLang="it-IT" sz="2800" b="1"/>
            </a:p>
          </p:txBody>
        </p:sp>
        <p:sp>
          <p:nvSpPr>
            <p:cNvPr id="52389" name="Rectangle 59">
              <a:extLst>
                <a:ext uri="{FF2B5EF4-FFF2-40B4-BE49-F238E27FC236}">
                  <a16:creationId xmlns:a16="http://schemas.microsoft.com/office/drawing/2014/main" id="{50E0C134-8DDC-35D1-160E-5EF09D23B4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8" y="1949"/>
              <a:ext cx="7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it-IT" altLang="it-IT" sz="1600">
                  <a:solidFill>
                    <a:srgbClr val="000000"/>
                  </a:solidFill>
                </a:rPr>
                <a:t>2</a:t>
              </a:r>
              <a:endParaRPr lang="it-IT" altLang="it-IT" sz="2800" b="1"/>
            </a:p>
          </p:txBody>
        </p:sp>
        <p:sp>
          <p:nvSpPr>
            <p:cNvPr id="52390" name="Rectangle 60">
              <a:extLst>
                <a:ext uri="{FF2B5EF4-FFF2-40B4-BE49-F238E27FC236}">
                  <a16:creationId xmlns:a16="http://schemas.microsoft.com/office/drawing/2014/main" id="{D9C7955D-0BAC-AD1E-1D3E-C9F98A12D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0" y="1949"/>
              <a:ext cx="7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it-IT" altLang="it-IT" sz="1600">
                  <a:solidFill>
                    <a:srgbClr val="000000"/>
                  </a:solidFill>
                </a:rPr>
                <a:t>4</a:t>
              </a:r>
              <a:endParaRPr lang="it-IT" altLang="it-IT" sz="2800" b="1"/>
            </a:p>
          </p:txBody>
        </p:sp>
        <p:sp>
          <p:nvSpPr>
            <p:cNvPr id="52391" name="Rectangle 61">
              <a:extLst>
                <a:ext uri="{FF2B5EF4-FFF2-40B4-BE49-F238E27FC236}">
                  <a16:creationId xmlns:a16="http://schemas.microsoft.com/office/drawing/2014/main" id="{6AF2D836-2793-A917-2CE2-1EADFD74E7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6" y="1949"/>
              <a:ext cx="3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it-IT" altLang="it-IT" sz="1600">
                  <a:solidFill>
                    <a:srgbClr val="000000"/>
                  </a:solidFill>
                </a:rPr>
                <a:t>,</a:t>
              </a:r>
              <a:endParaRPr lang="it-IT" altLang="it-IT" sz="2800" b="1"/>
            </a:p>
          </p:txBody>
        </p:sp>
        <p:sp>
          <p:nvSpPr>
            <p:cNvPr id="52392" name="Rectangle 62">
              <a:extLst>
                <a:ext uri="{FF2B5EF4-FFF2-40B4-BE49-F238E27FC236}">
                  <a16:creationId xmlns:a16="http://schemas.microsoft.com/office/drawing/2014/main" id="{152385C7-8D03-F1C7-530D-43BDF88E84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1949"/>
              <a:ext cx="92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it-IT" altLang="it-IT" sz="1600">
                  <a:solidFill>
                    <a:srgbClr val="000000"/>
                  </a:solidFill>
                </a:rPr>
                <a:t>D</a:t>
              </a:r>
              <a:endParaRPr lang="it-IT" altLang="it-IT" sz="2800" b="1"/>
            </a:p>
          </p:txBody>
        </p:sp>
        <p:sp>
          <p:nvSpPr>
            <p:cNvPr id="52393" name="Rectangle 63">
              <a:extLst>
                <a:ext uri="{FF2B5EF4-FFF2-40B4-BE49-F238E27FC236}">
                  <a16:creationId xmlns:a16="http://schemas.microsoft.com/office/drawing/2014/main" id="{9589B24D-51B3-F66E-3815-C8B04DE15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0" y="1949"/>
              <a:ext cx="7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it-IT" altLang="it-IT" sz="1600">
                  <a:solidFill>
                    <a:srgbClr val="000000"/>
                  </a:solidFill>
                </a:rPr>
                <a:t>0</a:t>
              </a:r>
              <a:endParaRPr lang="it-IT" altLang="it-IT" sz="2800" b="1"/>
            </a:p>
          </p:txBody>
        </p:sp>
      </p:grpSp>
      <p:sp>
        <p:nvSpPr>
          <p:cNvPr id="52280" name="Rectangle 64">
            <a:extLst>
              <a:ext uri="{FF2B5EF4-FFF2-40B4-BE49-F238E27FC236}">
                <a16:creationId xmlns:a16="http://schemas.microsoft.com/office/drawing/2014/main" id="{1243E35C-47BB-5E45-E77D-98A00AE5E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913" y="3292475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281" name="Rectangle 65">
            <a:extLst>
              <a:ext uri="{FF2B5EF4-FFF2-40B4-BE49-F238E27FC236}">
                <a16:creationId xmlns:a16="http://schemas.microsoft.com/office/drawing/2014/main" id="{534D4089-6526-4DCF-1590-303769CD5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263" y="3292475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282" name="Rectangle 66">
            <a:extLst>
              <a:ext uri="{FF2B5EF4-FFF2-40B4-BE49-F238E27FC236}">
                <a16:creationId xmlns:a16="http://schemas.microsoft.com/office/drawing/2014/main" id="{3F06BE50-B53A-3C2C-DBAB-75C547288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438" y="3292475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283" name="Rectangle 67">
            <a:extLst>
              <a:ext uri="{FF2B5EF4-FFF2-40B4-BE49-F238E27FC236}">
                <a16:creationId xmlns:a16="http://schemas.microsoft.com/office/drawing/2014/main" id="{30C30E85-2538-D270-6285-21542220B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788" y="3292475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4</a:t>
            </a:r>
            <a:endParaRPr lang="it-IT" altLang="it-IT" sz="2800" b="1"/>
          </a:p>
        </p:txBody>
      </p:sp>
      <p:sp>
        <p:nvSpPr>
          <p:cNvPr id="52284" name="Rectangle 68">
            <a:extLst>
              <a:ext uri="{FF2B5EF4-FFF2-40B4-BE49-F238E27FC236}">
                <a16:creationId xmlns:a16="http://schemas.microsoft.com/office/drawing/2014/main" id="{DF0599E4-E49B-1BB5-C0E6-FD2DE31A6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6963" y="3292475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285" name="Rectangle 69">
            <a:extLst>
              <a:ext uri="{FF2B5EF4-FFF2-40B4-BE49-F238E27FC236}">
                <a16:creationId xmlns:a16="http://schemas.microsoft.com/office/drawing/2014/main" id="{B536ADFB-BF15-F487-32D2-DFB45E8C8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5388" y="3292475"/>
            <a:ext cx="13493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A</a:t>
            </a:r>
            <a:endParaRPr lang="it-IT" altLang="it-IT" sz="2800" b="1"/>
          </a:p>
        </p:txBody>
      </p:sp>
      <p:sp>
        <p:nvSpPr>
          <p:cNvPr id="52286" name="Rectangle 70">
            <a:extLst>
              <a:ext uri="{FF2B5EF4-FFF2-40B4-BE49-F238E27FC236}">
                <a16:creationId xmlns:a16="http://schemas.microsoft.com/office/drawing/2014/main" id="{0BFEBE3D-1C51-5890-2ECE-ABFB2ACCA3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8613" y="3292475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1</a:t>
            </a:r>
            <a:endParaRPr lang="it-IT" altLang="it-IT" sz="2800" b="1"/>
          </a:p>
        </p:txBody>
      </p:sp>
      <p:sp>
        <p:nvSpPr>
          <p:cNvPr id="52287" name="Rectangle 71">
            <a:extLst>
              <a:ext uri="{FF2B5EF4-FFF2-40B4-BE49-F238E27FC236}">
                <a16:creationId xmlns:a16="http://schemas.microsoft.com/office/drawing/2014/main" id="{5C89B25F-A421-18A9-7E9E-ABCE1112B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0375" y="3292475"/>
            <a:ext cx="1127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3</a:t>
            </a:r>
            <a:endParaRPr lang="it-IT" altLang="it-IT" sz="2800" b="1"/>
          </a:p>
        </p:txBody>
      </p:sp>
      <p:sp>
        <p:nvSpPr>
          <p:cNvPr id="52288" name="Rectangle 72">
            <a:extLst>
              <a:ext uri="{FF2B5EF4-FFF2-40B4-BE49-F238E27FC236}">
                <a16:creationId xmlns:a16="http://schemas.microsoft.com/office/drawing/2014/main" id="{740FE76A-0900-C82E-D463-55FF1378D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4838" y="3292475"/>
            <a:ext cx="1460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C</a:t>
            </a:r>
            <a:endParaRPr lang="it-IT" altLang="it-IT" sz="2800" b="1"/>
          </a:p>
        </p:txBody>
      </p:sp>
      <p:sp>
        <p:nvSpPr>
          <p:cNvPr id="52289" name="Rectangle 73">
            <a:extLst>
              <a:ext uri="{FF2B5EF4-FFF2-40B4-BE49-F238E27FC236}">
                <a16:creationId xmlns:a16="http://schemas.microsoft.com/office/drawing/2014/main" id="{482DE123-35C7-D4EE-8B3C-A665CC899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3900" y="3292475"/>
            <a:ext cx="1127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290" name="Rectangle 75">
            <a:extLst>
              <a:ext uri="{FF2B5EF4-FFF2-40B4-BE49-F238E27FC236}">
                <a16:creationId xmlns:a16="http://schemas.microsoft.com/office/drawing/2014/main" id="{C21C1020-84C2-85FB-88E0-158A4523E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0925" y="3292475"/>
            <a:ext cx="1127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291" name="Rectangle 76">
            <a:extLst>
              <a:ext uri="{FF2B5EF4-FFF2-40B4-BE49-F238E27FC236}">
                <a16:creationId xmlns:a16="http://schemas.microsoft.com/office/drawing/2014/main" id="{A5BC0CC2-87CA-40F3-E057-685D946FB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2688" y="3292475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292" name="Rectangle 77">
            <a:extLst>
              <a:ext uri="{FF2B5EF4-FFF2-40B4-BE49-F238E27FC236}">
                <a16:creationId xmlns:a16="http://schemas.microsoft.com/office/drawing/2014/main" id="{642FBD05-24ED-12AE-5CA3-D7C816196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4450" y="3292475"/>
            <a:ext cx="1127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293" name="Rectangle 78">
            <a:extLst>
              <a:ext uri="{FF2B5EF4-FFF2-40B4-BE49-F238E27FC236}">
                <a16:creationId xmlns:a16="http://schemas.microsoft.com/office/drawing/2014/main" id="{85CEB8B6-76D2-7251-7A84-0BF530D7D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6213" y="3292475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294" name="Rectangle 79">
            <a:extLst>
              <a:ext uri="{FF2B5EF4-FFF2-40B4-BE49-F238E27FC236}">
                <a16:creationId xmlns:a16="http://schemas.microsoft.com/office/drawing/2014/main" id="{1564A563-F7F3-F865-6D50-C5A05982C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7975" y="3292475"/>
            <a:ext cx="1127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6</a:t>
            </a:r>
            <a:endParaRPr lang="it-IT" altLang="it-IT" sz="2800" b="1"/>
          </a:p>
        </p:txBody>
      </p:sp>
      <p:sp>
        <p:nvSpPr>
          <p:cNvPr id="52295" name="Rectangle 80">
            <a:extLst>
              <a:ext uri="{FF2B5EF4-FFF2-40B4-BE49-F238E27FC236}">
                <a16:creationId xmlns:a16="http://schemas.microsoft.com/office/drawing/2014/main" id="{CEF57CA1-7244-B59E-0B3E-BF4701F3A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3292475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296" name="Rectangle 81">
            <a:extLst>
              <a:ext uri="{FF2B5EF4-FFF2-40B4-BE49-F238E27FC236}">
                <a16:creationId xmlns:a16="http://schemas.microsoft.com/office/drawing/2014/main" id="{239BB8D2-1044-6DA8-D027-7871167FE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1500" y="3292475"/>
            <a:ext cx="1127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1</a:t>
            </a:r>
            <a:endParaRPr lang="it-IT" altLang="it-IT" sz="2800" b="1"/>
          </a:p>
        </p:txBody>
      </p:sp>
      <p:sp>
        <p:nvSpPr>
          <p:cNvPr id="52297" name="Rectangle 82">
            <a:extLst>
              <a:ext uri="{FF2B5EF4-FFF2-40B4-BE49-F238E27FC236}">
                <a16:creationId xmlns:a16="http://schemas.microsoft.com/office/drawing/2014/main" id="{77B7A557-3118-609C-4AFD-85D9F24467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3292475"/>
            <a:ext cx="1698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M</a:t>
            </a:r>
            <a:endParaRPr lang="it-IT" altLang="it-IT" sz="2800" b="1"/>
          </a:p>
        </p:txBody>
      </p:sp>
      <p:sp>
        <p:nvSpPr>
          <p:cNvPr id="52298" name="Rectangle 83">
            <a:extLst>
              <a:ext uri="{FF2B5EF4-FFF2-40B4-BE49-F238E27FC236}">
                <a16:creationId xmlns:a16="http://schemas.microsoft.com/office/drawing/2014/main" id="{6A9E3905-A341-1BBE-F12E-AF14E686F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9738" y="3292475"/>
            <a:ext cx="158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O</a:t>
            </a:r>
            <a:endParaRPr lang="it-IT" altLang="it-IT" sz="2800" b="1"/>
          </a:p>
        </p:txBody>
      </p:sp>
      <p:sp>
        <p:nvSpPr>
          <p:cNvPr id="52299" name="Rectangle 84">
            <a:extLst>
              <a:ext uri="{FF2B5EF4-FFF2-40B4-BE49-F238E27FC236}">
                <a16:creationId xmlns:a16="http://schemas.microsoft.com/office/drawing/2014/main" id="{AEA6FE38-FEBB-19F2-0F88-EE35FA94A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4200" y="3292475"/>
            <a:ext cx="1349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V</a:t>
            </a:r>
            <a:endParaRPr lang="it-IT" altLang="it-IT" sz="2800" b="1"/>
          </a:p>
        </p:txBody>
      </p:sp>
      <p:sp>
        <p:nvSpPr>
          <p:cNvPr id="52300" name="Rectangle 85">
            <a:extLst>
              <a:ext uri="{FF2B5EF4-FFF2-40B4-BE49-F238E27FC236}">
                <a16:creationId xmlns:a16="http://schemas.microsoft.com/office/drawing/2014/main" id="{F1FC8A15-DD70-781B-7608-7DE2499E9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6913" y="3292475"/>
            <a:ext cx="13493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E</a:t>
            </a:r>
            <a:endParaRPr lang="it-IT" altLang="it-IT" sz="2800" b="1"/>
          </a:p>
        </p:txBody>
      </p:sp>
      <p:sp>
        <p:nvSpPr>
          <p:cNvPr id="52301" name="Rectangle 86">
            <a:extLst>
              <a:ext uri="{FF2B5EF4-FFF2-40B4-BE49-F238E27FC236}">
                <a16:creationId xmlns:a16="http://schemas.microsoft.com/office/drawing/2014/main" id="{8A2911DB-D993-636E-BFA6-1DF9DCDAE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8038" y="3292475"/>
            <a:ext cx="571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.</a:t>
            </a:r>
            <a:endParaRPr lang="it-IT" altLang="it-IT" sz="2800" b="1"/>
          </a:p>
        </p:txBody>
      </p:sp>
      <p:sp>
        <p:nvSpPr>
          <p:cNvPr id="52302" name="Rectangle 87">
            <a:extLst>
              <a:ext uri="{FF2B5EF4-FFF2-40B4-BE49-F238E27FC236}">
                <a16:creationId xmlns:a16="http://schemas.microsoft.com/office/drawing/2014/main" id="{865D2E4D-567E-E1F8-247A-1B33DF263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9963" y="3292475"/>
            <a:ext cx="13493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B</a:t>
            </a:r>
            <a:endParaRPr lang="it-IT" altLang="it-IT" sz="2800" b="1"/>
          </a:p>
        </p:txBody>
      </p:sp>
      <p:sp>
        <p:nvSpPr>
          <p:cNvPr id="52303" name="Rectangle 88">
            <a:extLst>
              <a:ext uri="{FF2B5EF4-FFF2-40B4-BE49-F238E27FC236}">
                <a16:creationId xmlns:a16="http://schemas.microsoft.com/office/drawing/2014/main" id="{66C39137-4AC4-BC64-0CD5-847BB685F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6663" y="3292475"/>
            <a:ext cx="1460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D</a:t>
            </a:r>
            <a:endParaRPr lang="it-IT" altLang="it-IT" sz="2800" b="1"/>
          </a:p>
        </p:txBody>
      </p:sp>
      <p:sp>
        <p:nvSpPr>
          <p:cNvPr id="52304" name="Rectangle 89">
            <a:extLst>
              <a:ext uri="{FF2B5EF4-FFF2-40B4-BE49-F238E27FC236}">
                <a16:creationId xmlns:a16="http://schemas.microsoft.com/office/drawing/2014/main" id="{009A1386-67B6-FF29-AA7D-40B3F51895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9375" y="3292475"/>
            <a:ext cx="1127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305" name="Rectangle 90">
            <a:extLst>
              <a:ext uri="{FF2B5EF4-FFF2-40B4-BE49-F238E27FC236}">
                <a16:creationId xmlns:a16="http://schemas.microsoft.com/office/drawing/2014/main" id="{F2FA36DE-323B-2C34-16EF-44930EA92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6850" y="3292475"/>
            <a:ext cx="571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,</a:t>
            </a:r>
            <a:endParaRPr lang="it-IT" altLang="it-IT" sz="2800" b="1"/>
          </a:p>
        </p:txBody>
      </p:sp>
      <p:sp>
        <p:nvSpPr>
          <p:cNvPr id="52306" name="Rectangle 91">
            <a:extLst>
              <a:ext uri="{FF2B5EF4-FFF2-40B4-BE49-F238E27FC236}">
                <a16:creationId xmlns:a16="http://schemas.microsoft.com/office/drawing/2014/main" id="{3185DF49-C420-27E2-8250-9C7533D3A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3292475"/>
            <a:ext cx="1238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Z</a:t>
            </a:r>
            <a:endParaRPr lang="it-IT" altLang="it-IT" sz="2800" b="1"/>
          </a:p>
        </p:txBody>
      </p:sp>
      <p:sp>
        <p:nvSpPr>
          <p:cNvPr id="52307" name="Rectangle 92">
            <a:extLst>
              <a:ext uri="{FF2B5EF4-FFF2-40B4-BE49-F238E27FC236}">
                <a16:creationId xmlns:a16="http://schemas.microsoft.com/office/drawing/2014/main" id="{35197E8A-59D3-B91E-30B3-ACBAF50B0B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913" y="3670300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308" name="Rectangle 93">
            <a:extLst>
              <a:ext uri="{FF2B5EF4-FFF2-40B4-BE49-F238E27FC236}">
                <a16:creationId xmlns:a16="http://schemas.microsoft.com/office/drawing/2014/main" id="{88AABAF6-7B9F-5DC8-600B-7CF7A8436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263" y="3670300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309" name="Rectangle 94">
            <a:extLst>
              <a:ext uri="{FF2B5EF4-FFF2-40B4-BE49-F238E27FC236}">
                <a16:creationId xmlns:a16="http://schemas.microsoft.com/office/drawing/2014/main" id="{2B3D5898-7CDC-5A2E-C911-745A4DC28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438" y="3670300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310" name="Rectangle 95">
            <a:extLst>
              <a:ext uri="{FF2B5EF4-FFF2-40B4-BE49-F238E27FC236}">
                <a16:creationId xmlns:a16="http://schemas.microsoft.com/office/drawing/2014/main" id="{8DD0DF8D-CC33-6ACD-5C00-2887123DF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788" y="3670300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4</a:t>
            </a:r>
            <a:endParaRPr lang="it-IT" altLang="it-IT" sz="2800" b="1"/>
          </a:p>
        </p:txBody>
      </p:sp>
      <p:sp>
        <p:nvSpPr>
          <p:cNvPr id="52311" name="Rectangle 96">
            <a:extLst>
              <a:ext uri="{FF2B5EF4-FFF2-40B4-BE49-F238E27FC236}">
                <a16:creationId xmlns:a16="http://schemas.microsoft.com/office/drawing/2014/main" id="{DD746C8D-2E38-5468-8FAC-725B7F0586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6963" y="3670300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1</a:t>
            </a:r>
            <a:endParaRPr lang="it-IT" altLang="it-IT" sz="2800" b="1"/>
          </a:p>
        </p:txBody>
      </p:sp>
      <p:sp>
        <p:nvSpPr>
          <p:cNvPr id="52312" name="Rectangle 97">
            <a:extLst>
              <a:ext uri="{FF2B5EF4-FFF2-40B4-BE49-F238E27FC236}">
                <a16:creationId xmlns:a16="http://schemas.microsoft.com/office/drawing/2014/main" id="{D8EFAE45-165C-F11A-1266-9E298DF99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0313" y="3670300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313" name="Rectangle 98">
            <a:extLst>
              <a:ext uri="{FF2B5EF4-FFF2-40B4-BE49-F238E27FC236}">
                <a16:creationId xmlns:a16="http://schemas.microsoft.com/office/drawing/2014/main" id="{CBDF9EEF-4298-2809-064E-DD9CD593D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8613" y="3670300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4</a:t>
            </a:r>
            <a:endParaRPr lang="it-IT" altLang="it-IT" sz="2800" b="1"/>
          </a:p>
        </p:txBody>
      </p:sp>
      <p:sp>
        <p:nvSpPr>
          <p:cNvPr id="52314" name="Rectangle 99">
            <a:extLst>
              <a:ext uri="{FF2B5EF4-FFF2-40B4-BE49-F238E27FC236}">
                <a16:creationId xmlns:a16="http://schemas.microsoft.com/office/drawing/2014/main" id="{DA184AB4-410C-DD36-510B-BEBED4510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3670300"/>
            <a:ext cx="13493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E</a:t>
            </a:r>
            <a:endParaRPr lang="it-IT" altLang="it-IT" sz="2800" b="1"/>
          </a:p>
        </p:txBody>
      </p:sp>
      <p:sp>
        <p:nvSpPr>
          <p:cNvPr id="52315" name="Rectangle 100">
            <a:extLst>
              <a:ext uri="{FF2B5EF4-FFF2-40B4-BE49-F238E27FC236}">
                <a16:creationId xmlns:a16="http://schemas.microsoft.com/office/drawing/2014/main" id="{D9BAA6DC-5CCA-5D22-74F6-6951824C2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2138" y="3670300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7</a:t>
            </a:r>
            <a:endParaRPr lang="it-IT" altLang="it-IT" sz="2800" b="1"/>
          </a:p>
        </p:txBody>
      </p:sp>
      <p:sp>
        <p:nvSpPr>
          <p:cNvPr id="52316" name="Rectangle 101">
            <a:extLst>
              <a:ext uri="{FF2B5EF4-FFF2-40B4-BE49-F238E27FC236}">
                <a16:creationId xmlns:a16="http://schemas.microsoft.com/office/drawing/2014/main" id="{4F8CE9E0-47BF-BB7A-965E-62A3C85DFC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3900" y="3670300"/>
            <a:ext cx="1127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2</a:t>
            </a:r>
            <a:endParaRPr lang="it-IT" altLang="it-IT" sz="2800" b="1"/>
          </a:p>
        </p:txBody>
      </p:sp>
      <p:sp>
        <p:nvSpPr>
          <p:cNvPr id="52317" name="Rectangle 102">
            <a:extLst>
              <a:ext uri="{FF2B5EF4-FFF2-40B4-BE49-F238E27FC236}">
                <a16:creationId xmlns:a16="http://schemas.microsoft.com/office/drawing/2014/main" id="{7816D06C-05F7-AB82-DB1F-CF34CC0F5C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5663" y="3670300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2</a:t>
            </a:r>
            <a:endParaRPr lang="it-IT" altLang="it-IT" sz="2800" b="1"/>
          </a:p>
        </p:txBody>
      </p:sp>
      <p:sp>
        <p:nvSpPr>
          <p:cNvPr id="52318" name="Rectangle 103">
            <a:extLst>
              <a:ext uri="{FF2B5EF4-FFF2-40B4-BE49-F238E27FC236}">
                <a16:creationId xmlns:a16="http://schemas.microsoft.com/office/drawing/2014/main" id="{81568575-9693-2B5C-F590-A6C26E265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7425" y="3670300"/>
            <a:ext cx="1127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7</a:t>
            </a:r>
            <a:endParaRPr lang="it-IT" altLang="it-IT" sz="2800" b="1"/>
          </a:p>
        </p:txBody>
      </p:sp>
      <p:sp>
        <p:nvSpPr>
          <p:cNvPr id="52319" name="Rectangle 104">
            <a:extLst>
              <a:ext uri="{FF2B5EF4-FFF2-40B4-BE49-F238E27FC236}">
                <a16:creationId xmlns:a16="http://schemas.microsoft.com/office/drawing/2014/main" id="{03D8C43D-B6FC-A5B0-0D1F-2A7956C1D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9188" y="3670300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320" name="Rectangle 105">
            <a:extLst>
              <a:ext uri="{FF2B5EF4-FFF2-40B4-BE49-F238E27FC236}">
                <a16:creationId xmlns:a16="http://schemas.microsoft.com/office/drawing/2014/main" id="{36292AC1-1E28-23FF-32A0-3034FF057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0950" y="3670300"/>
            <a:ext cx="1127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321" name="Rectangle 106">
            <a:extLst>
              <a:ext uri="{FF2B5EF4-FFF2-40B4-BE49-F238E27FC236}">
                <a16:creationId xmlns:a16="http://schemas.microsoft.com/office/drawing/2014/main" id="{315FDCC9-BEC0-DABE-4AB8-5B7AE0E5F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3688" y="3670300"/>
            <a:ext cx="13176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S</a:t>
            </a:r>
            <a:endParaRPr lang="it-IT" altLang="it-IT" sz="2800" b="1"/>
          </a:p>
        </p:txBody>
      </p:sp>
      <p:sp>
        <p:nvSpPr>
          <p:cNvPr id="52322" name="Rectangle 107">
            <a:extLst>
              <a:ext uri="{FF2B5EF4-FFF2-40B4-BE49-F238E27FC236}">
                <a16:creationId xmlns:a16="http://schemas.microsoft.com/office/drawing/2014/main" id="{940490BD-3F91-9133-8FA4-43307403A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8150" y="3670300"/>
            <a:ext cx="1254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T</a:t>
            </a:r>
            <a:endParaRPr lang="it-IT" altLang="it-IT" sz="2800" b="1"/>
          </a:p>
        </p:txBody>
      </p:sp>
      <p:sp>
        <p:nvSpPr>
          <p:cNvPr id="52323" name="Rectangle 108">
            <a:extLst>
              <a:ext uri="{FF2B5EF4-FFF2-40B4-BE49-F238E27FC236}">
                <a16:creationId xmlns:a16="http://schemas.microsoft.com/office/drawing/2014/main" id="{5FE73E57-5E9E-06C0-7DC9-52EC3E5A61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1500" y="3670300"/>
            <a:ext cx="158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O</a:t>
            </a:r>
            <a:endParaRPr lang="it-IT" altLang="it-IT" sz="2800" b="1"/>
          </a:p>
        </p:txBody>
      </p:sp>
      <p:sp>
        <p:nvSpPr>
          <p:cNvPr id="52324" name="Rectangle 109">
            <a:extLst>
              <a:ext uri="{FF2B5EF4-FFF2-40B4-BE49-F238E27FC236}">
                <a16:creationId xmlns:a16="http://schemas.microsoft.com/office/drawing/2014/main" id="{A8158EDD-A03F-38EF-C7F9-EEBBF3243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7388" y="3670300"/>
            <a:ext cx="1365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P</a:t>
            </a:r>
            <a:endParaRPr lang="it-IT" altLang="it-IT" sz="2800" b="1"/>
          </a:p>
        </p:txBody>
      </p:sp>
      <p:sp>
        <p:nvSpPr>
          <p:cNvPr id="52325" name="Rectangle 110">
            <a:extLst>
              <a:ext uri="{FF2B5EF4-FFF2-40B4-BE49-F238E27FC236}">
                <a16:creationId xmlns:a16="http://schemas.microsoft.com/office/drawing/2014/main" id="{EAE0F427-C53C-408F-E9AD-12B5B44E18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7613" y="3670300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#</a:t>
            </a:r>
            <a:endParaRPr lang="it-IT" altLang="it-IT" sz="2800" b="1"/>
          </a:p>
        </p:txBody>
      </p:sp>
      <p:sp>
        <p:nvSpPr>
          <p:cNvPr id="52326" name="Rectangle 111">
            <a:extLst>
              <a:ext uri="{FF2B5EF4-FFF2-40B4-BE49-F238E27FC236}">
                <a16:creationId xmlns:a16="http://schemas.microsoft.com/office/drawing/2014/main" id="{6EC15CE3-15A8-F99A-A472-FD2842465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9375" y="3670300"/>
            <a:ext cx="1127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$</a:t>
            </a:r>
            <a:endParaRPr lang="it-IT" altLang="it-IT" sz="2800" b="1"/>
          </a:p>
        </p:txBody>
      </p:sp>
      <p:sp>
        <p:nvSpPr>
          <p:cNvPr id="52327" name="Rectangle 112">
            <a:extLst>
              <a:ext uri="{FF2B5EF4-FFF2-40B4-BE49-F238E27FC236}">
                <a16:creationId xmlns:a16="http://schemas.microsoft.com/office/drawing/2014/main" id="{AA0B086E-FE46-57FD-2348-B9E462F94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9550" y="3670300"/>
            <a:ext cx="1127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2</a:t>
            </a:r>
            <a:endParaRPr lang="it-IT" altLang="it-IT" sz="2800" b="1"/>
          </a:p>
        </p:txBody>
      </p:sp>
      <p:sp>
        <p:nvSpPr>
          <p:cNvPr id="52328" name="Rectangle 113">
            <a:extLst>
              <a:ext uri="{FF2B5EF4-FFF2-40B4-BE49-F238E27FC236}">
                <a16:creationId xmlns:a16="http://schemas.microsoft.com/office/drawing/2014/main" id="{E094057F-39DA-9C09-F92F-00956083B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2900" y="3670300"/>
            <a:ext cx="1127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7</a:t>
            </a:r>
            <a:endParaRPr lang="it-IT" altLang="it-IT" sz="2800" b="1"/>
          </a:p>
        </p:txBody>
      </p:sp>
      <p:sp>
        <p:nvSpPr>
          <p:cNvPr id="52329" name="Rectangle 114">
            <a:extLst>
              <a:ext uri="{FF2B5EF4-FFF2-40B4-BE49-F238E27FC236}">
                <a16:creationId xmlns:a16="http://schemas.microsoft.com/office/drawing/2014/main" id="{98DD834A-B7CD-F649-85E0-25DAA049C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4663" y="3670300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330" name="Rectangle 115">
            <a:extLst>
              <a:ext uri="{FF2B5EF4-FFF2-40B4-BE49-F238E27FC236}">
                <a16:creationId xmlns:a16="http://schemas.microsoft.com/office/drawing/2014/main" id="{95089521-4E4A-15AA-E782-31B72598A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6425" y="3670300"/>
            <a:ext cx="1127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331" name="Rectangle 116">
            <a:extLst>
              <a:ext uri="{FF2B5EF4-FFF2-40B4-BE49-F238E27FC236}">
                <a16:creationId xmlns:a16="http://schemas.microsoft.com/office/drawing/2014/main" id="{E077E11C-1FCA-5D89-E474-EAFAC5DE6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672013"/>
            <a:ext cx="1127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332" name="Rectangle 117">
            <a:extLst>
              <a:ext uri="{FF2B5EF4-FFF2-40B4-BE49-F238E27FC236}">
                <a16:creationId xmlns:a16="http://schemas.microsoft.com/office/drawing/2014/main" id="{F3A48E44-8D05-90CA-E2F0-715AF08A6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513" y="4672013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333" name="Rectangle 118">
            <a:extLst>
              <a:ext uri="{FF2B5EF4-FFF2-40B4-BE49-F238E27FC236}">
                <a16:creationId xmlns:a16="http://schemas.microsoft.com/office/drawing/2014/main" id="{D74C4AE9-304B-BB9E-A898-2911C332D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275" y="4672013"/>
            <a:ext cx="1127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334" name="Rectangle 119">
            <a:extLst>
              <a:ext uri="{FF2B5EF4-FFF2-40B4-BE49-F238E27FC236}">
                <a16:creationId xmlns:a16="http://schemas.microsoft.com/office/drawing/2014/main" id="{070AE3F6-8C1F-3EFC-9FD0-EAF71127C3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038" y="4672013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6</a:t>
            </a:r>
            <a:endParaRPr lang="it-IT" altLang="it-IT" sz="2800" b="1"/>
          </a:p>
        </p:txBody>
      </p:sp>
      <p:sp>
        <p:nvSpPr>
          <p:cNvPr id="52335" name="Rectangle 120">
            <a:extLst>
              <a:ext uri="{FF2B5EF4-FFF2-40B4-BE49-F238E27FC236}">
                <a16:creationId xmlns:a16="http://schemas.microsoft.com/office/drawing/2014/main" id="{DE494D2C-6244-0A4D-86A4-0610201C10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4672013"/>
            <a:ext cx="1127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336" name="Rectangle 121">
            <a:extLst>
              <a:ext uri="{FF2B5EF4-FFF2-40B4-BE49-F238E27FC236}">
                <a16:creationId xmlns:a16="http://schemas.microsoft.com/office/drawing/2014/main" id="{13FA9146-72F4-9837-59E4-4CB433744A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8563" y="4672013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337" name="Rectangle 122">
            <a:extLst>
              <a:ext uri="{FF2B5EF4-FFF2-40B4-BE49-F238E27FC236}">
                <a16:creationId xmlns:a16="http://schemas.microsoft.com/office/drawing/2014/main" id="{4BE1913F-CAF5-CEC8-72FA-FE1924B43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263" y="4672013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1</a:t>
            </a:r>
            <a:endParaRPr lang="it-IT" altLang="it-IT" sz="2800" b="1"/>
          </a:p>
        </p:txBody>
      </p:sp>
      <p:sp>
        <p:nvSpPr>
          <p:cNvPr id="52338" name="Rectangle 123">
            <a:extLst>
              <a:ext uri="{FF2B5EF4-FFF2-40B4-BE49-F238E27FC236}">
                <a16:creationId xmlns:a16="http://schemas.microsoft.com/office/drawing/2014/main" id="{02463D2D-FFF1-6F18-1513-B4C020A5C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3075" y="4672013"/>
            <a:ext cx="1349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B</a:t>
            </a:r>
            <a:endParaRPr lang="it-IT" altLang="it-IT" sz="2800" b="1"/>
          </a:p>
        </p:txBody>
      </p:sp>
      <p:sp>
        <p:nvSpPr>
          <p:cNvPr id="52339" name="Rectangle 124">
            <a:extLst>
              <a:ext uri="{FF2B5EF4-FFF2-40B4-BE49-F238E27FC236}">
                <a16:creationId xmlns:a16="http://schemas.microsoft.com/office/drawing/2014/main" id="{1B8D3BF5-35A8-29D7-C672-F1ECDB107A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7913" y="4672013"/>
            <a:ext cx="13493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Y</a:t>
            </a:r>
            <a:endParaRPr lang="it-IT" altLang="it-IT" sz="2800" b="1"/>
          </a:p>
        </p:txBody>
      </p:sp>
      <p:sp>
        <p:nvSpPr>
          <p:cNvPr id="52340" name="Rectangle 125">
            <a:extLst>
              <a:ext uri="{FF2B5EF4-FFF2-40B4-BE49-F238E27FC236}">
                <a16:creationId xmlns:a16="http://schemas.microsoft.com/office/drawing/2014/main" id="{712A6A38-6094-12F5-447D-942139EF0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4213" y="4672013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2</a:t>
            </a:r>
            <a:endParaRPr lang="it-IT" altLang="it-IT" sz="2800" b="1"/>
          </a:p>
        </p:txBody>
      </p:sp>
      <p:sp>
        <p:nvSpPr>
          <p:cNvPr id="52341" name="Rectangle 126">
            <a:extLst>
              <a:ext uri="{FF2B5EF4-FFF2-40B4-BE49-F238E27FC236}">
                <a16:creationId xmlns:a16="http://schemas.microsoft.com/office/drawing/2014/main" id="{0E568028-7116-168E-3914-7A381C118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5975" y="4672013"/>
            <a:ext cx="1127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7</a:t>
            </a:r>
            <a:endParaRPr lang="it-IT" altLang="it-IT" sz="2800" b="1"/>
          </a:p>
        </p:txBody>
      </p:sp>
      <p:sp>
        <p:nvSpPr>
          <p:cNvPr id="52342" name="Rectangle 127">
            <a:extLst>
              <a:ext uri="{FF2B5EF4-FFF2-40B4-BE49-F238E27FC236}">
                <a16:creationId xmlns:a16="http://schemas.microsoft.com/office/drawing/2014/main" id="{C6F8678B-1655-27C1-6371-099CEA195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513" y="5059363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343" name="Rectangle 128">
            <a:extLst>
              <a:ext uri="{FF2B5EF4-FFF2-40B4-BE49-F238E27FC236}">
                <a16:creationId xmlns:a16="http://schemas.microsoft.com/office/drawing/2014/main" id="{7A9FE90B-7E03-796D-9D18-314460DE5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863" y="5059363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344" name="Rectangle 129">
            <a:extLst>
              <a:ext uri="{FF2B5EF4-FFF2-40B4-BE49-F238E27FC236}">
                <a16:creationId xmlns:a16="http://schemas.microsoft.com/office/drawing/2014/main" id="{D3C8DFFE-E120-C936-D987-C1BE9CD22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038" y="5059363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345" name="Rectangle 130">
            <a:extLst>
              <a:ext uri="{FF2B5EF4-FFF2-40B4-BE49-F238E27FC236}">
                <a16:creationId xmlns:a16="http://schemas.microsoft.com/office/drawing/2014/main" id="{A0EB0E3D-C571-AF64-CE94-3BE45EC20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388" y="5059363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6</a:t>
            </a:r>
            <a:endParaRPr lang="it-IT" altLang="it-IT" sz="2800" b="1"/>
          </a:p>
        </p:txBody>
      </p:sp>
      <p:sp>
        <p:nvSpPr>
          <p:cNvPr id="52346" name="Rectangle 131">
            <a:extLst>
              <a:ext uri="{FF2B5EF4-FFF2-40B4-BE49-F238E27FC236}">
                <a16:creationId xmlns:a16="http://schemas.microsoft.com/office/drawing/2014/main" id="{B287B7EF-DA23-EFB2-267C-F622285C63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563" y="5059363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347" name="Rectangle 132">
            <a:extLst>
              <a:ext uri="{FF2B5EF4-FFF2-40B4-BE49-F238E27FC236}">
                <a16:creationId xmlns:a16="http://schemas.microsoft.com/office/drawing/2014/main" id="{0B03A767-97C3-DD02-2F05-7A2CB950E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913" y="5059363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1</a:t>
            </a:r>
            <a:endParaRPr lang="it-IT" altLang="it-IT" sz="2800" b="1"/>
          </a:p>
        </p:txBody>
      </p:sp>
      <p:sp>
        <p:nvSpPr>
          <p:cNvPr id="52348" name="Rectangle 133">
            <a:extLst>
              <a:ext uri="{FF2B5EF4-FFF2-40B4-BE49-F238E27FC236}">
                <a16:creationId xmlns:a16="http://schemas.microsoft.com/office/drawing/2014/main" id="{3EC23F61-177B-4363-3F21-EBCF4AABBD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1563" y="5059363"/>
            <a:ext cx="1238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Z</a:t>
            </a:r>
            <a:endParaRPr lang="it-IT" altLang="it-IT" sz="2800" b="1"/>
          </a:p>
        </p:txBody>
      </p:sp>
      <p:sp>
        <p:nvSpPr>
          <p:cNvPr id="52349" name="Freeform 134">
            <a:extLst>
              <a:ext uri="{FF2B5EF4-FFF2-40B4-BE49-F238E27FC236}">
                <a16:creationId xmlns:a16="http://schemas.microsoft.com/office/drawing/2014/main" id="{63D884AB-E1A6-7CDD-E183-28508D00158A}"/>
              </a:ext>
            </a:extLst>
          </p:cNvPr>
          <p:cNvSpPr>
            <a:spLocks/>
          </p:cNvSpPr>
          <p:nvPr/>
        </p:nvSpPr>
        <p:spPr bwMode="auto">
          <a:xfrm>
            <a:off x="1371600" y="2325688"/>
            <a:ext cx="30163" cy="3187700"/>
          </a:xfrm>
          <a:custGeom>
            <a:avLst/>
            <a:gdLst>
              <a:gd name="T0" fmla="*/ 14674 w 37"/>
              <a:gd name="T1" fmla="*/ 3187700 h 4015"/>
              <a:gd name="T2" fmla="*/ 30163 w 37"/>
              <a:gd name="T3" fmla="*/ 3187700 h 4015"/>
              <a:gd name="T4" fmla="*/ 30163 w 37"/>
              <a:gd name="T5" fmla="*/ 0 h 4015"/>
              <a:gd name="T6" fmla="*/ 0 w 37"/>
              <a:gd name="T7" fmla="*/ 0 h 4015"/>
              <a:gd name="T8" fmla="*/ 0 w 37"/>
              <a:gd name="T9" fmla="*/ 3187700 h 4015"/>
              <a:gd name="T10" fmla="*/ 14674 w 37"/>
              <a:gd name="T11" fmla="*/ 3187700 h 401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7"/>
              <a:gd name="T19" fmla="*/ 0 h 4015"/>
              <a:gd name="T20" fmla="*/ 37 w 37"/>
              <a:gd name="T21" fmla="*/ 4015 h 401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7" h="4015">
                <a:moveTo>
                  <a:pt x="18" y="4015"/>
                </a:moveTo>
                <a:lnTo>
                  <a:pt x="37" y="4015"/>
                </a:lnTo>
                <a:lnTo>
                  <a:pt x="37" y="0"/>
                </a:lnTo>
                <a:lnTo>
                  <a:pt x="0" y="0"/>
                </a:lnTo>
                <a:lnTo>
                  <a:pt x="0" y="4015"/>
                </a:lnTo>
                <a:lnTo>
                  <a:pt x="18" y="4015"/>
                </a:lnTo>
                <a:close/>
              </a:path>
            </a:pathLst>
          </a:custGeom>
          <a:solidFill>
            <a:srgbClr val="0000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2350" name="Freeform 135">
            <a:extLst>
              <a:ext uri="{FF2B5EF4-FFF2-40B4-BE49-F238E27FC236}">
                <a16:creationId xmlns:a16="http://schemas.microsoft.com/office/drawing/2014/main" id="{6C1F8FD5-47E4-CB45-972D-5C1B033424FA}"/>
              </a:ext>
            </a:extLst>
          </p:cNvPr>
          <p:cNvSpPr>
            <a:spLocks/>
          </p:cNvSpPr>
          <p:nvPr/>
        </p:nvSpPr>
        <p:spPr bwMode="auto">
          <a:xfrm>
            <a:off x="3810000" y="2325688"/>
            <a:ext cx="30163" cy="3187700"/>
          </a:xfrm>
          <a:custGeom>
            <a:avLst/>
            <a:gdLst>
              <a:gd name="T0" fmla="*/ 14674 w 37"/>
              <a:gd name="T1" fmla="*/ 3187700 h 4015"/>
              <a:gd name="T2" fmla="*/ 30163 w 37"/>
              <a:gd name="T3" fmla="*/ 3187700 h 4015"/>
              <a:gd name="T4" fmla="*/ 30163 w 37"/>
              <a:gd name="T5" fmla="*/ 0 h 4015"/>
              <a:gd name="T6" fmla="*/ 0 w 37"/>
              <a:gd name="T7" fmla="*/ 0 h 4015"/>
              <a:gd name="T8" fmla="*/ 0 w 37"/>
              <a:gd name="T9" fmla="*/ 3187700 h 4015"/>
              <a:gd name="T10" fmla="*/ 14674 w 37"/>
              <a:gd name="T11" fmla="*/ 3187700 h 401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7"/>
              <a:gd name="T19" fmla="*/ 0 h 4015"/>
              <a:gd name="T20" fmla="*/ 37 w 37"/>
              <a:gd name="T21" fmla="*/ 4015 h 401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7" h="4015">
                <a:moveTo>
                  <a:pt x="18" y="4015"/>
                </a:moveTo>
                <a:lnTo>
                  <a:pt x="37" y="4015"/>
                </a:lnTo>
                <a:lnTo>
                  <a:pt x="37" y="0"/>
                </a:lnTo>
                <a:lnTo>
                  <a:pt x="0" y="0"/>
                </a:lnTo>
                <a:lnTo>
                  <a:pt x="0" y="4015"/>
                </a:lnTo>
                <a:lnTo>
                  <a:pt x="18" y="4015"/>
                </a:lnTo>
                <a:close/>
              </a:path>
            </a:pathLst>
          </a:custGeom>
          <a:solidFill>
            <a:srgbClr val="0000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2351" name="Freeform 136">
            <a:extLst>
              <a:ext uri="{FF2B5EF4-FFF2-40B4-BE49-F238E27FC236}">
                <a16:creationId xmlns:a16="http://schemas.microsoft.com/office/drawing/2014/main" id="{2043133C-7936-991F-D7E7-CD3AA44C5DDF}"/>
              </a:ext>
            </a:extLst>
          </p:cNvPr>
          <p:cNvSpPr>
            <a:spLocks/>
          </p:cNvSpPr>
          <p:nvPr/>
        </p:nvSpPr>
        <p:spPr bwMode="auto">
          <a:xfrm>
            <a:off x="3302000" y="2325688"/>
            <a:ext cx="28575" cy="3187700"/>
          </a:xfrm>
          <a:custGeom>
            <a:avLst/>
            <a:gdLst>
              <a:gd name="T0" fmla="*/ 13901 w 37"/>
              <a:gd name="T1" fmla="*/ 3187700 h 4015"/>
              <a:gd name="T2" fmla="*/ 28575 w 37"/>
              <a:gd name="T3" fmla="*/ 3187700 h 4015"/>
              <a:gd name="T4" fmla="*/ 28575 w 37"/>
              <a:gd name="T5" fmla="*/ 0 h 4015"/>
              <a:gd name="T6" fmla="*/ 0 w 37"/>
              <a:gd name="T7" fmla="*/ 0 h 4015"/>
              <a:gd name="T8" fmla="*/ 0 w 37"/>
              <a:gd name="T9" fmla="*/ 3187700 h 4015"/>
              <a:gd name="T10" fmla="*/ 13901 w 37"/>
              <a:gd name="T11" fmla="*/ 3187700 h 401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7"/>
              <a:gd name="T19" fmla="*/ 0 h 4015"/>
              <a:gd name="T20" fmla="*/ 37 w 37"/>
              <a:gd name="T21" fmla="*/ 4015 h 401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7" h="4015">
                <a:moveTo>
                  <a:pt x="18" y="4015"/>
                </a:moveTo>
                <a:lnTo>
                  <a:pt x="37" y="4015"/>
                </a:lnTo>
                <a:lnTo>
                  <a:pt x="37" y="0"/>
                </a:lnTo>
                <a:lnTo>
                  <a:pt x="0" y="0"/>
                </a:lnTo>
                <a:lnTo>
                  <a:pt x="0" y="4015"/>
                </a:lnTo>
                <a:lnTo>
                  <a:pt x="18" y="4015"/>
                </a:lnTo>
                <a:close/>
              </a:path>
            </a:pathLst>
          </a:custGeom>
          <a:solidFill>
            <a:srgbClr val="0000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2352" name="Freeform 137">
            <a:extLst>
              <a:ext uri="{FF2B5EF4-FFF2-40B4-BE49-F238E27FC236}">
                <a16:creationId xmlns:a16="http://schemas.microsoft.com/office/drawing/2014/main" id="{EE392403-7DCB-F938-F786-A9893ECEF765}"/>
              </a:ext>
            </a:extLst>
          </p:cNvPr>
          <p:cNvSpPr>
            <a:spLocks/>
          </p:cNvSpPr>
          <p:nvPr/>
        </p:nvSpPr>
        <p:spPr bwMode="auto">
          <a:xfrm>
            <a:off x="5837238" y="2325688"/>
            <a:ext cx="30162" cy="3187700"/>
          </a:xfrm>
          <a:custGeom>
            <a:avLst/>
            <a:gdLst>
              <a:gd name="T0" fmla="*/ 14673 w 37"/>
              <a:gd name="T1" fmla="*/ 3187700 h 4015"/>
              <a:gd name="T2" fmla="*/ 30162 w 37"/>
              <a:gd name="T3" fmla="*/ 3187700 h 4015"/>
              <a:gd name="T4" fmla="*/ 30162 w 37"/>
              <a:gd name="T5" fmla="*/ 0 h 4015"/>
              <a:gd name="T6" fmla="*/ 0 w 37"/>
              <a:gd name="T7" fmla="*/ 0 h 4015"/>
              <a:gd name="T8" fmla="*/ 0 w 37"/>
              <a:gd name="T9" fmla="*/ 3187700 h 4015"/>
              <a:gd name="T10" fmla="*/ 14673 w 37"/>
              <a:gd name="T11" fmla="*/ 3187700 h 401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7"/>
              <a:gd name="T19" fmla="*/ 0 h 4015"/>
              <a:gd name="T20" fmla="*/ 37 w 37"/>
              <a:gd name="T21" fmla="*/ 4015 h 401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7" h="4015">
                <a:moveTo>
                  <a:pt x="18" y="4015"/>
                </a:moveTo>
                <a:lnTo>
                  <a:pt x="37" y="4015"/>
                </a:lnTo>
                <a:lnTo>
                  <a:pt x="37" y="0"/>
                </a:lnTo>
                <a:lnTo>
                  <a:pt x="0" y="0"/>
                </a:lnTo>
                <a:lnTo>
                  <a:pt x="0" y="4015"/>
                </a:lnTo>
                <a:lnTo>
                  <a:pt x="18" y="4015"/>
                </a:lnTo>
                <a:close/>
              </a:path>
            </a:pathLst>
          </a:custGeom>
          <a:solidFill>
            <a:srgbClr val="0000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2353" name="Freeform 138">
            <a:extLst>
              <a:ext uri="{FF2B5EF4-FFF2-40B4-BE49-F238E27FC236}">
                <a16:creationId xmlns:a16="http://schemas.microsoft.com/office/drawing/2014/main" id="{CBD07259-E80F-6595-DF9C-1DE659753579}"/>
              </a:ext>
            </a:extLst>
          </p:cNvPr>
          <p:cNvSpPr>
            <a:spLocks/>
          </p:cNvSpPr>
          <p:nvPr/>
        </p:nvSpPr>
        <p:spPr bwMode="auto">
          <a:xfrm>
            <a:off x="1447800" y="2493963"/>
            <a:ext cx="1677988" cy="28575"/>
          </a:xfrm>
          <a:custGeom>
            <a:avLst/>
            <a:gdLst>
              <a:gd name="T0" fmla="*/ 1677988 w 2115"/>
              <a:gd name="T1" fmla="*/ 14288 h 34"/>
              <a:gd name="T2" fmla="*/ 1677988 w 2115"/>
              <a:gd name="T3" fmla="*/ 0 h 34"/>
              <a:gd name="T4" fmla="*/ 0 w 2115"/>
              <a:gd name="T5" fmla="*/ 0 h 34"/>
              <a:gd name="T6" fmla="*/ 0 w 2115"/>
              <a:gd name="T7" fmla="*/ 28575 h 34"/>
              <a:gd name="T8" fmla="*/ 1677988 w 2115"/>
              <a:gd name="T9" fmla="*/ 28575 h 34"/>
              <a:gd name="T10" fmla="*/ 1677988 w 2115"/>
              <a:gd name="T11" fmla="*/ 14288 h 3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15"/>
              <a:gd name="T19" fmla="*/ 0 h 34"/>
              <a:gd name="T20" fmla="*/ 2115 w 2115"/>
              <a:gd name="T21" fmla="*/ 34 h 3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15" h="34">
                <a:moveTo>
                  <a:pt x="2115" y="17"/>
                </a:moveTo>
                <a:lnTo>
                  <a:pt x="2115" y="0"/>
                </a:lnTo>
                <a:lnTo>
                  <a:pt x="0" y="0"/>
                </a:lnTo>
                <a:lnTo>
                  <a:pt x="0" y="34"/>
                </a:lnTo>
                <a:lnTo>
                  <a:pt x="2115" y="34"/>
                </a:lnTo>
                <a:lnTo>
                  <a:pt x="2115" y="17"/>
                </a:lnTo>
                <a:close/>
              </a:path>
            </a:pathLst>
          </a:custGeom>
          <a:solidFill>
            <a:srgbClr val="000000"/>
          </a:solidFill>
          <a:ln w="635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2354" name="Freeform 139">
            <a:extLst>
              <a:ext uri="{FF2B5EF4-FFF2-40B4-BE49-F238E27FC236}">
                <a16:creationId xmlns:a16="http://schemas.microsoft.com/office/drawing/2014/main" id="{DC34A13A-ECE6-A922-2FD3-1D08EDD378C9}"/>
              </a:ext>
            </a:extLst>
          </p:cNvPr>
          <p:cNvSpPr>
            <a:spLocks/>
          </p:cNvSpPr>
          <p:nvPr/>
        </p:nvSpPr>
        <p:spPr bwMode="auto">
          <a:xfrm>
            <a:off x="1447800" y="2859088"/>
            <a:ext cx="1677988" cy="26987"/>
          </a:xfrm>
          <a:custGeom>
            <a:avLst/>
            <a:gdLst>
              <a:gd name="T0" fmla="*/ 1677988 w 2115"/>
              <a:gd name="T1" fmla="*/ 13494 h 34"/>
              <a:gd name="T2" fmla="*/ 1677988 w 2115"/>
              <a:gd name="T3" fmla="*/ 0 h 34"/>
              <a:gd name="T4" fmla="*/ 0 w 2115"/>
              <a:gd name="T5" fmla="*/ 0 h 34"/>
              <a:gd name="T6" fmla="*/ 0 w 2115"/>
              <a:gd name="T7" fmla="*/ 26987 h 34"/>
              <a:gd name="T8" fmla="*/ 1677988 w 2115"/>
              <a:gd name="T9" fmla="*/ 26987 h 34"/>
              <a:gd name="T10" fmla="*/ 1677988 w 2115"/>
              <a:gd name="T11" fmla="*/ 13494 h 3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15"/>
              <a:gd name="T19" fmla="*/ 0 h 34"/>
              <a:gd name="T20" fmla="*/ 2115 w 2115"/>
              <a:gd name="T21" fmla="*/ 34 h 3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15" h="34">
                <a:moveTo>
                  <a:pt x="2115" y="17"/>
                </a:moveTo>
                <a:lnTo>
                  <a:pt x="2115" y="0"/>
                </a:lnTo>
                <a:lnTo>
                  <a:pt x="0" y="0"/>
                </a:lnTo>
                <a:lnTo>
                  <a:pt x="0" y="34"/>
                </a:lnTo>
                <a:lnTo>
                  <a:pt x="2115" y="34"/>
                </a:lnTo>
                <a:lnTo>
                  <a:pt x="2115" y="17"/>
                </a:lnTo>
                <a:close/>
              </a:path>
            </a:pathLst>
          </a:custGeom>
          <a:solidFill>
            <a:srgbClr val="000000"/>
          </a:solidFill>
          <a:ln w="635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2355" name="Freeform 140">
            <a:extLst>
              <a:ext uri="{FF2B5EF4-FFF2-40B4-BE49-F238E27FC236}">
                <a16:creationId xmlns:a16="http://schemas.microsoft.com/office/drawing/2014/main" id="{6CA59CB7-1EA0-1A19-170D-E4A6FB220FF0}"/>
              </a:ext>
            </a:extLst>
          </p:cNvPr>
          <p:cNvSpPr>
            <a:spLocks/>
          </p:cNvSpPr>
          <p:nvPr/>
        </p:nvSpPr>
        <p:spPr bwMode="auto">
          <a:xfrm>
            <a:off x="3914775" y="2859088"/>
            <a:ext cx="1876425" cy="26987"/>
          </a:xfrm>
          <a:custGeom>
            <a:avLst/>
            <a:gdLst>
              <a:gd name="T0" fmla="*/ 1876425 w 2362"/>
              <a:gd name="T1" fmla="*/ 13494 h 34"/>
              <a:gd name="T2" fmla="*/ 1876425 w 2362"/>
              <a:gd name="T3" fmla="*/ 0 h 34"/>
              <a:gd name="T4" fmla="*/ 0 w 2362"/>
              <a:gd name="T5" fmla="*/ 0 h 34"/>
              <a:gd name="T6" fmla="*/ 0 w 2362"/>
              <a:gd name="T7" fmla="*/ 26987 h 34"/>
              <a:gd name="T8" fmla="*/ 1876425 w 2362"/>
              <a:gd name="T9" fmla="*/ 26987 h 34"/>
              <a:gd name="T10" fmla="*/ 1876425 w 2362"/>
              <a:gd name="T11" fmla="*/ 13494 h 3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362"/>
              <a:gd name="T19" fmla="*/ 0 h 34"/>
              <a:gd name="T20" fmla="*/ 2362 w 2362"/>
              <a:gd name="T21" fmla="*/ 34 h 3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362" h="34">
                <a:moveTo>
                  <a:pt x="2362" y="17"/>
                </a:moveTo>
                <a:lnTo>
                  <a:pt x="2362" y="0"/>
                </a:lnTo>
                <a:lnTo>
                  <a:pt x="0" y="0"/>
                </a:lnTo>
                <a:lnTo>
                  <a:pt x="0" y="34"/>
                </a:lnTo>
                <a:lnTo>
                  <a:pt x="2362" y="34"/>
                </a:lnTo>
                <a:lnTo>
                  <a:pt x="236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2356" name="Freeform 141">
            <a:extLst>
              <a:ext uri="{FF2B5EF4-FFF2-40B4-BE49-F238E27FC236}">
                <a16:creationId xmlns:a16="http://schemas.microsoft.com/office/drawing/2014/main" id="{7B919083-C9B0-89D5-ECCF-A946C5915C3E}"/>
              </a:ext>
            </a:extLst>
          </p:cNvPr>
          <p:cNvSpPr>
            <a:spLocks/>
          </p:cNvSpPr>
          <p:nvPr/>
        </p:nvSpPr>
        <p:spPr bwMode="auto">
          <a:xfrm>
            <a:off x="1447800" y="3222625"/>
            <a:ext cx="1677988" cy="28575"/>
          </a:xfrm>
          <a:custGeom>
            <a:avLst/>
            <a:gdLst>
              <a:gd name="T0" fmla="*/ 1677988 w 2115"/>
              <a:gd name="T1" fmla="*/ 14288 h 34"/>
              <a:gd name="T2" fmla="*/ 1677988 w 2115"/>
              <a:gd name="T3" fmla="*/ 0 h 34"/>
              <a:gd name="T4" fmla="*/ 0 w 2115"/>
              <a:gd name="T5" fmla="*/ 0 h 34"/>
              <a:gd name="T6" fmla="*/ 0 w 2115"/>
              <a:gd name="T7" fmla="*/ 28575 h 34"/>
              <a:gd name="T8" fmla="*/ 1677988 w 2115"/>
              <a:gd name="T9" fmla="*/ 28575 h 34"/>
              <a:gd name="T10" fmla="*/ 1677988 w 2115"/>
              <a:gd name="T11" fmla="*/ 14288 h 3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15"/>
              <a:gd name="T19" fmla="*/ 0 h 34"/>
              <a:gd name="T20" fmla="*/ 2115 w 2115"/>
              <a:gd name="T21" fmla="*/ 34 h 3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15" h="34">
                <a:moveTo>
                  <a:pt x="2115" y="17"/>
                </a:moveTo>
                <a:lnTo>
                  <a:pt x="2115" y="0"/>
                </a:lnTo>
                <a:lnTo>
                  <a:pt x="0" y="0"/>
                </a:lnTo>
                <a:lnTo>
                  <a:pt x="0" y="34"/>
                </a:lnTo>
                <a:lnTo>
                  <a:pt x="2115" y="34"/>
                </a:lnTo>
                <a:lnTo>
                  <a:pt x="2115" y="17"/>
                </a:lnTo>
                <a:close/>
              </a:path>
            </a:pathLst>
          </a:custGeom>
          <a:solidFill>
            <a:srgbClr val="000000"/>
          </a:solidFill>
          <a:ln w="635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2357" name="Freeform 142">
            <a:extLst>
              <a:ext uri="{FF2B5EF4-FFF2-40B4-BE49-F238E27FC236}">
                <a16:creationId xmlns:a16="http://schemas.microsoft.com/office/drawing/2014/main" id="{DA3799D6-EB22-0969-8E52-6323816AF40E}"/>
              </a:ext>
            </a:extLst>
          </p:cNvPr>
          <p:cNvSpPr>
            <a:spLocks/>
          </p:cNvSpPr>
          <p:nvPr/>
        </p:nvSpPr>
        <p:spPr bwMode="auto">
          <a:xfrm>
            <a:off x="3914775" y="3222625"/>
            <a:ext cx="1876425" cy="28575"/>
          </a:xfrm>
          <a:custGeom>
            <a:avLst/>
            <a:gdLst>
              <a:gd name="T0" fmla="*/ 1876425 w 2362"/>
              <a:gd name="T1" fmla="*/ 14288 h 34"/>
              <a:gd name="T2" fmla="*/ 1876425 w 2362"/>
              <a:gd name="T3" fmla="*/ 0 h 34"/>
              <a:gd name="T4" fmla="*/ 0 w 2362"/>
              <a:gd name="T5" fmla="*/ 0 h 34"/>
              <a:gd name="T6" fmla="*/ 0 w 2362"/>
              <a:gd name="T7" fmla="*/ 28575 h 34"/>
              <a:gd name="T8" fmla="*/ 1876425 w 2362"/>
              <a:gd name="T9" fmla="*/ 28575 h 34"/>
              <a:gd name="T10" fmla="*/ 1876425 w 2362"/>
              <a:gd name="T11" fmla="*/ 14288 h 3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362"/>
              <a:gd name="T19" fmla="*/ 0 h 34"/>
              <a:gd name="T20" fmla="*/ 2362 w 2362"/>
              <a:gd name="T21" fmla="*/ 34 h 3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362" h="34">
                <a:moveTo>
                  <a:pt x="2362" y="17"/>
                </a:moveTo>
                <a:lnTo>
                  <a:pt x="2362" y="0"/>
                </a:lnTo>
                <a:lnTo>
                  <a:pt x="0" y="0"/>
                </a:lnTo>
                <a:lnTo>
                  <a:pt x="0" y="34"/>
                </a:lnTo>
                <a:lnTo>
                  <a:pt x="2362" y="34"/>
                </a:lnTo>
                <a:lnTo>
                  <a:pt x="236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2358" name="Freeform 143">
            <a:extLst>
              <a:ext uri="{FF2B5EF4-FFF2-40B4-BE49-F238E27FC236}">
                <a16:creationId xmlns:a16="http://schemas.microsoft.com/office/drawing/2014/main" id="{68ED8E39-08CC-EF16-7395-55AA1CCF62AF}"/>
              </a:ext>
            </a:extLst>
          </p:cNvPr>
          <p:cNvSpPr>
            <a:spLocks/>
          </p:cNvSpPr>
          <p:nvPr/>
        </p:nvSpPr>
        <p:spPr bwMode="auto">
          <a:xfrm>
            <a:off x="1447800" y="3929063"/>
            <a:ext cx="1677988" cy="26987"/>
          </a:xfrm>
          <a:custGeom>
            <a:avLst/>
            <a:gdLst>
              <a:gd name="T0" fmla="*/ 1677988 w 2115"/>
              <a:gd name="T1" fmla="*/ 13494 h 34"/>
              <a:gd name="T2" fmla="*/ 1677988 w 2115"/>
              <a:gd name="T3" fmla="*/ 0 h 34"/>
              <a:gd name="T4" fmla="*/ 0 w 2115"/>
              <a:gd name="T5" fmla="*/ 0 h 34"/>
              <a:gd name="T6" fmla="*/ 0 w 2115"/>
              <a:gd name="T7" fmla="*/ 26987 h 34"/>
              <a:gd name="T8" fmla="*/ 1677988 w 2115"/>
              <a:gd name="T9" fmla="*/ 26987 h 34"/>
              <a:gd name="T10" fmla="*/ 1677988 w 2115"/>
              <a:gd name="T11" fmla="*/ 13494 h 3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15"/>
              <a:gd name="T19" fmla="*/ 0 h 34"/>
              <a:gd name="T20" fmla="*/ 2115 w 2115"/>
              <a:gd name="T21" fmla="*/ 34 h 3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15" h="34">
                <a:moveTo>
                  <a:pt x="2115" y="17"/>
                </a:moveTo>
                <a:lnTo>
                  <a:pt x="2115" y="0"/>
                </a:lnTo>
                <a:lnTo>
                  <a:pt x="0" y="0"/>
                </a:lnTo>
                <a:lnTo>
                  <a:pt x="0" y="34"/>
                </a:lnTo>
                <a:lnTo>
                  <a:pt x="2115" y="34"/>
                </a:lnTo>
                <a:lnTo>
                  <a:pt x="2115" y="17"/>
                </a:lnTo>
                <a:close/>
              </a:path>
            </a:pathLst>
          </a:custGeom>
          <a:solidFill>
            <a:srgbClr val="000000"/>
          </a:solidFill>
          <a:ln w="635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2359" name="Freeform 144">
            <a:extLst>
              <a:ext uri="{FF2B5EF4-FFF2-40B4-BE49-F238E27FC236}">
                <a16:creationId xmlns:a16="http://schemas.microsoft.com/office/drawing/2014/main" id="{B103D3D1-41BE-4966-44C9-A13ADB7358D3}"/>
              </a:ext>
            </a:extLst>
          </p:cNvPr>
          <p:cNvSpPr>
            <a:spLocks/>
          </p:cNvSpPr>
          <p:nvPr/>
        </p:nvSpPr>
        <p:spPr bwMode="auto">
          <a:xfrm>
            <a:off x="3914775" y="3929063"/>
            <a:ext cx="1876425" cy="26987"/>
          </a:xfrm>
          <a:custGeom>
            <a:avLst/>
            <a:gdLst>
              <a:gd name="T0" fmla="*/ 1876425 w 2362"/>
              <a:gd name="T1" fmla="*/ 13494 h 34"/>
              <a:gd name="T2" fmla="*/ 1876425 w 2362"/>
              <a:gd name="T3" fmla="*/ 0 h 34"/>
              <a:gd name="T4" fmla="*/ 0 w 2362"/>
              <a:gd name="T5" fmla="*/ 0 h 34"/>
              <a:gd name="T6" fmla="*/ 0 w 2362"/>
              <a:gd name="T7" fmla="*/ 26987 h 34"/>
              <a:gd name="T8" fmla="*/ 1876425 w 2362"/>
              <a:gd name="T9" fmla="*/ 26987 h 34"/>
              <a:gd name="T10" fmla="*/ 1876425 w 2362"/>
              <a:gd name="T11" fmla="*/ 13494 h 3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362"/>
              <a:gd name="T19" fmla="*/ 0 h 34"/>
              <a:gd name="T20" fmla="*/ 2362 w 2362"/>
              <a:gd name="T21" fmla="*/ 34 h 3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362" h="34">
                <a:moveTo>
                  <a:pt x="2362" y="17"/>
                </a:moveTo>
                <a:lnTo>
                  <a:pt x="2362" y="0"/>
                </a:lnTo>
                <a:lnTo>
                  <a:pt x="0" y="0"/>
                </a:lnTo>
                <a:lnTo>
                  <a:pt x="0" y="34"/>
                </a:lnTo>
                <a:lnTo>
                  <a:pt x="2362" y="34"/>
                </a:lnTo>
                <a:lnTo>
                  <a:pt x="236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2360" name="Freeform 145">
            <a:extLst>
              <a:ext uri="{FF2B5EF4-FFF2-40B4-BE49-F238E27FC236}">
                <a16:creationId xmlns:a16="http://schemas.microsoft.com/office/drawing/2014/main" id="{379F659D-BBE0-05F5-715C-6EA3AB95BD0D}"/>
              </a:ext>
            </a:extLst>
          </p:cNvPr>
          <p:cNvSpPr>
            <a:spLocks/>
          </p:cNvSpPr>
          <p:nvPr/>
        </p:nvSpPr>
        <p:spPr bwMode="auto">
          <a:xfrm>
            <a:off x="1447800" y="4953000"/>
            <a:ext cx="1677988" cy="26988"/>
          </a:xfrm>
          <a:custGeom>
            <a:avLst/>
            <a:gdLst>
              <a:gd name="T0" fmla="*/ 1677988 w 2115"/>
              <a:gd name="T1" fmla="*/ 13880 h 35"/>
              <a:gd name="T2" fmla="*/ 1677988 w 2115"/>
              <a:gd name="T3" fmla="*/ 0 h 35"/>
              <a:gd name="T4" fmla="*/ 0 w 2115"/>
              <a:gd name="T5" fmla="*/ 0 h 35"/>
              <a:gd name="T6" fmla="*/ 0 w 2115"/>
              <a:gd name="T7" fmla="*/ 26988 h 35"/>
              <a:gd name="T8" fmla="*/ 1677988 w 2115"/>
              <a:gd name="T9" fmla="*/ 26988 h 35"/>
              <a:gd name="T10" fmla="*/ 1677988 w 2115"/>
              <a:gd name="T11" fmla="*/ 13880 h 3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15"/>
              <a:gd name="T19" fmla="*/ 0 h 35"/>
              <a:gd name="T20" fmla="*/ 2115 w 2115"/>
              <a:gd name="T21" fmla="*/ 35 h 3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15" h="35">
                <a:moveTo>
                  <a:pt x="2115" y="18"/>
                </a:moveTo>
                <a:lnTo>
                  <a:pt x="2115" y="0"/>
                </a:lnTo>
                <a:lnTo>
                  <a:pt x="0" y="0"/>
                </a:lnTo>
                <a:lnTo>
                  <a:pt x="0" y="35"/>
                </a:lnTo>
                <a:lnTo>
                  <a:pt x="2115" y="35"/>
                </a:lnTo>
                <a:lnTo>
                  <a:pt x="2115" y="18"/>
                </a:lnTo>
                <a:close/>
              </a:path>
            </a:pathLst>
          </a:custGeom>
          <a:solidFill>
            <a:srgbClr val="000000"/>
          </a:solidFill>
          <a:ln w="635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2361" name="Freeform 146">
            <a:extLst>
              <a:ext uri="{FF2B5EF4-FFF2-40B4-BE49-F238E27FC236}">
                <a16:creationId xmlns:a16="http://schemas.microsoft.com/office/drawing/2014/main" id="{88B03F1C-FD50-4B20-FD67-8BC7E66BFE61}"/>
              </a:ext>
            </a:extLst>
          </p:cNvPr>
          <p:cNvSpPr>
            <a:spLocks/>
          </p:cNvSpPr>
          <p:nvPr/>
        </p:nvSpPr>
        <p:spPr bwMode="auto">
          <a:xfrm>
            <a:off x="3914775" y="4953000"/>
            <a:ext cx="1876425" cy="26988"/>
          </a:xfrm>
          <a:custGeom>
            <a:avLst/>
            <a:gdLst>
              <a:gd name="T0" fmla="*/ 1876425 w 2362"/>
              <a:gd name="T1" fmla="*/ 13880 h 35"/>
              <a:gd name="T2" fmla="*/ 1876425 w 2362"/>
              <a:gd name="T3" fmla="*/ 0 h 35"/>
              <a:gd name="T4" fmla="*/ 0 w 2362"/>
              <a:gd name="T5" fmla="*/ 0 h 35"/>
              <a:gd name="T6" fmla="*/ 0 w 2362"/>
              <a:gd name="T7" fmla="*/ 26988 h 35"/>
              <a:gd name="T8" fmla="*/ 1876425 w 2362"/>
              <a:gd name="T9" fmla="*/ 26988 h 35"/>
              <a:gd name="T10" fmla="*/ 1876425 w 2362"/>
              <a:gd name="T11" fmla="*/ 13880 h 3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362"/>
              <a:gd name="T19" fmla="*/ 0 h 35"/>
              <a:gd name="T20" fmla="*/ 2362 w 2362"/>
              <a:gd name="T21" fmla="*/ 35 h 3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362" h="35">
                <a:moveTo>
                  <a:pt x="2362" y="18"/>
                </a:moveTo>
                <a:lnTo>
                  <a:pt x="2362" y="0"/>
                </a:lnTo>
                <a:lnTo>
                  <a:pt x="0" y="0"/>
                </a:lnTo>
                <a:lnTo>
                  <a:pt x="0" y="35"/>
                </a:lnTo>
                <a:lnTo>
                  <a:pt x="2362" y="35"/>
                </a:lnTo>
                <a:lnTo>
                  <a:pt x="2362" y="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2362" name="Freeform 147">
            <a:extLst>
              <a:ext uri="{FF2B5EF4-FFF2-40B4-BE49-F238E27FC236}">
                <a16:creationId xmlns:a16="http://schemas.microsoft.com/office/drawing/2014/main" id="{FF895E5E-ABAB-3A4D-E2B9-0BDF30389257}"/>
              </a:ext>
            </a:extLst>
          </p:cNvPr>
          <p:cNvSpPr>
            <a:spLocks/>
          </p:cNvSpPr>
          <p:nvPr/>
        </p:nvSpPr>
        <p:spPr bwMode="auto">
          <a:xfrm>
            <a:off x="1447800" y="5318125"/>
            <a:ext cx="1677988" cy="26988"/>
          </a:xfrm>
          <a:custGeom>
            <a:avLst/>
            <a:gdLst>
              <a:gd name="T0" fmla="*/ 1677988 w 2115"/>
              <a:gd name="T1" fmla="*/ 13880 h 35"/>
              <a:gd name="T2" fmla="*/ 1677988 w 2115"/>
              <a:gd name="T3" fmla="*/ 0 h 35"/>
              <a:gd name="T4" fmla="*/ 0 w 2115"/>
              <a:gd name="T5" fmla="*/ 0 h 35"/>
              <a:gd name="T6" fmla="*/ 0 w 2115"/>
              <a:gd name="T7" fmla="*/ 26988 h 35"/>
              <a:gd name="T8" fmla="*/ 1677988 w 2115"/>
              <a:gd name="T9" fmla="*/ 26988 h 35"/>
              <a:gd name="T10" fmla="*/ 1677988 w 2115"/>
              <a:gd name="T11" fmla="*/ 13880 h 3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15"/>
              <a:gd name="T19" fmla="*/ 0 h 35"/>
              <a:gd name="T20" fmla="*/ 2115 w 2115"/>
              <a:gd name="T21" fmla="*/ 35 h 3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15" h="35">
                <a:moveTo>
                  <a:pt x="2115" y="18"/>
                </a:moveTo>
                <a:lnTo>
                  <a:pt x="2115" y="0"/>
                </a:lnTo>
                <a:lnTo>
                  <a:pt x="0" y="0"/>
                </a:lnTo>
                <a:lnTo>
                  <a:pt x="0" y="35"/>
                </a:lnTo>
                <a:lnTo>
                  <a:pt x="2115" y="35"/>
                </a:lnTo>
                <a:lnTo>
                  <a:pt x="2115" y="18"/>
                </a:lnTo>
                <a:close/>
              </a:path>
            </a:pathLst>
          </a:custGeom>
          <a:solidFill>
            <a:srgbClr val="000000"/>
          </a:solidFill>
          <a:ln w="635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2363" name="Freeform 148">
            <a:extLst>
              <a:ext uri="{FF2B5EF4-FFF2-40B4-BE49-F238E27FC236}">
                <a16:creationId xmlns:a16="http://schemas.microsoft.com/office/drawing/2014/main" id="{E87A0CEC-00CC-F5B9-83A1-E42FD2CD6F32}"/>
              </a:ext>
            </a:extLst>
          </p:cNvPr>
          <p:cNvSpPr>
            <a:spLocks/>
          </p:cNvSpPr>
          <p:nvPr/>
        </p:nvSpPr>
        <p:spPr bwMode="auto">
          <a:xfrm>
            <a:off x="3914775" y="5318125"/>
            <a:ext cx="1876425" cy="26988"/>
          </a:xfrm>
          <a:custGeom>
            <a:avLst/>
            <a:gdLst>
              <a:gd name="T0" fmla="*/ 1876425 w 2362"/>
              <a:gd name="T1" fmla="*/ 13880 h 35"/>
              <a:gd name="T2" fmla="*/ 1876425 w 2362"/>
              <a:gd name="T3" fmla="*/ 0 h 35"/>
              <a:gd name="T4" fmla="*/ 0 w 2362"/>
              <a:gd name="T5" fmla="*/ 0 h 35"/>
              <a:gd name="T6" fmla="*/ 0 w 2362"/>
              <a:gd name="T7" fmla="*/ 26988 h 35"/>
              <a:gd name="T8" fmla="*/ 1876425 w 2362"/>
              <a:gd name="T9" fmla="*/ 26988 h 35"/>
              <a:gd name="T10" fmla="*/ 1876425 w 2362"/>
              <a:gd name="T11" fmla="*/ 13880 h 3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362"/>
              <a:gd name="T19" fmla="*/ 0 h 35"/>
              <a:gd name="T20" fmla="*/ 2362 w 2362"/>
              <a:gd name="T21" fmla="*/ 35 h 3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362" h="35">
                <a:moveTo>
                  <a:pt x="2362" y="18"/>
                </a:moveTo>
                <a:lnTo>
                  <a:pt x="2362" y="0"/>
                </a:lnTo>
                <a:lnTo>
                  <a:pt x="0" y="0"/>
                </a:lnTo>
                <a:lnTo>
                  <a:pt x="0" y="35"/>
                </a:lnTo>
                <a:lnTo>
                  <a:pt x="2362" y="35"/>
                </a:lnTo>
                <a:lnTo>
                  <a:pt x="2362" y="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2364" name="Freeform 149">
            <a:extLst>
              <a:ext uri="{FF2B5EF4-FFF2-40B4-BE49-F238E27FC236}">
                <a16:creationId xmlns:a16="http://schemas.microsoft.com/office/drawing/2014/main" id="{34F97478-B228-56AA-52B4-CD7C89886720}"/>
              </a:ext>
            </a:extLst>
          </p:cNvPr>
          <p:cNvSpPr>
            <a:spLocks/>
          </p:cNvSpPr>
          <p:nvPr/>
        </p:nvSpPr>
        <p:spPr bwMode="auto">
          <a:xfrm>
            <a:off x="1447800" y="4589463"/>
            <a:ext cx="1677988" cy="26987"/>
          </a:xfrm>
          <a:custGeom>
            <a:avLst/>
            <a:gdLst>
              <a:gd name="T0" fmla="*/ 1677988 w 2115"/>
              <a:gd name="T1" fmla="*/ 13494 h 34"/>
              <a:gd name="T2" fmla="*/ 1677988 w 2115"/>
              <a:gd name="T3" fmla="*/ 0 h 34"/>
              <a:gd name="T4" fmla="*/ 0 w 2115"/>
              <a:gd name="T5" fmla="*/ 0 h 34"/>
              <a:gd name="T6" fmla="*/ 0 w 2115"/>
              <a:gd name="T7" fmla="*/ 26987 h 34"/>
              <a:gd name="T8" fmla="*/ 1677988 w 2115"/>
              <a:gd name="T9" fmla="*/ 26987 h 34"/>
              <a:gd name="T10" fmla="*/ 1677988 w 2115"/>
              <a:gd name="T11" fmla="*/ 13494 h 3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15"/>
              <a:gd name="T19" fmla="*/ 0 h 34"/>
              <a:gd name="T20" fmla="*/ 2115 w 2115"/>
              <a:gd name="T21" fmla="*/ 34 h 3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15" h="34">
                <a:moveTo>
                  <a:pt x="2115" y="17"/>
                </a:moveTo>
                <a:lnTo>
                  <a:pt x="2115" y="0"/>
                </a:lnTo>
                <a:lnTo>
                  <a:pt x="0" y="0"/>
                </a:lnTo>
                <a:lnTo>
                  <a:pt x="0" y="34"/>
                </a:lnTo>
                <a:lnTo>
                  <a:pt x="2115" y="34"/>
                </a:lnTo>
                <a:lnTo>
                  <a:pt x="2115" y="17"/>
                </a:lnTo>
                <a:close/>
              </a:path>
            </a:pathLst>
          </a:custGeom>
          <a:solidFill>
            <a:srgbClr val="000000"/>
          </a:solidFill>
          <a:ln w="635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2365" name="Freeform 150">
            <a:extLst>
              <a:ext uri="{FF2B5EF4-FFF2-40B4-BE49-F238E27FC236}">
                <a16:creationId xmlns:a16="http://schemas.microsoft.com/office/drawing/2014/main" id="{AA841223-C78B-F851-994C-E66568178889}"/>
              </a:ext>
            </a:extLst>
          </p:cNvPr>
          <p:cNvSpPr>
            <a:spLocks/>
          </p:cNvSpPr>
          <p:nvPr/>
        </p:nvSpPr>
        <p:spPr bwMode="auto">
          <a:xfrm>
            <a:off x="3914775" y="4589463"/>
            <a:ext cx="1876425" cy="26987"/>
          </a:xfrm>
          <a:custGeom>
            <a:avLst/>
            <a:gdLst>
              <a:gd name="T0" fmla="*/ 1876425 w 2362"/>
              <a:gd name="T1" fmla="*/ 13494 h 34"/>
              <a:gd name="T2" fmla="*/ 1876425 w 2362"/>
              <a:gd name="T3" fmla="*/ 0 h 34"/>
              <a:gd name="T4" fmla="*/ 0 w 2362"/>
              <a:gd name="T5" fmla="*/ 0 h 34"/>
              <a:gd name="T6" fmla="*/ 0 w 2362"/>
              <a:gd name="T7" fmla="*/ 26987 h 34"/>
              <a:gd name="T8" fmla="*/ 1876425 w 2362"/>
              <a:gd name="T9" fmla="*/ 26987 h 34"/>
              <a:gd name="T10" fmla="*/ 1876425 w 2362"/>
              <a:gd name="T11" fmla="*/ 13494 h 3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362"/>
              <a:gd name="T19" fmla="*/ 0 h 34"/>
              <a:gd name="T20" fmla="*/ 2362 w 2362"/>
              <a:gd name="T21" fmla="*/ 34 h 3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362" h="34">
                <a:moveTo>
                  <a:pt x="2362" y="17"/>
                </a:moveTo>
                <a:lnTo>
                  <a:pt x="2362" y="0"/>
                </a:lnTo>
                <a:lnTo>
                  <a:pt x="0" y="0"/>
                </a:lnTo>
                <a:lnTo>
                  <a:pt x="0" y="34"/>
                </a:lnTo>
                <a:lnTo>
                  <a:pt x="2362" y="34"/>
                </a:lnTo>
                <a:lnTo>
                  <a:pt x="236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2366" name="Freeform 151">
            <a:extLst>
              <a:ext uri="{FF2B5EF4-FFF2-40B4-BE49-F238E27FC236}">
                <a16:creationId xmlns:a16="http://schemas.microsoft.com/office/drawing/2014/main" id="{6E139383-146B-28E3-BFEA-E06ED1DEC52A}"/>
              </a:ext>
            </a:extLst>
          </p:cNvPr>
          <p:cNvSpPr>
            <a:spLocks/>
          </p:cNvSpPr>
          <p:nvPr/>
        </p:nvSpPr>
        <p:spPr bwMode="auto">
          <a:xfrm>
            <a:off x="1447800" y="3587750"/>
            <a:ext cx="1677988" cy="26988"/>
          </a:xfrm>
          <a:custGeom>
            <a:avLst/>
            <a:gdLst>
              <a:gd name="T0" fmla="*/ 1677988 w 2115"/>
              <a:gd name="T1" fmla="*/ 13494 h 34"/>
              <a:gd name="T2" fmla="*/ 1677988 w 2115"/>
              <a:gd name="T3" fmla="*/ 0 h 34"/>
              <a:gd name="T4" fmla="*/ 0 w 2115"/>
              <a:gd name="T5" fmla="*/ 0 h 34"/>
              <a:gd name="T6" fmla="*/ 0 w 2115"/>
              <a:gd name="T7" fmla="*/ 26988 h 34"/>
              <a:gd name="T8" fmla="*/ 1677988 w 2115"/>
              <a:gd name="T9" fmla="*/ 26988 h 34"/>
              <a:gd name="T10" fmla="*/ 1677988 w 2115"/>
              <a:gd name="T11" fmla="*/ 13494 h 3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15"/>
              <a:gd name="T19" fmla="*/ 0 h 34"/>
              <a:gd name="T20" fmla="*/ 2115 w 2115"/>
              <a:gd name="T21" fmla="*/ 34 h 3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15" h="34">
                <a:moveTo>
                  <a:pt x="2115" y="17"/>
                </a:moveTo>
                <a:lnTo>
                  <a:pt x="2115" y="0"/>
                </a:lnTo>
                <a:lnTo>
                  <a:pt x="0" y="0"/>
                </a:lnTo>
                <a:lnTo>
                  <a:pt x="0" y="34"/>
                </a:lnTo>
                <a:lnTo>
                  <a:pt x="2115" y="34"/>
                </a:lnTo>
                <a:lnTo>
                  <a:pt x="2115" y="17"/>
                </a:lnTo>
                <a:close/>
              </a:path>
            </a:pathLst>
          </a:custGeom>
          <a:solidFill>
            <a:srgbClr val="000000"/>
          </a:solidFill>
          <a:ln w="635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2367" name="Freeform 152">
            <a:extLst>
              <a:ext uri="{FF2B5EF4-FFF2-40B4-BE49-F238E27FC236}">
                <a16:creationId xmlns:a16="http://schemas.microsoft.com/office/drawing/2014/main" id="{BCDB8A78-FA4B-4D0F-FFE4-C7B0B17E1083}"/>
              </a:ext>
            </a:extLst>
          </p:cNvPr>
          <p:cNvSpPr>
            <a:spLocks/>
          </p:cNvSpPr>
          <p:nvPr/>
        </p:nvSpPr>
        <p:spPr bwMode="auto">
          <a:xfrm>
            <a:off x="3914775" y="3587750"/>
            <a:ext cx="1876425" cy="26988"/>
          </a:xfrm>
          <a:custGeom>
            <a:avLst/>
            <a:gdLst>
              <a:gd name="T0" fmla="*/ 1876425 w 2362"/>
              <a:gd name="T1" fmla="*/ 13494 h 34"/>
              <a:gd name="T2" fmla="*/ 1876425 w 2362"/>
              <a:gd name="T3" fmla="*/ 0 h 34"/>
              <a:gd name="T4" fmla="*/ 0 w 2362"/>
              <a:gd name="T5" fmla="*/ 0 h 34"/>
              <a:gd name="T6" fmla="*/ 0 w 2362"/>
              <a:gd name="T7" fmla="*/ 26988 h 34"/>
              <a:gd name="T8" fmla="*/ 1876425 w 2362"/>
              <a:gd name="T9" fmla="*/ 26988 h 34"/>
              <a:gd name="T10" fmla="*/ 1876425 w 2362"/>
              <a:gd name="T11" fmla="*/ 13494 h 3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362"/>
              <a:gd name="T19" fmla="*/ 0 h 34"/>
              <a:gd name="T20" fmla="*/ 2362 w 2362"/>
              <a:gd name="T21" fmla="*/ 34 h 3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362" h="34">
                <a:moveTo>
                  <a:pt x="2362" y="17"/>
                </a:moveTo>
                <a:lnTo>
                  <a:pt x="2362" y="0"/>
                </a:lnTo>
                <a:lnTo>
                  <a:pt x="0" y="0"/>
                </a:lnTo>
                <a:lnTo>
                  <a:pt x="0" y="34"/>
                </a:lnTo>
                <a:lnTo>
                  <a:pt x="2362" y="34"/>
                </a:lnTo>
                <a:lnTo>
                  <a:pt x="236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2368" name="Line 154">
            <a:extLst>
              <a:ext uri="{FF2B5EF4-FFF2-40B4-BE49-F238E27FC236}">
                <a16:creationId xmlns:a16="http://schemas.microsoft.com/office/drawing/2014/main" id="{2C6F2547-FE5E-14D0-2313-E51EBF80B8D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097463" y="2667000"/>
            <a:ext cx="173355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52369" name="Rectangle 156">
            <a:extLst>
              <a:ext uri="{FF2B5EF4-FFF2-40B4-BE49-F238E27FC236}">
                <a16:creationId xmlns:a16="http://schemas.microsoft.com/office/drawing/2014/main" id="{44FDE8D3-1CB9-98C0-0E36-9DB8D0A41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6100" y="1828800"/>
            <a:ext cx="2522538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</a:pPr>
            <a:r>
              <a:rPr lang="it-IT" altLang="it-IT" sz="2400"/>
              <a:t>Y è una variabile</a:t>
            </a:r>
          </a:p>
          <a:p>
            <a:pPr algn="l">
              <a:spcBef>
                <a:spcPct val="0"/>
              </a:spcBef>
            </a:pPr>
            <a:r>
              <a:rPr lang="it-IT" altLang="it-IT" sz="2400"/>
              <a:t>acceduta tramite </a:t>
            </a:r>
          </a:p>
          <a:p>
            <a:pPr algn="l">
              <a:spcBef>
                <a:spcPct val="0"/>
              </a:spcBef>
            </a:pPr>
            <a:r>
              <a:rPr lang="it-IT" altLang="it-IT" sz="2400"/>
              <a:t>direct addressing</a:t>
            </a:r>
          </a:p>
          <a:p>
            <a:pPr algn="l">
              <a:spcBef>
                <a:spcPct val="0"/>
              </a:spcBef>
            </a:pPr>
            <a:r>
              <a:rPr lang="it-IT" altLang="it-IT" sz="2400"/>
              <a:t>(000600)</a:t>
            </a:r>
          </a:p>
        </p:txBody>
      </p:sp>
      <p:sp>
        <p:nvSpPr>
          <p:cNvPr id="52370" name="Line 157">
            <a:extLst>
              <a:ext uri="{FF2B5EF4-FFF2-40B4-BE49-F238E27FC236}">
                <a16:creationId xmlns:a16="http://schemas.microsoft.com/office/drawing/2014/main" id="{11B6C108-933C-403F-E8A1-AD99EE81DE3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00400" y="2667000"/>
            <a:ext cx="3630613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grpSp>
        <p:nvGrpSpPr>
          <p:cNvPr id="52371" name="Group 159">
            <a:extLst>
              <a:ext uri="{FF2B5EF4-FFF2-40B4-BE49-F238E27FC236}">
                <a16:creationId xmlns:a16="http://schemas.microsoft.com/office/drawing/2014/main" id="{26E8CEC1-AC0C-75B6-174F-4E1F79FD9965}"/>
              </a:ext>
            </a:extLst>
          </p:cNvPr>
          <p:cNvGrpSpPr>
            <a:grpSpLocks/>
          </p:cNvGrpSpPr>
          <p:nvPr/>
        </p:nvGrpSpPr>
        <p:grpSpPr bwMode="auto">
          <a:xfrm>
            <a:off x="5229225" y="3124200"/>
            <a:ext cx="4452938" cy="2619375"/>
            <a:chOff x="3312" y="2064"/>
            <a:chExt cx="2589" cy="1650"/>
          </a:xfrm>
        </p:grpSpPr>
        <p:sp>
          <p:nvSpPr>
            <p:cNvPr id="52385" name="Line 160">
              <a:extLst>
                <a:ext uri="{FF2B5EF4-FFF2-40B4-BE49-F238E27FC236}">
                  <a16:creationId xmlns:a16="http://schemas.microsoft.com/office/drawing/2014/main" id="{4733251D-4C37-8F5F-EFFA-594B57372C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12" y="2064"/>
              <a:ext cx="1008" cy="9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2386" name="Rectangle 161">
              <a:extLst>
                <a:ext uri="{FF2B5EF4-FFF2-40B4-BE49-F238E27FC236}">
                  <a16:creationId xmlns:a16="http://schemas.microsoft.com/office/drawing/2014/main" id="{AAA5AFEF-BC08-8E45-92B0-2E39642CA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4" y="2966"/>
              <a:ext cx="2167" cy="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defTabSz="7620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lang="it-IT" altLang="it-IT" sz="2400"/>
                <a:t>Questo è un operando </a:t>
              </a:r>
            </a:p>
            <a:p>
              <a:pPr algn="l">
                <a:spcBef>
                  <a:spcPct val="0"/>
                </a:spcBef>
              </a:pPr>
              <a:r>
                <a:rPr lang="it-IT" altLang="it-IT" sz="2400"/>
                <a:t>di tipo literal, memorizzato</a:t>
              </a:r>
            </a:p>
            <a:p>
              <a:pPr algn="l">
                <a:spcBef>
                  <a:spcPct val="0"/>
                </a:spcBef>
              </a:pPr>
              <a:r>
                <a:rPr lang="it-IT" altLang="it-IT" sz="2400"/>
                <a:t>come parte dell’istruzione</a:t>
              </a:r>
            </a:p>
          </p:txBody>
        </p:sp>
      </p:grpSp>
      <p:sp>
        <p:nvSpPr>
          <p:cNvPr id="52372" name="Line 162">
            <a:extLst>
              <a:ext uri="{FF2B5EF4-FFF2-40B4-BE49-F238E27FC236}">
                <a16:creationId xmlns:a16="http://schemas.microsoft.com/office/drawing/2014/main" id="{622F29C0-D7E7-D999-41E2-8C3399CD538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652713" y="3048000"/>
            <a:ext cx="4310062" cy="1600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grpSp>
        <p:nvGrpSpPr>
          <p:cNvPr id="4" name="Group 163">
            <a:extLst>
              <a:ext uri="{FF2B5EF4-FFF2-40B4-BE49-F238E27FC236}">
                <a16:creationId xmlns:a16="http://schemas.microsoft.com/office/drawing/2014/main" id="{98B9CD70-3964-B2E8-06E2-30C5CFAF6690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3200400"/>
            <a:ext cx="6496050" cy="1552575"/>
            <a:chOff x="1968" y="2102"/>
            <a:chExt cx="4092" cy="978"/>
          </a:xfrm>
        </p:grpSpPr>
        <p:sp>
          <p:nvSpPr>
            <p:cNvPr id="52382" name="Line 164">
              <a:extLst>
                <a:ext uri="{FF2B5EF4-FFF2-40B4-BE49-F238E27FC236}">
                  <a16:creationId xmlns:a16="http://schemas.microsoft.com/office/drawing/2014/main" id="{676D9015-C9E7-48CE-5D4C-F5E193BE60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21" y="2178"/>
              <a:ext cx="732" cy="17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2383" name="Rectangle 165">
              <a:extLst>
                <a:ext uri="{FF2B5EF4-FFF2-40B4-BE49-F238E27FC236}">
                  <a16:creationId xmlns:a16="http://schemas.microsoft.com/office/drawing/2014/main" id="{454E3125-0921-2345-F0A9-C9F5B0B368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2102"/>
              <a:ext cx="1740" cy="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defTabSz="7620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lang="it-IT" altLang="it-IT" sz="2400"/>
                <a:t>Z è una a variabile</a:t>
              </a:r>
            </a:p>
            <a:p>
              <a:pPr algn="l">
                <a:spcBef>
                  <a:spcPct val="0"/>
                </a:spcBef>
              </a:pPr>
              <a:r>
                <a:rPr lang="it-IT" altLang="it-IT" sz="2400"/>
                <a:t>acceduta mediante</a:t>
              </a:r>
            </a:p>
            <a:p>
              <a:pPr algn="l">
                <a:spcBef>
                  <a:spcPct val="0"/>
                </a:spcBef>
              </a:pPr>
              <a:r>
                <a:rPr lang="it-IT" altLang="it-IT" sz="2400"/>
                <a:t>direct addressing</a:t>
              </a:r>
            </a:p>
            <a:p>
              <a:pPr algn="l">
                <a:spcBef>
                  <a:spcPct val="0"/>
                </a:spcBef>
              </a:pPr>
              <a:r>
                <a:rPr lang="it-IT" altLang="it-IT" sz="2400"/>
                <a:t>(000601)</a:t>
              </a:r>
            </a:p>
          </p:txBody>
        </p:sp>
        <p:sp>
          <p:nvSpPr>
            <p:cNvPr id="52384" name="Line 166">
              <a:extLst>
                <a:ext uri="{FF2B5EF4-FFF2-40B4-BE49-F238E27FC236}">
                  <a16:creationId xmlns:a16="http://schemas.microsoft.com/office/drawing/2014/main" id="{DCF522CE-E2B2-3C6A-A7A9-5B516298A9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968" y="2178"/>
              <a:ext cx="2268" cy="17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52374" name="Text Box 167">
            <a:extLst>
              <a:ext uri="{FF2B5EF4-FFF2-40B4-BE49-F238E27FC236}">
                <a16:creationId xmlns:a16="http://schemas.microsoft.com/office/drawing/2014/main" id="{38405F94-B956-6C18-921B-8775ABBF2C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6963" y="1752600"/>
            <a:ext cx="23288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Memoria codice </a:t>
            </a:r>
          </a:p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(forma numerica)</a:t>
            </a:r>
          </a:p>
        </p:txBody>
      </p:sp>
      <p:sp>
        <p:nvSpPr>
          <p:cNvPr id="52375" name="Text Box 168">
            <a:extLst>
              <a:ext uri="{FF2B5EF4-FFF2-40B4-BE49-F238E27FC236}">
                <a16:creationId xmlns:a16="http://schemas.microsoft.com/office/drawing/2014/main" id="{FCFD0313-3FA8-A0D7-EF6A-D36FF23D9C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1100" y="1781175"/>
            <a:ext cx="232886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Memoria codice </a:t>
            </a:r>
          </a:p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(forma mnemonica)</a:t>
            </a:r>
          </a:p>
        </p:txBody>
      </p:sp>
      <p:sp>
        <p:nvSpPr>
          <p:cNvPr id="52376" name="Text Box 169">
            <a:extLst>
              <a:ext uri="{FF2B5EF4-FFF2-40B4-BE49-F238E27FC236}">
                <a16:creationId xmlns:a16="http://schemas.microsoft.com/office/drawing/2014/main" id="{96A132C4-D9C3-59AB-4C53-13A665A3C9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" y="6148388"/>
            <a:ext cx="59928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/>
              <a:t>16 bit che codificano l’istruzione (ad es. la MOVE)</a:t>
            </a:r>
          </a:p>
        </p:txBody>
      </p:sp>
      <p:sp>
        <p:nvSpPr>
          <p:cNvPr id="52377" name="Line 170">
            <a:extLst>
              <a:ext uri="{FF2B5EF4-FFF2-40B4-BE49-F238E27FC236}">
                <a16:creationId xmlns:a16="http://schemas.microsoft.com/office/drawing/2014/main" id="{F6FD97BA-F8E6-4B27-1A3D-A8611857B6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9750" y="3587750"/>
            <a:ext cx="1203325" cy="25606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it-IT"/>
          </a:p>
        </p:txBody>
      </p:sp>
      <p:sp>
        <p:nvSpPr>
          <p:cNvPr id="52378" name="Rectangle 171">
            <a:extLst>
              <a:ext uri="{FF2B5EF4-FFF2-40B4-BE49-F238E27FC236}">
                <a16:creationId xmlns:a16="http://schemas.microsoft.com/office/drawing/2014/main" id="{8751945B-F9D3-1BB7-7705-A7601292A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9163" y="3292475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379" name="Rectangle 172">
            <a:extLst>
              <a:ext uri="{FF2B5EF4-FFF2-40B4-BE49-F238E27FC236}">
                <a16:creationId xmlns:a16="http://schemas.microsoft.com/office/drawing/2014/main" id="{F40B6450-56D4-FBC4-3AD2-CF0164848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3925" y="2941638"/>
            <a:ext cx="1127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it-IT" altLang="it-IT" sz="1600">
                <a:solidFill>
                  <a:srgbClr val="000000"/>
                </a:solidFill>
              </a:rPr>
              <a:t>0</a:t>
            </a:r>
            <a:endParaRPr lang="it-IT" altLang="it-IT" sz="2800" b="1"/>
          </a:p>
        </p:txBody>
      </p:sp>
      <p:sp>
        <p:nvSpPr>
          <p:cNvPr id="52380" name="Line 174">
            <a:extLst>
              <a:ext uri="{FF2B5EF4-FFF2-40B4-BE49-F238E27FC236}">
                <a16:creationId xmlns:a16="http://schemas.microsoft.com/office/drawing/2014/main" id="{FA3FB985-2AD6-3076-3E76-0ADCAE11439D}"/>
              </a:ext>
            </a:extLst>
          </p:cNvPr>
          <p:cNvSpPr>
            <a:spLocks noChangeShapeType="1"/>
          </p:cNvSpPr>
          <p:nvPr/>
        </p:nvSpPr>
        <p:spPr bwMode="auto">
          <a:xfrm>
            <a:off x="122238" y="5157788"/>
            <a:ext cx="34448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it-IT"/>
          </a:p>
        </p:txBody>
      </p:sp>
      <p:sp>
        <p:nvSpPr>
          <p:cNvPr id="52381" name="Line 175">
            <a:extLst>
              <a:ext uri="{FF2B5EF4-FFF2-40B4-BE49-F238E27FC236}">
                <a16:creationId xmlns:a16="http://schemas.microsoft.com/office/drawing/2014/main" id="{79FEBD89-57AC-4BA9-0A0B-682A0408AF14}"/>
              </a:ext>
            </a:extLst>
          </p:cNvPr>
          <p:cNvSpPr>
            <a:spLocks noChangeShapeType="1"/>
          </p:cNvSpPr>
          <p:nvPr/>
        </p:nvSpPr>
        <p:spPr bwMode="auto">
          <a:xfrm>
            <a:off x="122238" y="4822825"/>
            <a:ext cx="34448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egnaposto numero diapositiva 5">
            <a:extLst>
              <a:ext uri="{FF2B5EF4-FFF2-40B4-BE49-F238E27FC236}">
                <a16:creationId xmlns:a16="http://schemas.microsoft.com/office/drawing/2014/main" id="{DF06D6D0-6C3D-F4DB-41F8-6D5B5EF2B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42452D7-EAE0-4AEB-8D0D-67E2708596D2}" type="slidenum">
              <a:rPr lang="it-IT" altLang="it-IT" sz="1400">
                <a:latin typeface="Times New Roman" panose="02020603050405020304" pitchFamily="18" charset="0"/>
              </a:rPr>
              <a:pPr/>
              <a:t>37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61C1E467-9049-3BA4-C5AD-0E75B7041B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Riepilogo modi fondamentali</a:t>
            </a:r>
          </a:p>
        </p:txBody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5F0011AB-E1D7-0120-09D1-1A665495B9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it-IT" sz="2400">
                <a:solidFill>
                  <a:srgbClr val="FF0033"/>
                </a:solidFill>
                <a:ea typeface="ＭＳ Ｐゴシック" panose="020B0600070205080204" pitchFamily="34" charset="-128"/>
              </a:rPr>
              <a:t>Register direct addressing</a:t>
            </a:r>
            <a:r>
              <a:rPr lang="it-IT" altLang="it-IT" sz="2400">
                <a:ea typeface="ＭＳ Ｐゴシック" panose="020B0600070205080204" pitchFamily="34" charset="-128"/>
              </a:rPr>
              <a:t>  - È usato per variabili che possono essere mantenute in registri di memoria</a:t>
            </a:r>
          </a:p>
          <a:p>
            <a:pPr eaLnBrk="1" hangingPunct="1"/>
            <a:endParaRPr lang="it-IT" altLang="it-IT" sz="2400">
              <a:ea typeface="ＭＳ Ｐゴシック" panose="020B0600070205080204" pitchFamily="34" charset="-128"/>
            </a:endParaRPr>
          </a:p>
          <a:p>
            <a:pPr eaLnBrk="1" hangingPunct="1"/>
            <a:r>
              <a:rPr lang="it-IT" altLang="it-IT" sz="2400">
                <a:solidFill>
                  <a:srgbClr val="FF0033"/>
                </a:solidFill>
                <a:ea typeface="ＭＳ Ｐゴシック" panose="020B0600070205080204" pitchFamily="34" charset="-128"/>
              </a:rPr>
              <a:t>Literal (immediate) addressing</a:t>
            </a:r>
            <a:r>
              <a:rPr lang="it-IT" altLang="it-IT" sz="2400">
                <a:ea typeface="ＭＳ Ｐゴシック" panose="020B0600070205080204" pitchFamily="34" charset="-128"/>
              </a:rPr>
              <a:t> - È usato per costanti che non cambiano</a:t>
            </a:r>
          </a:p>
          <a:p>
            <a:pPr eaLnBrk="1" hangingPunct="1"/>
            <a:endParaRPr lang="it-IT" altLang="it-IT" sz="2400">
              <a:ea typeface="ＭＳ Ｐゴシック" panose="020B0600070205080204" pitchFamily="34" charset="-128"/>
            </a:endParaRPr>
          </a:p>
          <a:p>
            <a:pPr eaLnBrk="1" hangingPunct="1"/>
            <a:r>
              <a:rPr lang="it-IT" altLang="it-IT" sz="2400">
                <a:solidFill>
                  <a:srgbClr val="FF0033"/>
                </a:solidFill>
                <a:ea typeface="ＭＳ Ｐゴシック" panose="020B0600070205080204" pitchFamily="34" charset="-128"/>
              </a:rPr>
              <a:t>Direct (absolute) addressing</a:t>
            </a:r>
            <a:r>
              <a:rPr lang="it-IT" altLang="it-IT" sz="2400">
                <a:ea typeface="ＭＳ Ｐゴシック" panose="020B0600070205080204" pitchFamily="34" charset="-128"/>
              </a:rPr>
              <a:t>  - È usato per variabili che risiedono in memoria</a:t>
            </a:r>
          </a:p>
          <a:p>
            <a:pPr eaLnBrk="1" hangingPunct="1"/>
            <a:endParaRPr lang="it-IT" altLang="it-IT" sz="24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egnaposto numero diapositiva 5">
            <a:extLst>
              <a:ext uri="{FF2B5EF4-FFF2-40B4-BE49-F238E27FC236}">
                <a16:creationId xmlns:a16="http://schemas.microsoft.com/office/drawing/2014/main" id="{50C49C92-A0E7-C0D9-06AB-B520B1B7A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61EE310-2871-44EF-940A-40807427612A}" type="slidenum">
              <a:rPr lang="it-IT" altLang="it-IT" sz="1400">
                <a:latin typeface="Times New Roman" panose="02020603050405020304" pitchFamily="18" charset="0"/>
              </a:rPr>
              <a:pPr/>
              <a:t>38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54275" name="Rectangle 3074">
            <a:extLst>
              <a:ext uri="{FF2B5EF4-FFF2-40B4-BE49-F238E27FC236}">
                <a16:creationId xmlns:a16="http://schemas.microsoft.com/office/drawing/2014/main" id="{DBADB8AA-560E-05BD-937B-55FD2FC4AE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Address Register Indirect Addressing</a:t>
            </a:r>
          </a:p>
        </p:txBody>
      </p:sp>
      <p:sp>
        <p:nvSpPr>
          <p:cNvPr id="54276" name="Rectangle 3075">
            <a:extLst>
              <a:ext uri="{FF2B5EF4-FFF2-40B4-BE49-F238E27FC236}">
                <a16:creationId xmlns:a16="http://schemas.microsoft.com/office/drawing/2014/main" id="{5D0F5131-6C9A-0283-9955-3BB60E6668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L’istruzione specifica uno dei registri indirizzo</a:t>
            </a:r>
          </a:p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Il registro indirizzo specificato contiene l’indirizzo effettivo dell’operando</a:t>
            </a:r>
          </a:p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Il processore accede all’operando puntato dal registro indirizzo</a:t>
            </a:r>
          </a:p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Esempio:</a:t>
            </a:r>
          </a:p>
          <a:p>
            <a:pPr lvl="1" eaLnBrk="1" hangingPunct="1"/>
            <a:r>
              <a:rPr lang="it-IT" altLang="it-IT" sz="2800">
                <a:latin typeface="LetterGothic" charset="0"/>
                <a:ea typeface="ＭＳ Ｐゴシック" panose="020B0600070205080204" pitchFamily="34" charset="-128"/>
              </a:rPr>
              <a:t>MOVE.B (A0),D0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egnaposto numero diapositiva 5">
            <a:extLst>
              <a:ext uri="{FF2B5EF4-FFF2-40B4-BE49-F238E27FC236}">
                <a16:creationId xmlns:a16="http://schemas.microsoft.com/office/drawing/2014/main" id="{4D47E342-B9B0-B8AA-565E-EFA91841C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5A22393-916D-45DC-891B-1E600F47F3E0}" type="slidenum">
              <a:rPr lang="it-IT" altLang="it-IT" sz="1400">
                <a:latin typeface="Times New Roman" panose="02020603050405020304" pitchFamily="18" charset="0"/>
              </a:rPr>
              <a:pPr/>
              <a:t>39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CB1A963E-FB81-18E5-6701-DAD962D58E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Address Register Indirect - Funzionamento</a:t>
            </a:r>
          </a:p>
        </p:txBody>
      </p:sp>
      <p:sp>
        <p:nvSpPr>
          <p:cNvPr id="437253" name="Rectangle 5">
            <a:extLst>
              <a:ext uri="{FF2B5EF4-FFF2-40B4-BE49-F238E27FC236}">
                <a16:creationId xmlns:a16="http://schemas.microsoft.com/office/drawing/2014/main" id="{E51055D5-82AA-124E-8567-D12E76B80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5013" y="1628775"/>
            <a:ext cx="3211512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it-IT" altLang="it-IT" sz="2400"/>
              <a:t>Questa istruzione significa: carica D0 con il contenuto della locazione puntata dal  registro indirizzo A0</a:t>
            </a:r>
          </a:p>
        </p:txBody>
      </p:sp>
      <p:sp>
        <p:nvSpPr>
          <p:cNvPr id="55301" name="Rectangle 7">
            <a:extLst>
              <a:ext uri="{FF2B5EF4-FFF2-40B4-BE49-F238E27FC236}">
                <a16:creationId xmlns:a16="http://schemas.microsoft.com/office/drawing/2014/main" id="{FC94AB32-EDA5-5FFC-CA11-AB131D30B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2763" y="5165725"/>
            <a:ext cx="727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</a:pPr>
            <a:r>
              <a:rPr lang="it-IT" altLang="it-IT" sz="2400"/>
              <a:t>L’istruzione specifica l’operando sorgente come (A0)</a:t>
            </a:r>
          </a:p>
        </p:txBody>
      </p:sp>
      <p:sp>
        <p:nvSpPr>
          <p:cNvPr id="55302" name="AutoShape 9">
            <a:extLst>
              <a:ext uri="{FF2B5EF4-FFF2-40B4-BE49-F238E27FC236}">
                <a16:creationId xmlns:a16="http://schemas.microsoft.com/office/drawing/2014/main" id="{3C97C13B-2A1F-EDE1-9D2D-06B30AC8A51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452563" y="2135188"/>
            <a:ext cx="6788150" cy="257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55303" name="Rectangle 11">
            <a:extLst>
              <a:ext uri="{FF2B5EF4-FFF2-40B4-BE49-F238E27FC236}">
                <a16:creationId xmlns:a16="http://schemas.microsoft.com/office/drawing/2014/main" id="{B31F9D5A-EE75-5310-E59B-525853040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2563" y="2890838"/>
            <a:ext cx="987425" cy="454025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5304" name="Freeform 12">
            <a:extLst>
              <a:ext uri="{FF2B5EF4-FFF2-40B4-BE49-F238E27FC236}">
                <a16:creationId xmlns:a16="http://schemas.microsoft.com/office/drawing/2014/main" id="{308B420F-7AC6-1D5E-DAE1-7D79C2C62408}"/>
              </a:ext>
            </a:extLst>
          </p:cNvPr>
          <p:cNvSpPr>
            <a:spLocks/>
          </p:cNvSpPr>
          <p:nvPr/>
        </p:nvSpPr>
        <p:spPr bwMode="auto">
          <a:xfrm>
            <a:off x="1452563" y="2886075"/>
            <a:ext cx="992187" cy="9525"/>
          </a:xfrm>
          <a:custGeom>
            <a:avLst/>
            <a:gdLst>
              <a:gd name="T0" fmla="*/ 992187 w 1251"/>
              <a:gd name="T1" fmla="*/ 4330 h 11"/>
              <a:gd name="T2" fmla="*/ 987428 w 1251"/>
              <a:gd name="T3" fmla="*/ 0 h 11"/>
              <a:gd name="T4" fmla="*/ 0 w 1251"/>
              <a:gd name="T5" fmla="*/ 0 h 11"/>
              <a:gd name="T6" fmla="*/ 0 w 1251"/>
              <a:gd name="T7" fmla="*/ 9525 h 11"/>
              <a:gd name="T8" fmla="*/ 987428 w 1251"/>
              <a:gd name="T9" fmla="*/ 9525 h 11"/>
              <a:gd name="T10" fmla="*/ 981877 w 1251"/>
              <a:gd name="T11" fmla="*/ 4330 h 11"/>
              <a:gd name="T12" fmla="*/ 992187 w 1251"/>
              <a:gd name="T13" fmla="*/ 4330 h 11"/>
              <a:gd name="T14" fmla="*/ 992187 w 1251"/>
              <a:gd name="T15" fmla="*/ 0 h 11"/>
              <a:gd name="T16" fmla="*/ 987428 w 1251"/>
              <a:gd name="T17" fmla="*/ 0 h 11"/>
              <a:gd name="T18" fmla="*/ 992187 w 1251"/>
              <a:gd name="T19" fmla="*/ 4330 h 1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251"/>
              <a:gd name="T31" fmla="*/ 0 h 11"/>
              <a:gd name="T32" fmla="*/ 1251 w 1251"/>
              <a:gd name="T33" fmla="*/ 11 h 11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251" h="11">
                <a:moveTo>
                  <a:pt x="1251" y="5"/>
                </a:moveTo>
                <a:lnTo>
                  <a:pt x="1245" y="0"/>
                </a:lnTo>
                <a:lnTo>
                  <a:pt x="0" y="0"/>
                </a:lnTo>
                <a:lnTo>
                  <a:pt x="0" y="11"/>
                </a:lnTo>
                <a:lnTo>
                  <a:pt x="1245" y="11"/>
                </a:lnTo>
                <a:lnTo>
                  <a:pt x="1238" y="5"/>
                </a:lnTo>
                <a:lnTo>
                  <a:pt x="1251" y="5"/>
                </a:lnTo>
                <a:lnTo>
                  <a:pt x="1251" y="0"/>
                </a:lnTo>
                <a:lnTo>
                  <a:pt x="1245" y="0"/>
                </a:lnTo>
                <a:lnTo>
                  <a:pt x="1251" y="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5305" name="Freeform 13">
            <a:extLst>
              <a:ext uri="{FF2B5EF4-FFF2-40B4-BE49-F238E27FC236}">
                <a16:creationId xmlns:a16="http://schemas.microsoft.com/office/drawing/2014/main" id="{309D5872-506F-7F05-528B-5EFA652E8E79}"/>
              </a:ext>
            </a:extLst>
          </p:cNvPr>
          <p:cNvSpPr>
            <a:spLocks/>
          </p:cNvSpPr>
          <p:nvPr/>
        </p:nvSpPr>
        <p:spPr bwMode="auto">
          <a:xfrm>
            <a:off x="2435225" y="2890838"/>
            <a:ext cx="9525" cy="458787"/>
          </a:xfrm>
          <a:custGeom>
            <a:avLst/>
            <a:gdLst>
              <a:gd name="T0" fmla="*/ 5129 w 13"/>
              <a:gd name="T1" fmla="*/ 458787 h 579"/>
              <a:gd name="T2" fmla="*/ 9525 w 13"/>
              <a:gd name="T3" fmla="*/ 454033 h 579"/>
              <a:gd name="T4" fmla="*/ 9525 w 13"/>
              <a:gd name="T5" fmla="*/ 0 h 579"/>
              <a:gd name="T6" fmla="*/ 0 w 13"/>
              <a:gd name="T7" fmla="*/ 0 h 579"/>
              <a:gd name="T8" fmla="*/ 0 w 13"/>
              <a:gd name="T9" fmla="*/ 454033 h 579"/>
              <a:gd name="T10" fmla="*/ 5129 w 13"/>
              <a:gd name="T11" fmla="*/ 449278 h 579"/>
              <a:gd name="T12" fmla="*/ 5129 w 13"/>
              <a:gd name="T13" fmla="*/ 458787 h 579"/>
              <a:gd name="T14" fmla="*/ 9525 w 13"/>
              <a:gd name="T15" fmla="*/ 458787 h 579"/>
              <a:gd name="T16" fmla="*/ 9525 w 13"/>
              <a:gd name="T17" fmla="*/ 454033 h 579"/>
              <a:gd name="T18" fmla="*/ 5129 w 13"/>
              <a:gd name="T19" fmla="*/ 458787 h 57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3"/>
              <a:gd name="T31" fmla="*/ 0 h 579"/>
              <a:gd name="T32" fmla="*/ 13 w 13"/>
              <a:gd name="T33" fmla="*/ 579 h 579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3" h="579">
                <a:moveTo>
                  <a:pt x="7" y="579"/>
                </a:moveTo>
                <a:lnTo>
                  <a:pt x="13" y="573"/>
                </a:lnTo>
                <a:lnTo>
                  <a:pt x="13" y="0"/>
                </a:lnTo>
                <a:lnTo>
                  <a:pt x="0" y="0"/>
                </a:lnTo>
                <a:lnTo>
                  <a:pt x="0" y="573"/>
                </a:lnTo>
                <a:lnTo>
                  <a:pt x="7" y="567"/>
                </a:lnTo>
                <a:lnTo>
                  <a:pt x="7" y="579"/>
                </a:lnTo>
                <a:lnTo>
                  <a:pt x="13" y="579"/>
                </a:lnTo>
                <a:lnTo>
                  <a:pt x="13" y="573"/>
                </a:lnTo>
                <a:lnTo>
                  <a:pt x="7" y="57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5306" name="Freeform 14">
            <a:extLst>
              <a:ext uri="{FF2B5EF4-FFF2-40B4-BE49-F238E27FC236}">
                <a16:creationId xmlns:a16="http://schemas.microsoft.com/office/drawing/2014/main" id="{BA6A8EDE-B9BF-6ABF-1D5F-E7E60DA20390}"/>
              </a:ext>
            </a:extLst>
          </p:cNvPr>
          <p:cNvSpPr>
            <a:spLocks/>
          </p:cNvSpPr>
          <p:nvPr/>
        </p:nvSpPr>
        <p:spPr bwMode="auto">
          <a:xfrm>
            <a:off x="1447800" y="3341688"/>
            <a:ext cx="992188" cy="7937"/>
          </a:xfrm>
          <a:custGeom>
            <a:avLst/>
            <a:gdLst>
              <a:gd name="T0" fmla="*/ 0 w 1251"/>
              <a:gd name="T1" fmla="*/ 3969 h 12"/>
              <a:gd name="T2" fmla="*/ 4759 w 1251"/>
              <a:gd name="T3" fmla="*/ 7937 h 12"/>
              <a:gd name="T4" fmla="*/ 992188 w 1251"/>
              <a:gd name="T5" fmla="*/ 7937 h 12"/>
              <a:gd name="T6" fmla="*/ 992188 w 1251"/>
              <a:gd name="T7" fmla="*/ 0 h 12"/>
              <a:gd name="T8" fmla="*/ 4759 w 1251"/>
              <a:gd name="T9" fmla="*/ 0 h 12"/>
              <a:gd name="T10" fmla="*/ 9517 w 1251"/>
              <a:gd name="T11" fmla="*/ 3969 h 12"/>
              <a:gd name="T12" fmla="*/ 0 w 1251"/>
              <a:gd name="T13" fmla="*/ 3969 h 12"/>
              <a:gd name="T14" fmla="*/ 0 w 1251"/>
              <a:gd name="T15" fmla="*/ 7937 h 12"/>
              <a:gd name="T16" fmla="*/ 4759 w 1251"/>
              <a:gd name="T17" fmla="*/ 7937 h 12"/>
              <a:gd name="T18" fmla="*/ 0 w 1251"/>
              <a:gd name="T19" fmla="*/ 3969 h 1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251"/>
              <a:gd name="T31" fmla="*/ 0 h 12"/>
              <a:gd name="T32" fmla="*/ 1251 w 1251"/>
              <a:gd name="T33" fmla="*/ 12 h 1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251" h="12">
                <a:moveTo>
                  <a:pt x="0" y="6"/>
                </a:moveTo>
                <a:lnTo>
                  <a:pt x="6" y="12"/>
                </a:lnTo>
                <a:lnTo>
                  <a:pt x="1251" y="12"/>
                </a:lnTo>
                <a:lnTo>
                  <a:pt x="1251" y="0"/>
                </a:lnTo>
                <a:lnTo>
                  <a:pt x="6" y="0"/>
                </a:lnTo>
                <a:lnTo>
                  <a:pt x="12" y="6"/>
                </a:lnTo>
                <a:lnTo>
                  <a:pt x="0" y="6"/>
                </a:lnTo>
                <a:lnTo>
                  <a:pt x="0" y="12"/>
                </a:lnTo>
                <a:lnTo>
                  <a:pt x="6" y="12"/>
                </a:lnTo>
                <a:lnTo>
                  <a:pt x="0" y="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5307" name="Freeform 15">
            <a:extLst>
              <a:ext uri="{FF2B5EF4-FFF2-40B4-BE49-F238E27FC236}">
                <a16:creationId xmlns:a16="http://schemas.microsoft.com/office/drawing/2014/main" id="{CEC285F6-093C-EE75-82C0-EA294BF14BAB}"/>
              </a:ext>
            </a:extLst>
          </p:cNvPr>
          <p:cNvSpPr>
            <a:spLocks/>
          </p:cNvSpPr>
          <p:nvPr/>
        </p:nvSpPr>
        <p:spPr bwMode="auto">
          <a:xfrm>
            <a:off x="1447800" y="2886075"/>
            <a:ext cx="9525" cy="458788"/>
          </a:xfrm>
          <a:custGeom>
            <a:avLst/>
            <a:gdLst>
              <a:gd name="T0" fmla="*/ 4763 w 12"/>
              <a:gd name="T1" fmla="*/ 0 h 578"/>
              <a:gd name="T2" fmla="*/ 0 w 12"/>
              <a:gd name="T3" fmla="*/ 3969 h 578"/>
              <a:gd name="T4" fmla="*/ 0 w 12"/>
              <a:gd name="T5" fmla="*/ 458788 h 578"/>
              <a:gd name="T6" fmla="*/ 9525 w 12"/>
              <a:gd name="T7" fmla="*/ 458788 h 578"/>
              <a:gd name="T8" fmla="*/ 9525 w 12"/>
              <a:gd name="T9" fmla="*/ 3969 h 578"/>
              <a:gd name="T10" fmla="*/ 4763 w 12"/>
              <a:gd name="T11" fmla="*/ 8731 h 578"/>
              <a:gd name="T12" fmla="*/ 4763 w 12"/>
              <a:gd name="T13" fmla="*/ 0 h 578"/>
              <a:gd name="T14" fmla="*/ 0 w 12"/>
              <a:gd name="T15" fmla="*/ 0 h 578"/>
              <a:gd name="T16" fmla="*/ 0 w 12"/>
              <a:gd name="T17" fmla="*/ 3969 h 578"/>
              <a:gd name="T18" fmla="*/ 4763 w 12"/>
              <a:gd name="T19" fmla="*/ 0 h 57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2"/>
              <a:gd name="T31" fmla="*/ 0 h 578"/>
              <a:gd name="T32" fmla="*/ 12 w 12"/>
              <a:gd name="T33" fmla="*/ 578 h 57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2" h="578">
                <a:moveTo>
                  <a:pt x="6" y="0"/>
                </a:moveTo>
                <a:lnTo>
                  <a:pt x="0" y="5"/>
                </a:lnTo>
                <a:lnTo>
                  <a:pt x="0" y="578"/>
                </a:lnTo>
                <a:lnTo>
                  <a:pt x="12" y="578"/>
                </a:lnTo>
                <a:lnTo>
                  <a:pt x="12" y="5"/>
                </a:lnTo>
                <a:lnTo>
                  <a:pt x="6" y="11"/>
                </a:lnTo>
                <a:lnTo>
                  <a:pt x="6" y="0"/>
                </a:lnTo>
                <a:lnTo>
                  <a:pt x="0" y="0"/>
                </a:lnTo>
                <a:lnTo>
                  <a:pt x="0" y="5"/>
                </a:lnTo>
                <a:lnTo>
                  <a:pt x="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5308" name="Rectangle 16">
            <a:extLst>
              <a:ext uri="{FF2B5EF4-FFF2-40B4-BE49-F238E27FC236}">
                <a16:creationId xmlns:a16="http://schemas.microsoft.com/office/drawing/2014/main" id="{1EE71B0C-D2C6-BE34-346A-FD35DDF2AA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0550" y="3686175"/>
            <a:ext cx="2370138" cy="4540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5309" name="Freeform 17">
            <a:extLst>
              <a:ext uri="{FF2B5EF4-FFF2-40B4-BE49-F238E27FC236}">
                <a16:creationId xmlns:a16="http://schemas.microsoft.com/office/drawing/2014/main" id="{B993052E-8D70-C49F-A28C-89E162DF4E68}"/>
              </a:ext>
            </a:extLst>
          </p:cNvPr>
          <p:cNvSpPr>
            <a:spLocks/>
          </p:cNvSpPr>
          <p:nvPr/>
        </p:nvSpPr>
        <p:spPr bwMode="auto">
          <a:xfrm>
            <a:off x="3130550" y="3681413"/>
            <a:ext cx="2374900" cy="9525"/>
          </a:xfrm>
          <a:custGeom>
            <a:avLst/>
            <a:gdLst>
              <a:gd name="T0" fmla="*/ 2374900 w 2994"/>
              <a:gd name="T1" fmla="*/ 4763 h 12"/>
              <a:gd name="T2" fmla="*/ 2370141 w 2994"/>
              <a:gd name="T3" fmla="*/ 0 h 12"/>
              <a:gd name="T4" fmla="*/ 0 w 2994"/>
              <a:gd name="T5" fmla="*/ 0 h 12"/>
              <a:gd name="T6" fmla="*/ 0 w 2994"/>
              <a:gd name="T7" fmla="*/ 9525 h 12"/>
              <a:gd name="T8" fmla="*/ 2370141 w 2994"/>
              <a:gd name="T9" fmla="*/ 9525 h 12"/>
              <a:gd name="T10" fmla="*/ 2364588 w 2994"/>
              <a:gd name="T11" fmla="*/ 4763 h 12"/>
              <a:gd name="T12" fmla="*/ 2374900 w 2994"/>
              <a:gd name="T13" fmla="*/ 4763 h 12"/>
              <a:gd name="T14" fmla="*/ 2374900 w 2994"/>
              <a:gd name="T15" fmla="*/ 0 h 12"/>
              <a:gd name="T16" fmla="*/ 2370141 w 2994"/>
              <a:gd name="T17" fmla="*/ 0 h 12"/>
              <a:gd name="T18" fmla="*/ 2374900 w 2994"/>
              <a:gd name="T19" fmla="*/ 4763 h 1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994"/>
              <a:gd name="T31" fmla="*/ 0 h 12"/>
              <a:gd name="T32" fmla="*/ 2994 w 2994"/>
              <a:gd name="T33" fmla="*/ 12 h 1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994" h="12">
                <a:moveTo>
                  <a:pt x="2994" y="6"/>
                </a:moveTo>
                <a:lnTo>
                  <a:pt x="2988" y="0"/>
                </a:lnTo>
                <a:lnTo>
                  <a:pt x="0" y="0"/>
                </a:lnTo>
                <a:lnTo>
                  <a:pt x="0" y="12"/>
                </a:lnTo>
                <a:lnTo>
                  <a:pt x="2988" y="12"/>
                </a:lnTo>
                <a:lnTo>
                  <a:pt x="2981" y="6"/>
                </a:lnTo>
                <a:lnTo>
                  <a:pt x="2994" y="6"/>
                </a:lnTo>
                <a:lnTo>
                  <a:pt x="2994" y="0"/>
                </a:lnTo>
                <a:lnTo>
                  <a:pt x="2988" y="0"/>
                </a:lnTo>
                <a:lnTo>
                  <a:pt x="2994" y="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5310" name="Freeform 18">
            <a:extLst>
              <a:ext uri="{FF2B5EF4-FFF2-40B4-BE49-F238E27FC236}">
                <a16:creationId xmlns:a16="http://schemas.microsoft.com/office/drawing/2014/main" id="{16141B70-F04F-F6C0-EF89-0AC8DDE81B25}"/>
              </a:ext>
            </a:extLst>
          </p:cNvPr>
          <p:cNvSpPr>
            <a:spLocks/>
          </p:cNvSpPr>
          <p:nvPr/>
        </p:nvSpPr>
        <p:spPr bwMode="auto">
          <a:xfrm>
            <a:off x="5495925" y="3686175"/>
            <a:ext cx="9525" cy="458788"/>
          </a:xfrm>
          <a:custGeom>
            <a:avLst/>
            <a:gdLst>
              <a:gd name="T0" fmla="*/ 5129 w 13"/>
              <a:gd name="T1" fmla="*/ 458788 h 578"/>
              <a:gd name="T2" fmla="*/ 9525 w 13"/>
              <a:gd name="T3" fmla="*/ 454819 h 578"/>
              <a:gd name="T4" fmla="*/ 9525 w 13"/>
              <a:gd name="T5" fmla="*/ 0 h 578"/>
              <a:gd name="T6" fmla="*/ 0 w 13"/>
              <a:gd name="T7" fmla="*/ 0 h 578"/>
              <a:gd name="T8" fmla="*/ 0 w 13"/>
              <a:gd name="T9" fmla="*/ 454819 h 578"/>
              <a:gd name="T10" fmla="*/ 5129 w 13"/>
              <a:gd name="T11" fmla="*/ 450057 h 578"/>
              <a:gd name="T12" fmla="*/ 5129 w 13"/>
              <a:gd name="T13" fmla="*/ 458788 h 578"/>
              <a:gd name="T14" fmla="*/ 9525 w 13"/>
              <a:gd name="T15" fmla="*/ 458788 h 578"/>
              <a:gd name="T16" fmla="*/ 9525 w 13"/>
              <a:gd name="T17" fmla="*/ 454819 h 578"/>
              <a:gd name="T18" fmla="*/ 5129 w 13"/>
              <a:gd name="T19" fmla="*/ 458788 h 57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3"/>
              <a:gd name="T31" fmla="*/ 0 h 578"/>
              <a:gd name="T32" fmla="*/ 13 w 13"/>
              <a:gd name="T33" fmla="*/ 578 h 57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3" h="578">
                <a:moveTo>
                  <a:pt x="7" y="578"/>
                </a:moveTo>
                <a:lnTo>
                  <a:pt x="13" y="573"/>
                </a:lnTo>
                <a:lnTo>
                  <a:pt x="13" y="0"/>
                </a:lnTo>
                <a:lnTo>
                  <a:pt x="0" y="0"/>
                </a:lnTo>
                <a:lnTo>
                  <a:pt x="0" y="573"/>
                </a:lnTo>
                <a:lnTo>
                  <a:pt x="7" y="567"/>
                </a:lnTo>
                <a:lnTo>
                  <a:pt x="7" y="578"/>
                </a:lnTo>
                <a:lnTo>
                  <a:pt x="13" y="578"/>
                </a:lnTo>
                <a:lnTo>
                  <a:pt x="13" y="573"/>
                </a:lnTo>
                <a:lnTo>
                  <a:pt x="7" y="57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5311" name="Freeform 19">
            <a:extLst>
              <a:ext uri="{FF2B5EF4-FFF2-40B4-BE49-F238E27FC236}">
                <a16:creationId xmlns:a16="http://schemas.microsoft.com/office/drawing/2014/main" id="{D1518427-EFD5-9778-85CD-0F0CD969BC60}"/>
              </a:ext>
            </a:extLst>
          </p:cNvPr>
          <p:cNvSpPr>
            <a:spLocks/>
          </p:cNvSpPr>
          <p:nvPr/>
        </p:nvSpPr>
        <p:spPr bwMode="auto">
          <a:xfrm>
            <a:off x="3125788" y="4135438"/>
            <a:ext cx="2374900" cy="9525"/>
          </a:xfrm>
          <a:custGeom>
            <a:avLst/>
            <a:gdLst>
              <a:gd name="T0" fmla="*/ 0 w 2994"/>
              <a:gd name="T1" fmla="*/ 5195 h 11"/>
              <a:gd name="T2" fmla="*/ 4759 w 2994"/>
              <a:gd name="T3" fmla="*/ 9525 h 11"/>
              <a:gd name="T4" fmla="*/ 2374900 w 2994"/>
              <a:gd name="T5" fmla="*/ 9525 h 11"/>
              <a:gd name="T6" fmla="*/ 2374900 w 2994"/>
              <a:gd name="T7" fmla="*/ 0 h 11"/>
              <a:gd name="T8" fmla="*/ 4759 w 2994"/>
              <a:gd name="T9" fmla="*/ 0 h 11"/>
              <a:gd name="T10" fmla="*/ 10312 w 2994"/>
              <a:gd name="T11" fmla="*/ 5195 h 11"/>
              <a:gd name="T12" fmla="*/ 0 w 2994"/>
              <a:gd name="T13" fmla="*/ 5195 h 11"/>
              <a:gd name="T14" fmla="*/ 0 w 2994"/>
              <a:gd name="T15" fmla="*/ 9525 h 11"/>
              <a:gd name="T16" fmla="*/ 4759 w 2994"/>
              <a:gd name="T17" fmla="*/ 9525 h 11"/>
              <a:gd name="T18" fmla="*/ 0 w 2994"/>
              <a:gd name="T19" fmla="*/ 5195 h 1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994"/>
              <a:gd name="T31" fmla="*/ 0 h 11"/>
              <a:gd name="T32" fmla="*/ 2994 w 2994"/>
              <a:gd name="T33" fmla="*/ 11 h 11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994" h="11">
                <a:moveTo>
                  <a:pt x="0" y="6"/>
                </a:moveTo>
                <a:lnTo>
                  <a:pt x="6" y="11"/>
                </a:lnTo>
                <a:lnTo>
                  <a:pt x="2994" y="11"/>
                </a:lnTo>
                <a:lnTo>
                  <a:pt x="2994" y="0"/>
                </a:lnTo>
                <a:lnTo>
                  <a:pt x="6" y="0"/>
                </a:lnTo>
                <a:lnTo>
                  <a:pt x="13" y="6"/>
                </a:lnTo>
                <a:lnTo>
                  <a:pt x="0" y="6"/>
                </a:lnTo>
                <a:lnTo>
                  <a:pt x="0" y="11"/>
                </a:lnTo>
                <a:lnTo>
                  <a:pt x="6" y="11"/>
                </a:lnTo>
                <a:lnTo>
                  <a:pt x="0" y="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5312" name="Freeform 20">
            <a:extLst>
              <a:ext uri="{FF2B5EF4-FFF2-40B4-BE49-F238E27FC236}">
                <a16:creationId xmlns:a16="http://schemas.microsoft.com/office/drawing/2014/main" id="{BB819163-2F9D-ED93-A678-0C627B511EEB}"/>
              </a:ext>
            </a:extLst>
          </p:cNvPr>
          <p:cNvSpPr>
            <a:spLocks/>
          </p:cNvSpPr>
          <p:nvPr/>
        </p:nvSpPr>
        <p:spPr bwMode="auto">
          <a:xfrm>
            <a:off x="3125788" y="3681413"/>
            <a:ext cx="9525" cy="458787"/>
          </a:xfrm>
          <a:custGeom>
            <a:avLst/>
            <a:gdLst>
              <a:gd name="T0" fmla="*/ 4396 w 13"/>
              <a:gd name="T1" fmla="*/ 0 h 579"/>
              <a:gd name="T2" fmla="*/ 0 w 13"/>
              <a:gd name="T3" fmla="*/ 4754 h 579"/>
              <a:gd name="T4" fmla="*/ 0 w 13"/>
              <a:gd name="T5" fmla="*/ 458787 h 579"/>
              <a:gd name="T6" fmla="*/ 9525 w 13"/>
              <a:gd name="T7" fmla="*/ 458787 h 579"/>
              <a:gd name="T8" fmla="*/ 9525 w 13"/>
              <a:gd name="T9" fmla="*/ 4754 h 579"/>
              <a:gd name="T10" fmla="*/ 4396 w 13"/>
              <a:gd name="T11" fmla="*/ 9509 h 579"/>
              <a:gd name="T12" fmla="*/ 4396 w 13"/>
              <a:gd name="T13" fmla="*/ 0 h 579"/>
              <a:gd name="T14" fmla="*/ 0 w 13"/>
              <a:gd name="T15" fmla="*/ 0 h 579"/>
              <a:gd name="T16" fmla="*/ 0 w 13"/>
              <a:gd name="T17" fmla="*/ 4754 h 579"/>
              <a:gd name="T18" fmla="*/ 4396 w 13"/>
              <a:gd name="T19" fmla="*/ 0 h 57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3"/>
              <a:gd name="T31" fmla="*/ 0 h 579"/>
              <a:gd name="T32" fmla="*/ 13 w 13"/>
              <a:gd name="T33" fmla="*/ 579 h 579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3" h="579">
                <a:moveTo>
                  <a:pt x="6" y="0"/>
                </a:moveTo>
                <a:lnTo>
                  <a:pt x="0" y="6"/>
                </a:lnTo>
                <a:lnTo>
                  <a:pt x="0" y="579"/>
                </a:lnTo>
                <a:lnTo>
                  <a:pt x="13" y="579"/>
                </a:lnTo>
                <a:lnTo>
                  <a:pt x="13" y="6"/>
                </a:lnTo>
                <a:lnTo>
                  <a:pt x="6" y="12"/>
                </a:lnTo>
                <a:lnTo>
                  <a:pt x="6" y="0"/>
                </a:lnTo>
                <a:lnTo>
                  <a:pt x="0" y="0"/>
                </a:lnTo>
                <a:lnTo>
                  <a:pt x="0" y="6"/>
                </a:lnTo>
                <a:lnTo>
                  <a:pt x="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5313" name="Rectangle 21">
            <a:extLst>
              <a:ext uri="{FF2B5EF4-FFF2-40B4-BE49-F238E27FC236}">
                <a16:creationId xmlns:a16="http://schemas.microsoft.com/office/drawing/2014/main" id="{77089A33-A867-C18F-2105-96498539F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0550" y="2436813"/>
            <a:ext cx="2370138" cy="454025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5314" name="Freeform 22">
            <a:extLst>
              <a:ext uri="{FF2B5EF4-FFF2-40B4-BE49-F238E27FC236}">
                <a16:creationId xmlns:a16="http://schemas.microsoft.com/office/drawing/2014/main" id="{83234964-0BA2-502F-E4AE-BDF7F426BCFB}"/>
              </a:ext>
            </a:extLst>
          </p:cNvPr>
          <p:cNvSpPr>
            <a:spLocks/>
          </p:cNvSpPr>
          <p:nvPr/>
        </p:nvSpPr>
        <p:spPr bwMode="auto">
          <a:xfrm>
            <a:off x="3130550" y="2432050"/>
            <a:ext cx="2374900" cy="9525"/>
          </a:xfrm>
          <a:custGeom>
            <a:avLst/>
            <a:gdLst>
              <a:gd name="T0" fmla="*/ 2374900 w 2994"/>
              <a:gd name="T1" fmla="*/ 4763 h 12"/>
              <a:gd name="T2" fmla="*/ 2370141 w 2994"/>
              <a:gd name="T3" fmla="*/ 0 h 12"/>
              <a:gd name="T4" fmla="*/ 0 w 2994"/>
              <a:gd name="T5" fmla="*/ 0 h 12"/>
              <a:gd name="T6" fmla="*/ 0 w 2994"/>
              <a:gd name="T7" fmla="*/ 9525 h 12"/>
              <a:gd name="T8" fmla="*/ 2370141 w 2994"/>
              <a:gd name="T9" fmla="*/ 9525 h 12"/>
              <a:gd name="T10" fmla="*/ 2364588 w 2994"/>
              <a:gd name="T11" fmla="*/ 4763 h 12"/>
              <a:gd name="T12" fmla="*/ 2374900 w 2994"/>
              <a:gd name="T13" fmla="*/ 4763 h 12"/>
              <a:gd name="T14" fmla="*/ 2374900 w 2994"/>
              <a:gd name="T15" fmla="*/ 0 h 12"/>
              <a:gd name="T16" fmla="*/ 2370141 w 2994"/>
              <a:gd name="T17" fmla="*/ 0 h 12"/>
              <a:gd name="T18" fmla="*/ 2374900 w 2994"/>
              <a:gd name="T19" fmla="*/ 4763 h 1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994"/>
              <a:gd name="T31" fmla="*/ 0 h 12"/>
              <a:gd name="T32" fmla="*/ 2994 w 2994"/>
              <a:gd name="T33" fmla="*/ 12 h 1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994" h="12">
                <a:moveTo>
                  <a:pt x="2994" y="6"/>
                </a:moveTo>
                <a:lnTo>
                  <a:pt x="2988" y="0"/>
                </a:lnTo>
                <a:lnTo>
                  <a:pt x="0" y="0"/>
                </a:lnTo>
                <a:lnTo>
                  <a:pt x="0" y="12"/>
                </a:lnTo>
                <a:lnTo>
                  <a:pt x="2988" y="12"/>
                </a:lnTo>
                <a:lnTo>
                  <a:pt x="2981" y="6"/>
                </a:lnTo>
                <a:lnTo>
                  <a:pt x="2994" y="6"/>
                </a:lnTo>
                <a:lnTo>
                  <a:pt x="2994" y="0"/>
                </a:lnTo>
                <a:lnTo>
                  <a:pt x="2988" y="0"/>
                </a:lnTo>
                <a:lnTo>
                  <a:pt x="2994" y="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5315" name="Freeform 23">
            <a:extLst>
              <a:ext uri="{FF2B5EF4-FFF2-40B4-BE49-F238E27FC236}">
                <a16:creationId xmlns:a16="http://schemas.microsoft.com/office/drawing/2014/main" id="{17B4053E-8ED4-2FA9-A4F6-499C6B7F1A6B}"/>
              </a:ext>
            </a:extLst>
          </p:cNvPr>
          <p:cNvSpPr>
            <a:spLocks/>
          </p:cNvSpPr>
          <p:nvPr/>
        </p:nvSpPr>
        <p:spPr bwMode="auto">
          <a:xfrm>
            <a:off x="5495925" y="2436813"/>
            <a:ext cx="9525" cy="458787"/>
          </a:xfrm>
          <a:custGeom>
            <a:avLst/>
            <a:gdLst>
              <a:gd name="T0" fmla="*/ 5129 w 13"/>
              <a:gd name="T1" fmla="*/ 458787 h 578"/>
              <a:gd name="T2" fmla="*/ 9525 w 13"/>
              <a:gd name="T3" fmla="*/ 454025 h 578"/>
              <a:gd name="T4" fmla="*/ 9525 w 13"/>
              <a:gd name="T5" fmla="*/ 0 h 578"/>
              <a:gd name="T6" fmla="*/ 0 w 13"/>
              <a:gd name="T7" fmla="*/ 0 h 578"/>
              <a:gd name="T8" fmla="*/ 0 w 13"/>
              <a:gd name="T9" fmla="*/ 454025 h 578"/>
              <a:gd name="T10" fmla="*/ 5129 w 13"/>
              <a:gd name="T11" fmla="*/ 450056 h 578"/>
              <a:gd name="T12" fmla="*/ 5129 w 13"/>
              <a:gd name="T13" fmla="*/ 458787 h 578"/>
              <a:gd name="T14" fmla="*/ 9525 w 13"/>
              <a:gd name="T15" fmla="*/ 458787 h 578"/>
              <a:gd name="T16" fmla="*/ 9525 w 13"/>
              <a:gd name="T17" fmla="*/ 454025 h 578"/>
              <a:gd name="T18" fmla="*/ 5129 w 13"/>
              <a:gd name="T19" fmla="*/ 458787 h 57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3"/>
              <a:gd name="T31" fmla="*/ 0 h 578"/>
              <a:gd name="T32" fmla="*/ 13 w 13"/>
              <a:gd name="T33" fmla="*/ 578 h 57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3" h="578">
                <a:moveTo>
                  <a:pt x="7" y="578"/>
                </a:moveTo>
                <a:lnTo>
                  <a:pt x="13" y="572"/>
                </a:lnTo>
                <a:lnTo>
                  <a:pt x="13" y="0"/>
                </a:lnTo>
                <a:lnTo>
                  <a:pt x="0" y="0"/>
                </a:lnTo>
                <a:lnTo>
                  <a:pt x="0" y="572"/>
                </a:lnTo>
                <a:lnTo>
                  <a:pt x="7" y="567"/>
                </a:lnTo>
                <a:lnTo>
                  <a:pt x="7" y="578"/>
                </a:lnTo>
                <a:lnTo>
                  <a:pt x="13" y="578"/>
                </a:lnTo>
                <a:lnTo>
                  <a:pt x="13" y="572"/>
                </a:lnTo>
                <a:lnTo>
                  <a:pt x="7" y="57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5316" name="Freeform 24">
            <a:extLst>
              <a:ext uri="{FF2B5EF4-FFF2-40B4-BE49-F238E27FC236}">
                <a16:creationId xmlns:a16="http://schemas.microsoft.com/office/drawing/2014/main" id="{3B5E5E04-6155-B972-4F48-C104FC6ED32B}"/>
              </a:ext>
            </a:extLst>
          </p:cNvPr>
          <p:cNvSpPr>
            <a:spLocks/>
          </p:cNvSpPr>
          <p:nvPr/>
        </p:nvSpPr>
        <p:spPr bwMode="auto">
          <a:xfrm>
            <a:off x="3125788" y="2886075"/>
            <a:ext cx="2374900" cy="9525"/>
          </a:xfrm>
          <a:custGeom>
            <a:avLst/>
            <a:gdLst>
              <a:gd name="T0" fmla="*/ 0 w 2994"/>
              <a:gd name="T1" fmla="*/ 4330 h 11"/>
              <a:gd name="T2" fmla="*/ 4759 w 2994"/>
              <a:gd name="T3" fmla="*/ 9525 h 11"/>
              <a:gd name="T4" fmla="*/ 2374900 w 2994"/>
              <a:gd name="T5" fmla="*/ 9525 h 11"/>
              <a:gd name="T6" fmla="*/ 2374900 w 2994"/>
              <a:gd name="T7" fmla="*/ 0 h 11"/>
              <a:gd name="T8" fmla="*/ 4759 w 2994"/>
              <a:gd name="T9" fmla="*/ 0 h 11"/>
              <a:gd name="T10" fmla="*/ 10312 w 2994"/>
              <a:gd name="T11" fmla="*/ 4330 h 11"/>
              <a:gd name="T12" fmla="*/ 0 w 2994"/>
              <a:gd name="T13" fmla="*/ 4330 h 11"/>
              <a:gd name="T14" fmla="*/ 0 w 2994"/>
              <a:gd name="T15" fmla="*/ 9525 h 11"/>
              <a:gd name="T16" fmla="*/ 4759 w 2994"/>
              <a:gd name="T17" fmla="*/ 9525 h 11"/>
              <a:gd name="T18" fmla="*/ 0 w 2994"/>
              <a:gd name="T19" fmla="*/ 4330 h 1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994"/>
              <a:gd name="T31" fmla="*/ 0 h 11"/>
              <a:gd name="T32" fmla="*/ 2994 w 2994"/>
              <a:gd name="T33" fmla="*/ 11 h 11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994" h="11">
                <a:moveTo>
                  <a:pt x="0" y="5"/>
                </a:moveTo>
                <a:lnTo>
                  <a:pt x="6" y="11"/>
                </a:lnTo>
                <a:lnTo>
                  <a:pt x="2994" y="11"/>
                </a:lnTo>
                <a:lnTo>
                  <a:pt x="2994" y="0"/>
                </a:lnTo>
                <a:lnTo>
                  <a:pt x="6" y="0"/>
                </a:lnTo>
                <a:lnTo>
                  <a:pt x="13" y="5"/>
                </a:lnTo>
                <a:lnTo>
                  <a:pt x="0" y="5"/>
                </a:lnTo>
                <a:lnTo>
                  <a:pt x="0" y="11"/>
                </a:lnTo>
                <a:lnTo>
                  <a:pt x="6" y="11"/>
                </a:lnTo>
                <a:lnTo>
                  <a:pt x="0" y="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5317" name="Freeform 25">
            <a:extLst>
              <a:ext uri="{FF2B5EF4-FFF2-40B4-BE49-F238E27FC236}">
                <a16:creationId xmlns:a16="http://schemas.microsoft.com/office/drawing/2014/main" id="{73981414-E372-A9E5-1AA5-6F0A5E99BC93}"/>
              </a:ext>
            </a:extLst>
          </p:cNvPr>
          <p:cNvSpPr>
            <a:spLocks/>
          </p:cNvSpPr>
          <p:nvPr/>
        </p:nvSpPr>
        <p:spPr bwMode="auto">
          <a:xfrm>
            <a:off x="3125788" y="2432050"/>
            <a:ext cx="9525" cy="458788"/>
          </a:xfrm>
          <a:custGeom>
            <a:avLst/>
            <a:gdLst>
              <a:gd name="T0" fmla="*/ 4396 w 13"/>
              <a:gd name="T1" fmla="*/ 0 h 578"/>
              <a:gd name="T2" fmla="*/ 0 w 13"/>
              <a:gd name="T3" fmla="*/ 4763 h 578"/>
              <a:gd name="T4" fmla="*/ 0 w 13"/>
              <a:gd name="T5" fmla="*/ 458788 h 578"/>
              <a:gd name="T6" fmla="*/ 9525 w 13"/>
              <a:gd name="T7" fmla="*/ 458788 h 578"/>
              <a:gd name="T8" fmla="*/ 9525 w 13"/>
              <a:gd name="T9" fmla="*/ 4763 h 578"/>
              <a:gd name="T10" fmla="*/ 4396 w 13"/>
              <a:gd name="T11" fmla="*/ 9525 h 578"/>
              <a:gd name="T12" fmla="*/ 4396 w 13"/>
              <a:gd name="T13" fmla="*/ 0 h 578"/>
              <a:gd name="T14" fmla="*/ 0 w 13"/>
              <a:gd name="T15" fmla="*/ 0 h 578"/>
              <a:gd name="T16" fmla="*/ 0 w 13"/>
              <a:gd name="T17" fmla="*/ 4763 h 578"/>
              <a:gd name="T18" fmla="*/ 4396 w 13"/>
              <a:gd name="T19" fmla="*/ 0 h 57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3"/>
              <a:gd name="T31" fmla="*/ 0 h 578"/>
              <a:gd name="T32" fmla="*/ 13 w 13"/>
              <a:gd name="T33" fmla="*/ 578 h 57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3" h="578">
                <a:moveTo>
                  <a:pt x="6" y="0"/>
                </a:moveTo>
                <a:lnTo>
                  <a:pt x="0" y="6"/>
                </a:lnTo>
                <a:lnTo>
                  <a:pt x="0" y="578"/>
                </a:lnTo>
                <a:lnTo>
                  <a:pt x="13" y="578"/>
                </a:lnTo>
                <a:lnTo>
                  <a:pt x="13" y="6"/>
                </a:lnTo>
                <a:lnTo>
                  <a:pt x="6" y="12"/>
                </a:lnTo>
                <a:lnTo>
                  <a:pt x="6" y="0"/>
                </a:lnTo>
                <a:lnTo>
                  <a:pt x="0" y="0"/>
                </a:lnTo>
                <a:lnTo>
                  <a:pt x="0" y="6"/>
                </a:lnTo>
                <a:lnTo>
                  <a:pt x="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5318" name="Freeform 26">
            <a:extLst>
              <a:ext uri="{FF2B5EF4-FFF2-40B4-BE49-F238E27FC236}">
                <a16:creationId xmlns:a16="http://schemas.microsoft.com/office/drawing/2014/main" id="{1C9B22F9-594F-6BDE-BC1C-8E22789DD072}"/>
              </a:ext>
            </a:extLst>
          </p:cNvPr>
          <p:cNvSpPr>
            <a:spLocks/>
          </p:cNvSpPr>
          <p:nvPr/>
        </p:nvSpPr>
        <p:spPr bwMode="auto">
          <a:xfrm>
            <a:off x="3109913" y="2255838"/>
            <a:ext cx="39687" cy="1181100"/>
          </a:xfrm>
          <a:custGeom>
            <a:avLst/>
            <a:gdLst>
              <a:gd name="T0" fmla="*/ 19439 w 49"/>
              <a:gd name="T1" fmla="*/ 1181100 h 1488"/>
              <a:gd name="T2" fmla="*/ 39687 w 49"/>
              <a:gd name="T3" fmla="*/ 1181100 h 1488"/>
              <a:gd name="T4" fmla="*/ 39687 w 49"/>
              <a:gd name="T5" fmla="*/ 0 h 1488"/>
              <a:gd name="T6" fmla="*/ 0 w 49"/>
              <a:gd name="T7" fmla="*/ 0 h 1488"/>
              <a:gd name="T8" fmla="*/ 0 w 49"/>
              <a:gd name="T9" fmla="*/ 1181100 h 1488"/>
              <a:gd name="T10" fmla="*/ 19439 w 49"/>
              <a:gd name="T11" fmla="*/ 1181100 h 148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9"/>
              <a:gd name="T19" fmla="*/ 0 h 1488"/>
              <a:gd name="T20" fmla="*/ 49 w 49"/>
              <a:gd name="T21" fmla="*/ 1488 h 148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9" h="1488">
                <a:moveTo>
                  <a:pt x="24" y="1488"/>
                </a:moveTo>
                <a:lnTo>
                  <a:pt x="49" y="1488"/>
                </a:lnTo>
                <a:lnTo>
                  <a:pt x="49" y="0"/>
                </a:lnTo>
                <a:lnTo>
                  <a:pt x="0" y="0"/>
                </a:lnTo>
                <a:lnTo>
                  <a:pt x="0" y="1488"/>
                </a:lnTo>
                <a:lnTo>
                  <a:pt x="24" y="14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5319" name="Freeform 27">
            <a:extLst>
              <a:ext uri="{FF2B5EF4-FFF2-40B4-BE49-F238E27FC236}">
                <a16:creationId xmlns:a16="http://schemas.microsoft.com/office/drawing/2014/main" id="{052F0D8A-575E-3293-C326-8141178B1709}"/>
              </a:ext>
            </a:extLst>
          </p:cNvPr>
          <p:cNvSpPr>
            <a:spLocks/>
          </p:cNvSpPr>
          <p:nvPr/>
        </p:nvSpPr>
        <p:spPr bwMode="auto">
          <a:xfrm>
            <a:off x="3113088" y="3527425"/>
            <a:ext cx="38100" cy="1181100"/>
          </a:xfrm>
          <a:custGeom>
            <a:avLst/>
            <a:gdLst>
              <a:gd name="T0" fmla="*/ 19050 w 50"/>
              <a:gd name="T1" fmla="*/ 1181100 h 1488"/>
              <a:gd name="T2" fmla="*/ 38100 w 50"/>
              <a:gd name="T3" fmla="*/ 1181100 h 1488"/>
              <a:gd name="T4" fmla="*/ 38100 w 50"/>
              <a:gd name="T5" fmla="*/ 0 h 1488"/>
              <a:gd name="T6" fmla="*/ 0 w 50"/>
              <a:gd name="T7" fmla="*/ 0 h 1488"/>
              <a:gd name="T8" fmla="*/ 0 w 50"/>
              <a:gd name="T9" fmla="*/ 1181100 h 1488"/>
              <a:gd name="T10" fmla="*/ 19050 w 50"/>
              <a:gd name="T11" fmla="*/ 1181100 h 148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0"/>
              <a:gd name="T19" fmla="*/ 0 h 1488"/>
              <a:gd name="T20" fmla="*/ 50 w 50"/>
              <a:gd name="T21" fmla="*/ 1488 h 148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0" h="1488">
                <a:moveTo>
                  <a:pt x="25" y="1488"/>
                </a:moveTo>
                <a:lnTo>
                  <a:pt x="50" y="1488"/>
                </a:lnTo>
                <a:lnTo>
                  <a:pt x="50" y="0"/>
                </a:lnTo>
                <a:lnTo>
                  <a:pt x="0" y="0"/>
                </a:lnTo>
                <a:lnTo>
                  <a:pt x="0" y="1488"/>
                </a:lnTo>
                <a:lnTo>
                  <a:pt x="25" y="14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5320" name="Freeform 28">
            <a:extLst>
              <a:ext uri="{FF2B5EF4-FFF2-40B4-BE49-F238E27FC236}">
                <a16:creationId xmlns:a16="http://schemas.microsoft.com/office/drawing/2014/main" id="{5AF7DFA3-A5C2-8244-1D7C-912120BD6815}"/>
              </a:ext>
            </a:extLst>
          </p:cNvPr>
          <p:cNvSpPr>
            <a:spLocks/>
          </p:cNvSpPr>
          <p:nvPr/>
        </p:nvSpPr>
        <p:spPr bwMode="auto">
          <a:xfrm>
            <a:off x="5481638" y="2255838"/>
            <a:ext cx="39687" cy="1181100"/>
          </a:xfrm>
          <a:custGeom>
            <a:avLst/>
            <a:gdLst>
              <a:gd name="T0" fmla="*/ 20248 w 49"/>
              <a:gd name="T1" fmla="*/ 1181100 h 1488"/>
              <a:gd name="T2" fmla="*/ 39687 w 49"/>
              <a:gd name="T3" fmla="*/ 1181100 h 1488"/>
              <a:gd name="T4" fmla="*/ 39687 w 49"/>
              <a:gd name="T5" fmla="*/ 0 h 1488"/>
              <a:gd name="T6" fmla="*/ 0 w 49"/>
              <a:gd name="T7" fmla="*/ 0 h 1488"/>
              <a:gd name="T8" fmla="*/ 0 w 49"/>
              <a:gd name="T9" fmla="*/ 1181100 h 1488"/>
              <a:gd name="T10" fmla="*/ 20248 w 49"/>
              <a:gd name="T11" fmla="*/ 1181100 h 148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9"/>
              <a:gd name="T19" fmla="*/ 0 h 1488"/>
              <a:gd name="T20" fmla="*/ 49 w 49"/>
              <a:gd name="T21" fmla="*/ 1488 h 148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9" h="1488">
                <a:moveTo>
                  <a:pt x="25" y="1488"/>
                </a:moveTo>
                <a:lnTo>
                  <a:pt x="49" y="1488"/>
                </a:lnTo>
                <a:lnTo>
                  <a:pt x="49" y="0"/>
                </a:lnTo>
                <a:lnTo>
                  <a:pt x="0" y="0"/>
                </a:lnTo>
                <a:lnTo>
                  <a:pt x="0" y="1488"/>
                </a:lnTo>
                <a:lnTo>
                  <a:pt x="25" y="14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5321" name="Freeform 29">
            <a:extLst>
              <a:ext uri="{FF2B5EF4-FFF2-40B4-BE49-F238E27FC236}">
                <a16:creationId xmlns:a16="http://schemas.microsoft.com/office/drawing/2014/main" id="{9B5CF1D3-A36A-F335-544C-82F71F367103}"/>
              </a:ext>
            </a:extLst>
          </p:cNvPr>
          <p:cNvSpPr>
            <a:spLocks/>
          </p:cNvSpPr>
          <p:nvPr/>
        </p:nvSpPr>
        <p:spPr bwMode="auto">
          <a:xfrm>
            <a:off x="5481638" y="3527425"/>
            <a:ext cx="39687" cy="1181100"/>
          </a:xfrm>
          <a:custGeom>
            <a:avLst/>
            <a:gdLst>
              <a:gd name="T0" fmla="*/ 20248 w 49"/>
              <a:gd name="T1" fmla="*/ 1181100 h 1488"/>
              <a:gd name="T2" fmla="*/ 39687 w 49"/>
              <a:gd name="T3" fmla="*/ 1181100 h 1488"/>
              <a:gd name="T4" fmla="*/ 39687 w 49"/>
              <a:gd name="T5" fmla="*/ 0 h 1488"/>
              <a:gd name="T6" fmla="*/ 0 w 49"/>
              <a:gd name="T7" fmla="*/ 0 h 1488"/>
              <a:gd name="T8" fmla="*/ 0 w 49"/>
              <a:gd name="T9" fmla="*/ 1181100 h 1488"/>
              <a:gd name="T10" fmla="*/ 20248 w 49"/>
              <a:gd name="T11" fmla="*/ 1181100 h 148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9"/>
              <a:gd name="T19" fmla="*/ 0 h 1488"/>
              <a:gd name="T20" fmla="*/ 49 w 49"/>
              <a:gd name="T21" fmla="*/ 1488 h 148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9" h="1488">
                <a:moveTo>
                  <a:pt x="25" y="1488"/>
                </a:moveTo>
                <a:lnTo>
                  <a:pt x="49" y="1488"/>
                </a:lnTo>
                <a:lnTo>
                  <a:pt x="49" y="0"/>
                </a:lnTo>
                <a:lnTo>
                  <a:pt x="0" y="0"/>
                </a:lnTo>
                <a:lnTo>
                  <a:pt x="0" y="1488"/>
                </a:lnTo>
                <a:lnTo>
                  <a:pt x="25" y="14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5322" name="Freeform 30">
            <a:extLst>
              <a:ext uri="{FF2B5EF4-FFF2-40B4-BE49-F238E27FC236}">
                <a16:creationId xmlns:a16="http://schemas.microsoft.com/office/drawing/2014/main" id="{6EAE36D6-841E-407C-8B46-BABB3DF1FF01}"/>
              </a:ext>
            </a:extLst>
          </p:cNvPr>
          <p:cNvSpPr>
            <a:spLocks/>
          </p:cNvSpPr>
          <p:nvPr/>
        </p:nvSpPr>
        <p:spPr bwMode="auto">
          <a:xfrm>
            <a:off x="3130550" y="2419350"/>
            <a:ext cx="2370138" cy="34925"/>
          </a:xfrm>
          <a:custGeom>
            <a:avLst/>
            <a:gdLst>
              <a:gd name="T0" fmla="*/ 2370138 w 2988"/>
              <a:gd name="T1" fmla="*/ 17463 h 46"/>
              <a:gd name="T2" fmla="*/ 2370138 w 2988"/>
              <a:gd name="T3" fmla="*/ 0 h 46"/>
              <a:gd name="T4" fmla="*/ 0 w 2988"/>
              <a:gd name="T5" fmla="*/ 0 h 46"/>
              <a:gd name="T6" fmla="*/ 0 w 2988"/>
              <a:gd name="T7" fmla="*/ 34925 h 46"/>
              <a:gd name="T8" fmla="*/ 2370138 w 2988"/>
              <a:gd name="T9" fmla="*/ 34925 h 46"/>
              <a:gd name="T10" fmla="*/ 2370138 w 2988"/>
              <a:gd name="T11" fmla="*/ 17463 h 4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988"/>
              <a:gd name="T19" fmla="*/ 0 h 46"/>
              <a:gd name="T20" fmla="*/ 2988 w 2988"/>
              <a:gd name="T21" fmla="*/ 46 h 4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988" h="46">
                <a:moveTo>
                  <a:pt x="2988" y="23"/>
                </a:moveTo>
                <a:lnTo>
                  <a:pt x="2988" y="0"/>
                </a:lnTo>
                <a:lnTo>
                  <a:pt x="0" y="0"/>
                </a:lnTo>
                <a:lnTo>
                  <a:pt x="0" y="46"/>
                </a:lnTo>
                <a:lnTo>
                  <a:pt x="2988" y="46"/>
                </a:lnTo>
                <a:lnTo>
                  <a:pt x="2988" y="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5323" name="Freeform 31">
            <a:extLst>
              <a:ext uri="{FF2B5EF4-FFF2-40B4-BE49-F238E27FC236}">
                <a16:creationId xmlns:a16="http://schemas.microsoft.com/office/drawing/2014/main" id="{44E38C23-8D9F-0249-9401-B91C662A3043}"/>
              </a:ext>
            </a:extLst>
          </p:cNvPr>
          <p:cNvSpPr>
            <a:spLocks/>
          </p:cNvSpPr>
          <p:nvPr/>
        </p:nvSpPr>
        <p:spPr bwMode="auto">
          <a:xfrm>
            <a:off x="3132138" y="3690938"/>
            <a:ext cx="2368550" cy="36512"/>
          </a:xfrm>
          <a:custGeom>
            <a:avLst/>
            <a:gdLst>
              <a:gd name="T0" fmla="*/ 2368550 w 2985"/>
              <a:gd name="T1" fmla="*/ 18256 h 46"/>
              <a:gd name="T2" fmla="*/ 2368550 w 2985"/>
              <a:gd name="T3" fmla="*/ 0 h 46"/>
              <a:gd name="T4" fmla="*/ 0 w 2985"/>
              <a:gd name="T5" fmla="*/ 0 h 46"/>
              <a:gd name="T6" fmla="*/ 0 w 2985"/>
              <a:gd name="T7" fmla="*/ 36512 h 46"/>
              <a:gd name="T8" fmla="*/ 2368550 w 2985"/>
              <a:gd name="T9" fmla="*/ 36512 h 46"/>
              <a:gd name="T10" fmla="*/ 2368550 w 2985"/>
              <a:gd name="T11" fmla="*/ 18256 h 4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985"/>
              <a:gd name="T19" fmla="*/ 0 h 46"/>
              <a:gd name="T20" fmla="*/ 2985 w 2985"/>
              <a:gd name="T21" fmla="*/ 46 h 4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985" h="46">
                <a:moveTo>
                  <a:pt x="2985" y="23"/>
                </a:moveTo>
                <a:lnTo>
                  <a:pt x="2985" y="0"/>
                </a:lnTo>
                <a:lnTo>
                  <a:pt x="0" y="0"/>
                </a:lnTo>
                <a:lnTo>
                  <a:pt x="0" y="46"/>
                </a:lnTo>
                <a:lnTo>
                  <a:pt x="2985" y="46"/>
                </a:lnTo>
                <a:lnTo>
                  <a:pt x="2985" y="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5324" name="Rectangle 32">
            <a:extLst>
              <a:ext uri="{FF2B5EF4-FFF2-40B4-BE49-F238E27FC236}">
                <a16:creationId xmlns:a16="http://schemas.microsoft.com/office/drawing/2014/main" id="{D45D9A27-D701-79B0-1617-62374A27D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4700" y="2497138"/>
            <a:ext cx="2159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sz="1800">
                <a:solidFill>
                  <a:srgbClr val="000000"/>
                </a:solidFill>
                <a:latin typeface="Arial Black" panose="020B0A04020102020204" pitchFamily="34" charset="0"/>
              </a:rPr>
              <a:t>M</a:t>
            </a:r>
            <a:endParaRPr lang="en-US" altLang="it-IT"/>
          </a:p>
        </p:txBody>
      </p:sp>
      <p:sp>
        <p:nvSpPr>
          <p:cNvPr id="55325" name="Rectangle 33">
            <a:extLst>
              <a:ext uri="{FF2B5EF4-FFF2-40B4-BE49-F238E27FC236}">
                <a16:creationId xmlns:a16="http://schemas.microsoft.com/office/drawing/2014/main" id="{D99579E2-AC1F-AA2E-E2D4-32E0BE826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6475" y="2497138"/>
            <a:ext cx="1905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sz="1800">
                <a:solidFill>
                  <a:srgbClr val="000000"/>
                </a:solidFill>
                <a:latin typeface="Arial Black" panose="020B0A04020102020204" pitchFamily="34" charset="0"/>
              </a:rPr>
              <a:t>O</a:t>
            </a:r>
            <a:endParaRPr lang="en-US" altLang="it-IT"/>
          </a:p>
        </p:txBody>
      </p:sp>
      <p:sp>
        <p:nvSpPr>
          <p:cNvPr id="55326" name="Rectangle 34">
            <a:extLst>
              <a:ext uri="{FF2B5EF4-FFF2-40B4-BE49-F238E27FC236}">
                <a16:creationId xmlns:a16="http://schemas.microsoft.com/office/drawing/2014/main" id="{963D261E-F851-6B7B-F878-7723621BA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1738" y="2497138"/>
            <a:ext cx="1778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sz="1800">
                <a:solidFill>
                  <a:srgbClr val="000000"/>
                </a:solidFill>
                <a:latin typeface="Arial Black" panose="020B0A04020102020204" pitchFamily="34" charset="0"/>
              </a:rPr>
              <a:t>V</a:t>
            </a:r>
            <a:endParaRPr lang="en-US" altLang="it-IT"/>
          </a:p>
        </p:txBody>
      </p:sp>
      <p:sp>
        <p:nvSpPr>
          <p:cNvPr id="55327" name="Rectangle 35">
            <a:extLst>
              <a:ext uri="{FF2B5EF4-FFF2-40B4-BE49-F238E27FC236}">
                <a16:creationId xmlns:a16="http://schemas.microsoft.com/office/drawing/2014/main" id="{1EE13956-ED15-E1AC-BA7D-0ACEBFCA9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2238" y="2497138"/>
            <a:ext cx="1651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sz="1800">
                <a:solidFill>
                  <a:srgbClr val="000000"/>
                </a:solidFill>
                <a:latin typeface="Arial Black" panose="020B0A04020102020204" pitchFamily="34" charset="0"/>
              </a:rPr>
              <a:t>E</a:t>
            </a:r>
            <a:endParaRPr lang="en-US" altLang="it-IT"/>
          </a:p>
        </p:txBody>
      </p:sp>
      <p:sp>
        <p:nvSpPr>
          <p:cNvPr id="55328" name="Rectangle 36">
            <a:extLst>
              <a:ext uri="{FF2B5EF4-FFF2-40B4-BE49-F238E27FC236}">
                <a16:creationId xmlns:a16="http://schemas.microsoft.com/office/drawing/2014/main" id="{4F693168-A368-A1EA-D7A0-EF0E413B4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8450" y="2497138"/>
            <a:ext cx="762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sz="1800">
                <a:solidFill>
                  <a:srgbClr val="000000"/>
                </a:solidFill>
                <a:latin typeface="Arial Black" panose="020B0A04020102020204" pitchFamily="34" charset="0"/>
              </a:rPr>
              <a:t>.</a:t>
            </a:r>
            <a:endParaRPr lang="en-US" altLang="it-IT"/>
          </a:p>
        </p:txBody>
      </p:sp>
      <p:sp>
        <p:nvSpPr>
          <p:cNvPr id="55329" name="Rectangle 37">
            <a:extLst>
              <a:ext uri="{FF2B5EF4-FFF2-40B4-BE49-F238E27FC236}">
                <a16:creationId xmlns:a16="http://schemas.microsoft.com/office/drawing/2014/main" id="{80CCB4C4-14BA-D5A4-C9F6-EB17875F9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4175" y="2497138"/>
            <a:ext cx="1778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sz="1800">
                <a:solidFill>
                  <a:srgbClr val="000000"/>
                </a:solidFill>
                <a:latin typeface="Arial Black" panose="020B0A04020102020204" pitchFamily="34" charset="0"/>
              </a:rPr>
              <a:t>B</a:t>
            </a:r>
            <a:endParaRPr lang="en-US" altLang="it-IT"/>
          </a:p>
        </p:txBody>
      </p:sp>
      <p:sp>
        <p:nvSpPr>
          <p:cNvPr id="55330" name="Rectangle 38">
            <a:extLst>
              <a:ext uri="{FF2B5EF4-FFF2-40B4-BE49-F238E27FC236}">
                <a16:creationId xmlns:a16="http://schemas.microsoft.com/office/drawing/2014/main" id="{F573C5C8-8897-0B4F-7500-5F9FEC8D3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050" y="2497138"/>
            <a:ext cx="889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sz="1800">
                <a:solidFill>
                  <a:srgbClr val="000000"/>
                </a:solidFill>
                <a:latin typeface="Arial Black" panose="020B0A04020102020204" pitchFamily="34" charset="0"/>
              </a:rPr>
              <a:t>(</a:t>
            </a:r>
            <a:endParaRPr lang="en-US" altLang="it-IT"/>
          </a:p>
        </p:txBody>
      </p:sp>
      <p:sp>
        <p:nvSpPr>
          <p:cNvPr id="55331" name="Rectangle 39">
            <a:extLst>
              <a:ext uri="{FF2B5EF4-FFF2-40B4-BE49-F238E27FC236}">
                <a16:creationId xmlns:a16="http://schemas.microsoft.com/office/drawing/2014/main" id="{D41058F0-3F26-8304-236D-340140D3F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2475" y="2497138"/>
            <a:ext cx="1778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sz="1800">
                <a:solidFill>
                  <a:srgbClr val="000000"/>
                </a:solidFill>
                <a:latin typeface="Arial Black" panose="020B0A04020102020204" pitchFamily="34" charset="0"/>
              </a:rPr>
              <a:t>A</a:t>
            </a:r>
            <a:endParaRPr lang="en-US" altLang="it-IT"/>
          </a:p>
        </p:txBody>
      </p:sp>
      <p:sp>
        <p:nvSpPr>
          <p:cNvPr id="55332" name="Rectangle 40">
            <a:extLst>
              <a:ext uri="{FF2B5EF4-FFF2-40B4-BE49-F238E27FC236}">
                <a16:creationId xmlns:a16="http://schemas.microsoft.com/office/drawing/2014/main" id="{2D11A7F2-52D7-CC72-ACA8-5B1AE3208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4563" y="2497138"/>
            <a:ext cx="1524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sz="1800">
                <a:solidFill>
                  <a:srgbClr val="000000"/>
                </a:solidFill>
                <a:latin typeface="Arial Black" panose="020B0A04020102020204" pitchFamily="34" charset="0"/>
              </a:rPr>
              <a:t>0</a:t>
            </a:r>
            <a:endParaRPr lang="en-US" altLang="it-IT"/>
          </a:p>
        </p:txBody>
      </p:sp>
      <p:sp>
        <p:nvSpPr>
          <p:cNvPr id="55333" name="Rectangle 41">
            <a:extLst>
              <a:ext uri="{FF2B5EF4-FFF2-40B4-BE49-F238E27FC236}">
                <a16:creationId xmlns:a16="http://schemas.microsoft.com/office/drawing/2014/main" id="{15D2B206-4CA8-EE89-D181-D80B9A436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6488" y="2497138"/>
            <a:ext cx="889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sz="1800">
                <a:solidFill>
                  <a:srgbClr val="000000"/>
                </a:solidFill>
                <a:latin typeface="Arial Black" panose="020B0A04020102020204" pitchFamily="34" charset="0"/>
              </a:rPr>
              <a:t>)</a:t>
            </a:r>
            <a:endParaRPr lang="en-US" altLang="it-IT"/>
          </a:p>
        </p:txBody>
      </p:sp>
      <p:sp>
        <p:nvSpPr>
          <p:cNvPr id="55334" name="Rectangle 42">
            <a:extLst>
              <a:ext uri="{FF2B5EF4-FFF2-40B4-BE49-F238E27FC236}">
                <a16:creationId xmlns:a16="http://schemas.microsoft.com/office/drawing/2014/main" id="{2ADF2A3A-C9E0-A00F-49E4-E16C5A8FF9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1738" y="2497138"/>
            <a:ext cx="762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sz="1800">
                <a:solidFill>
                  <a:srgbClr val="000000"/>
                </a:solidFill>
                <a:latin typeface="Arial Black" panose="020B0A04020102020204" pitchFamily="34" charset="0"/>
              </a:rPr>
              <a:t>,</a:t>
            </a:r>
            <a:endParaRPr lang="en-US" altLang="it-IT"/>
          </a:p>
        </p:txBody>
      </p:sp>
      <p:sp>
        <p:nvSpPr>
          <p:cNvPr id="55335" name="Rectangle 43">
            <a:extLst>
              <a:ext uri="{FF2B5EF4-FFF2-40B4-BE49-F238E27FC236}">
                <a16:creationId xmlns:a16="http://schemas.microsoft.com/office/drawing/2014/main" id="{6F2FCFA0-A5AB-DA75-B7B7-9F6CB4A0B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7463" y="2497138"/>
            <a:ext cx="1778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sz="1800">
                <a:solidFill>
                  <a:srgbClr val="000000"/>
                </a:solidFill>
                <a:latin typeface="Arial Black" panose="020B0A04020102020204" pitchFamily="34" charset="0"/>
              </a:rPr>
              <a:t>D</a:t>
            </a:r>
            <a:endParaRPr lang="en-US" altLang="it-IT"/>
          </a:p>
        </p:txBody>
      </p:sp>
      <p:sp>
        <p:nvSpPr>
          <p:cNvPr id="55336" name="Rectangle 44">
            <a:extLst>
              <a:ext uri="{FF2B5EF4-FFF2-40B4-BE49-F238E27FC236}">
                <a16:creationId xmlns:a16="http://schemas.microsoft.com/office/drawing/2014/main" id="{80B1AAAF-4547-52C5-D73E-61F011711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9550" y="2497138"/>
            <a:ext cx="1524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sz="1800">
                <a:solidFill>
                  <a:srgbClr val="000000"/>
                </a:solidFill>
                <a:latin typeface="Arial Black" panose="020B0A04020102020204" pitchFamily="34" charset="0"/>
              </a:rPr>
              <a:t>0</a:t>
            </a:r>
            <a:endParaRPr lang="en-US" altLang="it-IT"/>
          </a:p>
        </p:txBody>
      </p:sp>
      <p:sp>
        <p:nvSpPr>
          <p:cNvPr id="55337" name="Freeform 45">
            <a:extLst>
              <a:ext uri="{FF2B5EF4-FFF2-40B4-BE49-F238E27FC236}">
                <a16:creationId xmlns:a16="http://schemas.microsoft.com/office/drawing/2014/main" id="{B3FEF459-8B18-1C40-B678-A95EAB4B3EC4}"/>
              </a:ext>
            </a:extLst>
          </p:cNvPr>
          <p:cNvSpPr>
            <a:spLocks/>
          </p:cNvSpPr>
          <p:nvPr/>
        </p:nvSpPr>
        <p:spPr bwMode="auto">
          <a:xfrm>
            <a:off x="6194425" y="3690938"/>
            <a:ext cx="1700213" cy="36512"/>
          </a:xfrm>
          <a:custGeom>
            <a:avLst/>
            <a:gdLst>
              <a:gd name="T0" fmla="*/ 1700213 w 2141"/>
              <a:gd name="T1" fmla="*/ 18256 h 46"/>
              <a:gd name="T2" fmla="*/ 1680360 w 2141"/>
              <a:gd name="T3" fmla="*/ 0 h 46"/>
              <a:gd name="T4" fmla="*/ 0 w 2141"/>
              <a:gd name="T5" fmla="*/ 0 h 46"/>
              <a:gd name="T6" fmla="*/ 0 w 2141"/>
              <a:gd name="T7" fmla="*/ 36512 h 46"/>
              <a:gd name="T8" fmla="*/ 1680360 w 2141"/>
              <a:gd name="T9" fmla="*/ 36512 h 46"/>
              <a:gd name="T10" fmla="*/ 1660507 w 2141"/>
              <a:gd name="T11" fmla="*/ 18256 h 46"/>
              <a:gd name="T12" fmla="*/ 1700213 w 2141"/>
              <a:gd name="T13" fmla="*/ 18256 h 46"/>
              <a:gd name="T14" fmla="*/ 1700213 w 2141"/>
              <a:gd name="T15" fmla="*/ 0 h 46"/>
              <a:gd name="T16" fmla="*/ 1680360 w 2141"/>
              <a:gd name="T17" fmla="*/ 0 h 46"/>
              <a:gd name="T18" fmla="*/ 1700213 w 2141"/>
              <a:gd name="T19" fmla="*/ 18256 h 4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141"/>
              <a:gd name="T31" fmla="*/ 0 h 46"/>
              <a:gd name="T32" fmla="*/ 2141 w 2141"/>
              <a:gd name="T33" fmla="*/ 46 h 4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141" h="46">
                <a:moveTo>
                  <a:pt x="2141" y="23"/>
                </a:moveTo>
                <a:lnTo>
                  <a:pt x="2116" y="0"/>
                </a:lnTo>
                <a:lnTo>
                  <a:pt x="0" y="0"/>
                </a:lnTo>
                <a:lnTo>
                  <a:pt x="0" y="46"/>
                </a:lnTo>
                <a:lnTo>
                  <a:pt x="2116" y="46"/>
                </a:lnTo>
                <a:lnTo>
                  <a:pt x="2091" y="23"/>
                </a:lnTo>
                <a:lnTo>
                  <a:pt x="2141" y="23"/>
                </a:lnTo>
                <a:lnTo>
                  <a:pt x="2141" y="0"/>
                </a:lnTo>
                <a:lnTo>
                  <a:pt x="2116" y="0"/>
                </a:lnTo>
                <a:lnTo>
                  <a:pt x="2141" y="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5338" name="Freeform 46">
            <a:extLst>
              <a:ext uri="{FF2B5EF4-FFF2-40B4-BE49-F238E27FC236}">
                <a16:creationId xmlns:a16="http://schemas.microsoft.com/office/drawing/2014/main" id="{CDCE89FB-4489-8938-9A82-220FA7785C54}"/>
              </a:ext>
            </a:extLst>
          </p:cNvPr>
          <p:cNvSpPr>
            <a:spLocks/>
          </p:cNvSpPr>
          <p:nvPr/>
        </p:nvSpPr>
        <p:spPr bwMode="auto">
          <a:xfrm>
            <a:off x="7854950" y="3708400"/>
            <a:ext cx="39688" cy="382588"/>
          </a:xfrm>
          <a:custGeom>
            <a:avLst/>
            <a:gdLst>
              <a:gd name="T0" fmla="*/ 19844 w 50"/>
              <a:gd name="T1" fmla="*/ 382588 h 481"/>
              <a:gd name="T2" fmla="*/ 39688 w 50"/>
              <a:gd name="T3" fmla="*/ 364294 h 481"/>
              <a:gd name="T4" fmla="*/ 39688 w 50"/>
              <a:gd name="T5" fmla="*/ 0 h 481"/>
              <a:gd name="T6" fmla="*/ 0 w 50"/>
              <a:gd name="T7" fmla="*/ 0 h 481"/>
              <a:gd name="T8" fmla="*/ 0 w 50"/>
              <a:gd name="T9" fmla="*/ 364294 h 481"/>
              <a:gd name="T10" fmla="*/ 19844 w 50"/>
              <a:gd name="T11" fmla="*/ 346000 h 481"/>
              <a:gd name="T12" fmla="*/ 19844 w 50"/>
              <a:gd name="T13" fmla="*/ 382588 h 481"/>
              <a:gd name="T14" fmla="*/ 39688 w 50"/>
              <a:gd name="T15" fmla="*/ 382588 h 481"/>
              <a:gd name="T16" fmla="*/ 39688 w 50"/>
              <a:gd name="T17" fmla="*/ 364294 h 481"/>
              <a:gd name="T18" fmla="*/ 19844 w 50"/>
              <a:gd name="T19" fmla="*/ 382588 h 48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50"/>
              <a:gd name="T31" fmla="*/ 0 h 481"/>
              <a:gd name="T32" fmla="*/ 50 w 50"/>
              <a:gd name="T33" fmla="*/ 481 h 481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50" h="481">
                <a:moveTo>
                  <a:pt x="25" y="481"/>
                </a:moveTo>
                <a:lnTo>
                  <a:pt x="50" y="458"/>
                </a:lnTo>
                <a:lnTo>
                  <a:pt x="50" y="0"/>
                </a:lnTo>
                <a:lnTo>
                  <a:pt x="0" y="0"/>
                </a:lnTo>
                <a:lnTo>
                  <a:pt x="0" y="458"/>
                </a:lnTo>
                <a:lnTo>
                  <a:pt x="25" y="435"/>
                </a:lnTo>
                <a:lnTo>
                  <a:pt x="25" y="481"/>
                </a:lnTo>
                <a:lnTo>
                  <a:pt x="50" y="481"/>
                </a:lnTo>
                <a:lnTo>
                  <a:pt x="50" y="458"/>
                </a:lnTo>
                <a:lnTo>
                  <a:pt x="25" y="48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5339" name="Freeform 47">
            <a:extLst>
              <a:ext uri="{FF2B5EF4-FFF2-40B4-BE49-F238E27FC236}">
                <a16:creationId xmlns:a16="http://schemas.microsoft.com/office/drawing/2014/main" id="{7BD62F35-4215-8DEA-03BE-8A824B4A18DC}"/>
              </a:ext>
            </a:extLst>
          </p:cNvPr>
          <p:cNvSpPr>
            <a:spLocks/>
          </p:cNvSpPr>
          <p:nvPr/>
        </p:nvSpPr>
        <p:spPr bwMode="auto">
          <a:xfrm>
            <a:off x="6175375" y="4054475"/>
            <a:ext cx="1698625" cy="36513"/>
          </a:xfrm>
          <a:custGeom>
            <a:avLst/>
            <a:gdLst>
              <a:gd name="T0" fmla="*/ 0 w 2141"/>
              <a:gd name="T1" fmla="*/ 18257 h 46"/>
              <a:gd name="T2" fmla="*/ 19834 w 2141"/>
              <a:gd name="T3" fmla="*/ 36513 h 46"/>
              <a:gd name="T4" fmla="*/ 1698625 w 2141"/>
              <a:gd name="T5" fmla="*/ 36513 h 46"/>
              <a:gd name="T6" fmla="*/ 1698625 w 2141"/>
              <a:gd name="T7" fmla="*/ 0 h 46"/>
              <a:gd name="T8" fmla="*/ 19834 w 2141"/>
              <a:gd name="T9" fmla="*/ 0 h 46"/>
              <a:gd name="T10" fmla="*/ 39669 w 2141"/>
              <a:gd name="T11" fmla="*/ 18257 h 46"/>
              <a:gd name="T12" fmla="*/ 0 w 2141"/>
              <a:gd name="T13" fmla="*/ 18257 h 46"/>
              <a:gd name="T14" fmla="*/ 0 w 2141"/>
              <a:gd name="T15" fmla="*/ 36513 h 46"/>
              <a:gd name="T16" fmla="*/ 19834 w 2141"/>
              <a:gd name="T17" fmla="*/ 36513 h 46"/>
              <a:gd name="T18" fmla="*/ 0 w 2141"/>
              <a:gd name="T19" fmla="*/ 18257 h 4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141"/>
              <a:gd name="T31" fmla="*/ 0 h 46"/>
              <a:gd name="T32" fmla="*/ 2141 w 2141"/>
              <a:gd name="T33" fmla="*/ 46 h 4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141" h="46">
                <a:moveTo>
                  <a:pt x="0" y="23"/>
                </a:moveTo>
                <a:lnTo>
                  <a:pt x="25" y="46"/>
                </a:lnTo>
                <a:lnTo>
                  <a:pt x="2141" y="46"/>
                </a:lnTo>
                <a:lnTo>
                  <a:pt x="2141" y="0"/>
                </a:lnTo>
                <a:lnTo>
                  <a:pt x="25" y="0"/>
                </a:lnTo>
                <a:lnTo>
                  <a:pt x="50" y="23"/>
                </a:lnTo>
                <a:lnTo>
                  <a:pt x="0" y="23"/>
                </a:lnTo>
                <a:lnTo>
                  <a:pt x="0" y="46"/>
                </a:lnTo>
                <a:lnTo>
                  <a:pt x="25" y="46"/>
                </a:lnTo>
                <a:lnTo>
                  <a:pt x="0" y="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5340" name="Freeform 48">
            <a:extLst>
              <a:ext uri="{FF2B5EF4-FFF2-40B4-BE49-F238E27FC236}">
                <a16:creationId xmlns:a16="http://schemas.microsoft.com/office/drawing/2014/main" id="{56FA6C85-E3CC-95A5-BE7D-813C64812808}"/>
              </a:ext>
            </a:extLst>
          </p:cNvPr>
          <p:cNvSpPr>
            <a:spLocks/>
          </p:cNvSpPr>
          <p:nvPr/>
        </p:nvSpPr>
        <p:spPr bwMode="auto">
          <a:xfrm>
            <a:off x="6175375" y="3690938"/>
            <a:ext cx="39688" cy="381000"/>
          </a:xfrm>
          <a:custGeom>
            <a:avLst/>
            <a:gdLst>
              <a:gd name="T0" fmla="*/ 19844 w 50"/>
              <a:gd name="T1" fmla="*/ 0 h 481"/>
              <a:gd name="T2" fmla="*/ 0 w 50"/>
              <a:gd name="T3" fmla="*/ 18218 h 481"/>
              <a:gd name="T4" fmla="*/ 0 w 50"/>
              <a:gd name="T5" fmla="*/ 381000 h 481"/>
              <a:gd name="T6" fmla="*/ 39688 w 50"/>
              <a:gd name="T7" fmla="*/ 381000 h 481"/>
              <a:gd name="T8" fmla="*/ 39688 w 50"/>
              <a:gd name="T9" fmla="*/ 18218 h 481"/>
              <a:gd name="T10" fmla="*/ 19844 w 50"/>
              <a:gd name="T11" fmla="*/ 36437 h 481"/>
              <a:gd name="T12" fmla="*/ 19844 w 50"/>
              <a:gd name="T13" fmla="*/ 0 h 481"/>
              <a:gd name="T14" fmla="*/ 0 w 50"/>
              <a:gd name="T15" fmla="*/ 0 h 481"/>
              <a:gd name="T16" fmla="*/ 0 w 50"/>
              <a:gd name="T17" fmla="*/ 18218 h 481"/>
              <a:gd name="T18" fmla="*/ 19844 w 50"/>
              <a:gd name="T19" fmla="*/ 0 h 48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50"/>
              <a:gd name="T31" fmla="*/ 0 h 481"/>
              <a:gd name="T32" fmla="*/ 50 w 50"/>
              <a:gd name="T33" fmla="*/ 481 h 481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50" h="481">
                <a:moveTo>
                  <a:pt x="25" y="0"/>
                </a:moveTo>
                <a:lnTo>
                  <a:pt x="0" y="23"/>
                </a:lnTo>
                <a:lnTo>
                  <a:pt x="0" y="481"/>
                </a:lnTo>
                <a:lnTo>
                  <a:pt x="50" y="481"/>
                </a:lnTo>
                <a:lnTo>
                  <a:pt x="50" y="23"/>
                </a:lnTo>
                <a:lnTo>
                  <a:pt x="25" y="46"/>
                </a:lnTo>
                <a:lnTo>
                  <a:pt x="25" y="0"/>
                </a:lnTo>
                <a:lnTo>
                  <a:pt x="0" y="0"/>
                </a:lnTo>
                <a:lnTo>
                  <a:pt x="0" y="23"/>
                </a:lnTo>
                <a:lnTo>
                  <a:pt x="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5341" name="Rectangle 49">
            <a:extLst>
              <a:ext uri="{FF2B5EF4-FFF2-40B4-BE49-F238E27FC236}">
                <a16:creationId xmlns:a16="http://schemas.microsoft.com/office/drawing/2014/main" id="{10384871-17F0-B737-4157-71CB599F9F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4425" y="3708400"/>
            <a:ext cx="1679575" cy="455613"/>
          </a:xfrm>
          <a:prstGeom prst="rect">
            <a:avLst/>
          </a:prstGeom>
          <a:solidFill>
            <a:srgbClr val="E5E5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5342" name="Freeform 50">
            <a:extLst>
              <a:ext uri="{FF2B5EF4-FFF2-40B4-BE49-F238E27FC236}">
                <a16:creationId xmlns:a16="http://schemas.microsoft.com/office/drawing/2014/main" id="{CE428F56-DB76-D499-8333-B9CAAFF1B848}"/>
              </a:ext>
            </a:extLst>
          </p:cNvPr>
          <p:cNvSpPr>
            <a:spLocks/>
          </p:cNvSpPr>
          <p:nvPr/>
        </p:nvSpPr>
        <p:spPr bwMode="auto">
          <a:xfrm>
            <a:off x="6194425" y="3690938"/>
            <a:ext cx="1700213" cy="36512"/>
          </a:xfrm>
          <a:custGeom>
            <a:avLst/>
            <a:gdLst>
              <a:gd name="T0" fmla="*/ 1700213 w 2141"/>
              <a:gd name="T1" fmla="*/ 18256 h 46"/>
              <a:gd name="T2" fmla="*/ 1680360 w 2141"/>
              <a:gd name="T3" fmla="*/ 0 h 46"/>
              <a:gd name="T4" fmla="*/ 0 w 2141"/>
              <a:gd name="T5" fmla="*/ 0 h 46"/>
              <a:gd name="T6" fmla="*/ 0 w 2141"/>
              <a:gd name="T7" fmla="*/ 36512 h 46"/>
              <a:gd name="T8" fmla="*/ 1680360 w 2141"/>
              <a:gd name="T9" fmla="*/ 36512 h 46"/>
              <a:gd name="T10" fmla="*/ 1660507 w 2141"/>
              <a:gd name="T11" fmla="*/ 18256 h 46"/>
              <a:gd name="T12" fmla="*/ 1700213 w 2141"/>
              <a:gd name="T13" fmla="*/ 18256 h 46"/>
              <a:gd name="T14" fmla="*/ 1700213 w 2141"/>
              <a:gd name="T15" fmla="*/ 0 h 46"/>
              <a:gd name="T16" fmla="*/ 1680360 w 2141"/>
              <a:gd name="T17" fmla="*/ 0 h 46"/>
              <a:gd name="T18" fmla="*/ 1700213 w 2141"/>
              <a:gd name="T19" fmla="*/ 18256 h 4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141"/>
              <a:gd name="T31" fmla="*/ 0 h 46"/>
              <a:gd name="T32" fmla="*/ 2141 w 2141"/>
              <a:gd name="T33" fmla="*/ 46 h 4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141" h="46">
                <a:moveTo>
                  <a:pt x="2141" y="23"/>
                </a:moveTo>
                <a:lnTo>
                  <a:pt x="2116" y="0"/>
                </a:lnTo>
                <a:lnTo>
                  <a:pt x="0" y="0"/>
                </a:lnTo>
                <a:lnTo>
                  <a:pt x="0" y="46"/>
                </a:lnTo>
                <a:lnTo>
                  <a:pt x="2116" y="46"/>
                </a:lnTo>
                <a:lnTo>
                  <a:pt x="2091" y="23"/>
                </a:lnTo>
                <a:lnTo>
                  <a:pt x="2141" y="23"/>
                </a:lnTo>
                <a:lnTo>
                  <a:pt x="2141" y="0"/>
                </a:lnTo>
                <a:lnTo>
                  <a:pt x="2116" y="0"/>
                </a:lnTo>
                <a:lnTo>
                  <a:pt x="2141" y="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5343" name="Freeform 51">
            <a:extLst>
              <a:ext uri="{FF2B5EF4-FFF2-40B4-BE49-F238E27FC236}">
                <a16:creationId xmlns:a16="http://schemas.microsoft.com/office/drawing/2014/main" id="{2D47A49E-DFC2-2E0A-61ED-BFEC26D14FFB}"/>
              </a:ext>
            </a:extLst>
          </p:cNvPr>
          <p:cNvSpPr>
            <a:spLocks/>
          </p:cNvSpPr>
          <p:nvPr/>
        </p:nvSpPr>
        <p:spPr bwMode="auto">
          <a:xfrm>
            <a:off x="7854950" y="3708400"/>
            <a:ext cx="39688" cy="473075"/>
          </a:xfrm>
          <a:custGeom>
            <a:avLst/>
            <a:gdLst>
              <a:gd name="T0" fmla="*/ 19844 w 50"/>
              <a:gd name="T1" fmla="*/ 473075 h 595"/>
              <a:gd name="T2" fmla="*/ 39688 w 50"/>
              <a:gd name="T3" fmla="*/ 454788 h 595"/>
              <a:gd name="T4" fmla="*/ 39688 w 50"/>
              <a:gd name="T5" fmla="*/ 0 h 595"/>
              <a:gd name="T6" fmla="*/ 0 w 50"/>
              <a:gd name="T7" fmla="*/ 0 h 595"/>
              <a:gd name="T8" fmla="*/ 0 w 50"/>
              <a:gd name="T9" fmla="*/ 454788 h 595"/>
              <a:gd name="T10" fmla="*/ 19844 w 50"/>
              <a:gd name="T11" fmla="*/ 436501 h 595"/>
              <a:gd name="T12" fmla="*/ 19844 w 50"/>
              <a:gd name="T13" fmla="*/ 473075 h 595"/>
              <a:gd name="T14" fmla="*/ 39688 w 50"/>
              <a:gd name="T15" fmla="*/ 473075 h 595"/>
              <a:gd name="T16" fmla="*/ 39688 w 50"/>
              <a:gd name="T17" fmla="*/ 454788 h 595"/>
              <a:gd name="T18" fmla="*/ 19844 w 50"/>
              <a:gd name="T19" fmla="*/ 473075 h 59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50"/>
              <a:gd name="T31" fmla="*/ 0 h 595"/>
              <a:gd name="T32" fmla="*/ 50 w 50"/>
              <a:gd name="T33" fmla="*/ 595 h 595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50" h="595">
                <a:moveTo>
                  <a:pt x="25" y="595"/>
                </a:moveTo>
                <a:lnTo>
                  <a:pt x="50" y="572"/>
                </a:lnTo>
                <a:lnTo>
                  <a:pt x="50" y="0"/>
                </a:lnTo>
                <a:lnTo>
                  <a:pt x="0" y="0"/>
                </a:lnTo>
                <a:lnTo>
                  <a:pt x="0" y="572"/>
                </a:lnTo>
                <a:lnTo>
                  <a:pt x="25" y="549"/>
                </a:lnTo>
                <a:lnTo>
                  <a:pt x="25" y="595"/>
                </a:lnTo>
                <a:lnTo>
                  <a:pt x="50" y="595"/>
                </a:lnTo>
                <a:lnTo>
                  <a:pt x="50" y="572"/>
                </a:lnTo>
                <a:lnTo>
                  <a:pt x="25" y="59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5344" name="Freeform 52">
            <a:extLst>
              <a:ext uri="{FF2B5EF4-FFF2-40B4-BE49-F238E27FC236}">
                <a16:creationId xmlns:a16="http://schemas.microsoft.com/office/drawing/2014/main" id="{6D27B2AB-1ABD-6C89-47F3-CC7E17753999}"/>
              </a:ext>
            </a:extLst>
          </p:cNvPr>
          <p:cNvSpPr>
            <a:spLocks/>
          </p:cNvSpPr>
          <p:nvPr/>
        </p:nvSpPr>
        <p:spPr bwMode="auto">
          <a:xfrm>
            <a:off x="6175375" y="4144963"/>
            <a:ext cx="1698625" cy="36512"/>
          </a:xfrm>
          <a:custGeom>
            <a:avLst/>
            <a:gdLst>
              <a:gd name="T0" fmla="*/ 0 w 2141"/>
              <a:gd name="T1" fmla="*/ 18256 h 46"/>
              <a:gd name="T2" fmla="*/ 19834 w 2141"/>
              <a:gd name="T3" fmla="*/ 36512 h 46"/>
              <a:gd name="T4" fmla="*/ 1698625 w 2141"/>
              <a:gd name="T5" fmla="*/ 36512 h 46"/>
              <a:gd name="T6" fmla="*/ 1698625 w 2141"/>
              <a:gd name="T7" fmla="*/ 0 h 46"/>
              <a:gd name="T8" fmla="*/ 19834 w 2141"/>
              <a:gd name="T9" fmla="*/ 0 h 46"/>
              <a:gd name="T10" fmla="*/ 39669 w 2141"/>
              <a:gd name="T11" fmla="*/ 18256 h 46"/>
              <a:gd name="T12" fmla="*/ 0 w 2141"/>
              <a:gd name="T13" fmla="*/ 18256 h 46"/>
              <a:gd name="T14" fmla="*/ 0 w 2141"/>
              <a:gd name="T15" fmla="*/ 36512 h 46"/>
              <a:gd name="T16" fmla="*/ 19834 w 2141"/>
              <a:gd name="T17" fmla="*/ 36512 h 46"/>
              <a:gd name="T18" fmla="*/ 0 w 2141"/>
              <a:gd name="T19" fmla="*/ 18256 h 4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141"/>
              <a:gd name="T31" fmla="*/ 0 h 46"/>
              <a:gd name="T32" fmla="*/ 2141 w 2141"/>
              <a:gd name="T33" fmla="*/ 46 h 4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141" h="46">
                <a:moveTo>
                  <a:pt x="0" y="23"/>
                </a:moveTo>
                <a:lnTo>
                  <a:pt x="25" y="46"/>
                </a:lnTo>
                <a:lnTo>
                  <a:pt x="2141" y="46"/>
                </a:lnTo>
                <a:lnTo>
                  <a:pt x="2141" y="0"/>
                </a:lnTo>
                <a:lnTo>
                  <a:pt x="25" y="0"/>
                </a:lnTo>
                <a:lnTo>
                  <a:pt x="50" y="23"/>
                </a:lnTo>
                <a:lnTo>
                  <a:pt x="0" y="23"/>
                </a:lnTo>
                <a:lnTo>
                  <a:pt x="0" y="46"/>
                </a:lnTo>
                <a:lnTo>
                  <a:pt x="25" y="46"/>
                </a:lnTo>
                <a:lnTo>
                  <a:pt x="0" y="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5345" name="Freeform 53">
            <a:extLst>
              <a:ext uri="{FF2B5EF4-FFF2-40B4-BE49-F238E27FC236}">
                <a16:creationId xmlns:a16="http://schemas.microsoft.com/office/drawing/2014/main" id="{76198124-C325-75C3-2AAA-27DC3FCA61D4}"/>
              </a:ext>
            </a:extLst>
          </p:cNvPr>
          <p:cNvSpPr>
            <a:spLocks/>
          </p:cNvSpPr>
          <p:nvPr/>
        </p:nvSpPr>
        <p:spPr bwMode="auto">
          <a:xfrm>
            <a:off x="6175375" y="3690938"/>
            <a:ext cx="39688" cy="473075"/>
          </a:xfrm>
          <a:custGeom>
            <a:avLst/>
            <a:gdLst>
              <a:gd name="T0" fmla="*/ 19844 w 50"/>
              <a:gd name="T1" fmla="*/ 0 h 595"/>
              <a:gd name="T2" fmla="*/ 0 w 50"/>
              <a:gd name="T3" fmla="*/ 18287 h 595"/>
              <a:gd name="T4" fmla="*/ 0 w 50"/>
              <a:gd name="T5" fmla="*/ 473075 h 595"/>
              <a:gd name="T6" fmla="*/ 39688 w 50"/>
              <a:gd name="T7" fmla="*/ 473075 h 595"/>
              <a:gd name="T8" fmla="*/ 39688 w 50"/>
              <a:gd name="T9" fmla="*/ 18287 h 595"/>
              <a:gd name="T10" fmla="*/ 19844 w 50"/>
              <a:gd name="T11" fmla="*/ 36574 h 595"/>
              <a:gd name="T12" fmla="*/ 19844 w 50"/>
              <a:gd name="T13" fmla="*/ 0 h 595"/>
              <a:gd name="T14" fmla="*/ 0 w 50"/>
              <a:gd name="T15" fmla="*/ 0 h 595"/>
              <a:gd name="T16" fmla="*/ 0 w 50"/>
              <a:gd name="T17" fmla="*/ 18287 h 595"/>
              <a:gd name="T18" fmla="*/ 19844 w 50"/>
              <a:gd name="T19" fmla="*/ 0 h 59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50"/>
              <a:gd name="T31" fmla="*/ 0 h 595"/>
              <a:gd name="T32" fmla="*/ 50 w 50"/>
              <a:gd name="T33" fmla="*/ 595 h 595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50" h="595">
                <a:moveTo>
                  <a:pt x="25" y="0"/>
                </a:moveTo>
                <a:lnTo>
                  <a:pt x="0" y="23"/>
                </a:lnTo>
                <a:lnTo>
                  <a:pt x="0" y="595"/>
                </a:lnTo>
                <a:lnTo>
                  <a:pt x="50" y="595"/>
                </a:lnTo>
                <a:lnTo>
                  <a:pt x="50" y="23"/>
                </a:lnTo>
                <a:lnTo>
                  <a:pt x="25" y="46"/>
                </a:lnTo>
                <a:lnTo>
                  <a:pt x="25" y="0"/>
                </a:lnTo>
                <a:lnTo>
                  <a:pt x="0" y="0"/>
                </a:lnTo>
                <a:lnTo>
                  <a:pt x="0" y="23"/>
                </a:lnTo>
                <a:lnTo>
                  <a:pt x="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5346" name="Rectangle 54">
            <a:extLst>
              <a:ext uri="{FF2B5EF4-FFF2-40B4-BE49-F238E27FC236}">
                <a16:creationId xmlns:a16="http://schemas.microsoft.com/office/drawing/2014/main" id="{81AAE1A8-854D-3813-B523-7B4F736C6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3863" y="3822700"/>
            <a:ext cx="1460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sz="1600">
                <a:solidFill>
                  <a:srgbClr val="000000"/>
                </a:solidFill>
                <a:latin typeface="GillSans" charset="0"/>
              </a:rPr>
              <a:t>D</a:t>
            </a:r>
            <a:endParaRPr lang="en-US" altLang="it-IT"/>
          </a:p>
        </p:txBody>
      </p:sp>
      <p:sp>
        <p:nvSpPr>
          <p:cNvPr id="55347" name="Rectangle 55">
            <a:extLst>
              <a:ext uri="{FF2B5EF4-FFF2-40B4-BE49-F238E27FC236}">
                <a16:creationId xmlns:a16="http://schemas.microsoft.com/office/drawing/2014/main" id="{CF14CD71-0228-DDAE-1977-CCF936E72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4200" y="3822700"/>
            <a:ext cx="1127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sz="1600">
                <a:solidFill>
                  <a:srgbClr val="000000"/>
                </a:solidFill>
                <a:latin typeface="GillSans" charset="0"/>
              </a:rPr>
              <a:t>0</a:t>
            </a:r>
            <a:endParaRPr lang="en-US" altLang="it-IT"/>
          </a:p>
        </p:txBody>
      </p:sp>
      <p:sp>
        <p:nvSpPr>
          <p:cNvPr id="55348" name="Freeform 56">
            <a:extLst>
              <a:ext uri="{FF2B5EF4-FFF2-40B4-BE49-F238E27FC236}">
                <a16:creationId xmlns:a16="http://schemas.microsoft.com/office/drawing/2014/main" id="{0D95FE74-845F-F4FD-D0F8-17EEBF9411E2}"/>
              </a:ext>
            </a:extLst>
          </p:cNvPr>
          <p:cNvSpPr>
            <a:spLocks/>
          </p:cNvSpPr>
          <p:nvPr/>
        </p:nvSpPr>
        <p:spPr bwMode="auto">
          <a:xfrm>
            <a:off x="3130550" y="2873375"/>
            <a:ext cx="2370138" cy="36513"/>
          </a:xfrm>
          <a:custGeom>
            <a:avLst/>
            <a:gdLst>
              <a:gd name="T0" fmla="*/ 2370138 w 2988"/>
              <a:gd name="T1" fmla="*/ 17851 h 45"/>
              <a:gd name="T2" fmla="*/ 2370138 w 2988"/>
              <a:gd name="T3" fmla="*/ 0 h 45"/>
              <a:gd name="T4" fmla="*/ 0 w 2988"/>
              <a:gd name="T5" fmla="*/ 0 h 45"/>
              <a:gd name="T6" fmla="*/ 0 w 2988"/>
              <a:gd name="T7" fmla="*/ 36513 h 45"/>
              <a:gd name="T8" fmla="*/ 2370138 w 2988"/>
              <a:gd name="T9" fmla="*/ 36513 h 45"/>
              <a:gd name="T10" fmla="*/ 2370138 w 2988"/>
              <a:gd name="T11" fmla="*/ 17851 h 4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988"/>
              <a:gd name="T19" fmla="*/ 0 h 45"/>
              <a:gd name="T20" fmla="*/ 2988 w 2988"/>
              <a:gd name="T21" fmla="*/ 45 h 4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988" h="45">
                <a:moveTo>
                  <a:pt x="2988" y="22"/>
                </a:moveTo>
                <a:lnTo>
                  <a:pt x="2988" y="0"/>
                </a:lnTo>
                <a:lnTo>
                  <a:pt x="0" y="0"/>
                </a:lnTo>
                <a:lnTo>
                  <a:pt x="0" y="45"/>
                </a:lnTo>
                <a:lnTo>
                  <a:pt x="2988" y="45"/>
                </a:lnTo>
                <a:lnTo>
                  <a:pt x="2988" y="2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5349" name="Freeform 57">
            <a:extLst>
              <a:ext uri="{FF2B5EF4-FFF2-40B4-BE49-F238E27FC236}">
                <a16:creationId xmlns:a16="http://schemas.microsoft.com/office/drawing/2014/main" id="{A1F6BBDA-7FF3-A713-D8A7-B31CE68C644A}"/>
              </a:ext>
            </a:extLst>
          </p:cNvPr>
          <p:cNvSpPr>
            <a:spLocks/>
          </p:cNvSpPr>
          <p:nvPr/>
        </p:nvSpPr>
        <p:spPr bwMode="auto">
          <a:xfrm>
            <a:off x="3132138" y="4144963"/>
            <a:ext cx="2368550" cy="36512"/>
          </a:xfrm>
          <a:custGeom>
            <a:avLst/>
            <a:gdLst>
              <a:gd name="T0" fmla="*/ 2368550 w 2985"/>
              <a:gd name="T1" fmla="*/ 18256 h 46"/>
              <a:gd name="T2" fmla="*/ 2368550 w 2985"/>
              <a:gd name="T3" fmla="*/ 0 h 46"/>
              <a:gd name="T4" fmla="*/ 0 w 2985"/>
              <a:gd name="T5" fmla="*/ 0 h 46"/>
              <a:gd name="T6" fmla="*/ 0 w 2985"/>
              <a:gd name="T7" fmla="*/ 36512 h 46"/>
              <a:gd name="T8" fmla="*/ 2368550 w 2985"/>
              <a:gd name="T9" fmla="*/ 36512 h 46"/>
              <a:gd name="T10" fmla="*/ 2368550 w 2985"/>
              <a:gd name="T11" fmla="*/ 18256 h 4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985"/>
              <a:gd name="T19" fmla="*/ 0 h 46"/>
              <a:gd name="T20" fmla="*/ 2985 w 2985"/>
              <a:gd name="T21" fmla="*/ 46 h 4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985" h="46">
                <a:moveTo>
                  <a:pt x="2985" y="23"/>
                </a:moveTo>
                <a:lnTo>
                  <a:pt x="2985" y="0"/>
                </a:lnTo>
                <a:lnTo>
                  <a:pt x="0" y="0"/>
                </a:lnTo>
                <a:lnTo>
                  <a:pt x="0" y="46"/>
                </a:lnTo>
                <a:lnTo>
                  <a:pt x="2985" y="46"/>
                </a:lnTo>
                <a:lnTo>
                  <a:pt x="2985" y="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5350" name="Freeform 58">
            <a:extLst>
              <a:ext uri="{FF2B5EF4-FFF2-40B4-BE49-F238E27FC236}">
                <a16:creationId xmlns:a16="http://schemas.microsoft.com/office/drawing/2014/main" id="{2AE731A2-650C-CE4C-E0BE-A7EF0324DCA1}"/>
              </a:ext>
            </a:extLst>
          </p:cNvPr>
          <p:cNvSpPr>
            <a:spLocks/>
          </p:cNvSpPr>
          <p:nvPr/>
        </p:nvSpPr>
        <p:spPr bwMode="auto">
          <a:xfrm>
            <a:off x="3130550" y="3327400"/>
            <a:ext cx="2370138" cy="36513"/>
          </a:xfrm>
          <a:custGeom>
            <a:avLst/>
            <a:gdLst>
              <a:gd name="T0" fmla="*/ 2370138 w 2988"/>
              <a:gd name="T1" fmla="*/ 18257 h 46"/>
              <a:gd name="T2" fmla="*/ 2370138 w 2988"/>
              <a:gd name="T3" fmla="*/ 0 h 46"/>
              <a:gd name="T4" fmla="*/ 0 w 2988"/>
              <a:gd name="T5" fmla="*/ 0 h 46"/>
              <a:gd name="T6" fmla="*/ 0 w 2988"/>
              <a:gd name="T7" fmla="*/ 36513 h 46"/>
              <a:gd name="T8" fmla="*/ 2370138 w 2988"/>
              <a:gd name="T9" fmla="*/ 36513 h 46"/>
              <a:gd name="T10" fmla="*/ 2370138 w 2988"/>
              <a:gd name="T11" fmla="*/ 18257 h 4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988"/>
              <a:gd name="T19" fmla="*/ 0 h 46"/>
              <a:gd name="T20" fmla="*/ 2988 w 2988"/>
              <a:gd name="T21" fmla="*/ 46 h 4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988" h="46">
                <a:moveTo>
                  <a:pt x="2988" y="23"/>
                </a:moveTo>
                <a:lnTo>
                  <a:pt x="2988" y="0"/>
                </a:lnTo>
                <a:lnTo>
                  <a:pt x="0" y="0"/>
                </a:lnTo>
                <a:lnTo>
                  <a:pt x="0" y="46"/>
                </a:lnTo>
                <a:lnTo>
                  <a:pt x="2988" y="46"/>
                </a:lnTo>
                <a:lnTo>
                  <a:pt x="2988" y="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5351" name="Freeform 59">
            <a:extLst>
              <a:ext uri="{FF2B5EF4-FFF2-40B4-BE49-F238E27FC236}">
                <a16:creationId xmlns:a16="http://schemas.microsoft.com/office/drawing/2014/main" id="{A22E5794-62A1-B688-9625-E7734AA94552}"/>
              </a:ext>
            </a:extLst>
          </p:cNvPr>
          <p:cNvSpPr>
            <a:spLocks/>
          </p:cNvSpPr>
          <p:nvPr/>
        </p:nvSpPr>
        <p:spPr bwMode="auto">
          <a:xfrm>
            <a:off x="3132138" y="4598988"/>
            <a:ext cx="2371725" cy="36512"/>
          </a:xfrm>
          <a:custGeom>
            <a:avLst/>
            <a:gdLst>
              <a:gd name="T0" fmla="*/ 2371725 w 2987"/>
              <a:gd name="T1" fmla="*/ 18662 h 45"/>
              <a:gd name="T2" fmla="*/ 2371725 w 2987"/>
              <a:gd name="T3" fmla="*/ 0 h 45"/>
              <a:gd name="T4" fmla="*/ 0 w 2987"/>
              <a:gd name="T5" fmla="*/ 0 h 45"/>
              <a:gd name="T6" fmla="*/ 0 w 2987"/>
              <a:gd name="T7" fmla="*/ 36512 h 45"/>
              <a:gd name="T8" fmla="*/ 2371725 w 2987"/>
              <a:gd name="T9" fmla="*/ 36512 h 45"/>
              <a:gd name="T10" fmla="*/ 2371725 w 2987"/>
              <a:gd name="T11" fmla="*/ 18662 h 4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987"/>
              <a:gd name="T19" fmla="*/ 0 h 45"/>
              <a:gd name="T20" fmla="*/ 2987 w 2987"/>
              <a:gd name="T21" fmla="*/ 45 h 4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987" h="45">
                <a:moveTo>
                  <a:pt x="2987" y="23"/>
                </a:moveTo>
                <a:lnTo>
                  <a:pt x="2987" y="0"/>
                </a:lnTo>
                <a:lnTo>
                  <a:pt x="0" y="0"/>
                </a:lnTo>
                <a:lnTo>
                  <a:pt x="0" y="45"/>
                </a:lnTo>
                <a:lnTo>
                  <a:pt x="2987" y="45"/>
                </a:lnTo>
                <a:lnTo>
                  <a:pt x="2987" y="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5352" name="Rectangle 60">
            <a:extLst>
              <a:ext uri="{FF2B5EF4-FFF2-40B4-BE49-F238E27FC236}">
                <a16:creationId xmlns:a16="http://schemas.microsoft.com/office/drawing/2014/main" id="{81D670AE-ACFB-3AFA-ABAE-84E11EBC54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1063" y="3843338"/>
            <a:ext cx="1412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b="1">
                <a:solidFill>
                  <a:srgbClr val="000000"/>
                </a:solidFill>
                <a:latin typeface="GillSans" charset="0"/>
              </a:rPr>
              <a:t>1</a:t>
            </a:r>
            <a:endParaRPr lang="en-US" altLang="it-IT"/>
          </a:p>
        </p:txBody>
      </p:sp>
      <p:sp>
        <p:nvSpPr>
          <p:cNvPr id="55353" name="Rectangle 61">
            <a:extLst>
              <a:ext uri="{FF2B5EF4-FFF2-40B4-BE49-F238E27FC236}">
                <a16:creationId xmlns:a16="http://schemas.microsoft.com/office/drawing/2014/main" id="{8FF227BB-0D35-BA0E-D0E1-80CF73CA0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1875" y="3843338"/>
            <a:ext cx="1412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b="1">
                <a:solidFill>
                  <a:srgbClr val="000000"/>
                </a:solidFill>
                <a:latin typeface="GillSans" charset="0"/>
              </a:rPr>
              <a:t>0</a:t>
            </a:r>
            <a:endParaRPr lang="en-US" altLang="it-IT"/>
          </a:p>
        </p:txBody>
      </p:sp>
      <p:sp>
        <p:nvSpPr>
          <p:cNvPr id="55354" name="Rectangle 62">
            <a:extLst>
              <a:ext uri="{FF2B5EF4-FFF2-40B4-BE49-F238E27FC236}">
                <a16:creationId xmlns:a16="http://schemas.microsoft.com/office/drawing/2014/main" id="{B08CAE25-EA8A-7C95-3B4C-60353DF443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2688" y="3843338"/>
            <a:ext cx="1412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b="1">
                <a:solidFill>
                  <a:srgbClr val="000000"/>
                </a:solidFill>
                <a:latin typeface="GillSans" charset="0"/>
              </a:rPr>
              <a:t>0</a:t>
            </a:r>
            <a:endParaRPr lang="en-US" altLang="it-IT"/>
          </a:p>
        </p:txBody>
      </p:sp>
      <p:sp>
        <p:nvSpPr>
          <p:cNvPr id="55355" name="Rectangle 63">
            <a:extLst>
              <a:ext uri="{FF2B5EF4-FFF2-40B4-BE49-F238E27FC236}">
                <a16:creationId xmlns:a16="http://schemas.microsoft.com/office/drawing/2014/main" id="{10C13208-4535-4B46-47ED-EA223F54C6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500" y="3843338"/>
            <a:ext cx="1412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b="1">
                <a:solidFill>
                  <a:srgbClr val="000000"/>
                </a:solidFill>
                <a:latin typeface="GillSans" charset="0"/>
              </a:rPr>
              <a:t>0</a:t>
            </a:r>
            <a:endParaRPr lang="en-US" altLang="it-IT"/>
          </a:p>
        </p:txBody>
      </p:sp>
      <p:sp>
        <p:nvSpPr>
          <p:cNvPr id="55356" name="Rectangle 64">
            <a:extLst>
              <a:ext uri="{FF2B5EF4-FFF2-40B4-BE49-F238E27FC236}">
                <a16:creationId xmlns:a16="http://schemas.microsoft.com/office/drawing/2014/main" id="{7072645C-C3C9-E025-5387-55C9317BC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6875" y="2971800"/>
            <a:ext cx="1412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b="1">
                <a:solidFill>
                  <a:srgbClr val="000000"/>
                </a:solidFill>
                <a:latin typeface="GillSans" charset="0"/>
              </a:rPr>
              <a:t>1</a:t>
            </a:r>
            <a:endParaRPr lang="en-US" altLang="it-IT"/>
          </a:p>
        </p:txBody>
      </p:sp>
      <p:sp>
        <p:nvSpPr>
          <p:cNvPr id="55357" name="Rectangle 65">
            <a:extLst>
              <a:ext uri="{FF2B5EF4-FFF2-40B4-BE49-F238E27FC236}">
                <a16:creationId xmlns:a16="http://schemas.microsoft.com/office/drawing/2014/main" id="{D2D93FBD-0B87-6212-C69D-DD2484B80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7688" y="2971800"/>
            <a:ext cx="1412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b="1">
                <a:solidFill>
                  <a:srgbClr val="000000"/>
                </a:solidFill>
                <a:latin typeface="GillSans" charset="0"/>
              </a:rPr>
              <a:t>0</a:t>
            </a:r>
            <a:endParaRPr lang="en-US" altLang="it-IT"/>
          </a:p>
        </p:txBody>
      </p:sp>
      <p:sp>
        <p:nvSpPr>
          <p:cNvPr id="55358" name="Rectangle 66">
            <a:extLst>
              <a:ext uri="{FF2B5EF4-FFF2-40B4-BE49-F238E27FC236}">
                <a16:creationId xmlns:a16="http://schemas.microsoft.com/office/drawing/2014/main" id="{714E5739-8415-12DD-2A9A-C42BE1E60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8500" y="2971800"/>
            <a:ext cx="1412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b="1">
                <a:solidFill>
                  <a:srgbClr val="000000"/>
                </a:solidFill>
                <a:latin typeface="GillSans" charset="0"/>
              </a:rPr>
              <a:t>0</a:t>
            </a:r>
            <a:endParaRPr lang="en-US" altLang="it-IT"/>
          </a:p>
        </p:txBody>
      </p:sp>
      <p:sp>
        <p:nvSpPr>
          <p:cNvPr id="55359" name="Rectangle 67">
            <a:extLst>
              <a:ext uri="{FF2B5EF4-FFF2-40B4-BE49-F238E27FC236}">
                <a16:creationId xmlns:a16="http://schemas.microsoft.com/office/drawing/2014/main" id="{EB513D89-FB62-9B08-8635-6ED03BF747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0900" y="2971800"/>
            <a:ext cx="1412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b="1">
                <a:solidFill>
                  <a:srgbClr val="000000"/>
                </a:solidFill>
                <a:latin typeface="GillSans" charset="0"/>
              </a:rPr>
              <a:t>0</a:t>
            </a:r>
            <a:endParaRPr lang="en-US" altLang="it-IT"/>
          </a:p>
        </p:txBody>
      </p:sp>
      <p:sp>
        <p:nvSpPr>
          <p:cNvPr id="55360" name="Rectangle 68">
            <a:extLst>
              <a:ext uri="{FF2B5EF4-FFF2-40B4-BE49-F238E27FC236}">
                <a16:creationId xmlns:a16="http://schemas.microsoft.com/office/drawing/2014/main" id="{8240D890-5F11-5BBB-79C4-28A760ABA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2925" y="2625725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b="1">
                <a:solidFill>
                  <a:srgbClr val="000000"/>
                </a:solidFill>
                <a:latin typeface="GillSans" charset="0"/>
              </a:rPr>
              <a:t>A</a:t>
            </a:r>
            <a:endParaRPr lang="en-US" altLang="it-IT"/>
          </a:p>
        </p:txBody>
      </p:sp>
      <p:sp>
        <p:nvSpPr>
          <p:cNvPr id="55361" name="Rectangle 69">
            <a:extLst>
              <a:ext uri="{FF2B5EF4-FFF2-40B4-BE49-F238E27FC236}">
                <a16:creationId xmlns:a16="http://schemas.microsoft.com/office/drawing/2014/main" id="{58C2DDBD-C6EE-AD9F-BB8B-818C6605E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4063" y="2625725"/>
            <a:ext cx="1412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b="1">
                <a:solidFill>
                  <a:srgbClr val="000000"/>
                </a:solidFill>
                <a:latin typeface="GillSans" charset="0"/>
              </a:rPr>
              <a:t>0</a:t>
            </a:r>
            <a:endParaRPr lang="en-US" altLang="it-IT"/>
          </a:p>
        </p:txBody>
      </p:sp>
      <p:sp>
        <p:nvSpPr>
          <p:cNvPr id="55362" name="Rectangle 70">
            <a:extLst>
              <a:ext uri="{FF2B5EF4-FFF2-40B4-BE49-F238E27FC236}">
                <a16:creationId xmlns:a16="http://schemas.microsoft.com/office/drawing/2014/main" id="{3BE5AD83-7137-229B-F90F-8EA3A8D44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6588" y="3794125"/>
            <a:ext cx="1412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b="1">
                <a:solidFill>
                  <a:srgbClr val="000000"/>
                </a:solidFill>
                <a:latin typeface="GillSans" charset="0"/>
              </a:rPr>
              <a:t>5</a:t>
            </a:r>
            <a:endParaRPr lang="en-US" altLang="it-IT"/>
          </a:p>
        </p:txBody>
      </p:sp>
      <p:sp>
        <p:nvSpPr>
          <p:cNvPr id="55363" name="Rectangle 71">
            <a:extLst>
              <a:ext uri="{FF2B5EF4-FFF2-40B4-BE49-F238E27FC236}">
                <a16:creationId xmlns:a16="http://schemas.microsoft.com/office/drawing/2014/main" id="{040A34E3-A558-7D4E-0D7B-DC6132B81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7400" y="3794125"/>
            <a:ext cx="1412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b="1">
                <a:solidFill>
                  <a:srgbClr val="000000"/>
                </a:solidFill>
                <a:latin typeface="GillSans" charset="0"/>
              </a:rPr>
              <a:t>7</a:t>
            </a:r>
            <a:endParaRPr lang="en-US" altLang="it-IT"/>
          </a:p>
        </p:txBody>
      </p:sp>
      <p:sp>
        <p:nvSpPr>
          <p:cNvPr id="55364" name="Rectangle 72">
            <a:extLst>
              <a:ext uri="{FF2B5EF4-FFF2-40B4-BE49-F238E27FC236}">
                <a16:creationId xmlns:a16="http://schemas.microsoft.com/office/drawing/2014/main" id="{C6C05F7A-ADBF-2741-D3B8-352C06A7C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5413" y="2097088"/>
            <a:ext cx="147637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sz="1400">
                <a:solidFill>
                  <a:srgbClr val="000000"/>
                </a:solidFill>
                <a:latin typeface="GillSans" charset="0"/>
              </a:rPr>
              <a:t>M</a:t>
            </a:r>
            <a:endParaRPr lang="en-US" altLang="it-IT"/>
          </a:p>
        </p:txBody>
      </p:sp>
      <p:sp>
        <p:nvSpPr>
          <p:cNvPr id="55365" name="Rectangle 73">
            <a:extLst>
              <a:ext uri="{FF2B5EF4-FFF2-40B4-BE49-F238E27FC236}">
                <a16:creationId xmlns:a16="http://schemas.microsoft.com/office/drawing/2014/main" id="{5512EFF8-CDF7-8049-CA31-ED48FEBC0C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463" y="2097088"/>
            <a:ext cx="98425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sz="1400">
                <a:solidFill>
                  <a:srgbClr val="000000"/>
                </a:solidFill>
                <a:latin typeface="GillSans" charset="0"/>
              </a:rPr>
              <a:t>e</a:t>
            </a:r>
            <a:endParaRPr lang="en-US" altLang="it-IT"/>
          </a:p>
        </p:txBody>
      </p:sp>
      <p:sp>
        <p:nvSpPr>
          <p:cNvPr id="55366" name="Rectangle 74">
            <a:extLst>
              <a:ext uri="{FF2B5EF4-FFF2-40B4-BE49-F238E27FC236}">
                <a16:creationId xmlns:a16="http://schemas.microsoft.com/office/drawing/2014/main" id="{F948BA83-D903-9AAC-E344-FD30B6BFE1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8300" y="2097088"/>
            <a:ext cx="147638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sz="1400">
                <a:solidFill>
                  <a:srgbClr val="000000"/>
                </a:solidFill>
                <a:latin typeface="GillSans" charset="0"/>
              </a:rPr>
              <a:t>m</a:t>
            </a:r>
            <a:endParaRPr lang="en-US" altLang="it-IT"/>
          </a:p>
        </p:txBody>
      </p:sp>
      <p:sp>
        <p:nvSpPr>
          <p:cNvPr id="55367" name="Rectangle 75">
            <a:extLst>
              <a:ext uri="{FF2B5EF4-FFF2-40B4-BE49-F238E27FC236}">
                <a16:creationId xmlns:a16="http://schemas.microsoft.com/office/drawing/2014/main" id="{BDEDDC86-70A3-7A62-3938-17B22C86D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097088"/>
            <a:ext cx="98425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sz="1400">
                <a:solidFill>
                  <a:srgbClr val="000000"/>
                </a:solidFill>
                <a:latin typeface="GillSans" charset="0"/>
              </a:rPr>
              <a:t>o</a:t>
            </a:r>
            <a:endParaRPr lang="en-US" altLang="it-IT"/>
          </a:p>
        </p:txBody>
      </p:sp>
      <p:sp>
        <p:nvSpPr>
          <p:cNvPr id="55368" name="Rectangle 76">
            <a:extLst>
              <a:ext uri="{FF2B5EF4-FFF2-40B4-BE49-F238E27FC236}">
                <a16:creationId xmlns:a16="http://schemas.microsoft.com/office/drawing/2014/main" id="{9F216F35-2AF0-00F7-A90B-2B5FF42F5A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2775" y="2097088"/>
            <a:ext cx="58738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sz="1400">
                <a:solidFill>
                  <a:srgbClr val="000000"/>
                </a:solidFill>
                <a:latin typeface="GillSans" charset="0"/>
              </a:rPr>
              <a:t>r</a:t>
            </a:r>
            <a:endParaRPr lang="en-US" altLang="it-IT"/>
          </a:p>
        </p:txBody>
      </p:sp>
      <p:sp>
        <p:nvSpPr>
          <p:cNvPr id="55369" name="Rectangle 77">
            <a:extLst>
              <a:ext uri="{FF2B5EF4-FFF2-40B4-BE49-F238E27FC236}">
                <a16:creationId xmlns:a16="http://schemas.microsoft.com/office/drawing/2014/main" id="{AFBAF9BA-8ED6-EE72-B8C4-9E5BFCFA4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0" y="2097088"/>
            <a:ext cx="889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sz="1400">
                <a:solidFill>
                  <a:srgbClr val="000000"/>
                </a:solidFill>
                <a:latin typeface="GillSans" charset="0"/>
              </a:rPr>
              <a:t>y</a:t>
            </a:r>
            <a:endParaRPr lang="en-US" altLang="it-IT"/>
          </a:p>
        </p:txBody>
      </p:sp>
      <p:sp>
        <p:nvSpPr>
          <p:cNvPr id="55370" name="Freeform 78">
            <a:extLst>
              <a:ext uri="{FF2B5EF4-FFF2-40B4-BE49-F238E27FC236}">
                <a16:creationId xmlns:a16="http://schemas.microsoft.com/office/drawing/2014/main" id="{B7CCF324-9BBD-592B-5AA6-1FB0669124C4}"/>
              </a:ext>
            </a:extLst>
          </p:cNvPr>
          <p:cNvSpPr>
            <a:spLocks/>
          </p:cNvSpPr>
          <p:nvPr/>
        </p:nvSpPr>
        <p:spPr bwMode="auto">
          <a:xfrm>
            <a:off x="2439988" y="3105150"/>
            <a:ext cx="336550" cy="26988"/>
          </a:xfrm>
          <a:custGeom>
            <a:avLst/>
            <a:gdLst>
              <a:gd name="T0" fmla="*/ 336550 w 423"/>
              <a:gd name="T1" fmla="*/ 13880 h 35"/>
              <a:gd name="T2" fmla="*/ 321433 w 423"/>
              <a:gd name="T3" fmla="*/ 0 h 35"/>
              <a:gd name="T4" fmla="*/ 0 w 423"/>
              <a:gd name="T5" fmla="*/ 0 h 35"/>
              <a:gd name="T6" fmla="*/ 0 w 423"/>
              <a:gd name="T7" fmla="*/ 26988 h 35"/>
              <a:gd name="T8" fmla="*/ 321433 w 423"/>
              <a:gd name="T9" fmla="*/ 26988 h 35"/>
              <a:gd name="T10" fmla="*/ 306316 w 423"/>
              <a:gd name="T11" fmla="*/ 13880 h 35"/>
              <a:gd name="T12" fmla="*/ 336550 w 423"/>
              <a:gd name="T13" fmla="*/ 13880 h 35"/>
              <a:gd name="T14" fmla="*/ 336550 w 423"/>
              <a:gd name="T15" fmla="*/ 0 h 35"/>
              <a:gd name="T16" fmla="*/ 321433 w 423"/>
              <a:gd name="T17" fmla="*/ 0 h 35"/>
              <a:gd name="T18" fmla="*/ 336550 w 423"/>
              <a:gd name="T19" fmla="*/ 13880 h 3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423"/>
              <a:gd name="T31" fmla="*/ 0 h 35"/>
              <a:gd name="T32" fmla="*/ 423 w 423"/>
              <a:gd name="T33" fmla="*/ 35 h 35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423" h="35">
                <a:moveTo>
                  <a:pt x="423" y="18"/>
                </a:moveTo>
                <a:lnTo>
                  <a:pt x="404" y="0"/>
                </a:lnTo>
                <a:lnTo>
                  <a:pt x="0" y="0"/>
                </a:lnTo>
                <a:lnTo>
                  <a:pt x="0" y="35"/>
                </a:lnTo>
                <a:lnTo>
                  <a:pt x="404" y="35"/>
                </a:lnTo>
                <a:lnTo>
                  <a:pt x="385" y="18"/>
                </a:lnTo>
                <a:lnTo>
                  <a:pt x="423" y="18"/>
                </a:lnTo>
                <a:lnTo>
                  <a:pt x="423" y="0"/>
                </a:lnTo>
                <a:lnTo>
                  <a:pt x="404" y="0"/>
                </a:lnTo>
                <a:lnTo>
                  <a:pt x="423" y="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5371" name="Freeform 79">
            <a:extLst>
              <a:ext uri="{FF2B5EF4-FFF2-40B4-BE49-F238E27FC236}">
                <a16:creationId xmlns:a16="http://schemas.microsoft.com/office/drawing/2014/main" id="{D02591A7-C21E-0DF8-0B74-AF70DD53C74A}"/>
              </a:ext>
            </a:extLst>
          </p:cNvPr>
          <p:cNvSpPr>
            <a:spLocks/>
          </p:cNvSpPr>
          <p:nvPr/>
        </p:nvSpPr>
        <p:spPr bwMode="auto">
          <a:xfrm>
            <a:off x="2746375" y="3117850"/>
            <a:ext cx="30163" cy="877888"/>
          </a:xfrm>
          <a:custGeom>
            <a:avLst/>
            <a:gdLst>
              <a:gd name="T0" fmla="*/ 15082 w 38"/>
              <a:gd name="T1" fmla="*/ 850852 h 1104"/>
              <a:gd name="T2" fmla="*/ 30163 w 38"/>
              <a:gd name="T3" fmla="*/ 864370 h 1104"/>
              <a:gd name="T4" fmla="*/ 30163 w 38"/>
              <a:gd name="T5" fmla="*/ 0 h 1104"/>
              <a:gd name="T6" fmla="*/ 0 w 38"/>
              <a:gd name="T7" fmla="*/ 0 h 1104"/>
              <a:gd name="T8" fmla="*/ 0 w 38"/>
              <a:gd name="T9" fmla="*/ 864370 h 1104"/>
              <a:gd name="T10" fmla="*/ 15082 w 38"/>
              <a:gd name="T11" fmla="*/ 877888 h 1104"/>
              <a:gd name="T12" fmla="*/ 0 w 38"/>
              <a:gd name="T13" fmla="*/ 864370 h 1104"/>
              <a:gd name="T14" fmla="*/ 0 w 38"/>
              <a:gd name="T15" fmla="*/ 877888 h 1104"/>
              <a:gd name="T16" fmla="*/ 15082 w 38"/>
              <a:gd name="T17" fmla="*/ 877888 h 1104"/>
              <a:gd name="T18" fmla="*/ 15082 w 38"/>
              <a:gd name="T19" fmla="*/ 850852 h 110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38"/>
              <a:gd name="T31" fmla="*/ 0 h 1104"/>
              <a:gd name="T32" fmla="*/ 38 w 38"/>
              <a:gd name="T33" fmla="*/ 1104 h 1104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38" h="1104">
                <a:moveTo>
                  <a:pt x="19" y="1070"/>
                </a:moveTo>
                <a:lnTo>
                  <a:pt x="38" y="1087"/>
                </a:lnTo>
                <a:lnTo>
                  <a:pt x="38" y="0"/>
                </a:lnTo>
                <a:lnTo>
                  <a:pt x="0" y="0"/>
                </a:lnTo>
                <a:lnTo>
                  <a:pt x="0" y="1087"/>
                </a:lnTo>
                <a:lnTo>
                  <a:pt x="19" y="1104"/>
                </a:lnTo>
                <a:lnTo>
                  <a:pt x="0" y="1087"/>
                </a:lnTo>
                <a:lnTo>
                  <a:pt x="0" y="1104"/>
                </a:lnTo>
                <a:lnTo>
                  <a:pt x="19" y="1104"/>
                </a:lnTo>
                <a:lnTo>
                  <a:pt x="19" y="107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5372" name="Freeform 80">
            <a:extLst>
              <a:ext uri="{FF2B5EF4-FFF2-40B4-BE49-F238E27FC236}">
                <a16:creationId xmlns:a16="http://schemas.microsoft.com/office/drawing/2014/main" id="{302B9099-2FD9-3485-3192-2FD80B8BEF73}"/>
              </a:ext>
            </a:extLst>
          </p:cNvPr>
          <p:cNvSpPr>
            <a:spLocks/>
          </p:cNvSpPr>
          <p:nvPr/>
        </p:nvSpPr>
        <p:spPr bwMode="auto">
          <a:xfrm>
            <a:off x="2762250" y="3968750"/>
            <a:ext cx="215900" cy="26988"/>
          </a:xfrm>
          <a:custGeom>
            <a:avLst/>
            <a:gdLst>
              <a:gd name="T0" fmla="*/ 215900 w 274"/>
              <a:gd name="T1" fmla="*/ 13494 h 34"/>
              <a:gd name="T2" fmla="*/ 215900 w 274"/>
              <a:gd name="T3" fmla="*/ 0 h 34"/>
              <a:gd name="T4" fmla="*/ 0 w 274"/>
              <a:gd name="T5" fmla="*/ 0 h 34"/>
              <a:gd name="T6" fmla="*/ 0 w 274"/>
              <a:gd name="T7" fmla="*/ 26988 h 34"/>
              <a:gd name="T8" fmla="*/ 215900 w 274"/>
              <a:gd name="T9" fmla="*/ 26988 h 34"/>
              <a:gd name="T10" fmla="*/ 215900 w 274"/>
              <a:gd name="T11" fmla="*/ 13494 h 3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4"/>
              <a:gd name="T19" fmla="*/ 0 h 34"/>
              <a:gd name="T20" fmla="*/ 274 w 274"/>
              <a:gd name="T21" fmla="*/ 34 h 3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4" h="34">
                <a:moveTo>
                  <a:pt x="274" y="17"/>
                </a:moveTo>
                <a:lnTo>
                  <a:pt x="274" y="0"/>
                </a:lnTo>
                <a:lnTo>
                  <a:pt x="0" y="0"/>
                </a:lnTo>
                <a:lnTo>
                  <a:pt x="0" y="34"/>
                </a:lnTo>
                <a:lnTo>
                  <a:pt x="274" y="34"/>
                </a:lnTo>
                <a:lnTo>
                  <a:pt x="274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5373" name="Freeform 81">
            <a:extLst>
              <a:ext uri="{FF2B5EF4-FFF2-40B4-BE49-F238E27FC236}">
                <a16:creationId xmlns:a16="http://schemas.microsoft.com/office/drawing/2014/main" id="{805B3A08-CE65-B199-ED42-A3CE2F7D3AF6}"/>
              </a:ext>
            </a:extLst>
          </p:cNvPr>
          <p:cNvSpPr>
            <a:spLocks/>
          </p:cNvSpPr>
          <p:nvPr/>
        </p:nvSpPr>
        <p:spPr bwMode="auto">
          <a:xfrm>
            <a:off x="2965450" y="3910013"/>
            <a:ext cx="141288" cy="142875"/>
          </a:xfrm>
          <a:custGeom>
            <a:avLst/>
            <a:gdLst>
              <a:gd name="T0" fmla="*/ 141288 w 178"/>
              <a:gd name="T1" fmla="*/ 71438 h 178"/>
              <a:gd name="T2" fmla="*/ 0 w 178"/>
              <a:gd name="T3" fmla="*/ 0 h 178"/>
              <a:gd name="T4" fmla="*/ 141288 w 178"/>
              <a:gd name="T5" fmla="*/ 71438 h 178"/>
              <a:gd name="T6" fmla="*/ 0 w 178"/>
              <a:gd name="T7" fmla="*/ 142875 h 178"/>
              <a:gd name="T8" fmla="*/ 0 w 178"/>
              <a:gd name="T9" fmla="*/ 0 h 178"/>
              <a:gd name="T10" fmla="*/ 141288 w 178"/>
              <a:gd name="T11" fmla="*/ 71438 h 17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78"/>
              <a:gd name="T19" fmla="*/ 0 h 178"/>
              <a:gd name="T20" fmla="*/ 178 w 178"/>
              <a:gd name="T21" fmla="*/ 178 h 17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78" h="178">
                <a:moveTo>
                  <a:pt x="178" y="89"/>
                </a:moveTo>
                <a:lnTo>
                  <a:pt x="0" y="0"/>
                </a:lnTo>
                <a:lnTo>
                  <a:pt x="178" y="89"/>
                </a:lnTo>
                <a:lnTo>
                  <a:pt x="0" y="178"/>
                </a:lnTo>
                <a:lnTo>
                  <a:pt x="0" y="0"/>
                </a:lnTo>
                <a:lnTo>
                  <a:pt x="178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5374" name="Rectangle 82">
            <a:extLst>
              <a:ext uri="{FF2B5EF4-FFF2-40B4-BE49-F238E27FC236}">
                <a16:creationId xmlns:a16="http://schemas.microsoft.com/office/drawing/2014/main" id="{A6C2D1EE-61DE-F604-721C-943D74E10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3238" y="3803650"/>
            <a:ext cx="1412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b="1">
                <a:solidFill>
                  <a:srgbClr val="000000"/>
                </a:solidFill>
                <a:latin typeface="GillSans" charset="0"/>
              </a:rPr>
              <a:t>5</a:t>
            </a:r>
            <a:endParaRPr lang="en-US" altLang="it-IT"/>
          </a:p>
        </p:txBody>
      </p:sp>
      <p:sp>
        <p:nvSpPr>
          <p:cNvPr id="55375" name="Rectangle 83">
            <a:extLst>
              <a:ext uri="{FF2B5EF4-FFF2-40B4-BE49-F238E27FC236}">
                <a16:creationId xmlns:a16="http://schemas.microsoft.com/office/drawing/2014/main" id="{38CD7899-87A2-8537-8ED2-B8B5605461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050" y="3803650"/>
            <a:ext cx="1412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b="1">
                <a:solidFill>
                  <a:srgbClr val="000000"/>
                </a:solidFill>
                <a:latin typeface="GillSans" charset="0"/>
              </a:rPr>
              <a:t>7</a:t>
            </a:r>
            <a:endParaRPr lang="en-US" altLang="it-IT"/>
          </a:p>
        </p:txBody>
      </p:sp>
      <p:sp>
        <p:nvSpPr>
          <p:cNvPr id="55376" name="Line 8">
            <a:extLst>
              <a:ext uri="{FF2B5EF4-FFF2-40B4-BE49-F238E27FC236}">
                <a16:creationId xmlns:a16="http://schemas.microsoft.com/office/drawing/2014/main" id="{B985FB9A-7C50-CB26-FB5D-2F2DB50962F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97288" y="2819400"/>
            <a:ext cx="989012" cy="2438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7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7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7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7253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egnaposto numero diapositiva 5">
            <a:extLst>
              <a:ext uri="{FF2B5EF4-FFF2-40B4-BE49-F238E27FC236}">
                <a16:creationId xmlns:a16="http://schemas.microsoft.com/office/drawing/2014/main" id="{07731F02-0D4F-0930-AAD1-8DF79D1D9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50F305E-988D-405D-8D7A-2B609FE3E981}" type="slidenum">
              <a:rPr lang="it-IT" altLang="it-IT" sz="1400">
                <a:latin typeface="Times New Roman" panose="02020603050405020304" pitchFamily="18" charset="0"/>
              </a:rPr>
              <a:pPr/>
              <a:t>40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94B78EC4-F1C2-C23D-1785-A05FB2D439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Address Register Indirect - Funzionamento</a:t>
            </a:r>
          </a:p>
        </p:txBody>
      </p:sp>
      <p:pic>
        <p:nvPicPr>
          <p:cNvPr id="56324" name="Picture 4">
            <a:extLst>
              <a:ext uri="{FF2B5EF4-FFF2-40B4-BE49-F238E27FC236}">
                <a16:creationId xmlns:a16="http://schemas.microsoft.com/office/drawing/2014/main" id="{CD5A0EBB-B676-1E3D-1E3E-DA9FC0D7D4BB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550" y="2087563"/>
            <a:ext cx="6896100" cy="266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5">
            <a:extLst>
              <a:ext uri="{FF2B5EF4-FFF2-40B4-BE49-F238E27FC236}">
                <a16:creationId xmlns:a16="http://schemas.microsoft.com/office/drawing/2014/main" id="{0EE6E51A-47A0-A960-2FF1-FF66472ABEFD}"/>
              </a:ext>
            </a:extLst>
          </p:cNvPr>
          <p:cNvGrpSpPr>
            <a:grpSpLocks/>
          </p:cNvGrpSpPr>
          <p:nvPr/>
        </p:nvGrpSpPr>
        <p:grpSpPr bwMode="auto">
          <a:xfrm>
            <a:off x="1589088" y="3276600"/>
            <a:ext cx="5240337" cy="3000375"/>
            <a:chOff x="1008" y="2064"/>
            <a:chExt cx="3049" cy="1890"/>
          </a:xfrm>
        </p:grpSpPr>
        <p:sp>
          <p:nvSpPr>
            <p:cNvPr id="56326" name="Rectangle 6">
              <a:extLst>
                <a:ext uri="{FF2B5EF4-FFF2-40B4-BE49-F238E27FC236}">
                  <a16:creationId xmlns:a16="http://schemas.microsoft.com/office/drawing/2014/main" id="{354B7888-8A28-34EE-8BC7-047FEF98D7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6" y="3206"/>
              <a:ext cx="2771" cy="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defTabSz="7620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lang="it-IT" altLang="it-IT" sz="2400"/>
                <a:t>Il registro indirizzo nell’istruzione</a:t>
              </a:r>
            </a:p>
            <a:p>
              <a:pPr algn="l">
                <a:spcBef>
                  <a:spcPct val="0"/>
                </a:spcBef>
              </a:pPr>
              <a:r>
                <a:rPr lang="it-IT" altLang="it-IT" sz="2400"/>
                <a:t>specifica un registro indirizzo che </a:t>
              </a:r>
            </a:p>
            <a:p>
              <a:pPr algn="l">
                <a:spcBef>
                  <a:spcPct val="0"/>
                </a:spcBef>
              </a:pPr>
              <a:r>
                <a:rPr lang="it-IT" altLang="it-IT" sz="2400"/>
                <a:t>contiene l’indirizzo dell’operando</a:t>
              </a:r>
            </a:p>
          </p:txBody>
        </p:sp>
        <p:sp>
          <p:nvSpPr>
            <p:cNvPr id="56327" name="Line 7">
              <a:extLst>
                <a:ext uri="{FF2B5EF4-FFF2-40B4-BE49-F238E27FC236}">
                  <a16:creationId xmlns:a16="http://schemas.microsoft.com/office/drawing/2014/main" id="{7828708E-F39A-DDD3-5E84-FE8A2BD86A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08" y="2064"/>
              <a:ext cx="336" cy="11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egnaposto numero diapositiva 5">
            <a:extLst>
              <a:ext uri="{FF2B5EF4-FFF2-40B4-BE49-F238E27FC236}">
                <a16:creationId xmlns:a16="http://schemas.microsoft.com/office/drawing/2014/main" id="{32955CE7-4009-34E8-4A70-6CD0F4165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F6FD0D7-695D-4465-806C-1AC854B4A4AD}" type="slidenum">
              <a:rPr lang="it-IT" altLang="it-IT" sz="1400">
                <a:latin typeface="Times New Roman" panose="02020603050405020304" pitchFamily="18" charset="0"/>
              </a:rPr>
              <a:pPr/>
              <a:t>41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BB64BA51-CDF3-3EAA-0FA7-4F0BDA12AE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Address Register Indirect - Funzionamento</a:t>
            </a:r>
          </a:p>
        </p:txBody>
      </p:sp>
      <p:pic>
        <p:nvPicPr>
          <p:cNvPr id="57348" name="Picture 4">
            <a:extLst>
              <a:ext uri="{FF2B5EF4-FFF2-40B4-BE49-F238E27FC236}">
                <a16:creationId xmlns:a16="http://schemas.microsoft.com/office/drawing/2014/main" id="{201AE09F-90C6-E4CA-BF5F-B40661039D87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988" y="2146300"/>
            <a:ext cx="6788150" cy="255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9" name="Rectangle 5">
            <a:extLst>
              <a:ext uri="{FF2B5EF4-FFF2-40B4-BE49-F238E27FC236}">
                <a16:creationId xmlns:a16="http://schemas.microsoft.com/office/drawing/2014/main" id="{DC629A29-8A35-5D1B-A72B-6749CCC21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2038" y="5241925"/>
            <a:ext cx="56769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</a:pPr>
            <a:r>
              <a:rPr lang="it-IT" altLang="it-IT" sz="2400"/>
              <a:t>Il registro indirizzo è usato per accedere </a:t>
            </a:r>
          </a:p>
          <a:p>
            <a:pPr algn="l">
              <a:spcBef>
                <a:spcPct val="0"/>
              </a:spcBef>
            </a:pPr>
            <a:r>
              <a:rPr lang="it-IT" altLang="it-IT" sz="2400"/>
              <a:t>all’operando in memoria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egnaposto numero diapositiva 5">
            <a:extLst>
              <a:ext uri="{FF2B5EF4-FFF2-40B4-BE49-F238E27FC236}">
                <a16:creationId xmlns:a16="http://schemas.microsoft.com/office/drawing/2014/main" id="{5E3A9439-AD61-3C9E-F413-D3DC232A0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7EA6302-139B-468B-BFD2-CBEFC0DB99F2}" type="slidenum">
              <a:rPr lang="it-IT" altLang="it-IT" sz="1400">
                <a:latin typeface="Times New Roman" panose="02020603050405020304" pitchFamily="18" charset="0"/>
              </a:rPr>
              <a:pPr/>
              <a:t>42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65DABC49-82BA-AF7D-2B31-D1113FEC64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Address Register Indirect - Funzionamento</a:t>
            </a:r>
          </a:p>
        </p:txBody>
      </p:sp>
      <p:pic>
        <p:nvPicPr>
          <p:cNvPr id="58372" name="Picture 4">
            <a:extLst>
              <a:ext uri="{FF2B5EF4-FFF2-40B4-BE49-F238E27FC236}">
                <a16:creationId xmlns:a16="http://schemas.microsoft.com/office/drawing/2014/main" id="{6C4AC180-BFCB-6F2C-B44A-BD7C37B0F079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988" y="2146300"/>
            <a:ext cx="6788150" cy="255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3" name="Rectangle 5">
            <a:extLst>
              <a:ext uri="{FF2B5EF4-FFF2-40B4-BE49-F238E27FC236}">
                <a16:creationId xmlns:a16="http://schemas.microsoft.com/office/drawing/2014/main" id="{633E48D1-24E7-6BD3-9107-1018CAFC0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2163" y="5013325"/>
            <a:ext cx="5051425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it-IT" altLang="it-IT" sz="2400"/>
              <a:t>Alla fine, il contenuto della locazione puntata da A0 viene copiato nel registro dati</a:t>
            </a:r>
          </a:p>
        </p:txBody>
      </p:sp>
      <p:sp>
        <p:nvSpPr>
          <p:cNvPr id="58374" name="Text Box 6">
            <a:extLst>
              <a:ext uri="{FF2B5EF4-FFF2-40B4-BE49-F238E27FC236}">
                <a16:creationId xmlns:a16="http://schemas.microsoft.com/office/drawing/2014/main" id="{F6992704-821D-F0B6-5730-BF46B0EA70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3225" y="3738563"/>
            <a:ext cx="504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/>
              <a:t>57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egnaposto numero diapositiva 5">
            <a:extLst>
              <a:ext uri="{FF2B5EF4-FFF2-40B4-BE49-F238E27FC236}">
                <a16:creationId xmlns:a16="http://schemas.microsoft.com/office/drawing/2014/main" id="{DD379CB0-C948-01C4-6D6E-1F78E10FB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443FD67-5084-4F8B-ABB0-047D23C47821}" type="slidenum">
              <a:rPr lang="it-IT" altLang="it-IT" sz="1400">
                <a:latin typeface="Times New Roman" panose="02020603050405020304" pitchFamily="18" charset="0"/>
              </a:rPr>
              <a:pPr/>
              <a:t>43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C2BE08BE-E89A-3207-AD35-4AFE4A6A6F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Auto-increment</a:t>
            </a:r>
          </a:p>
        </p:txBody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DF131D44-26FC-D422-5D0D-4DCDAEA664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L’istruzione specifica uno dei registri indirizzo, usando la modalità Address Register Indirect.</a:t>
            </a:r>
          </a:p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Se il modo di indirizzamento è specificato come (An)+, il contenuto del registro indirizzo è incrementato di una quantità pari alla dimensione dell’operando </a:t>
            </a:r>
            <a:r>
              <a:rPr lang="it-IT" altLang="it-IT" sz="2400" i="1">
                <a:ea typeface="ＭＳ Ｐゴシック" panose="020B0600070205080204" pitchFamily="34" charset="-128"/>
              </a:rPr>
              <a:t>dopo l’uso </a:t>
            </a:r>
            <a:r>
              <a:rPr lang="it-IT" altLang="it-IT" sz="2400">
                <a:ea typeface="ＭＳ Ｐゴシック" panose="020B0600070205080204" pitchFamily="34" charset="-128"/>
              </a:rPr>
              <a:t>(“post-incremento”)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it-IT" altLang="it-IT" sz="2400">
              <a:ea typeface="ＭＳ Ｐゴシック" panose="020B0600070205080204" pitchFamily="34" charset="-128"/>
            </a:endParaRPr>
          </a:p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Esempio – POP dallo stack:</a:t>
            </a:r>
          </a:p>
          <a:p>
            <a:pPr lvl="1" eaLnBrk="1" hangingPunct="1"/>
            <a:r>
              <a:rPr lang="it-IT" altLang="it-IT" sz="1800">
                <a:ea typeface="ＭＳ Ｐゴシック" panose="020B0600070205080204" pitchFamily="34" charset="-128"/>
              </a:rPr>
              <a:t>MOVE.W (A0)+, D0   	Usa A0 per la MOVE e poi gli aggiunge 2</a:t>
            </a:r>
          </a:p>
          <a:p>
            <a:pPr lvl="1" eaLnBrk="1" hangingPunct="1">
              <a:buFontTx/>
              <a:buNone/>
            </a:pPr>
            <a:r>
              <a:rPr lang="it-IT" altLang="it-IT" sz="1800">
                <a:ea typeface="ＭＳ Ｐゴシック" panose="020B0600070205080204" pitchFamily="34" charset="-128"/>
              </a:rPr>
              <a:t>					(2 poiché l’accesso è di tipo .W = 2 byte).</a:t>
            </a:r>
          </a:p>
          <a:p>
            <a:pPr lvl="1" eaLnBrk="1" hangingPunct="1">
              <a:buFontTx/>
              <a:buNone/>
            </a:pPr>
            <a:r>
              <a:rPr lang="it-IT" altLang="it-IT" sz="1800">
                <a:ea typeface="ＭＳ Ｐゴシック" panose="020B0600070205080204" pitchFamily="34" charset="-128"/>
              </a:rPr>
              <a:t>					Di fatto, l’istruzione esegue un pop in D0 </a:t>
            </a:r>
          </a:p>
          <a:p>
            <a:pPr lvl="1" eaLnBrk="1" hangingPunct="1">
              <a:buFontTx/>
              <a:buNone/>
            </a:pPr>
            <a:r>
              <a:rPr lang="it-IT" altLang="it-IT" sz="1800">
                <a:ea typeface="ＭＳ Ｐゴシック" panose="020B0600070205080204" pitchFamily="34" charset="-128"/>
              </a:rPr>
              <a:t>					dallo stack puntanto da A0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egnaposto numero diapositiva 5">
            <a:extLst>
              <a:ext uri="{FF2B5EF4-FFF2-40B4-BE49-F238E27FC236}">
                <a16:creationId xmlns:a16="http://schemas.microsoft.com/office/drawing/2014/main" id="{16035DC0-460D-CB90-8A9A-045062C81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23A117B-23AB-4AA9-8304-4FFC77806030}" type="slidenum">
              <a:rPr lang="it-IT" altLang="it-IT" sz="1400">
                <a:latin typeface="Times New Roman" panose="02020603050405020304" pitchFamily="18" charset="0"/>
              </a:rPr>
              <a:pPr/>
              <a:t>44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70BFC1A8-C6BF-424D-AA9E-94746F21A8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Auto-decrement</a:t>
            </a:r>
          </a:p>
        </p:txBody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2043D171-6B0B-D635-BB11-B3E0BF8136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L’istruzione specifica uno dei registri indirizzo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Se il modo di indirizzamento è specificato come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it-IT" altLang="it-IT">
                <a:ea typeface="ＭＳ Ｐゴシック" panose="020B0600070205080204" pitchFamily="34" charset="-128"/>
              </a:rPr>
              <a:t>	-(An), il contenuto del registro indirizzo è decrementato di una quantità pari alla dimensione dell’operando </a:t>
            </a:r>
            <a:r>
              <a:rPr lang="it-IT" altLang="it-IT" i="1">
                <a:ea typeface="ＭＳ Ｐゴシック" panose="020B0600070205080204" pitchFamily="34" charset="-128"/>
              </a:rPr>
              <a:t>prima dell’uso </a:t>
            </a:r>
            <a:r>
              <a:rPr lang="it-IT" altLang="it-IT">
                <a:ea typeface="ＭＳ Ｐゴシック" panose="020B0600070205080204" pitchFamily="34" charset="-128"/>
              </a:rPr>
              <a:t>(“pre-decremento”)</a:t>
            </a:r>
          </a:p>
          <a:p>
            <a:pPr eaLnBrk="1" hangingPunct="1">
              <a:lnSpc>
                <a:spcPct val="90000"/>
              </a:lnSpc>
            </a:pPr>
            <a:endParaRPr lang="it-IT" altLang="it-IT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Esempio – PUSH sullo stack: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MOVE.W D0,-(A0)	Sottrae 2 ad A0 e poi lo usa per la MOVE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it-IT" altLang="it-IT" sz="2000">
                <a:ea typeface="ＭＳ Ｐゴシック" panose="020B0600070205080204" pitchFamily="34" charset="-128"/>
              </a:rPr>
              <a:t>					(2 poiché l’accesso è di tipo .W = 2 byte).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it-IT" altLang="it-IT" sz="2000">
                <a:ea typeface="ＭＳ Ｐゴシック" panose="020B0600070205080204" pitchFamily="34" charset="-128"/>
              </a:rPr>
              <a:t>					Di datto, l’istruzione esegue un push di D0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it-IT" altLang="it-IT" sz="2000">
                <a:ea typeface="ＭＳ Ｐゴシック" panose="020B0600070205080204" pitchFamily="34" charset="-128"/>
              </a:rPr>
              <a:t>					sullo stack puntato da A0.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egnaposto numero diapositiva 5">
            <a:extLst>
              <a:ext uri="{FF2B5EF4-FFF2-40B4-BE49-F238E27FC236}">
                <a16:creationId xmlns:a16="http://schemas.microsoft.com/office/drawing/2014/main" id="{6DC5DFB9-C15A-B53E-8814-84FE585F3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1E3349F-988D-46DF-AD78-567DDFA1BE86}" type="slidenum">
              <a:rPr lang="it-IT" altLang="it-IT" sz="1400">
                <a:latin typeface="Times New Roman" panose="02020603050405020304" pitchFamily="18" charset="0"/>
              </a:rPr>
              <a:pPr/>
              <a:t>45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FE5D0375-4452-C743-3485-8463C53B5F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Auto-increment - Funzionamento</a:t>
            </a:r>
          </a:p>
        </p:txBody>
      </p:sp>
      <p:pic>
        <p:nvPicPr>
          <p:cNvPr id="61444" name="Picture 4">
            <a:extLst>
              <a:ext uri="{FF2B5EF4-FFF2-40B4-BE49-F238E27FC236}">
                <a16:creationId xmlns:a16="http://schemas.microsoft.com/office/drawing/2014/main" id="{2B7585EE-4146-CA2C-E27D-D634EE291C80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0988" y="2146300"/>
            <a:ext cx="6788150" cy="255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3397" name="Rectangle 5">
            <a:extLst>
              <a:ext uri="{FF2B5EF4-FFF2-40B4-BE49-F238E27FC236}">
                <a16:creationId xmlns:a16="http://schemas.microsoft.com/office/drawing/2014/main" id="{805576E4-C35E-7F3D-C24E-7A153C9686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4713" y="4937125"/>
            <a:ext cx="484981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</a:pPr>
            <a:r>
              <a:rPr lang="it-IT" altLang="it-IT" sz="2400"/>
              <a:t>Il registro indirizzo contiene 1000</a:t>
            </a:r>
          </a:p>
          <a:p>
            <a:pPr algn="l">
              <a:spcBef>
                <a:spcPct val="0"/>
              </a:spcBef>
            </a:pPr>
            <a:r>
              <a:rPr lang="it-IT" altLang="it-IT" sz="2400"/>
              <a:t>ovvero “punta” alla locazione 1000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3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3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3397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egnaposto numero diapositiva 5">
            <a:extLst>
              <a:ext uri="{FF2B5EF4-FFF2-40B4-BE49-F238E27FC236}">
                <a16:creationId xmlns:a16="http://schemas.microsoft.com/office/drawing/2014/main" id="{6A20759A-1517-3528-5103-BC4C558E4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35FF46C-C57E-447B-A30D-F60A02E6D096}" type="slidenum">
              <a:rPr lang="it-IT" altLang="it-IT" sz="1400">
                <a:latin typeface="Times New Roman" panose="02020603050405020304" pitchFamily="18" charset="0"/>
              </a:rPr>
              <a:pPr/>
              <a:t>46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25E4791C-A830-1F56-FA51-5EC16ED9F6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Auto-increment - Funzionamento</a:t>
            </a:r>
          </a:p>
        </p:txBody>
      </p:sp>
      <p:pic>
        <p:nvPicPr>
          <p:cNvPr id="62468" name="Picture 4">
            <a:extLst>
              <a:ext uri="{FF2B5EF4-FFF2-40B4-BE49-F238E27FC236}">
                <a16:creationId xmlns:a16="http://schemas.microsoft.com/office/drawing/2014/main" id="{BDF4E7E3-2904-75CD-4A86-4FF8F3635535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0988" y="2146300"/>
            <a:ext cx="6788150" cy="255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4422" name="Rectangle 6">
            <a:extLst>
              <a:ext uri="{FF2B5EF4-FFF2-40B4-BE49-F238E27FC236}">
                <a16:creationId xmlns:a16="http://schemas.microsoft.com/office/drawing/2014/main" id="{3C3425D6-5A2E-3476-6827-E652608B5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5725" y="5089525"/>
            <a:ext cx="7053263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</a:pPr>
            <a:r>
              <a:rPr lang="it-IT" altLang="it-IT" sz="2400"/>
              <a:t>Il registro A0 viene usato per accedere alla</a:t>
            </a:r>
          </a:p>
          <a:p>
            <a:pPr algn="l">
              <a:spcBef>
                <a:spcPct val="0"/>
              </a:spcBef>
            </a:pPr>
            <a:r>
              <a:rPr lang="it-IT" altLang="it-IT" sz="2400"/>
              <a:t>locazione di memoria 1000 e il contenuto di questa</a:t>
            </a:r>
          </a:p>
          <a:p>
            <a:pPr algn="l">
              <a:spcBef>
                <a:spcPct val="0"/>
              </a:spcBef>
            </a:pPr>
            <a:r>
              <a:rPr lang="it-IT" altLang="it-IT" sz="2400"/>
              <a:t>locazione (57) viene sommato a D0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4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4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4422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egnaposto numero diapositiva 5">
            <a:extLst>
              <a:ext uri="{FF2B5EF4-FFF2-40B4-BE49-F238E27FC236}">
                <a16:creationId xmlns:a16="http://schemas.microsoft.com/office/drawing/2014/main" id="{BECD6B2F-FF5F-A0B1-9383-D10A72E03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EC196A8-3AE3-4692-892F-953002BFA717}" type="slidenum">
              <a:rPr lang="it-IT" altLang="it-IT" sz="1400">
                <a:latin typeface="Times New Roman" panose="02020603050405020304" pitchFamily="18" charset="0"/>
              </a:rPr>
              <a:pPr/>
              <a:t>47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32C3F3CE-4D36-E5EE-BF5E-204AEB41B6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Auto-increment - Funzionamento</a:t>
            </a:r>
          </a:p>
        </p:txBody>
      </p:sp>
      <p:pic>
        <p:nvPicPr>
          <p:cNvPr id="63492" name="Picture 4">
            <a:extLst>
              <a:ext uri="{FF2B5EF4-FFF2-40B4-BE49-F238E27FC236}">
                <a16:creationId xmlns:a16="http://schemas.microsoft.com/office/drawing/2014/main" id="{FEC490AC-B674-2275-AD75-DCEBC0807E26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0988" y="2128838"/>
            <a:ext cx="6788150" cy="258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5445" name="Rectangle 5">
            <a:extLst>
              <a:ext uri="{FF2B5EF4-FFF2-40B4-BE49-F238E27FC236}">
                <a16:creationId xmlns:a16="http://schemas.microsoft.com/office/drawing/2014/main" id="{609D209C-1C63-0B9A-0970-E38635D75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0988" y="4937125"/>
            <a:ext cx="5795962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</a:pPr>
            <a:r>
              <a:rPr lang="it-IT" altLang="it-IT" sz="2400"/>
              <a:t>Dopo che l’istruzione è stata eseguita,</a:t>
            </a:r>
          </a:p>
          <a:p>
            <a:pPr algn="l">
              <a:spcBef>
                <a:spcPct val="0"/>
              </a:spcBef>
            </a:pPr>
            <a:r>
              <a:rPr lang="it-IT" altLang="it-IT" sz="2400"/>
              <a:t>il contenuto di A0 viene incrementato, per</a:t>
            </a:r>
          </a:p>
          <a:p>
            <a:pPr algn="l">
              <a:spcBef>
                <a:spcPct val="0"/>
              </a:spcBef>
            </a:pPr>
            <a:r>
              <a:rPr lang="it-IT" altLang="it-IT" sz="2400"/>
              <a:t>puntare alla locazione successiva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5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5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445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egnaposto numero diapositiva 5">
            <a:extLst>
              <a:ext uri="{FF2B5EF4-FFF2-40B4-BE49-F238E27FC236}">
                <a16:creationId xmlns:a16="http://schemas.microsoft.com/office/drawing/2014/main" id="{CB2F70EF-0AF1-38FB-8C78-2A5392B0B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64B0B8E-FF39-43EC-9147-4A3A34F79E6C}" type="slidenum">
              <a:rPr lang="it-IT" altLang="it-IT" sz="1400">
                <a:latin typeface="Times New Roman" panose="02020603050405020304" pitchFamily="18" charset="0"/>
              </a:rPr>
              <a:pPr/>
              <a:t>48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13ED04A6-8942-84DC-02B9-EB06ADE2FA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Esempio - Codice</a:t>
            </a:r>
          </a:p>
        </p:txBody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7A22BB89-81CE-5EE3-FBE2-7DE350CF1B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0688" y="1447800"/>
            <a:ext cx="8899525" cy="1477963"/>
          </a:xfrm>
        </p:spPr>
        <p:txBody>
          <a:bodyPr/>
          <a:lstStyle/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Il seguente frammento di codice usa l’address register indirect addressing con post-increment per sommare cinque numeri memorizzati in locazioni di memoria consecutive.</a:t>
            </a:r>
          </a:p>
        </p:txBody>
      </p:sp>
      <p:sp>
        <p:nvSpPr>
          <p:cNvPr id="64517" name="Rectangle 4">
            <a:extLst>
              <a:ext uri="{FF2B5EF4-FFF2-40B4-BE49-F238E27FC236}">
                <a16:creationId xmlns:a16="http://schemas.microsoft.com/office/drawing/2014/main" id="{FC77EA35-A6AF-8B19-F637-7E2D9A2F6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925763"/>
            <a:ext cx="8801100" cy="317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</a:pPr>
            <a:r>
              <a:rPr lang="it-IT" altLang="it-IT"/>
              <a:t>      		MOVE.B  #5,D0           Cinque numeri da sommare</a:t>
            </a:r>
          </a:p>
          <a:p>
            <a:pPr algn="l">
              <a:spcBef>
                <a:spcPct val="0"/>
              </a:spcBef>
            </a:pPr>
            <a:r>
              <a:rPr lang="it-IT" altLang="it-IT"/>
              <a:t>      		LEA         Table,A0      A0 punta alla tabella dei numeri</a:t>
            </a:r>
          </a:p>
          <a:p>
            <a:pPr algn="l">
              <a:spcBef>
                <a:spcPct val="0"/>
              </a:spcBef>
            </a:pPr>
            <a:r>
              <a:rPr lang="it-IT" altLang="it-IT"/>
              <a:t>      		CLR.B     D1                 Inizializza la somma</a:t>
            </a:r>
          </a:p>
          <a:p>
            <a:pPr algn="l">
              <a:spcBef>
                <a:spcPct val="0"/>
              </a:spcBef>
            </a:pPr>
            <a:r>
              <a:rPr lang="it-IT" altLang="it-IT"/>
              <a:t>Loop 	           ADD.B    </a:t>
            </a:r>
            <a:r>
              <a:rPr lang="it-IT" altLang="it-IT">
                <a:solidFill>
                  <a:srgbClr val="FF0033"/>
                </a:solidFill>
              </a:rPr>
              <a:t>(A0)+</a:t>
            </a:r>
            <a:r>
              <a:rPr lang="it-IT" altLang="it-IT"/>
              <a:t>,D1       Somma il numero al totale</a:t>
            </a:r>
          </a:p>
          <a:p>
            <a:pPr algn="l">
              <a:spcBef>
                <a:spcPct val="0"/>
              </a:spcBef>
            </a:pPr>
            <a:r>
              <a:rPr lang="it-IT" altLang="it-IT"/>
              <a:t>     		SUB.B    #1,D0            Decrementa D0 per gestire il conteggio</a:t>
            </a:r>
          </a:p>
          <a:p>
            <a:pPr algn="l">
              <a:spcBef>
                <a:spcPct val="0"/>
              </a:spcBef>
            </a:pPr>
            <a:r>
              <a:rPr lang="it-IT" altLang="it-IT"/>
              <a:t>      		BNE       Loop              Iterare fino a 5</a:t>
            </a:r>
          </a:p>
          <a:p>
            <a:pPr algn="l">
              <a:spcBef>
                <a:spcPct val="0"/>
              </a:spcBef>
            </a:pPr>
            <a:r>
              <a:rPr lang="it-IT" altLang="it-IT"/>
              <a:t>      		STOP     #$2700</a:t>
            </a:r>
          </a:p>
          <a:p>
            <a:pPr algn="l">
              <a:spcBef>
                <a:spcPct val="0"/>
              </a:spcBef>
            </a:pPr>
            <a:r>
              <a:rPr lang="it-IT" altLang="it-IT"/>
              <a:t>	*</a:t>
            </a:r>
          </a:p>
          <a:p>
            <a:pPr algn="l">
              <a:spcBef>
                <a:spcPct val="0"/>
              </a:spcBef>
            </a:pPr>
            <a:r>
              <a:rPr lang="it-IT" altLang="it-IT"/>
              <a:t>Table 	           DC.B    1,4,2,6,5          Dati d’esempio</a:t>
            </a:r>
          </a:p>
          <a:p>
            <a:pPr algn="l">
              <a:spcBef>
                <a:spcPct val="0"/>
              </a:spcBef>
            </a:pPr>
            <a:r>
              <a:rPr lang="it-IT" altLang="it-IT"/>
              <a:t> 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egnaposto numero diapositiva 5">
            <a:extLst>
              <a:ext uri="{FF2B5EF4-FFF2-40B4-BE49-F238E27FC236}">
                <a16:creationId xmlns:a16="http://schemas.microsoft.com/office/drawing/2014/main" id="{B7DE490D-114E-5167-FABC-001F85F05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D958666-939A-4248-8682-CCA2AA901FD1}" type="slidenum">
              <a:rPr lang="it-IT" altLang="it-IT" sz="1400">
                <a:latin typeface="Times New Roman" panose="02020603050405020304" pitchFamily="18" charset="0"/>
              </a:rPr>
              <a:pPr/>
              <a:t>49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E7A19282-38ED-5949-97EF-20444BE46D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Esempio – Trace del programma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08B5E966-D78F-2304-F2C6-01B0AD7124FD}"/>
              </a:ext>
            </a:extLst>
          </p:cNvPr>
          <p:cNvGrpSpPr>
            <a:grpSpLocks/>
          </p:cNvGrpSpPr>
          <p:nvPr/>
        </p:nvGrpSpPr>
        <p:grpSpPr bwMode="auto">
          <a:xfrm>
            <a:off x="495300" y="3789363"/>
            <a:ext cx="8915400" cy="1068387"/>
            <a:chOff x="244" y="2212"/>
            <a:chExt cx="5185" cy="673"/>
          </a:xfrm>
        </p:grpSpPr>
        <p:sp>
          <p:nvSpPr>
            <p:cNvPr id="65548" name="Oval 5">
              <a:extLst>
                <a:ext uri="{FF2B5EF4-FFF2-40B4-BE49-F238E27FC236}">
                  <a16:creationId xmlns:a16="http://schemas.microsoft.com/office/drawing/2014/main" id="{85CB1209-D754-B444-B1FC-7DBFE81E48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" y="2212"/>
              <a:ext cx="856" cy="184"/>
            </a:xfrm>
            <a:prstGeom prst="ellipse">
              <a:avLst/>
            </a:prstGeom>
            <a:solidFill>
              <a:srgbClr val="FF0033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65549" name="Line 6">
              <a:extLst>
                <a:ext uri="{FF2B5EF4-FFF2-40B4-BE49-F238E27FC236}">
                  <a16:creationId xmlns:a16="http://schemas.microsoft.com/office/drawing/2014/main" id="{89DB3EE9-7DF4-E5CB-50A4-60DAD8EC5B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04" y="2304"/>
              <a:ext cx="3072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5550" name="Rectangle 7">
              <a:extLst>
                <a:ext uri="{FF2B5EF4-FFF2-40B4-BE49-F238E27FC236}">
                  <a16:creationId xmlns:a16="http://schemas.microsoft.com/office/drawing/2014/main" id="{98295389-89AC-3881-EA11-51428FE3C1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2481"/>
              <a:ext cx="121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defTabSz="7620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lang="it-IT" altLang="it-IT" sz="1800"/>
                <a:t>D0 è stato caricato</a:t>
              </a:r>
            </a:p>
            <a:p>
              <a:pPr algn="l">
                <a:spcBef>
                  <a:spcPct val="0"/>
                </a:spcBef>
              </a:pPr>
              <a:r>
                <a:rPr lang="it-IT" altLang="it-IT" sz="1800"/>
                <a:t>con 5</a:t>
              </a:r>
            </a:p>
          </p:txBody>
        </p:sp>
      </p:grpSp>
      <p:sp>
        <p:nvSpPr>
          <p:cNvPr id="65541" name="Rectangle 9">
            <a:extLst>
              <a:ext uri="{FF2B5EF4-FFF2-40B4-BE49-F238E27FC236}">
                <a16:creationId xmlns:a16="http://schemas.microsoft.com/office/drawing/2014/main" id="{15ABD424-DF9D-6EF7-3068-A90797902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7875" y="4751388"/>
            <a:ext cx="2417763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</a:pPr>
            <a:r>
              <a:rPr lang="it-IT" altLang="it-IT" sz="1800"/>
              <a:t>Questa istruzione</a:t>
            </a:r>
          </a:p>
          <a:p>
            <a:pPr algn="l">
              <a:spcBef>
                <a:spcPct val="0"/>
              </a:spcBef>
            </a:pPr>
            <a:r>
              <a:rPr lang="it-IT" altLang="it-IT" sz="1800"/>
              <a:t>carica A0 con il valore</a:t>
            </a:r>
          </a:p>
          <a:p>
            <a:pPr algn="l">
              <a:spcBef>
                <a:spcPct val="0"/>
              </a:spcBef>
            </a:pPr>
            <a:r>
              <a:rPr lang="it-IT" altLang="it-IT" sz="1800"/>
              <a:t> $0416</a:t>
            </a:r>
          </a:p>
        </p:txBody>
      </p:sp>
      <p:sp>
        <p:nvSpPr>
          <p:cNvPr id="65542" name="Line 10">
            <a:extLst>
              <a:ext uri="{FF2B5EF4-FFF2-40B4-BE49-F238E27FC236}">
                <a16:creationId xmlns:a16="http://schemas.microsoft.com/office/drawing/2014/main" id="{9DFB0E79-89AF-C425-45D4-9930365069E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865438" y="4437063"/>
            <a:ext cx="4262437" cy="647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grpSp>
        <p:nvGrpSpPr>
          <p:cNvPr id="3" name="Group 11">
            <a:extLst>
              <a:ext uri="{FF2B5EF4-FFF2-40B4-BE49-F238E27FC236}">
                <a16:creationId xmlns:a16="http://schemas.microsoft.com/office/drawing/2014/main" id="{47495556-6C1F-3F40-BDC0-7375858D1F95}"/>
              </a:ext>
            </a:extLst>
          </p:cNvPr>
          <p:cNvGrpSpPr>
            <a:grpSpLocks/>
          </p:cNvGrpSpPr>
          <p:nvPr/>
        </p:nvGrpSpPr>
        <p:grpSpPr bwMode="auto">
          <a:xfrm>
            <a:off x="495300" y="4868863"/>
            <a:ext cx="8815388" cy="1403350"/>
            <a:chOff x="244" y="3028"/>
            <a:chExt cx="5125" cy="884"/>
          </a:xfrm>
        </p:grpSpPr>
        <p:sp>
          <p:nvSpPr>
            <p:cNvPr id="65545" name="Oval 12">
              <a:extLst>
                <a:ext uri="{FF2B5EF4-FFF2-40B4-BE49-F238E27FC236}">
                  <a16:creationId xmlns:a16="http://schemas.microsoft.com/office/drawing/2014/main" id="{0E3C86A1-16F8-3226-998F-E4ED4C078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" y="3028"/>
              <a:ext cx="856" cy="184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65546" name="Line 13">
              <a:extLst>
                <a:ext uri="{FF2B5EF4-FFF2-40B4-BE49-F238E27FC236}">
                  <a16:creationId xmlns:a16="http://schemas.microsoft.com/office/drawing/2014/main" id="{2C112D15-05BE-F9EE-1E2C-5A589DE046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04" y="3168"/>
              <a:ext cx="2832" cy="5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5547" name="Rectangle 14">
              <a:extLst>
                <a:ext uri="{FF2B5EF4-FFF2-40B4-BE49-F238E27FC236}">
                  <a16:creationId xmlns:a16="http://schemas.microsoft.com/office/drawing/2014/main" id="{B9E6B9E4-F922-ACB0-A499-AB200DF853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5" y="3681"/>
              <a:ext cx="14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defTabSz="7620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lang="it-IT" altLang="it-IT" sz="1800"/>
                <a:t>A0 ora contiene $0416</a:t>
              </a:r>
            </a:p>
          </p:txBody>
        </p:sp>
      </p:grpSp>
      <p:sp>
        <p:nvSpPr>
          <p:cNvPr id="65544" name="Rectangle 15">
            <a:extLst>
              <a:ext uri="{FF2B5EF4-FFF2-40B4-BE49-F238E27FC236}">
                <a16:creationId xmlns:a16="http://schemas.microsoft.com/office/drawing/2014/main" id="{8D61D6CB-02CD-BC28-3240-AA500D110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1268413"/>
            <a:ext cx="6273800" cy="498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it-IT" altLang="it-IT" sz="1400"/>
              <a:t>&gt;DF</a:t>
            </a:r>
          </a:p>
          <a:p>
            <a:pPr algn="just">
              <a:spcBef>
                <a:spcPct val="0"/>
              </a:spcBef>
            </a:pPr>
            <a:r>
              <a:rPr lang="it-IT" altLang="it-IT" sz="1400"/>
              <a:t>PC=000400 SR=2000 SS=00A00000 US=00000000       X=0  </a:t>
            </a:r>
          </a:p>
          <a:p>
            <a:pPr algn="just">
              <a:spcBef>
                <a:spcPct val="0"/>
              </a:spcBef>
            </a:pPr>
            <a:r>
              <a:rPr lang="it-IT" altLang="it-IT" sz="1400"/>
              <a:t>A0=00000000 A1=00000000 A2=00000000 A3=00000000 N=0  </a:t>
            </a:r>
          </a:p>
          <a:p>
            <a:pPr algn="just">
              <a:spcBef>
                <a:spcPct val="0"/>
              </a:spcBef>
            </a:pPr>
            <a:r>
              <a:rPr lang="it-IT" altLang="it-IT" sz="1400"/>
              <a:t>A4=00000000 A5=00000000 A6=00000000 A7=00A00000 Z=0  </a:t>
            </a:r>
          </a:p>
          <a:p>
            <a:pPr algn="just">
              <a:spcBef>
                <a:spcPct val="0"/>
              </a:spcBef>
            </a:pPr>
            <a:r>
              <a:rPr lang="it-IT" altLang="it-IT" sz="1400"/>
              <a:t>D0=00000000 D1=00000000 D2=00000000 D3=00000000 V=0  </a:t>
            </a:r>
          </a:p>
          <a:p>
            <a:pPr algn="just">
              <a:spcBef>
                <a:spcPct val="0"/>
              </a:spcBef>
            </a:pPr>
            <a:r>
              <a:rPr lang="it-IT" altLang="it-IT" sz="1400"/>
              <a:t>D4=00000000 D5=00000000 D6=00000000 D7=00000000 C=0  </a:t>
            </a:r>
          </a:p>
          <a:p>
            <a:pPr algn="just">
              <a:spcBef>
                <a:spcPct val="0"/>
              </a:spcBef>
            </a:pPr>
            <a:r>
              <a:rPr lang="it-IT" altLang="it-IT" sz="1400"/>
              <a:t>----------&gt;MOVE.B   #$05,D0</a:t>
            </a:r>
          </a:p>
          <a:p>
            <a:pPr algn="just">
              <a:spcBef>
                <a:spcPct val="0"/>
              </a:spcBef>
            </a:pPr>
            <a:endParaRPr lang="it-IT" altLang="it-IT" sz="1400"/>
          </a:p>
          <a:p>
            <a:pPr algn="just">
              <a:spcBef>
                <a:spcPct val="0"/>
              </a:spcBef>
            </a:pPr>
            <a:r>
              <a:rPr lang="it-IT" altLang="it-IT" sz="1400"/>
              <a:t>&gt;TR</a:t>
            </a:r>
          </a:p>
          <a:p>
            <a:pPr algn="just">
              <a:spcBef>
                <a:spcPct val="0"/>
              </a:spcBef>
            </a:pPr>
            <a:r>
              <a:rPr lang="it-IT" altLang="it-IT" sz="1400"/>
              <a:t>PC=000404 SR=2000 SS=00A00000 US=00000000       X=0  </a:t>
            </a:r>
          </a:p>
          <a:p>
            <a:pPr algn="just">
              <a:spcBef>
                <a:spcPct val="0"/>
              </a:spcBef>
            </a:pPr>
            <a:r>
              <a:rPr lang="it-IT" altLang="it-IT" sz="1400"/>
              <a:t>A0=00000000 A1=00000000 A2=00000000 A3=00000000 N=0  </a:t>
            </a:r>
          </a:p>
          <a:p>
            <a:pPr algn="just">
              <a:spcBef>
                <a:spcPct val="0"/>
              </a:spcBef>
            </a:pPr>
            <a:r>
              <a:rPr lang="it-IT" altLang="it-IT" sz="1400"/>
              <a:t>A4=00000000 A5=00000000 A6=00000000 A7=00A00000 Z=0  </a:t>
            </a:r>
          </a:p>
          <a:p>
            <a:pPr algn="just">
              <a:spcBef>
                <a:spcPct val="0"/>
              </a:spcBef>
            </a:pPr>
            <a:r>
              <a:rPr lang="it-IT" altLang="it-IT" sz="1400"/>
              <a:t>D0=00000005 D1=00000000 D2=00000000 D3=00000000 V=0  </a:t>
            </a:r>
          </a:p>
          <a:p>
            <a:pPr algn="just">
              <a:spcBef>
                <a:spcPct val="0"/>
              </a:spcBef>
            </a:pPr>
            <a:r>
              <a:rPr lang="it-IT" altLang="it-IT" sz="1400"/>
              <a:t>D4=00000000 D5=00000000 D6=00000000 D7=00000000 C=0  </a:t>
            </a:r>
          </a:p>
          <a:p>
            <a:pPr algn="just">
              <a:spcBef>
                <a:spcPct val="0"/>
              </a:spcBef>
            </a:pPr>
            <a:r>
              <a:rPr lang="it-IT" altLang="it-IT" sz="1400"/>
              <a:t>----------&gt;LEA.L    $0416,A0</a:t>
            </a:r>
          </a:p>
          <a:p>
            <a:pPr algn="just">
              <a:spcBef>
                <a:spcPct val="0"/>
              </a:spcBef>
            </a:pPr>
            <a:endParaRPr lang="it-IT" altLang="it-IT" sz="1400"/>
          </a:p>
          <a:p>
            <a:pPr algn="just">
              <a:spcBef>
                <a:spcPct val="0"/>
              </a:spcBef>
            </a:pPr>
            <a:r>
              <a:rPr lang="it-IT" altLang="it-IT" sz="1400"/>
              <a:t>Trace&gt;</a:t>
            </a:r>
          </a:p>
          <a:p>
            <a:pPr algn="just">
              <a:spcBef>
                <a:spcPct val="0"/>
              </a:spcBef>
            </a:pPr>
            <a:r>
              <a:rPr lang="it-IT" altLang="it-IT" sz="1400"/>
              <a:t>PC=00040A SR=2000 SS=00A00000 US=00000000       X=0  </a:t>
            </a:r>
          </a:p>
          <a:p>
            <a:pPr algn="just">
              <a:spcBef>
                <a:spcPct val="0"/>
              </a:spcBef>
            </a:pPr>
            <a:r>
              <a:rPr lang="it-IT" altLang="it-IT" sz="1400"/>
              <a:t>A0=00000416 A1=00000000 A2=00000000 A3=00000000 N=0  </a:t>
            </a:r>
          </a:p>
          <a:p>
            <a:pPr algn="just">
              <a:spcBef>
                <a:spcPct val="0"/>
              </a:spcBef>
            </a:pPr>
            <a:r>
              <a:rPr lang="it-IT" altLang="it-IT" sz="1400"/>
              <a:t>A4=00000000 A5=00000000 A6=00000000 A7=00A00000 Z=0  </a:t>
            </a:r>
          </a:p>
          <a:p>
            <a:pPr algn="just">
              <a:spcBef>
                <a:spcPct val="0"/>
              </a:spcBef>
            </a:pPr>
            <a:r>
              <a:rPr lang="it-IT" altLang="it-IT" sz="1400"/>
              <a:t>D0=00000005 D1=00000000 D2=00000000 D3=00000000 V=0  </a:t>
            </a:r>
          </a:p>
          <a:p>
            <a:pPr algn="just">
              <a:spcBef>
                <a:spcPct val="0"/>
              </a:spcBef>
            </a:pPr>
            <a:r>
              <a:rPr lang="it-IT" altLang="it-IT" sz="1400"/>
              <a:t>D4=00000000 D5=00000000 D6=00000000 D7=00000000 C=0  </a:t>
            </a:r>
          </a:p>
          <a:p>
            <a:pPr algn="just">
              <a:spcBef>
                <a:spcPct val="0"/>
              </a:spcBef>
            </a:pPr>
            <a:r>
              <a:rPr lang="it-IT" altLang="it-IT" sz="1400"/>
              <a:t>----------&gt;CLR.B    D1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egnaposto numero diapositiva 5">
            <a:extLst>
              <a:ext uri="{FF2B5EF4-FFF2-40B4-BE49-F238E27FC236}">
                <a16:creationId xmlns:a16="http://schemas.microsoft.com/office/drawing/2014/main" id="{93AAA073-D3F2-8486-4E26-6CD39FBDE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8DA55A5-756E-4877-9502-2559B1787391}" type="slidenum">
              <a:rPr lang="it-IT" altLang="it-IT" sz="1400">
                <a:latin typeface="Times New Roman" panose="02020603050405020304" pitchFamily="18" charset="0"/>
              </a:rPr>
              <a:pPr/>
              <a:t>50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7B9FA0BD-0028-504B-B509-B371F4CC9F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Esempio – Trace del programma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65E630E4-419D-2423-DC27-87153F339455}"/>
              </a:ext>
            </a:extLst>
          </p:cNvPr>
          <p:cNvGrpSpPr>
            <a:grpSpLocks/>
          </p:cNvGrpSpPr>
          <p:nvPr/>
        </p:nvGrpSpPr>
        <p:grpSpPr bwMode="auto">
          <a:xfrm>
            <a:off x="1790700" y="2439988"/>
            <a:ext cx="7977188" cy="915987"/>
            <a:chOff x="916" y="993"/>
            <a:chExt cx="4638" cy="577"/>
          </a:xfrm>
        </p:grpSpPr>
        <p:sp>
          <p:nvSpPr>
            <p:cNvPr id="66576" name="Oval 5">
              <a:extLst>
                <a:ext uri="{FF2B5EF4-FFF2-40B4-BE49-F238E27FC236}">
                  <a16:creationId xmlns:a16="http://schemas.microsoft.com/office/drawing/2014/main" id="{206836C7-A037-B711-4726-25705465B3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6" y="1060"/>
              <a:ext cx="1288" cy="280"/>
            </a:xfrm>
            <a:prstGeom prst="ellipse">
              <a:avLst/>
            </a:prstGeom>
            <a:solidFill>
              <a:srgbClr val="FF0033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66577" name="Line 6">
              <a:extLst>
                <a:ext uri="{FF2B5EF4-FFF2-40B4-BE49-F238E27FC236}">
                  <a16:creationId xmlns:a16="http://schemas.microsoft.com/office/drawing/2014/main" id="{ADB3C962-A6E8-EBB8-B69E-F9CD347D62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08" y="1200"/>
              <a:ext cx="1728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6578" name="Rectangle 7">
              <a:extLst>
                <a:ext uri="{FF2B5EF4-FFF2-40B4-BE49-F238E27FC236}">
                  <a16:creationId xmlns:a16="http://schemas.microsoft.com/office/drawing/2014/main" id="{2AF88AC5-6437-D150-4229-E959B2A82D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6" y="993"/>
              <a:ext cx="1628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defTabSz="7620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lang="it-IT" altLang="it-IT" sz="1800"/>
                <a:t>Questa istruzione carica il</a:t>
              </a:r>
            </a:p>
            <a:p>
              <a:pPr algn="l">
                <a:spcBef>
                  <a:spcPct val="0"/>
                </a:spcBef>
              </a:pPr>
              <a:r>
                <a:rPr lang="it-IT" altLang="it-IT" sz="1800"/>
                <a:t>contenuto della locazione</a:t>
              </a:r>
            </a:p>
            <a:p>
              <a:pPr algn="l">
                <a:spcBef>
                  <a:spcPct val="0"/>
                </a:spcBef>
              </a:pPr>
              <a:r>
                <a:rPr lang="it-IT" altLang="it-IT" sz="1800"/>
                <a:t>puntata da A0 in D1</a:t>
              </a:r>
            </a:p>
          </p:txBody>
        </p:sp>
      </p:grpSp>
      <p:grpSp>
        <p:nvGrpSpPr>
          <p:cNvPr id="3" name="Group 8">
            <a:extLst>
              <a:ext uri="{FF2B5EF4-FFF2-40B4-BE49-F238E27FC236}">
                <a16:creationId xmlns:a16="http://schemas.microsoft.com/office/drawing/2014/main" id="{56CC291D-87C7-C4CC-BC20-63799C95EA3F}"/>
              </a:ext>
            </a:extLst>
          </p:cNvPr>
          <p:cNvGrpSpPr>
            <a:grpSpLocks/>
          </p:cNvGrpSpPr>
          <p:nvPr/>
        </p:nvGrpSpPr>
        <p:grpSpPr bwMode="auto">
          <a:xfrm>
            <a:off x="552450" y="3384550"/>
            <a:ext cx="9128125" cy="1419225"/>
            <a:chOff x="196" y="1588"/>
            <a:chExt cx="5306" cy="894"/>
          </a:xfrm>
        </p:grpSpPr>
        <p:sp>
          <p:nvSpPr>
            <p:cNvPr id="66573" name="Oval 9">
              <a:extLst>
                <a:ext uri="{FF2B5EF4-FFF2-40B4-BE49-F238E27FC236}">
                  <a16:creationId xmlns:a16="http://schemas.microsoft.com/office/drawing/2014/main" id="{9ACB3A91-4BC7-EE4C-41D7-2271AA0357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" y="1588"/>
              <a:ext cx="952" cy="28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66574" name="Line 10">
              <a:extLst>
                <a:ext uri="{FF2B5EF4-FFF2-40B4-BE49-F238E27FC236}">
                  <a16:creationId xmlns:a16="http://schemas.microsoft.com/office/drawing/2014/main" id="{841FD048-4C8F-89C6-D448-4FFCA0F8C9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52" y="1728"/>
              <a:ext cx="2784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6575" name="Rectangle 11">
              <a:extLst>
                <a:ext uri="{FF2B5EF4-FFF2-40B4-BE49-F238E27FC236}">
                  <a16:creationId xmlns:a16="http://schemas.microsoft.com/office/drawing/2014/main" id="{14B8E1F6-CBA1-441D-B764-5F767441A4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4" y="1905"/>
              <a:ext cx="1528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defTabSz="7620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lang="it-IT" altLang="it-IT" sz="1800"/>
                <a:t>Siccome l’operando era</a:t>
              </a:r>
            </a:p>
            <a:p>
              <a:pPr algn="l">
                <a:spcBef>
                  <a:spcPct val="0"/>
                </a:spcBef>
              </a:pPr>
              <a:r>
                <a:rPr lang="it-IT" altLang="it-IT" sz="1800"/>
                <a:t>(A0)+, il contenuto di A0</a:t>
              </a:r>
            </a:p>
            <a:p>
              <a:pPr algn="l">
                <a:spcBef>
                  <a:spcPct val="0"/>
                </a:spcBef>
              </a:pPr>
              <a:r>
                <a:rPr lang="it-IT" altLang="it-IT" sz="1800"/>
                <a:t>viene incrementato</a:t>
              </a:r>
            </a:p>
          </p:txBody>
        </p:sp>
      </p:grpSp>
      <p:grpSp>
        <p:nvGrpSpPr>
          <p:cNvPr id="4" name="Group 12">
            <a:extLst>
              <a:ext uri="{FF2B5EF4-FFF2-40B4-BE49-F238E27FC236}">
                <a16:creationId xmlns:a16="http://schemas.microsoft.com/office/drawing/2014/main" id="{70C07B2A-0A10-311C-967E-F1C0115A9800}"/>
              </a:ext>
            </a:extLst>
          </p:cNvPr>
          <p:cNvGrpSpPr>
            <a:grpSpLocks/>
          </p:cNvGrpSpPr>
          <p:nvPr/>
        </p:nvGrpSpPr>
        <p:grpSpPr bwMode="auto">
          <a:xfrm>
            <a:off x="1955800" y="2165350"/>
            <a:ext cx="7405688" cy="3705225"/>
            <a:chOff x="1012" y="820"/>
            <a:chExt cx="4306" cy="2334"/>
          </a:xfrm>
        </p:grpSpPr>
        <p:sp>
          <p:nvSpPr>
            <p:cNvPr id="66568" name="Oval 13">
              <a:extLst>
                <a:ext uri="{FF2B5EF4-FFF2-40B4-BE49-F238E27FC236}">
                  <a16:creationId xmlns:a16="http://schemas.microsoft.com/office/drawing/2014/main" id="{E9E9DCE4-91BB-D7FF-B3B1-303785231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2" y="1924"/>
              <a:ext cx="904" cy="184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66569" name="Line 14">
              <a:extLst>
                <a:ext uri="{FF2B5EF4-FFF2-40B4-BE49-F238E27FC236}">
                  <a16:creationId xmlns:a16="http://schemas.microsoft.com/office/drawing/2014/main" id="{0CF79344-C483-C2FA-548C-EF61E8D5CB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968" y="2064"/>
              <a:ext cx="2160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6570" name="Line 15">
              <a:extLst>
                <a:ext uri="{FF2B5EF4-FFF2-40B4-BE49-F238E27FC236}">
                  <a16:creationId xmlns:a16="http://schemas.microsoft.com/office/drawing/2014/main" id="{DA76D31C-D85C-5EC7-1D54-2E019B57AD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824" y="960"/>
              <a:ext cx="2256" cy="17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6571" name="Oval 16">
              <a:extLst>
                <a:ext uri="{FF2B5EF4-FFF2-40B4-BE49-F238E27FC236}">
                  <a16:creationId xmlns:a16="http://schemas.microsoft.com/office/drawing/2014/main" id="{B01C6605-F296-EEC7-D525-3DDFC5FB4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0" y="820"/>
              <a:ext cx="904" cy="184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66572" name="Rectangle 17">
              <a:extLst>
                <a:ext uri="{FF2B5EF4-FFF2-40B4-BE49-F238E27FC236}">
                  <a16:creationId xmlns:a16="http://schemas.microsoft.com/office/drawing/2014/main" id="{24ADD749-20EB-E151-DC50-58081115E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8" y="2577"/>
              <a:ext cx="1200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defTabSz="7620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lang="it-IT" altLang="it-IT" sz="1800"/>
                <a:t>ADD.B (A0)+,D1</a:t>
              </a:r>
            </a:p>
            <a:p>
              <a:pPr algn="l">
                <a:spcBef>
                  <a:spcPct val="0"/>
                </a:spcBef>
              </a:pPr>
              <a:r>
                <a:rPr lang="it-IT" altLang="it-IT" sz="1800"/>
                <a:t>somma l’operando</a:t>
              </a:r>
            </a:p>
            <a:p>
              <a:pPr algn="l">
                <a:spcBef>
                  <a:spcPct val="0"/>
                </a:spcBef>
              </a:pPr>
              <a:r>
                <a:rPr lang="it-IT" altLang="it-IT" sz="1800"/>
                <a:t>sorgente a D1</a:t>
              </a:r>
            </a:p>
          </p:txBody>
        </p:sp>
      </p:grpSp>
      <p:sp>
        <p:nvSpPr>
          <p:cNvPr id="66567" name="Rectangle 18">
            <a:extLst>
              <a:ext uri="{FF2B5EF4-FFF2-40B4-BE49-F238E27FC236}">
                <a16:creationId xmlns:a16="http://schemas.microsoft.com/office/drawing/2014/main" id="{81F0677C-5B1F-45A1-6A8D-D19FB5CCC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343025"/>
            <a:ext cx="5280025" cy="519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</a:pPr>
            <a:r>
              <a:rPr lang="it-IT" altLang="it-IT" sz="1400"/>
              <a:t>Trace&gt;</a:t>
            </a:r>
          </a:p>
          <a:p>
            <a:pPr algn="l">
              <a:spcBef>
                <a:spcPct val="0"/>
              </a:spcBef>
            </a:pPr>
            <a:r>
              <a:rPr lang="it-IT" altLang="it-IT" sz="1400"/>
              <a:t>PC=00040C SR=2004 SS=00A00000 US=00000000       X=0  </a:t>
            </a:r>
          </a:p>
          <a:p>
            <a:pPr algn="l">
              <a:spcBef>
                <a:spcPct val="0"/>
              </a:spcBef>
            </a:pPr>
            <a:r>
              <a:rPr lang="it-IT" altLang="it-IT" sz="1400"/>
              <a:t>A0=00000416 A1=00000000 A2=00000000 A3=00000000 N=0  </a:t>
            </a:r>
          </a:p>
          <a:p>
            <a:pPr algn="l">
              <a:spcBef>
                <a:spcPct val="0"/>
              </a:spcBef>
            </a:pPr>
            <a:r>
              <a:rPr lang="it-IT" altLang="it-IT" sz="1400"/>
              <a:t>A4=00000000 A5=00000000 A6=00000000 A7=00A00000 Z=1  </a:t>
            </a:r>
          </a:p>
          <a:p>
            <a:pPr algn="l">
              <a:spcBef>
                <a:spcPct val="0"/>
              </a:spcBef>
            </a:pPr>
            <a:r>
              <a:rPr lang="it-IT" altLang="it-IT" sz="1400"/>
              <a:t>D0=00000005 D1=00000000 D2=00000000 D3=00000000 V=0  </a:t>
            </a:r>
          </a:p>
          <a:p>
            <a:pPr algn="l">
              <a:spcBef>
                <a:spcPct val="0"/>
              </a:spcBef>
            </a:pPr>
            <a:r>
              <a:rPr lang="it-IT" altLang="it-IT" sz="1400"/>
              <a:t>D4=00000000 D5=00000000 D6=00000000 D7=00000000 C=0  </a:t>
            </a:r>
          </a:p>
          <a:p>
            <a:pPr algn="l">
              <a:spcBef>
                <a:spcPct val="0"/>
              </a:spcBef>
            </a:pPr>
            <a:r>
              <a:rPr lang="it-IT" altLang="it-IT" sz="1400"/>
              <a:t>----------&gt;ADD.B    (A0)+,D1</a:t>
            </a:r>
          </a:p>
          <a:p>
            <a:pPr algn="l">
              <a:spcBef>
                <a:spcPct val="0"/>
              </a:spcBef>
            </a:pPr>
            <a:endParaRPr lang="it-IT" altLang="it-IT" sz="1400"/>
          </a:p>
          <a:p>
            <a:pPr algn="l">
              <a:spcBef>
                <a:spcPct val="0"/>
              </a:spcBef>
            </a:pPr>
            <a:r>
              <a:rPr lang="it-IT" altLang="it-IT" sz="1400"/>
              <a:t>Trace&gt;</a:t>
            </a:r>
          </a:p>
          <a:p>
            <a:pPr algn="l">
              <a:spcBef>
                <a:spcPct val="0"/>
              </a:spcBef>
            </a:pPr>
            <a:r>
              <a:rPr lang="it-IT" altLang="it-IT" sz="1400"/>
              <a:t>PC=00040E SR=2000 SS=00A00000 US=00000000       X=0  </a:t>
            </a:r>
          </a:p>
          <a:p>
            <a:pPr algn="l">
              <a:spcBef>
                <a:spcPct val="0"/>
              </a:spcBef>
            </a:pPr>
            <a:r>
              <a:rPr lang="it-IT" altLang="it-IT" sz="1400"/>
              <a:t>A0=00000417 A1=00000000 A2=00000000 A3=00000000 N=0  </a:t>
            </a:r>
          </a:p>
          <a:p>
            <a:pPr algn="l">
              <a:spcBef>
                <a:spcPct val="0"/>
              </a:spcBef>
            </a:pPr>
            <a:r>
              <a:rPr lang="it-IT" altLang="it-IT" sz="1400"/>
              <a:t>A4=00000000 A5=00000000 A6=00000000 A7=00A00000 Z=0  </a:t>
            </a:r>
          </a:p>
          <a:p>
            <a:pPr algn="l">
              <a:spcBef>
                <a:spcPct val="0"/>
              </a:spcBef>
            </a:pPr>
            <a:r>
              <a:rPr lang="it-IT" altLang="it-IT" sz="1400"/>
              <a:t>D0=00000005 D1=00000001 D2=00000000 D3=00000000 V=0  </a:t>
            </a:r>
          </a:p>
          <a:p>
            <a:pPr algn="l">
              <a:spcBef>
                <a:spcPct val="0"/>
              </a:spcBef>
            </a:pPr>
            <a:r>
              <a:rPr lang="it-IT" altLang="it-IT" sz="1400"/>
              <a:t>D4=00000000 D5=00000000 D6=00000000 D7=00000000 C=0  </a:t>
            </a:r>
          </a:p>
          <a:p>
            <a:pPr algn="l">
              <a:spcBef>
                <a:spcPct val="0"/>
              </a:spcBef>
            </a:pPr>
            <a:r>
              <a:rPr lang="it-IT" altLang="it-IT" sz="1400"/>
              <a:t>----------&gt;SUBQ.B   #$01,D0</a:t>
            </a:r>
          </a:p>
          <a:p>
            <a:pPr algn="l">
              <a:spcBef>
                <a:spcPct val="0"/>
              </a:spcBef>
            </a:pPr>
            <a:endParaRPr lang="it-IT" altLang="it-IT" sz="1400"/>
          </a:p>
          <a:p>
            <a:pPr algn="l">
              <a:spcBef>
                <a:spcPct val="0"/>
              </a:spcBef>
            </a:pPr>
            <a:r>
              <a:rPr lang="it-IT" altLang="it-IT" sz="1400"/>
              <a:t>Trace&gt;</a:t>
            </a:r>
          </a:p>
          <a:p>
            <a:pPr algn="l">
              <a:spcBef>
                <a:spcPct val="0"/>
              </a:spcBef>
            </a:pPr>
            <a:r>
              <a:rPr lang="it-IT" altLang="it-IT" sz="1400"/>
              <a:t>PC=000410 SR=2000 SS=00A00000 US=00000000       X=0  </a:t>
            </a:r>
          </a:p>
          <a:p>
            <a:pPr algn="l">
              <a:spcBef>
                <a:spcPct val="0"/>
              </a:spcBef>
            </a:pPr>
            <a:r>
              <a:rPr lang="it-IT" altLang="it-IT" sz="1400"/>
              <a:t>A0=00000417 A1=00000000 A2=00000000 A3=00000000 N=0  </a:t>
            </a:r>
          </a:p>
          <a:p>
            <a:pPr algn="l">
              <a:spcBef>
                <a:spcPct val="0"/>
              </a:spcBef>
            </a:pPr>
            <a:r>
              <a:rPr lang="it-IT" altLang="it-IT" sz="1400"/>
              <a:t>A4=00000000 A5=00000000 A6=00000000 A7=00A00000 Z=0  </a:t>
            </a:r>
          </a:p>
          <a:p>
            <a:pPr algn="l">
              <a:spcBef>
                <a:spcPct val="0"/>
              </a:spcBef>
            </a:pPr>
            <a:r>
              <a:rPr lang="it-IT" altLang="it-IT" sz="1400"/>
              <a:t>D0=00000004 D1=00000001 D2=00000000 D3=00000000 V=0  </a:t>
            </a:r>
          </a:p>
          <a:p>
            <a:pPr algn="l">
              <a:spcBef>
                <a:spcPct val="0"/>
              </a:spcBef>
            </a:pPr>
            <a:r>
              <a:rPr lang="it-IT" altLang="it-IT" sz="1400"/>
              <a:t>D4=00000000 D5=00000000 D6=00000000 D7=00000000 C=0  </a:t>
            </a:r>
          </a:p>
          <a:p>
            <a:pPr algn="l">
              <a:spcBef>
                <a:spcPct val="0"/>
              </a:spcBef>
            </a:pPr>
            <a:r>
              <a:rPr lang="it-IT" altLang="it-IT" sz="1400"/>
              <a:t>----------&gt;BNE.S    $040C</a:t>
            </a:r>
          </a:p>
          <a:p>
            <a:pPr algn="l">
              <a:spcBef>
                <a:spcPct val="0"/>
              </a:spcBef>
            </a:pPr>
            <a:endParaRPr lang="it-IT" altLang="it-IT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egnaposto numero diapositiva 5">
            <a:extLst>
              <a:ext uri="{FF2B5EF4-FFF2-40B4-BE49-F238E27FC236}">
                <a16:creationId xmlns:a16="http://schemas.microsoft.com/office/drawing/2014/main" id="{F2E36395-FF7C-0A1B-FA37-DAD3FC86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3D96BF3-1A77-4E08-8BE1-322314637C5F}" type="slidenum">
              <a:rPr lang="it-IT" altLang="it-IT" sz="1400">
                <a:latin typeface="Times New Roman" panose="02020603050405020304" pitchFamily="18" charset="0"/>
              </a:rPr>
              <a:pPr/>
              <a:t>51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B363EC72-24BB-3E35-0AE5-F74D3FD627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Esempio – Trace del programma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85768982-6797-08DF-C5C6-C1A0BF058389}"/>
              </a:ext>
            </a:extLst>
          </p:cNvPr>
          <p:cNvGrpSpPr>
            <a:grpSpLocks/>
          </p:cNvGrpSpPr>
          <p:nvPr/>
        </p:nvGrpSpPr>
        <p:grpSpPr bwMode="auto">
          <a:xfrm>
            <a:off x="523875" y="1724025"/>
            <a:ext cx="9326563" cy="2974975"/>
            <a:chOff x="292" y="532"/>
            <a:chExt cx="5422" cy="1874"/>
          </a:xfrm>
        </p:grpSpPr>
        <p:sp>
          <p:nvSpPr>
            <p:cNvPr id="67590" name="Oval 5">
              <a:extLst>
                <a:ext uri="{FF2B5EF4-FFF2-40B4-BE49-F238E27FC236}">
                  <a16:creationId xmlns:a16="http://schemas.microsoft.com/office/drawing/2014/main" id="{2F29167C-3CAC-038D-8D9A-415F1D178D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" y="532"/>
              <a:ext cx="904" cy="23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67591" name="Oval 6">
              <a:extLst>
                <a:ext uri="{FF2B5EF4-FFF2-40B4-BE49-F238E27FC236}">
                  <a16:creationId xmlns:a16="http://schemas.microsoft.com/office/drawing/2014/main" id="{D8966D5D-BFFC-5BD6-DA06-D2EED40BB8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" y="1636"/>
              <a:ext cx="904" cy="184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67592" name="Oval 7">
              <a:extLst>
                <a:ext uri="{FF2B5EF4-FFF2-40B4-BE49-F238E27FC236}">
                  <a16:creationId xmlns:a16="http://schemas.microsoft.com/office/drawing/2014/main" id="{4179D4BB-20C5-BEE7-CFDE-8BF801ADE4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0" y="1060"/>
              <a:ext cx="1336" cy="280"/>
            </a:xfrm>
            <a:prstGeom prst="ellipse">
              <a:avLst/>
            </a:prstGeom>
            <a:solidFill>
              <a:srgbClr val="FF0033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67593" name="Line 8">
              <a:extLst>
                <a:ext uri="{FF2B5EF4-FFF2-40B4-BE49-F238E27FC236}">
                  <a16:creationId xmlns:a16="http://schemas.microsoft.com/office/drawing/2014/main" id="{5E8EE017-59E0-B378-358C-249EEC2EA0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00" y="672"/>
              <a:ext cx="3072" cy="7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7594" name="Line 9">
              <a:extLst>
                <a:ext uri="{FF2B5EF4-FFF2-40B4-BE49-F238E27FC236}">
                  <a16:creationId xmlns:a16="http://schemas.microsoft.com/office/drawing/2014/main" id="{42AE109B-6E0A-6041-1370-B9264CB30B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52" y="1536"/>
              <a:ext cx="3024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7595" name="Line 10">
              <a:extLst>
                <a:ext uri="{FF2B5EF4-FFF2-40B4-BE49-F238E27FC236}">
                  <a16:creationId xmlns:a16="http://schemas.microsoft.com/office/drawing/2014/main" id="{8A79B601-6398-380A-CA52-6EC14DB424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448" y="1200"/>
              <a:ext cx="1728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7596" name="Rectangle 11">
              <a:extLst>
                <a:ext uri="{FF2B5EF4-FFF2-40B4-BE49-F238E27FC236}">
                  <a16:creationId xmlns:a16="http://schemas.microsoft.com/office/drawing/2014/main" id="{8BE19130-F408-18A6-A0B3-26AA4FBFF6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7" y="1137"/>
              <a:ext cx="1547" cy="1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defTabSz="7620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lang="it-IT" altLang="it-IT" sz="1800"/>
                <a:t>Al ciclo successivo</a:t>
              </a:r>
            </a:p>
            <a:p>
              <a:pPr algn="l">
                <a:spcBef>
                  <a:spcPct val="0"/>
                </a:spcBef>
              </a:pPr>
              <a:r>
                <a:rPr lang="it-IT" altLang="it-IT" sz="1800"/>
                <a:t>l’ istruzione</a:t>
              </a:r>
            </a:p>
            <a:p>
              <a:pPr algn="l">
                <a:spcBef>
                  <a:spcPct val="0"/>
                </a:spcBef>
              </a:pPr>
              <a:r>
                <a:rPr lang="it-IT" altLang="it-IT" sz="1800"/>
                <a:t>ADD.B (A0)+,D1</a:t>
              </a:r>
            </a:p>
            <a:p>
              <a:pPr algn="l">
                <a:spcBef>
                  <a:spcPct val="0"/>
                </a:spcBef>
              </a:pPr>
              <a:r>
                <a:rPr lang="it-IT" altLang="it-IT" sz="1800"/>
                <a:t>usa A0 come</a:t>
              </a:r>
            </a:p>
            <a:p>
              <a:pPr algn="l">
                <a:spcBef>
                  <a:spcPct val="0"/>
                </a:spcBef>
              </a:pPr>
              <a:r>
                <a:rPr lang="it-IT" altLang="it-IT" sz="1800"/>
                <a:t>operando sorgente e poi</a:t>
              </a:r>
            </a:p>
            <a:p>
              <a:pPr algn="l">
                <a:spcBef>
                  <a:spcPct val="0"/>
                </a:spcBef>
              </a:pPr>
              <a:r>
                <a:rPr lang="it-IT" altLang="it-IT" sz="1800"/>
                <a:t>incrementa il contenuto </a:t>
              </a:r>
            </a:p>
            <a:p>
              <a:pPr algn="l">
                <a:spcBef>
                  <a:spcPct val="0"/>
                </a:spcBef>
              </a:pPr>
              <a:r>
                <a:rPr lang="it-IT" altLang="it-IT" sz="1800"/>
                <a:t>di A0</a:t>
              </a:r>
            </a:p>
          </p:txBody>
        </p:sp>
      </p:grpSp>
      <p:sp>
        <p:nvSpPr>
          <p:cNvPr id="67589" name="Rectangle 12">
            <a:extLst>
              <a:ext uri="{FF2B5EF4-FFF2-40B4-BE49-F238E27FC236}">
                <a16:creationId xmlns:a16="http://schemas.microsoft.com/office/drawing/2014/main" id="{495014C8-D13F-672F-EE1B-7E5216A5C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613" y="1358900"/>
            <a:ext cx="528002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</a:pPr>
            <a:r>
              <a:rPr lang="it-IT" altLang="it-IT" sz="1400"/>
              <a:t>Trace&gt;</a:t>
            </a:r>
          </a:p>
          <a:p>
            <a:pPr algn="l">
              <a:spcBef>
                <a:spcPct val="0"/>
              </a:spcBef>
            </a:pPr>
            <a:r>
              <a:rPr lang="it-IT" altLang="it-IT" sz="1400"/>
              <a:t>PC=00040C SR=2000 SS=00A00000 US=00000000       X=0  </a:t>
            </a:r>
          </a:p>
          <a:p>
            <a:pPr algn="l">
              <a:spcBef>
                <a:spcPct val="0"/>
              </a:spcBef>
            </a:pPr>
            <a:r>
              <a:rPr lang="it-IT" altLang="it-IT" sz="1400"/>
              <a:t>A0=00000417 A1=00000000 A2=00000000 A3=00000000 N=0  </a:t>
            </a:r>
          </a:p>
          <a:p>
            <a:pPr algn="l">
              <a:spcBef>
                <a:spcPct val="0"/>
              </a:spcBef>
            </a:pPr>
            <a:r>
              <a:rPr lang="it-IT" altLang="it-IT" sz="1400"/>
              <a:t>A4=00000000 A5=00000000 A6=00000000 A7=00A00000 Z=0  </a:t>
            </a:r>
          </a:p>
          <a:p>
            <a:pPr algn="l">
              <a:spcBef>
                <a:spcPct val="0"/>
              </a:spcBef>
            </a:pPr>
            <a:r>
              <a:rPr lang="it-IT" altLang="it-IT" sz="1400"/>
              <a:t>D0=00000004 D1=00000001 D2=00000000 D3=00000000 V=0  </a:t>
            </a:r>
          </a:p>
          <a:p>
            <a:pPr algn="l">
              <a:spcBef>
                <a:spcPct val="0"/>
              </a:spcBef>
            </a:pPr>
            <a:r>
              <a:rPr lang="it-IT" altLang="it-IT" sz="1400"/>
              <a:t>D4=00000000 D5=00000000 D6=00000000 D7=00000000 C=0  </a:t>
            </a:r>
          </a:p>
          <a:p>
            <a:pPr algn="l">
              <a:spcBef>
                <a:spcPct val="0"/>
              </a:spcBef>
            </a:pPr>
            <a:r>
              <a:rPr lang="it-IT" altLang="it-IT" sz="1400"/>
              <a:t>----------&gt;ADD.B    (A0)+,D1</a:t>
            </a:r>
          </a:p>
          <a:p>
            <a:pPr algn="l">
              <a:spcBef>
                <a:spcPct val="0"/>
              </a:spcBef>
            </a:pPr>
            <a:endParaRPr lang="it-IT" altLang="it-IT" sz="1400"/>
          </a:p>
          <a:p>
            <a:pPr algn="l">
              <a:spcBef>
                <a:spcPct val="0"/>
              </a:spcBef>
            </a:pPr>
            <a:r>
              <a:rPr lang="it-IT" altLang="it-IT" sz="1400"/>
              <a:t>Trace&gt;</a:t>
            </a:r>
          </a:p>
          <a:p>
            <a:pPr algn="l">
              <a:spcBef>
                <a:spcPct val="0"/>
              </a:spcBef>
            </a:pPr>
            <a:r>
              <a:rPr lang="it-IT" altLang="it-IT" sz="1400"/>
              <a:t>PC=00040E SR=2000 SS=00A00000 US=00000000       X=0  </a:t>
            </a:r>
          </a:p>
          <a:p>
            <a:pPr algn="l">
              <a:spcBef>
                <a:spcPct val="0"/>
              </a:spcBef>
            </a:pPr>
            <a:r>
              <a:rPr lang="it-IT" altLang="it-IT" sz="1400"/>
              <a:t>A0=00000418 A1=00000000 A2=00000000 A3=00000000 N=0  </a:t>
            </a:r>
          </a:p>
          <a:p>
            <a:pPr algn="l">
              <a:spcBef>
                <a:spcPct val="0"/>
              </a:spcBef>
            </a:pPr>
            <a:r>
              <a:rPr lang="it-IT" altLang="it-IT" sz="1400"/>
              <a:t>A4=00000000 A5=00000000 A6=00000000 A7=00A00000 Z=0  </a:t>
            </a:r>
          </a:p>
          <a:p>
            <a:pPr algn="l">
              <a:spcBef>
                <a:spcPct val="0"/>
              </a:spcBef>
            </a:pPr>
            <a:r>
              <a:rPr lang="it-IT" altLang="it-IT" sz="1400"/>
              <a:t>D0=00000004 D1=00000005 D2=00000000 D3=00000000 V=0  </a:t>
            </a:r>
          </a:p>
          <a:p>
            <a:pPr algn="l">
              <a:spcBef>
                <a:spcPct val="0"/>
              </a:spcBef>
            </a:pPr>
            <a:r>
              <a:rPr lang="it-IT" altLang="it-IT" sz="1400"/>
              <a:t>D4=00000000 D5=00000000 D6=00000000 D7=00000000 C=0  </a:t>
            </a:r>
          </a:p>
          <a:p>
            <a:pPr algn="l">
              <a:spcBef>
                <a:spcPct val="0"/>
              </a:spcBef>
            </a:pPr>
            <a:r>
              <a:rPr lang="it-IT" altLang="it-IT" sz="1400"/>
              <a:t>----------&gt;SUBQ.B   #$01,D0</a:t>
            </a:r>
          </a:p>
          <a:p>
            <a:pPr algn="l">
              <a:spcBef>
                <a:spcPct val="0"/>
              </a:spcBef>
            </a:pPr>
            <a:endParaRPr lang="it-IT" altLang="it-IT" sz="1400"/>
          </a:p>
          <a:p>
            <a:pPr algn="l">
              <a:spcBef>
                <a:spcPct val="0"/>
              </a:spcBef>
            </a:pPr>
            <a:r>
              <a:rPr lang="it-IT" altLang="it-IT" sz="1400"/>
              <a:t>Trace&gt;</a:t>
            </a:r>
          </a:p>
          <a:p>
            <a:pPr algn="l">
              <a:spcBef>
                <a:spcPct val="0"/>
              </a:spcBef>
            </a:pPr>
            <a:endParaRPr lang="it-IT" altLang="it-IT" sz="1400"/>
          </a:p>
          <a:p>
            <a:pPr algn="l">
              <a:spcBef>
                <a:spcPct val="0"/>
              </a:spcBef>
            </a:pPr>
            <a:r>
              <a:rPr lang="it-IT" altLang="it-IT" sz="1400"/>
              <a:t>PC=000410 SR=2000 SS=00A00000 US=00000000       X=0  </a:t>
            </a:r>
          </a:p>
          <a:p>
            <a:pPr algn="l">
              <a:spcBef>
                <a:spcPct val="0"/>
              </a:spcBef>
            </a:pPr>
            <a:r>
              <a:rPr lang="it-IT" altLang="it-IT" sz="1400"/>
              <a:t>A0=00000418 A1=00000000 A2=00000000 A3=00000000 N=0  </a:t>
            </a:r>
          </a:p>
          <a:p>
            <a:pPr algn="l">
              <a:spcBef>
                <a:spcPct val="0"/>
              </a:spcBef>
            </a:pPr>
            <a:r>
              <a:rPr lang="it-IT" altLang="it-IT" sz="1400"/>
              <a:t>A4=00000000 A5=00000000 A6=00000000 A7=00A00000 Z=0  </a:t>
            </a:r>
          </a:p>
          <a:p>
            <a:pPr algn="l">
              <a:spcBef>
                <a:spcPct val="0"/>
              </a:spcBef>
            </a:pPr>
            <a:r>
              <a:rPr lang="it-IT" altLang="it-IT" sz="1400"/>
              <a:t>D0=00000003 D1=00000005 D2=00000000 D3=00000000 V=0  </a:t>
            </a:r>
          </a:p>
          <a:p>
            <a:pPr algn="l">
              <a:spcBef>
                <a:spcPct val="0"/>
              </a:spcBef>
            </a:pPr>
            <a:r>
              <a:rPr lang="it-IT" altLang="it-IT" sz="1400"/>
              <a:t>D4=00000000 D5=00000000 D6=00000000 D7=00000000 C=0  </a:t>
            </a:r>
          </a:p>
          <a:p>
            <a:pPr algn="l">
              <a:spcBef>
                <a:spcPct val="0"/>
              </a:spcBef>
            </a:pPr>
            <a:r>
              <a:rPr lang="it-IT" altLang="it-IT" sz="1400"/>
              <a:t>----------&gt;BNE.S    $040C</a:t>
            </a:r>
          </a:p>
          <a:p>
            <a:pPr algn="l">
              <a:spcBef>
                <a:spcPct val="0"/>
              </a:spcBef>
            </a:pPr>
            <a:endParaRPr lang="it-IT" altLang="it-IT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egnaposto numero diapositiva 5">
            <a:extLst>
              <a:ext uri="{FF2B5EF4-FFF2-40B4-BE49-F238E27FC236}">
                <a16:creationId xmlns:a16="http://schemas.microsoft.com/office/drawing/2014/main" id="{BDD556A0-CCE2-E1BC-21DC-AEAB6AEA6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181D0AF-E3B2-4A41-8828-EF49AD589DD0}" type="slidenum">
              <a:rPr lang="it-IT" altLang="it-IT" sz="1400">
                <a:latin typeface="Times New Roman" panose="02020603050405020304" pitchFamily="18" charset="0"/>
              </a:rPr>
              <a:pPr/>
              <a:t>52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96B165E9-147C-ACBD-3795-87382B52D5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Problema</a:t>
            </a:r>
          </a:p>
        </p:txBody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4DA9A707-C0FB-4F5A-F98B-1280557019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Scrivere un programma assembly che sommi cinque numeri memorizzati in locazioni di memoria consecutive</a:t>
            </a:r>
          </a:p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Assemblare ed eseguire sul simulatore</a:t>
            </a:r>
          </a:p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Sperimentare: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L’effetto dell’istruzione LEA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L’effetto dell’autoincremento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egnaposto numero diapositiva 5">
            <a:extLst>
              <a:ext uri="{FF2B5EF4-FFF2-40B4-BE49-F238E27FC236}">
                <a16:creationId xmlns:a16="http://schemas.microsoft.com/office/drawing/2014/main" id="{7C923D24-F75B-CD6F-5DDD-88C1E44AB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BAC87F3-739F-4127-BA81-4705495EFF71}" type="slidenum">
              <a:rPr lang="it-IT" altLang="it-IT" sz="1400">
                <a:latin typeface="Times New Roman" panose="02020603050405020304" pitchFamily="18" charset="0"/>
              </a:rPr>
              <a:pPr/>
              <a:t>53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028E0282-F66C-C8DC-48D9-C112F04668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Soluzione - Codice</a:t>
            </a:r>
          </a:p>
        </p:txBody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3A337947-E50F-BF87-8092-A9C237E8F7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889125"/>
            <a:ext cx="9296400" cy="344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</a:pPr>
            <a:r>
              <a:rPr lang="it-IT" altLang="it-IT" b="1">
                <a:latin typeface="Courier New" panose="02070309020205020404" pitchFamily="49" charset="0"/>
              </a:rPr>
              <a:t>* Esempio - Somma numeri </a:t>
            </a:r>
          </a:p>
          <a:p>
            <a:pPr algn="l">
              <a:spcBef>
                <a:spcPct val="0"/>
              </a:spcBef>
              <a:buFontTx/>
              <a:buChar char="•"/>
            </a:pPr>
            <a:endParaRPr lang="it-IT" altLang="it-IT" b="1">
              <a:latin typeface="Courier New" panose="02070309020205020404" pitchFamily="49" charset="0"/>
            </a:endParaRPr>
          </a:p>
          <a:p>
            <a:pPr algn="l">
              <a:spcBef>
                <a:spcPct val="0"/>
              </a:spcBef>
            </a:pPr>
            <a:r>
              <a:rPr lang="it-IT" altLang="it-IT" b="1">
                <a:latin typeface="Courier New" panose="02070309020205020404" pitchFamily="49" charset="0"/>
              </a:rPr>
              <a:t>		ORG	   $8000 </a:t>
            </a:r>
          </a:p>
          <a:p>
            <a:pPr algn="l">
              <a:spcBef>
                <a:spcPct val="0"/>
              </a:spcBef>
            </a:pPr>
            <a:r>
              <a:rPr lang="it-IT" altLang="it-IT" b="1">
                <a:latin typeface="Courier New" panose="02070309020205020404" pitchFamily="49" charset="0"/>
              </a:rPr>
              <a:t>		MOVE.B  #5,D0 </a:t>
            </a:r>
          </a:p>
          <a:p>
            <a:pPr algn="l">
              <a:spcBef>
                <a:spcPct val="0"/>
              </a:spcBef>
            </a:pPr>
            <a:r>
              <a:rPr lang="it-IT" altLang="it-IT" b="1">
                <a:latin typeface="Courier New" panose="02070309020205020404" pitchFamily="49" charset="0"/>
              </a:rPr>
              <a:t>		LEA     Table,A0      A0 punta ai numeri</a:t>
            </a:r>
          </a:p>
          <a:p>
            <a:pPr algn="l">
              <a:spcBef>
                <a:spcPct val="0"/>
              </a:spcBef>
            </a:pPr>
            <a:r>
              <a:rPr lang="it-IT" altLang="it-IT" b="1">
                <a:latin typeface="Courier New" panose="02070309020205020404" pitchFamily="49" charset="0"/>
              </a:rPr>
              <a:t>      	CLR.B   D1            Inizializza la somma</a:t>
            </a:r>
          </a:p>
          <a:p>
            <a:pPr algn="l">
              <a:spcBef>
                <a:spcPct val="0"/>
              </a:spcBef>
            </a:pPr>
            <a:r>
              <a:rPr lang="it-IT" altLang="it-IT" b="1">
                <a:latin typeface="Courier New" panose="02070309020205020404" pitchFamily="49" charset="0"/>
              </a:rPr>
              <a:t>Loop 	ADD.B   (A0)+,D1      Somma il numero al totale</a:t>
            </a:r>
          </a:p>
          <a:p>
            <a:pPr algn="l">
              <a:spcBef>
                <a:spcPct val="0"/>
              </a:spcBef>
            </a:pPr>
            <a:r>
              <a:rPr lang="it-IT" altLang="it-IT" b="1">
                <a:latin typeface="Courier New" panose="02070309020205020404" pitchFamily="49" charset="0"/>
              </a:rPr>
              <a:t>     	SUB.B   #1,D0</a:t>
            </a:r>
          </a:p>
          <a:p>
            <a:pPr algn="l">
              <a:spcBef>
                <a:spcPct val="0"/>
              </a:spcBef>
            </a:pPr>
            <a:r>
              <a:rPr lang="it-IT" altLang="it-IT" b="1">
                <a:latin typeface="Courier New" panose="02070309020205020404" pitchFamily="49" charset="0"/>
              </a:rPr>
              <a:t>      	BNE     Loop </a:t>
            </a:r>
          </a:p>
          <a:p>
            <a:pPr algn="l">
              <a:spcBef>
                <a:spcPct val="0"/>
              </a:spcBef>
            </a:pPr>
            <a:r>
              <a:rPr lang="it-IT" altLang="it-IT" b="1">
                <a:latin typeface="Courier New" panose="02070309020205020404" pitchFamily="49" charset="0"/>
              </a:rPr>
              <a:t>STOP      #$2700</a:t>
            </a:r>
          </a:p>
          <a:p>
            <a:pPr algn="l">
              <a:spcBef>
                <a:spcPct val="0"/>
              </a:spcBef>
            </a:pPr>
            <a:r>
              <a:rPr lang="it-IT" altLang="it-IT" b="1">
                <a:latin typeface="Courier New" panose="02070309020205020404" pitchFamily="49" charset="0"/>
              </a:rPr>
              <a:t>Table 	DC.B    1,2,3,4,5     Dati d’esempio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egnaposto numero diapositiva 5">
            <a:extLst>
              <a:ext uri="{FF2B5EF4-FFF2-40B4-BE49-F238E27FC236}">
                <a16:creationId xmlns:a16="http://schemas.microsoft.com/office/drawing/2014/main" id="{4F761BC1-2A1E-C053-ED28-F0A632F9D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639F381-70AD-4011-9A18-8A4C0A03D2CE}" type="slidenum">
              <a:rPr lang="it-IT" altLang="it-IT" sz="1400">
                <a:latin typeface="Times New Roman" panose="02020603050405020304" pitchFamily="18" charset="0"/>
              </a:rPr>
              <a:pPr/>
              <a:t>54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5158B23A-7674-4C0C-8DF0-40AEB9561E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Soluzione - Esecuzione</a:t>
            </a:r>
          </a:p>
        </p:txBody>
      </p:sp>
      <p:pic>
        <p:nvPicPr>
          <p:cNvPr id="70660" name="Picture 4">
            <a:extLst>
              <a:ext uri="{FF2B5EF4-FFF2-40B4-BE49-F238E27FC236}">
                <a16:creationId xmlns:a16="http://schemas.microsoft.com/office/drawing/2014/main" id="{35E923C9-289D-3BDF-8DF8-B9CD8C688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209675"/>
            <a:ext cx="7315200" cy="526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lg" len="med"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egnaposto numero diapositiva 5">
            <a:extLst>
              <a:ext uri="{FF2B5EF4-FFF2-40B4-BE49-F238E27FC236}">
                <a16:creationId xmlns:a16="http://schemas.microsoft.com/office/drawing/2014/main" id="{9ADE47EA-1BEA-82EB-F6EC-17570D515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907DE3B-6C67-4E28-8F6D-E0A612559C23}" type="slidenum">
              <a:rPr lang="it-IT" altLang="it-IT" sz="1400">
                <a:latin typeface="Times New Roman" panose="02020603050405020304" pitchFamily="18" charset="0"/>
              </a:rPr>
              <a:pPr/>
              <a:t>55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DF88F473-F426-EC57-E3D8-5FEF1913DB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Esempi</a:t>
            </a:r>
          </a:p>
        </p:txBody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C3A9DCEF-A86E-A2B6-D0E9-71B4270F45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0688" y="1447800"/>
            <a:ext cx="8899525" cy="1044575"/>
          </a:xfrm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Identificare l’addressing mode usato per l’operando sorgente in ciascuna delle seguenti istruzioni</a:t>
            </a:r>
          </a:p>
        </p:txBody>
      </p:sp>
      <p:grpSp>
        <p:nvGrpSpPr>
          <p:cNvPr id="2" name="Group 25">
            <a:extLst>
              <a:ext uri="{FF2B5EF4-FFF2-40B4-BE49-F238E27FC236}">
                <a16:creationId xmlns:a16="http://schemas.microsoft.com/office/drawing/2014/main" id="{69D8B8F9-4DE0-9F5D-E94D-16C7556EEB13}"/>
              </a:ext>
            </a:extLst>
          </p:cNvPr>
          <p:cNvGrpSpPr>
            <a:grpSpLocks/>
          </p:cNvGrpSpPr>
          <p:nvPr/>
        </p:nvGrpSpPr>
        <p:grpSpPr bwMode="auto">
          <a:xfrm>
            <a:off x="2028825" y="2565400"/>
            <a:ext cx="6808788" cy="877888"/>
            <a:chOff x="1348" y="2020"/>
            <a:chExt cx="3958" cy="553"/>
          </a:xfrm>
        </p:grpSpPr>
        <p:sp>
          <p:nvSpPr>
            <p:cNvPr id="71703" name="Oval 26">
              <a:extLst>
                <a:ext uri="{FF2B5EF4-FFF2-40B4-BE49-F238E27FC236}">
                  <a16:creationId xmlns:a16="http://schemas.microsoft.com/office/drawing/2014/main" id="{AD0A6244-D2C3-67B7-E5B4-7CA2A980F1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020"/>
              <a:ext cx="328" cy="28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71704" name="Line 27">
              <a:extLst>
                <a:ext uri="{FF2B5EF4-FFF2-40B4-BE49-F238E27FC236}">
                  <a16:creationId xmlns:a16="http://schemas.microsoft.com/office/drawing/2014/main" id="{8C4EE5FF-4746-33F9-10A5-DCF8FB4579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632" y="2256"/>
              <a:ext cx="1056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71705" name="Rectangle 28">
              <a:extLst>
                <a:ext uri="{FF2B5EF4-FFF2-40B4-BE49-F238E27FC236}">
                  <a16:creationId xmlns:a16="http://schemas.microsoft.com/office/drawing/2014/main" id="{5AAC36AE-54D6-8325-8D7C-7056F1B39C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6" y="2207"/>
              <a:ext cx="2580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defTabSz="7620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lang="it-IT" altLang="it-IT" sz="1600">
                  <a:latin typeface="GillSans" charset="0"/>
                </a:rPr>
                <a:t>Address register indirect addressing. L’indirizzo</a:t>
              </a:r>
            </a:p>
            <a:p>
              <a:pPr algn="l">
                <a:spcBef>
                  <a:spcPct val="0"/>
                </a:spcBef>
              </a:pPr>
              <a:r>
                <a:rPr lang="it-IT" altLang="it-IT" sz="1600">
                  <a:latin typeface="GillSans" charset="0"/>
                </a:rPr>
                <a:t>dell’operando sorgente è in A5 </a:t>
              </a:r>
            </a:p>
          </p:txBody>
        </p:sp>
      </p:grpSp>
      <p:grpSp>
        <p:nvGrpSpPr>
          <p:cNvPr id="3" name="Group 29">
            <a:extLst>
              <a:ext uri="{FF2B5EF4-FFF2-40B4-BE49-F238E27FC236}">
                <a16:creationId xmlns:a16="http://schemas.microsoft.com/office/drawing/2014/main" id="{9CDC46A1-0BD2-208A-6B2F-2445629FE765}"/>
              </a:ext>
            </a:extLst>
          </p:cNvPr>
          <p:cNvGrpSpPr>
            <a:grpSpLocks/>
          </p:cNvGrpSpPr>
          <p:nvPr/>
        </p:nvGrpSpPr>
        <p:grpSpPr bwMode="auto">
          <a:xfrm>
            <a:off x="2035175" y="3098800"/>
            <a:ext cx="7058025" cy="877888"/>
            <a:chOff x="1300" y="2356"/>
            <a:chExt cx="4104" cy="553"/>
          </a:xfrm>
        </p:grpSpPr>
        <p:sp>
          <p:nvSpPr>
            <p:cNvPr id="71700" name="Oval 30">
              <a:extLst>
                <a:ext uri="{FF2B5EF4-FFF2-40B4-BE49-F238E27FC236}">
                  <a16:creationId xmlns:a16="http://schemas.microsoft.com/office/drawing/2014/main" id="{0EC93C59-8625-2B83-35E2-02985BC1F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0" y="2356"/>
              <a:ext cx="328" cy="28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71701" name="Line 31">
              <a:extLst>
                <a:ext uri="{FF2B5EF4-FFF2-40B4-BE49-F238E27FC236}">
                  <a16:creationId xmlns:a16="http://schemas.microsoft.com/office/drawing/2014/main" id="{F0FDB76E-A2FD-B912-D866-77CAA0EBFB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584" y="2592"/>
              <a:ext cx="1056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71702" name="Rectangle 32">
              <a:extLst>
                <a:ext uri="{FF2B5EF4-FFF2-40B4-BE49-F238E27FC236}">
                  <a16:creationId xmlns:a16="http://schemas.microsoft.com/office/drawing/2014/main" id="{10847864-901B-B5F1-75C4-A0269470F5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8" y="2543"/>
              <a:ext cx="272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defTabSz="7620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lang="it-IT" altLang="it-IT" sz="1600">
                  <a:latin typeface="GillSans" charset="0"/>
                </a:rPr>
                <a:t>Literal addressing. L’operando sorgente è il valore</a:t>
              </a:r>
            </a:p>
            <a:p>
              <a:pPr algn="l">
                <a:spcBef>
                  <a:spcPct val="0"/>
                </a:spcBef>
              </a:pPr>
              <a:r>
                <a:rPr lang="it-IT" altLang="it-IT" sz="1600">
                  <a:latin typeface="GillSans" charset="0"/>
                </a:rPr>
                <a:t>del letterale 12</a:t>
              </a:r>
            </a:p>
          </p:txBody>
        </p:sp>
      </p:grpSp>
      <p:grpSp>
        <p:nvGrpSpPr>
          <p:cNvPr id="4" name="Group 33">
            <a:extLst>
              <a:ext uri="{FF2B5EF4-FFF2-40B4-BE49-F238E27FC236}">
                <a16:creationId xmlns:a16="http://schemas.microsoft.com/office/drawing/2014/main" id="{3C6FA1D3-EF7A-D0B9-BEFB-4943A1D2782D}"/>
              </a:ext>
            </a:extLst>
          </p:cNvPr>
          <p:cNvGrpSpPr>
            <a:grpSpLocks/>
          </p:cNvGrpSpPr>
          <p:nvPr/>
        </p:nvGrpSpPr>
        <p:grpSpPr bwMode="auto">
          <a:xfrm>
            <a:off x="2173288" y="3556000"/>
            <a:ext cx="7243762" cy="1122363"/>
            <a:chOff x="1348" y="2644"/>
            <a:chExt cx="4213" cy="707"/>
          </a:xfrm>
        </p:grpSpPr>
        <p:sp>
          <p:nvSpPr>
            <p:cNvPr id="71697" name="Oval 34">
              <a:extLst>
                <a:ext uri="{FF2B5EF4-FFF2-40B4-BE49-F238E27FC236}">
                  <a16:creationId xmlns:a16="http://schemas.microsoft.com/office/drawing/2014/main" id="{A9B7E8F2-ACAE-E352-8655-E4EA524419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644"/>
              <a:ext cx="328" cy="28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71698" name="Line 35">
              <a:extLst>
                <a:ext uri="{FF2B5EF4-FFF2-40B4-BE49-F238E27FC236}">
                  <a16:creationId xmlns:a16="http://schemas.microsoft.com/office/drawing/2014/main" id="{E0663589-3923-11BC-E21D-82ED5E9382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632" y="2880"/>
              <a:ext cx="1056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71699" name="Rectangle 36">
              <a:extLst>
                <a:ext uri="{FF2B5EF4-FFF2-40B4-BE49-F238E27FC236}">
                  <a16:creationId xmlns:a16="http://schemas.microsoft.com/office/drawing/2014/main" id="{D2B9E2BA-4C23-EC68-CB01-5FA42F6564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7" y="2831"/>
              <a:ext cx="2834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defTabSz="7620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lang="it-IT" altLang="it-IT" sz="1600">
                  <a:latin typeface="GillSans" charset="0"/>
                </a:rPr>
                <a:t>Memory direct addressing. L’operando sorgente è il </a:t>
              </a:r>
            </a:p>
            <a:p>
              <a:pPr algn="l">
                <a:spcBef>
                  <a:spcPct val="0"/>
                </a:spcBef>
              </a:pPr>
              <a:r>
                <a:rPr lang="it-IT" altLang="it-IT" sz="1600">
                  <a:latin typeface="GillSans" charset="0"/>
                </a:rPr>
                <a:t>Contenuto della locazione di memoria il cui nome è </a:t>
              </a:r>
            </a:p>
            <a:p>
              <a:pPr algn="l">
                <a:spcBef>
                  <a:spcPct val="0"/>
                </a:spcBef>
              </a:pPr>
              <a:r>
                <a:rPr lang="it-IT" altLang="it-IT" sz="1600">
                  <a:latin typeface="GillSans" charset="0"/>
                </a:rPr>
                <a:t>TIME</a:t>
              </a:r>
            </a:p>
          </p:txBody>
        </p:sp>
      </p:grpSp>
      <p:grpSp>
        <p:nvGrpSpPr>
          <p:cNvPr id="5" name="Group 37">
            <a:extLst>
              <a:ext uri="{FF2B5EF4-FFF2-40B4-BE49-F238E27FC236}">
                <a16:creationId xmlns:a16="http://schemas.microsoft.com/office/drawing/2014/main" id="{48BE120E-E73B-6AA5-00E9-E603D25920B4}"/>
              </a:ext>
            </a:extLst>
          </p:cNvPr>
          <p:cNvGrpSpPr>
            <a:grpSpLocks/>
          </p:cNvGrpSpPr>
          <p:nvPr/>
        </p:nvGrpSpPr>
        <p:grpSpPr bwMode="auto">
          <a:xfrm>
            <a:off x="2122488" y="4318000"/>
            <a:ext cx="6621462" cy="877888"/>
            <a:chOff x="1252" y="2932"/>
            <a:chExt cx="3849" cy="553"/>
          </a:xfrm>
        </p:grpSpPr>
        <p:sp>
          <p:nvSpPr>
            <p:cNvPr id="71694" name="Oval 38">
              <a:extLst>
                <a:ext uri="{FF2B5EF4-FFF2-40B4-BE49-F238E27FC236}">
                  <a16:creationId xmlns:a16="http://schemas.microsoft.com/office/drawing/2014/main" id="{6937D16B-4711-5725-0546-AA84565B62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2" y="2932"/>
              <a:ext cx="328" cy="28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71695" name="Line 39">
              <a:extLst>
                <a:ext uri="{FF2B5EF4-FFF2-40B4-BE49-F238E27FC236}">
                  <a16:creationId xmlns:a16="http://schemas.microsoft.com/office/drawing/2014/main" id="{8DF86520-05BA-26F2-6384-47A57F1DFA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536" y="3168"/>
              <a:ext cx="1056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71696" name="Rectangle 40">
              <a:extLst>
                <a:ext uri="{FF2B5EF4-FFF2-40B4-BE49-F238E27FC236}">
                  <a16:creationId xmlns:a16="http://schemas.microsoft.com/office/drawing/2014/main" id="{D0342C67-AD98-96C3-6913-36CA9CE62D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0" y="3119"/>
              <a:ext cx="2471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defTabSz="7620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lang="it-IT" altLang="it-IT" sz="1600">
                  <a:latin typeface="GillSans" charset="0"/>
                </a:rPr>
                <a:t>Data register direct. L’operando sorgente è il </a:t>
              </a:r>
            </a:p>
            <a:p>
              <a:pPr algn="l">
                <a:spcBef>
                  <a:spcPct val="0"/>
                </a:spcBef>
              </a:pPr>
              <a:r>
                <a:rPr lang="it-IT" altLang="it-IT" sz="1600">
                  <a:latin typeface="GillSans" charset="0"/>
                </a:rPr>
                <a:t>contenuto di D6. </a:t>
              </a:r>
            </a:p>
          </p:txBody>
        </p:sp>
      </p:grpSp>
      <p:grpSp>
        <p:nvGrpSpPr>
          <p:cNvPr id="6" name="Group 41">
            <a:extLst>
              <a:ext uri="{FF2B5EF4-FFF2-40B4-BE49-F238E27FC236}">
                <a16:creationId xmlns:a16="http://schemas.microsoft.com/office/drawing/2014/main" id="{33737EAF-DA0F-F6EA-B123-928540FDC0C0}"/>
              </a:ext>
            </a:extLst>
          </p:cNvPr>
          <p:cNvGrpSpPr>
            <a:grpSpLocks/>
          </p:cNvGrpSpPr>
          <p:nvPr/>
        </p:nvGrpSpPr>
        <p:grpSpPr bwMode="auto">
          <a:xfrm>
            <a:off x="2197100" y="5040313"/>
            <a:ext cx="6891338" cy="1366837"/>
            <a:chOff x="1300" y="3268"/>
            <a:chExt cx="4006" cy="861"/>
          </a:xfrm>
        </p:grpSpPr>
        <p:sp>
          <p:nvSpPr>
            <p:cNvPr id="71691" name="Oval 42">
              <a:extLst>
                <a:ext uri="{FF2B5EF4-FFF2-40B4-BE49-F238E27FC236}">
                  <a16:creationId xmlns:a16="http://schemas.microsoft.com/office/drawing/2014/main" id="{6C08A61A-57A1-6B1C-7E27-FFE61DCF21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0" y="3268"/>
              <a:ext cx="328" cy="28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71692" name="Line 43">
              <a:extLst>
                <a:ext uri="{FF2B5EF4-FFF2-40B4-BE49-F238E27FC236}">
                  <a16:creationId xmlns:a16="http://schemas.microsoft.com/office/drawing/2014/main" id="{A6B9D95B-6BA7-BC06-C2A7-C5B86FD7DD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584" y="3504"/>
              <a:ext cx="1056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71693" name="Rectangle 44">
              <a:extLst>
                <a:ext uri="{FF2B5EF4-FFF2-40B4-BE49-F238E27FC236}">
                  <a16:creationId xmlns:a16="http://schemas.microsoft.com/office/drawing/2014/main" id="{47F1A1FD-ED67-C104-DC6F-7866F4F52A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8" y="3455"/>
              <a:ext cx="2628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defTabSz="7620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lang="it-IT" altLang="it-IT" sz="1600">
                  <a:latin typeface="GillSans" charset="0"/>
                </a:rPr>
                <a:t>Address register indirect with post-incrementing.</a:t>
              </a:r>
            </a:p>
            <a:p>
              <a:pPr algn="l">
                <a:spcBef>
                  <a:spcPct val="0"/>
                </a:spcBef>
              </a:pPr>
              <a:r>
                <a:rPr lang="it-IT" altLang="it-IT" sz="1600">
                  <a:latin typeface="GillSans" charset="0"/>
                </a:rPr>
                <a:t>L’indirizzo dell’operando sorgente è in A6. Il </a:t>
              </a:r>
            </a:p>
            <a:p>
              <a:pPr algn="l">
                <a:spcBef>
                  <a:spcPct val="0"/>
                </a:spcBef>
              </a:pPr>
              <a:r>
                <a:rPr lang="it-IT" altLang="it-IT" sz="1600">
                  <a:latin typeface="GillSans" charset="0"/>
                </a:rPr>
                <a:t>contenuto di A6 viene incrementato dopo l’</a:t>
              </a:r>
            </a:p>
            <a:p>
              <a:pPr algn="l">
                <a:spcBef>
                  <a:spcPct val="0"/>
                </a:spcBef>
              </a:pPr>
              <a:r>
                <a:rPr lang="it-IT" altLang="it-IT" sz="1600">
                  <a:latin typeface="GillSans" charset="0"/>
                </a:rPr>
                <a:t>istruzione </a:t>
              </a:r>
            </a:p>
          </p:txBody>
        </p:sp>
      </p:grpSp>
      <p:sp>
        <p:nvSpPr>
          <p:cNvPr id="71690" name="Rectangle 45">
            <a:extLst>
              <a:ext uri="{FF2B5EF4-FFF2-40B4-BE49-F238E27FC236}">
                <a16:creationId xmlns:a16="http://schemas.microsoft.com/office/drawing/2014/main" id="{CE0E7BF9-6AA7-098F-B6B7-870DCDD23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1113" y="2633663"/>
            <a:ext cx="2109787" cy="302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</a:pPr>
            <a:r>
              <a:rPr lang="it-IT" altLang="it-IT" sz="1600">
                <a:latin typeface="LetterGothic" charset="0"/>
              </a:rPr>
              <a:t>ADD.B  (A5),(A4)</a:t>
            </a:r>
          </a:p>
          <a:p>
            <a:pPr algn="l">
              <a:spcBef>
                <a:spcPct val="0"/>
              </a:spcBef>
            </a:pPr>
            <a:endParaRPr lang="it-IT" altLang="it-IT" sz="1600">
              <a:latin typeface="LetterGothic" charset="0"/>
            </a:endParaRPr>
          </a:p>
          <a:p>
            <a:pPr algn="l">
              <a:spcBef>
                <a:spcPct val="0"/>
              </a:spcBef>
            </a:pPr>
            <a:r>
              <a:rPr lang="it-IT" altLang="it-IT" sz="1600">
                <a:latin typeface="LetterGothic" charset="0"/>
              </a:rPr>
              <a:t>MOVE.B #12,D2</a:t>
            </a:r>
          </a:p>
          <a:p>
            <a:pPr algn="l">
              <a:spcBef>
                <a:spcPct val="0"/>
              </a:spcBef>
            </a:pPr>
            <a:endParaRPr lang="it-IT" altLang="it-IT" sz="1600">
              <a:latin typeface="LetterGothic" charset="0"/>
            </a:endParaRPr>
          </a:p>
          <a:p>
            <a:pPr algn="l">
              <a:spcBef>
                <a:spcPct val="0"/>
              </a:spcBef>
            </a:pPr>
            <a:r>
              <a:rPr lang="it-IT" altLang="it-IT" sz="1600">
                <a:latin typeface="LetterGothic" charset="0"/>
              </a:rPr>
              <a:t>ADD.W  TIME,D4</a:t>
            </a:r>
          </a:p>
          <a:p>
            <a:pPr algn="l">
              <a:spcBef>
                <a:spcPct val="0"/>
              </a:spcBef>
            </a:pPr>
            <a:endParaRPr lang="it-IT" altLang="it-IT" sz="1600">
              <a:latin typeface="LetterGothic" charset="0"/>
            </a:endParaRPr>
          </a:p>
          <a:p>
            <a:pPr algn="l">
              <a:spcBef>
                <a:spcPct val="0"/>
              </a:spcBef>
            </a:pPr>
            <a:endParaRPr lang="it-IT" altLang="it-IT" sz="1600">
              <a:latin typeface="LetterGothic" charset="0"/>
            </a:endParaRPr>
          </a:p>
          <a:p>
            <a:pPr algn="l">
              <a:spcBef>
                <a:spcPct val="0"/>
              </a:spcBef>
            </a:pPr>
            <a:r>
              <a:rPr lang="it-IT" altLang="it-IT" sz="1600">
                <a:latin typeface="LetterGothic" charset="0"/>
              </a:rPr>
              <a:t>MOVE.B D6,D4</a:t>
            </a:r>
          </a:p>
          <a:p>
            <a:pPr algn="l">
              <a:spcBef>
                <a:spcPct val="0"/>
              </a:spcBef>
            </a:pPr>
            <a:endParaRPr lang="it-IT" altLang="it-IT" sz="1600">
              <a:latin typeface="LetterGothic" charset="0"/>
            </a:endParaRPr>
          </a:p>
          <a:p>
            <a:pPr algn="l">
              <a:spcBef>
                <a:spcPct val="0"/>
              </a:spcBef>
            </a:pPr>
            <a:endParaRPr lang="it-IT" altLang="it-IT" sz="1600">
              <a:latin typeface="LetterGothic" charset="0"/>
            </a:endParaRPr>
          </a:p>
          <a:p>
            <a:pPr algn="l">
              <a:spcBef>
                <a:spcPct val="0"/>
              </a:spcBef>
            </a:pPr>
            <a:r>
              <a:rPr lang="it-IT" altLang="it-IT" sz="1600">
                <a:latin typeface="LetterGothic" charset="0"/>
              </a:rPr>
              <a:t>MOVE.B (A6)+,TEST</a:t>
            </a:r>
          </a:p>
          <a:p>
            <a:pPr algn="l">
              <a:spcBef>
                <a:spcPct val="0"/>
              </a:spcBef>
            </a:pPr>
            <a:endParaRPr lang="it-IT" altLang="it-IT" sz="1600">
              <a:latin typeface="LetterGothic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egnaposto numero diapositiva 5">
            <a:extLst>
              <a:ext uri="{FF2B5EF4-FFF2-40B4-BE49-F238E27FC236}">
                <a16:creationId xmlns:a16="http://schemas.microsoft.com/office/drawing/2014/main" id="{BF74D591-77B4-E445-EDD0-7E76D2114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6DE76CF-768B-475E-841F-D6F91F4449B8}" type="slidenum">
              <a:rPr lang="it-IT" altLang="it-IT" sz="1400">
                <a:latin typeface="Times New Roman" panose="02020603050405020304" pitchFamily="18" charset="0"/>
              </a:rPr>
              <a:pPr/>
              <a:t>56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4EE3301F-168F-C2CE-8760-06385F5ADB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Problema</a:t>
            </a:r>
          </a:p>
        </p:txBody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27966F55-CC3E-C758-8D5A-B7507A92C9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0688" y="1447800"/>
            <a:ext cx="8899525" cy="1404938"/>
          </a:xfrm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Se doveste tradurre il seguente frammento di pseudo-codice in linguaggio assembly, quali modi di indirizzamento utilizzereste?</a:t>
            </a:r>
          </a:p>
        </p:txBody>
      </p:sp>
      <p:sp>
        <p:nvSpPr>
          <p:cNvPr id="72709" name="Oval 5">
            <a:extLst>
              <a:ext uri="{FF2B5EF4-FFF2-40B4-BE49-F238E27FC236}">
                <a16:creationId xmlns:a16="http://schemas.microsoft.com/office/drawing/2014/main" id="{CF051A5E-AFF6-2263-5CF0-C0BAC22AD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188" y="3155950"/>
            <a:ext cx="731837" cy="577850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72710" name="Line 6">
            <a:extLst>
              <a:ext uri="{FF2B5EF4-FFF2-40B4-BE49-F238E27FC236}">
                <a16:creationId xmlns:a16="http://schemas.microsoft.com/office/drawing/2014/main" id="{4224877A-A408-CFBC-7D15-00A3CC4347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30375" y="3282950"/>
            <a:ext cx="26416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72711" name="Rectangle 7">
            <a:extLst>
              <a:ext uri="{FF2B5EF4-FFF2-40B4-BE49-F238E27FC236}">
                <a16:creationId xmlns:a16="http://schemas.microsoft.com/office/drawing/2014/main" id="{91ACC794-4329-E43F-9E5A-7E508C3E7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3052763"/>
            <a:ext cx="48387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</a:pPr>
            <a:r>
              <a:rPr lang="it-IT" altLang="it-IT" sz="1600">
                <a:latin typeface="GillSans" charset="0"/>
              </a:rPr>
              <a:t>SUM è una variabile temporanea. La si può mettere</a:t>
            </a:r>
          </a:p>
          <a:p>
            <a:pPr algn="l">
              <a:spcBef>
                <a:spcPct val="0"/>
              </a:spcBef>
            </a:pPr>
            <a:r>
              <a:rPr lang="it-IT" altLang="it-IT" sz="1600">
                <a:latin typeface="GillSans" charset="0"/>
              </a:rPr>
              <a:t>in un registro ed usare il register direct addressing</a:t>
            </a:r>
          </a:p>
        </p:txBody>
      </p:sp>
      <p:sp>
        <p:nvSpPr>
          <p:cNvPr id="72712" name="Oval 9">
            <a:extLst>
              <a:ext uri="{FF2B5EF4-FFF2-40B4-BE49-F238E27FC236}">
                <a16:creationId xmlns:a16="http://schemas.microsoft.com/office/drawing/2014/main" id="{67BAF709-98EA-1572-9FC1-48938139B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25" y="4008438"/>
            <a:ext cx="577850" cy="450850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72713" name="Line 10">
            <a:extLst>
              <a:ext uri="{FF2B5EF4-FFF2-40B4-BE49-F238E27FC236}">
                <a16:creationId xmlns:a16="http://schemas.microsoft.com/office/drawing/2014/main" id="{FC7DA42B-4AE6-1806-F3C6-BBEB7CAB913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24063" y="3970338"/>
            <a:ext cx="26416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72714" name="Rectangle 11">
            <a:extLst>
              <a:ext uri="{FF2B5EF4-FFF2-40B4-BE49-F238E27FC236}">
                <a16:creationId xmlns:a16="http://schemas.microsoft.com/office/drawing/2014/main" id="{A320CCB2-F16E-2E9E-D92B-59141EBDE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9788" y="3740150"/>
            <a:ext cx="483552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</a:pPr>
            <a:r>
              <a:rPr lang="it-IT" altLang="it-IT" sz="1600">
                <a:latin typeface="GillSans" charset="0"/>
              </a:rPr>
              <a:t>J è una variable temporanea, che tipicamente viene</a:t>
            </a:r>
          </a:p>
          <a:p>
            <a:pPr algn="l">
              <a:spcBef>
                <a:spcPct val="0"/>
              </a:spcBef>
            </a:pPr>
            <a:r>
              <a:rPr lang="it-IT" altLang="it-IT" sz="1600">
                <a:latin typeface="GillSans" charset="0"/>
              </a:rPr>
              <a:t>messa in un registro e viene inizializzata al valore </a:t>
            </a:r>
          </a:p>
          <a:p>
            <a:pPr algn="l">
              <a:spcBef>
                <a:spcPct val="0"/>
              </a:spcBef>
            </a:pPr>
            <a:r>
              <a:rPr lang="it-IT" altLang="it-IT" sz="1600">
                <a:latin typeface="GillSans" charset="0"/>
              </a:rPr>
              <a:t>del literal 5</a:t>
            </a:r>
          </a:p>
        </p:txBody>
      </p:sp>
      <p:sp>
        <p:nvSpPr>
          <p:cNvPr id="72715" name="Oval 17">
            <a:extLst>
              <a:ext uri="{FF2B5EF4-FFF2-40B4-BE49-F238E27FC236}">
                <a16:creationId xmlns:a16="http://schemas.microsoft.com/office/drawing/2014/main" id="{1F5C4B71-12A6-8955-EA36-36E0D755D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6038" y="4729163"/>
            <a:ext cx="503237" cy="444500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72716" name="Line 18">
            <a:extLst>
              <a:ext uri="{FF2B5EF4-FFF2-40B4-BE49-F238E27FC236}">
                <a16:creationId xmlns:a16="http://schemas.microsoft.com/office/drawing/2014/main" id="{6F7D3F7A-A3C3-D775-0D01-17AE0DFD08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95625" y="4722813"/>
            <a:ext cx="235585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72717" name="Rectangle 19">
            <a:extLst>
              <a:ext uri="{FF2B5EF4-FFF2-40B4-BE49-F238E27FC236}">
                <a16:creationId xmlns:a16="http://schemas.microsoft.com/office/drawing/2014/main" id="{BBE2A683-8B86-DC25-7D68-F9D65F91A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8775" y="4492625"/>
            <a:ext cx="4046538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</a:pPr>
            <a:r>
              <a:rPr lang="it-IT" altLang="it-IT" sz="1600">
                <a:latin typeface="GillSans" charset="0"/>
              </a:rPr>
              <a:t>X(J) è un elemento di un array,</a:t>
            </a:r>
          </a:p>
          <a:p>
            <a:pPr algn="l">
              <a:spcBef>
                <a:spcPct val="0"/>
              </a:spcBef>
            </a:pPr>
            <a:r>
              <a:rPr lang="it-IT" altLang="it-IT" sz="1600">
                <a:latin typeface="GillSans" charset="0"/>
              </a:rPr>
              <a:t>a cui tipicamente si accede </a:t>
            </a:r>
          </a:p>
          <a:p>
            <a:pPr algn="l">
              <a:spcBef>
                <a:spcPct val="0"/>
              </a:spcBef>
            </a:pPr>
            <a:r>
              <a:rPr lang="it-IT" altLang="it-IT" sz="1600">
                <a:latin typeface="GillSans" charset="0"/>
              </a:rPr>
              <a:t>mediante address register indirect </a:t>
            </a:r>
          </a:p>
          <a:p>
            <a:pPr algn="l">
              <a:spcBef>
                <a:spcPct val="0"/>
              </a:spcBef>
            </a:pPr>
            <a:r>
              <a:rPr lang="it-IT" altLang="it-IT" sz="1600">
                <a:latin typeface="GillSans" charset="0"/>
              </a:rPr>
              <a:t>addressing, eventualmente con auto-incremento</a:t>
            </a:r>
          </a:p>
        </p:txBody>
      </p:sp>
      <p:sp>
        <p:nvSpPr>
          <p:cNvPr id="72718" name="Rectangle 23">
            <a:extLst>
              <a:ext uri="{FF2B5EF4-FFF2-40B4-BE49-F238E27FC236}">
                <a16:creationId xmlns:a16="http://schemas.microsoft.com/office/drawing/2014/main" id="{70B69CEC-8FF5-D60A-DFA3-CEB6A5521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5050" y="3314700"/>
            <a:ext cx="2514600" cy="253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</a:pPr>
            <a:r>
              <a:rPr lang="it-IT" altLang="it-IT" sz="1600" b="1">
                <a:latin typeface="LetterGothic" charset="0"/>
              </a:rPr>
              <a:t>SUM = 0</a:t>
            </a:r>
          </a:p>
          <a:p>
            <a:pPr algn="l">
              <a:spcBef>
                <a:spcPct val="0"/>
              </a:spcBef>
            </a:pPr>
            <a:endParaRPr lang="it-IT" altLang="it-IT" sz="1600" b="1">
              <a:latin typeface="LetterGothic" charset="0"/>
            </a:endParaRPr>
          </a:p>
          <a:p>
            <a:pPr algn="l">
              <a:spcBef>
                <a:spcPct val="0"/>
              </a:spcBef>
            </a:pPr>
            <a:endParaRPr lang="it-IT" altLang="it-IT" sz="1600" b="1">
              <a:latin typeface="LetterGothic" charset="0"/>
            </a:endParaRPr>
          </a:p>
          <a:p>
            <a:pPr algn="l">
              <a:spcBef>
                <a:spcPct val="0"/>
              </a:spcBef>
            </a:pPr>
            <a:r>
              <a:rPr lang="it-IT" altLang="it-IT" sz="1600" b="1">
                <a:latin typeface="LetterGothic" charset="0"/>
              </a:rPr>
              <a:t>FOR J = 5 TO 19</a:t>
            </a:r>
          </a:p>
          <a:p>
            <a:pPr algn="l">
              <a:spcBef>
                <a:spcPct val="0"/>
              </a:spcBef>
            </a:pPr>
            <a:endParaRPr lang="it-IT" altLang="it-IT" sz="1600" b="1">
              <a:latin typeface="LetterGothic" charset="0"/>
            </a:endParaRPr>
          </a:p>
          <a:p>
            <a:pPr algn="l">
              <a:spcBef>
                <a:spcPct val="0"/>
              </a:spcBef>
            </a:pPr>
            <a:endParaRPr lang="it-IT" altLang="it-IT" sz="1600" b="1">
              <a:latin typeface="LetterGothic" charset="0"/>
            </a:endParaRPr>
          </a:p>
          <a:p>
            <a:pPr algn="l">
              <a:spcBef>
                <a:spcPct val="0"/>
              </a:spcBef>
            </a:pPr>
            <a:r>
              <a:rPr lang="it-IT" altLang="it-IT" sz="1600" b="1">
                <a:latin typeface="LetterGothic" charset="0"/>
              </a:rPr>
              <a:t>  SUM = SUM + X(J)*Y(J)</a:t>
            </a:r>
          </a:p>
          <a:p>
            <a:pPr algn="l">
              <a:spcBef>
                <a:spcPct val="0"/>
              </a:spcBef>
            </a:pPr>
            <a:endParaRPr lang="it-IT" altLang="it-IT" sz="1600" b="1">
              <a:latin typeface="LetterGothic" charset="0"/>
            </a:endParaRPr>
          </a:p>
          <a:p>
            <a:pPr algn="l">
              <a:spcBef>
                <a:spcPct val="0"/>
              </a:spcBef>
            </a:pPr>
            <a:endParaRPr lang="it-IT" altLang="it-IT" sz="1600" b="1">
              <a:latin typeface="LetterGothic" charset="0"/>
            </a:endParaRPr>
          </a:p>
          <a:p>
            <a:pPr algn="l">
              <a:spcBef>
                <a:spcPct val="0"/>
              </a:spcBef>
            </a:pPr>
            <a:r>
              <a:rPr lang="it-IT" altLang="it-IT" sz="1600" b="1">
                <a:latin typeface="LetterGothic" charset="0"/>
              </a:rPr>
              <a:t>END FOR 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egnaposto numero diapositiva 5">
            <a:extLst>
              <a:ext uri="{FF2B5EF4-FFF2-40B4-BE49-F238E27FC236}">
                <a16:creationId xmlns:a16="http://schemas.microsoft.com/office/drawing/2014/main" id="{6E7A3E4F-B098-03DC-B467-C4F7CC6E6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02F33EA-A295-41DA-A4FC-50ADE451D8D9}" type="slidenum">
              <a:rPr lang="it-IT" altLang="it-IT" sz="1400">
                <a:latin typeface="Times New Roman" panose="02020603050405020304" pitchFamily="18" charset="0"/>
              </a:rPr>
              <a:pPr/>
              <a:t>57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6ADCB2D0-5004-BD81-C363-FA6C936275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Indexed</a:t>
            </a:r>
          </a:p>
        </p:txBody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C2EB4ED2-02FA-F3CC-28BB-667A5C24D7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0688" y="1066800"/>
            <a:ext cx="9180512" cy="5410200"/>
          </a:xfrm>
        </p:spPr>
        <p:txBody>
          <a:bodyPr/>
          <a:lstStyle/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In generale, l’Indexed Addressing combina due componenti mediante somma, per formare l’EA</a:t>
            </a:r>
          </a:p>
          <a:p>
            <a:pPr lvl="1" eaLnBrk="1" hangingPunct="1"/>
            <a:r>
              <a:rPr lang="it-IT" altLang="it-IT" sz="2000">
                <a:ea typeface="ＭＳ Ｐゴシック" panose="020B0600070205080204" pitchFamily="34" charset="-128"/>
              </a:rPr>
              <a:t>Il primo componente è detto </a:t>
            </a:r>
            <a:r>
              <a:rPr lang="it-IT" altLang="it-IT" sz="2000" i="1">
                <a:ea typeface="ＭＳ Ｐゴシック" panose="020B0600070205080204" pitchFamily="34" charset="-128"/>
              </a:rPr>
              <a:t>base address</a:t>
            </a:r>
            <a:r>
              <a:rPr lang="it-IT" altLang="it-IT" sz="2000">
                <a:ea typeface="ＭＳ Ｐゴシック" panose="020B0600070205080204" pitchFamily="34" charset="-128"/>
              </a:rPr>
              <a:t> ed è specificato come parte dell’istruzione (come nell’absolute addressing)</a:t>
            </a:r>
          </a:p>
          <a:p>
            <a:pPr lvl="1" eaLnBrk="1" hangingPunct="1"/>
            <a:r>
              <a:rPr lang="it-IT" altLang="it-IT" sz="2000">
                <a:ea typeface="ＭＳ Ｐゴシック" panose="020B0600070205080204" pitchFamily="34" charset="-128"/>
              </a:rPr>
              <a:t>Il secondo componente è detto </a:t>
            </a:r>
            <a:r>
              <a:rPr lang="it-IT" altLang="it-IT" sz="2000" i="1">
                <a:ea typeface="ＭＳ Ｐゴシック" panose="020B0600070205080204" pitchFamily="34" charset="-128"/>
              </a:rPr>
              <a:t>index register</a:t>
            </a:r>
            <a:r>
              <a:rPr lang="it-IT" altLang="it-IT" sz="2000">
                <a:ea typeface="ＭＳ Ｐゴシック" panose="020B0600070205080204" pitchFamily="34" charset="-128"/>
              </a:rPr>
              <a:t> e contiene il valore da sommare al base address per ottener l’EA</a:t>
            </a:r>
          </a:p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È adatto per accedere ai valori di array e di tabelle</a:t>
            </a:r>
          </a:p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Il processore MC68000 non supporta esplicitamente l’Indexed Addressing. Tuttavia, è possibile usare l’Indexed Short Addressing nei (32+32)Kbyte agli estremi dei 4GB dello spazio di memoria</a:t>
            </a:r>
          </a:p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Esempio: </a:t>
            </a:r>
          </a:p>
          <a:p>
            <a:pPr lvl="1" eaLnBrk="1" hangingPunct="1">
              <a:buFontTx/>
              <a:buNone/>
            </a:pPr>
            <a:r>
              <a:rPr lang="it-IT" altLang="it-IT" sz="2000">
                <a:ea typeface="ＭＳ Ｐゴシック" panose="020B0600070205080204" pitchFamily="34" charset="-128"/>
              </a:rPr>
              <a:t>MOVEA.W 		I,AO			</a:t>
            </a:r>
          </a:p>
          <a:p>
            <a:pPr lvl="1" eaLnBrk="1" hangingPunct="1">
              <a:buFontTx/>
              <a:buNone/>
            </a:pPr>
            <a:r>
              <a:rPr lang="it-IT" altLang="it-IT" sz="2000">
                <a:ea typeface="ＭＳ Ｐゴシック" panose="020B0600070205080204" pitchFamily="34" charset="-128"/>
              </a:rPr>
              <a:t>MOVE.B 		CLIST-1(AO),D1  		Leggi clist[i]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egnaposto numero diapositiva 5">
            <a:extLst>
              <a:ext uri="{FF2B5EF4-FFF2-40B4-BE49-F238E27FC236}">
                <a16:creationId xmlns:a16="http://schemas.microsoft.com/office/drawing/2014/main" id="{6A762416-97FF-2065-F500-610E88EF8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8DF1421-CEEB-4B6F-8E15-86DE685D4654}" type="slidenum">
              <a:rPr lang="it-IT" altLang="it-IT" sz="1400">
                <a:latin typeface="Times New Roman" panose="02020603050405020304" pitchFamily="18" charset="0"/>
              </a:rPr>
              <a:pPr/>
              <a:t>58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B449C92B-0704-7D46-11F4-DC927C1829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Based Addressing</a:t>
            </a:r>
          </a:p>
        </p:txBody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81A06E1C-FE03-765E-199B-B52DDF1C23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68413"/>
            <a:ext cx="9137650" cy="5208587"/>
          </a:xfrm>
        </p:spPr>
        <p:txBody>
          <a:bodyPr/>
          <a:lstStyle/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Based Addressing è esattamente l’inverso dell’Indexed Addressing, in quanto combina due componenti mediante somma, per formare l’EA, ma:</a:t>
            </a:r>
          </a:p>
          <a:p>
            <a:pPr lvl="1" eaLnBrk="1" hangingPunct="1"/>
            <a:r>
              <a:rPr lang="it-IT" altLang="it-IT" sz="2000">
                <a:ea typeface="ＭＳ Ｐゴシック" panose="020B0600070205080204" pitchFamily="34" charset="-128"/>
              </a:rPr>
              <a:t>Il primo componente è detto </a:t>
            </a:r>
            <a:r>
              <a:rPr lang="it-IT" altLang="it-IT" sz="2000" i="1">
                <a:ea typeface="ＭＳ Ｐゴシック" panose="020B0600070205080204" pitchFamily="34" charset="-128"/>
              </a:rPr>
              <a:t>displacement</a:t>
            </a:r>
            <a:r>
              <a:rPr lang="it-IT" altLang="it-IT" sz="2000">
                <a:ea typeface="ＭＳ Ｐゴシック" panose="020B0600070205080204" pitchFamily="34" charset="-128"/>
              </a:rPr>
              <a:t> ed è specificato come parte dell’istruzione (come nell’absolute addressing)</a:t>
            </a:r>
          </a:p>
          <a:p>
            <a:pPr lvl="1" eaLnBrk="1" hangingPunct="1"/>
            <a:r>
              <a:rPr lang="it-IT" altLang="it-IT" sz="2000">
                <a:ea typeface="ＭＳ Ｐゴシック" panose="020B0600070205080204" pitchFamily="34" charset="-128"/>
              </a:rPr>
              <a:t>Il secondo componente è detto </a:t>
            </a:r>
            <a:r>
              <a:rPr lang="it-IT" altLang="it-IT" sz="2000" i="1">
                <a:ea typeface="ＭＳ Ｐゴシック" panose="020B0600070205080204" pitchFamily="34" charset="-128"/>
              </a:rPr>
              <a:t>base address</a:t>
            </a:r>
            <a:r>
              <a:rPr lang="it-IT" altLang="it-IT" sz="2000">
                <a:ea typeface="ＭＳ Ｐゴシック" panose="020B0600070205080204" pitchFamily="34" charset="-128"/>
              </a:rPr>
              <a:t> ed è  contenuto in un registro</a:t>
            </a:r>
          </a:p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È adatto per accedere ai valori di array e di tabelle di cui si conosca la posizione relativa ad assembly time, ma non quella iniziale</a:t>
            </a:r>
          </a:p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Il processore MC68000 supporta il Based Addressing come l’Indexed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egnaposto numero diapositiva 5">
            <a:extLst>
              <a:ext uri="{FF2B5EF4-FFF2-40B4-BE49-F238E27FC236}">
                <a16:creationId xmlns:a16="http://schemas.microsoft.com/office/drawing/2014/main" id="{8A122A9C-A3F2-9CDE-307A-1973DDE77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ACB632C-40A9-4FFC-B153-54A6E95262BD}" type="slidenum">
              <a:rPr lang="it-IT" altLang="it-IT" sz="1400">
                <a:latin typeface="Times New Roman" panose="02020603050405020304" pitchFamily="18" charset="0"/>
              </a:rPr>
              <a:pPr/>
              <a:t>59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C5956F78-343B-0B13-5C89-6120BAE0C5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Based Indexed</a:t>
            </a:r>
          </a:p>
        </p:txBody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DD691312-EF1C-4D91-D41B-9603EDE9D5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Based Indexed Addressing combina due componenti mediante somma, per formare l’EA, ma: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Il primo componente è detto registro base e contiene il </a:t>
            </a:r>
            <a:r>
              <a:rPr lang="it-IT" altLang="it-IT" i="1">
                <a:ea typeface="ＭＳ Ｐゴシック" panose="020B0600070205080204" pitchFamily="34" charset="-128"/>
              </a:rPr>
              <a:t>base address</a:t>
            </a:r>
            <a:r>
              <a:rPr lang="it-IT" altLang="it-IT">
                <a:ea typeface="ＭＳ Ｐゴシック" panose="020B0600070205080204" pitchFamily="34" charset="-128"/>
              </a:rPr>
              <a:t> 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Il secondo componente è detto registro indice e contiene il </a:t>
            </a:r>
            <a:r>
              <a:rPr lang="it-IT" altLang="it-IT" i="1">
                <a:ea typeface="ＭＳ Ｐゴシック" panose="020B0600070205080204" pitchFamily="34" charset="-128"/>
              </a:rPr>
              <a:t>displacement</a:t>
            </a:r>
            <a:endParaRPr lang="it-IT" altLang="it-IT">
              <a:ea typeface="ＭＳ Ｐゴシック" panose="020B0600070205080204" pitchFamily="34" charset="-128"/>
            </a:endParaRPr>
          </a:p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Consente di calcolare a run time sia la posizione iniziale che quella relativa di tabelle ed array</a:t>
            </a:r>
          </a:p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Il processore MC68000 supporta  lo Short Based Indexed ed il Long Based Indexed</a:t>
            </a:r>
            <a:endParaRPr lang="it-IT" altLang="it-IT" sz="24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egnaposto numero diapositiva 5">
            <a:extLst>
              <a:ext uri="{FF2B5EF4-FFF2-40B4-BE49-F238E27FC236}">
                <a16:creationId xmlns:a16="http://schemas.microsoft.com/office/drawing/2014/main" id="{3B07D78C-4DA8-F223-E0E5-72D98E0AB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026E753-72CA-4EC5-93F6-B410B39333A2}" type="slidenum">
              <a:rPr lang="it-IT" altLang="it-IT" sz="1400">
                <a:latin typeface="Times New Roman" panose="02020603050405020304" pitchFamily="18" charset="0"/>
              </a:rPr>
              <a:pPr/>
              <a:t>60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2E6524CB-45C7-C412-7DB5-D035B6B032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Relative Addressing</a:t>
            </a:r>
          </a:p>
        </p:txBody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ADCF2375-48D5-742E-AC3F-E998DF6177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0688" y="1447800"/>
            <a:ext cx="8899525" cy="4645025"/>
          </a:xfrm>
        </p:spPr>
        <p:txBody>
          <a:bodyPr/>
          <a:lstStyle/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“Relative” indica che il calcolo dell’indirizzo è relativo al Program Counter (PC)</a:t>
            </a:r>
          </a:p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Questi modi di indirizzamento calcolano l’indirizzo effettivo come la somma di un displacement fisso specificato nell’istruzione e del valore corrente del PC</a:t>
            </a:r>
          </a:p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Fanno spesso uso di displacement piccoli, di 8 o 16 bit, per specificare indirizzi vicini all’istruzione corrente, anziché ricorrere a indirizzi assoluti di 32 bit</a:t>
            </a:r>
          </a:p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Il 68000 non consente di utilizzare questi modi di indirizzamento per specificare operandi che potrebbero essere modificati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egnaposto numero diapositiva 5">
            <a:extLst>
              <a:ext uri="{FF2B5EF4-FFF2-40B4-BE49-F238E27FC236}">
                <a16:creationId xmlns:a16="http://schemas.microsoft.com/office/drawing/2014/main" id="{C148BCBF-BF98-C804-5125-F20506DF2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7620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208E20C-D64B-4ACF-B8E2-89E267AFDDBC}" type="slidenum">
              <a:rPr lang="it-IT" altLang="it-IT" sz="1400">
                <a:latin typeface="Times New Roman" panose="02020603050405020304" pitchFamily="18" charset="0"/>
              </a:rPr>
              <a:pPr/>
              <a:t>61</a:t>
            </a:fld>
            <a:endParaRPr lang="it-IT" altLang="it-IT" sz="1400">
              <a:latin typeface="Times New Roman" panose="02020603050405020304" pitchFamily="18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F51B75D4-550E-44AE-FA8F-A5826A6B5F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Relative Indexed Addressing</a:t>
            </a:r>
          </a:p>
        </p:txBody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78E571BC-E59A-FB3F-2F20-36268C0766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0688" y="1447800"/>
            <a:ext cx="8899525" cy="2917825"/>
          </a:xfrm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Variante del Relative</a:t>
            </a:r>
          </a:p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Funziona come il Based Indexex, ma il base register è sostituito dal PC</a:t>
            </a:r>
          </a:p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Può essere usato per saltare ad aree di memoria read-only, contenenti dati o istruzioni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oppialc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doppial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it-IT" sz="2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07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it-IT" sz="2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07" charset="0"/>
          </a:defRPr>
        </a:defPPr>
      </a:lstStyle>
    </a:lnDef>
  </a:objectDefaults>
  <a:extraClrSchemeLst>
    <a:extraClrScheme>
      <a:clrScheme name="doppialc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oppial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oppialc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oppialc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oppialc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oppialc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oppialc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36501F82A52044904E2AA776D592FE" ma:contentTypeVersion="7" ma:contentTypeDescription="Create a new document." ma:contentTypeScope="" ma:versionID="ac12382b13ceaf092b54f0e0c65626fa">
  <xsd:schema xmlns:xsd="http://www.w3.org/2001/XMLSchema" xmlns:xs="http://www.w3.org/2001/XMLSchema" xmlns:p="http://schemas.microsoft.com/office/2006/metadata/properties" xmlns:ns2="6e71ac32-155a-4619-8d53-7abf123e0249" targetNamespace="http://schemas.microsoft.com/office/2006/metadata/properties" ma:root="true" ma:fieldsID="e5af121a0c3934511d7015a115c26a1d" ns2:_="">
    <xsd:import namespace="6e71ac32-155a-4619-8d53-7abf123e02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71ac32-155a-4619-8d53-7abf123e024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C3E7584-2F6E-420B-93A6-B45A061EBE6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F1C8033-80D6-40F5-AD0C-ADA2D5109588}"/>
</file>

<file path=customXml/itemProps3.xml><?xml version="1.0" encoding="utf-8"?>
<ds:datastoreItem xmlns:ds="http://schemas.openxmlformats.org/officeDocument/2006/customXml" ds:itemID="{8B375856-CEF1-4177-B38D-2E6E495FC3E8}"/>
</file>

<file path=docProps/app.xml><?xml version="1.0" encoding="utf-8"?>
<Properties xmlns="http://schemas.openxmlformats.org/officeDocument/2006/extended-properties" xmlns:vt="http://schemas.openxmlformats.org/officeDocument/2006/docPropsVTypes">
  <Template>c:\powerpnt\modelli\lucidicl\doppialc.ppt</Template>
  <Pages>39</Pages>
  <Words>4518</Words>
  <Application>Microsoft Office PowerPoint</Application>
  <PresentationFormat>A4 (21x29,7 cm)</PresentationFormat>
  <Paragraphs>810</Paragraphs>
  <Slides>61</Slides>
  <Notes>1</Notes>
  <HiddenSlides>3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61</vt:i4>
      </vt:variant>
    </vt:vector>
  </HeadingPairs>
  <TitlesOfParts>
    <vt:vector size="62" baseType="lpstr">
      <vt:lpstr>doppialc</vt:lpstr>
      <vt:lpstr>Indirizzamento</vt:lpstr>
      <vt:lpstr>Sommario</vt:lpstr>
      <vt:lpstr>Memoria centrale</vt:lpstr>
      <vt:lpstr>Organizzazione della memoria</vt:lpstr>
      <vt:lpstr>Dimensioni degli indirizzi e dei registri</vt:lpstr>
      <vt:lpstr>Dimensioni degli indirizzi e dei registri</vt:lpstr>
      <vt:lpstr>Esercizio</vt:lpstr>
      <vt:lpstr>Soluzione</vt:lpstr>
      <vt:lpstr>Esercizio</vt:lpstr>
      <vt:lpstr>Soluzione</vt:lpstr>
      <vt:lpstr>Esercizio</vt:lpstr>
      <vt:lpstr>Soluzione</vt:lpstr>
      <vt:lpstr>Esercizio</vt:lpstr>
      <vt:lpstr>Soluzione</vt:lpstr>
      <vt:lpstr>Esercizio</vt:lpstr>
      <vt:lpstr>Soluzione</vt:lpstr>
      <vt:lpstr>Modi di indirizzamento</vt:lpstr>
      <vt:lpstr>Modi di Indirizzamento del 68K</vt:lpstr>
      <vt:lpstr>Register Direct Addressing</vt:lpstr>
      <vt:lpstr>Register Direct Addressing – Funzionamento</vt:lpstr>
      <vt:lpstr>Register Direct Addressing – Funzionamento</vt:lpstr>
      <vt:lpstr>Register Direct Addressing – Funzionamento</vt:lpstr>
      <vt:lpstr>Register Direct Addressing - Caratteristiche</vt:lpstr>
      <vt:lpstr>Immediate Addressing</vt:lpstr>
      <vt:lpstr>Immediate Addressing - Funzionamento </vt:lpstr>
      <vt:lpstr>Immediate Addressing - Funzionamento </vt:lpstr>
      <vt:lpstr>Immediate Addressing - Funzionamento </vt:lpstr>
      <vt:lpstr>Immediate Addressing - Funzionamento </vt:lpstr>
      <vt:lpstr>Immediate Addressing - Caratteristiche</vt:lpstr>
      <vt:lpstr>Absolute Addressing (o Direct Addressing)</vt:lpstr>
      <vt:lpstr>Absolute Addressing - Funzionamento</vt:lpstr>
      <vt:lpstr>Absolute Addressing - Funzionamento</vt:lpstr>
      <vt:lpstr>Absolute Addressing - Funzionamento</vt:lpstr>
      <vt:lpstr>Esempio modi fondamentali</vt:lpstr>
      <vt:lpstr>Il Programma Assemblato</vt:lpstr>
      <vt:lpstr>Mappa della Memoria del programma</vt:lpstr>
      <vt:lpstr>Riepilogo modi fondamentali</vt:lpstr>
      <vt:lpstr>Address Register Indirect Addressing</vt:lpstr>
      <vt:lpstr>Address Register Indirect - Funzionamento</vt:lpstr>
      <vt:lpstr>Address Register Indirect - Funzionamento</vt:lpstr>
      <vt:lpstr>Address Register Indirect - Funzionamento</vt:lpstr>
      <vt:lpstr>Address Register Indirect - Funzionamento</vt:lpstr>
      <vt:lpstr>Auto-increment</vt:lpstr>
      <vt:lpstr>Auto-decrement</vt:lpstr>
      <vt:lpstr>Auto-increment - Funzionamento</vt:lpstr>
      <vt:lpstr>Auto-increment - Funzionamento</vt:lpstr>
      <vt:lpstr>Auto-increment - Funzionamento</vt:lpstr>
      <vt:lpstr>Esempio - Codice</vt:lpstr>
      <vt:lpstr>Esempio – Trace del programma</vt:lpstr>
      <vt:lpstr>Esempio – Trace del programma</vt:lpstr>
      <vt:lpstr>Esempio – Trace del programma</vt:lpstr>
      <vt:lpstr>Problema</vt:lpstr>
      <vt:lpstr>Soluzione - Codice</vt:lpstr>
      <vt:lpstr>Soluzione - Esecuzione</vt:lpstr>
      <vt:lpstr>Esempi</vt:lpstr>
      <vt:lpstr>Problema</vt:lpstr>
      <vt:lpstr>Indexed</vt:lpstr>
      <vt:lpstr>Based Addressing</vt:lpstr>
      <vt:lpstr>Based Indexed</vt:lpstr>
      <vt:lpstr>Relative Addressing</vt:lpstr>
      <vt:lpstr>Relative Indexed Addressing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rete atm seminario</dc:title>
  <dc:subject/>
  <dc:creator/>
  <cp:keywords/>
  <dc:description/>
  <cp:lastModifiedBy>Valentina Casola</cp:lastModifiedBy>
  <cp:revision>261</cp:revision>
  <cp:lastPrinted>1999-05-26T13:44:20Z</cp:lastPrinted>
  <dcterms:created xsi:type="dcterms:W3CDTF">2010-04-19T21:57:01Z</dcterms:created>
  <dcterms:modified xsi:type="dcterms:W3CDTF">2026-01-27T14:49:35Z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0x0101005F36501F82A52044904E2AA776D592FE</vt:lpwstr>
  </property>
</Properties>
</file>