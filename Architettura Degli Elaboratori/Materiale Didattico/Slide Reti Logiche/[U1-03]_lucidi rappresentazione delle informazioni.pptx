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4"/>
  </p:sldMasterIdLst>
  <p:notesMasterIdLst>
    <p:notesMasterId r:id="rId43"/>
  </p:notesMasterIdLst>
  <p:handoutMasterIdLst>
    <p:handoutMasterId r:id="rId44"/>
  </p:handoutMasterIdLst>
  <p:sldIdLst>
    <p:sldId id="256" r:id="rId5"/>
    <p:sldId id="257" r:id="rId6"/>
    <p:sldId id="258" r:id="rId7"/>
    <p:sldId id="259" r:id="rId8"/>
    <p:sldId id="260" r:id="rId9"/>
    <p:sldId id="289" r:id="rId10"/>
    <p:sldId id="261" r:id="rId11"/>
    <p:sldId id="262" r:id="rId12"/>
    <p:sldId id="263" r:id="rId13"/>
    <p:sldId id="294" r:id="rId14"/>
    <p:sldId id="295" r:id="rId15"/>
    <p:sldId id="296" r:id="rId16"/>
    <p:sldId id="266" r:id="rId17"/>
    <p:sldId id="297" r:id="rId18"/>
    <p:sldId id="298" r:id="rId19"/>
    <p:sldId id="299" r:id="rId20"/>
    <p:sldId id="268" r:id="rId21"/>
    <p:sldId id="30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301" r:id="rId30"/>
    <p:sldId id="278" r:id="rId31"/>
    <p:sldId id="279" r:id="rId32"/>
    <p:sldId id="302" r:id="rId33"/>
    <p:sldId id="281" r:id="rId34"/>
    <p:sldId id="293" r:id="rId35"/>
    <p:sldId id="303" r:id="rId36"/>
    <p:sldId id="283" r:id="rId37"/>
    <p:sldId id="284" r:id="rId38"/>
    <p:sldId id="285" r:id="rId39"/>
    <p:sldId id="286" r:id="rId40"/>
    <p:sldId id="288" r:id="rId41"/>
    <p:sldId id="287" r:id="rId42"/>
  </p:sldIdLst>
  <p:sldSz cx="9906000" cy="6858000" type="A4"/>
  <p:notesSz cx="6754813" cy="9969500"/>
  <p:defaultTextStyle>
    <a:defPPr>
      <a:defRPr lang="it-IT"/>
    </a:defPPr>
    <a:lvl1pPr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800"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800"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800"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800"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bg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C8D4A85-3BA1-E3D5-CD3A-794054106A65}" v="4" dt="2026-05-18T15:36:08.867"/>
    <p1510:client id="{BC626439-FBF3-3134-506E-45643CC27485}" v="1" dt="2026-05-19T14:59:11.9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791" autoAdjust="0"/>
    <p:restoredTop sz="90964"/>
  </p:normalViewPr>
  <p:slideViewPr>
    <p:cSldViewPr snapToObjects="1">
      <p:cViewPr varScale="1">
        <p:scale>
          <a:sx n="104" d="100"/>
          <a:sy n="104" d="100"/>
        </p:scale>
        <p:origin x="1392" y="200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theme" Target="theme/theme1.xml"/><Relationship Id="rId50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viewProps" Target="view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2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IGI RUSSO" userId="S::luigi.russo76@studenti.unina.it::4c1e53c4-21a4-4163-bb3c-e0aea8ad6927" providerId="AD" clId="Web-{8C8D4A85-3BA1-E3D5-CD3A-794054106A65}"/>
    <pc:docChg chg="modSld">
      <pc:chgData name="LUIGI RUSSO" userId="S::luigi.russo76@studenti.unina.it::4c1e53c4-21a4-4163-bb3c-e0aea8ad6927" providerId="AD" clId="Web-{8C8D4A85-3BA1-E3D5-CD3A-794054106A65}" dt="2026-05-18T15:36:08.867" v="3" actId="20577"/>
      <pc:docMkLst>
        <pc:docMk/>
      </pc:docMkLst>
      <pc:sldChg chg="modSp">
        <pc:chgData name="LUIGI RUSSO" userId="S::luigi.russo76@studenti.unina.it::4c1e53c4-21a4-4163-bb3c-e0aea8ad6927" providerId="AD" clId="Web-{8C8D4A85-3BA1-E3D5-CD3A-794054106A65}" dt="2026-05-18T15:36:08.867" v="3" actId="20577"/>
        <pc:sldMkLst>
          <pc:docMk/>
          <pc:sldMk cId="0" sldId="294"/>
        </pc:sldMkLst>
        <pc:spChg chg="mod">
          <ac:chgData name="LUIGI RUSSO" userId="S::luigi.russo76@studenti.unina.it::4c1e53c4-21a4-4163-bb3c-e0aea8ad6927" providerId="AD" clId="Web-{8C8D4A85-3BA1-E3D5-CD3A-794054106A65}" dt="2026-05-18T15:36:08.867" v="3" actId="20577"/>
          <ac:spMkLst>
            <pc:docMk/>
            <pc:sldMk cId="0" sldId="294"/>
            <ac:spMk id="13314" creationId="{58DB2D8F-E897-B28B-47B6-ED06F5709924}"/>
          </ac:spMkLst>
        </pc:spChg>
      </pc:sldChg>
    </pc:docChg>
  </pc:docChgLst>
  <pc:docChgLst>
    <pc:chgData name="LUIGI RUSSO" userId="S::luigi.russo76@studenti.unina.it::4c1e53c4-21a4-4163-bb3c-e0aea8ad6927" providerId="AD" clId="Web-{BC626439-FBF3-3134-506E-45643CC27485}"/>
    <pc:docChg chg="sldOrd">
      <pc:chgData name="LUIGI RUSSO" userId="S::luigi.russo76@studenti.unina.it::4c1e53c4-21a4-4163-bb3c-e0aea8ad6927" providerId="AD" clId="Web-{BC626439-FBF3-3134-506E-45643CC27485}" dt="2026-05-19T14:59:11.983" v="0"/>
      <pc:docMkLst>
        <pc:docMk/>
      </pc:docMkLst>
      <pc:sldChg chg="ord">
        <pc:chgData name="LUIGI RUSSO" userId="S::luigi.russo76@studenti.unina.it::4c1e53c4-21a4-4163-bb3c-e0aea8ad6927" providerId="AD" clId="Web-{BC626439-FBF3-3134-506E-45643CC27485}" dt="2026-05-19T14:59:11.983" v="0"/>
        <pc:sldMkLst>
          <pc:docMk/>
          <pc:sldMk cId="0" sldId="287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7D0D4D92-6CE2-D63B-A326-7A89117F4E1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-1588" y="11113"/>
            <a:ext cx="2927351" cy="46513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algn="l" eaLnBrk="0" hangingPunct="0">
              <a:defRPr sz="1000" b="0" i="1"/>
            </a:lvl1pPr>
          </a:lstStyle>
          <a:p>
            <a:pPr>
              <a:defRPr/>
            </a:pPr>
            <a:endParaRPr lang="it-IT" altLang="it-IT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C554C025-9EE3-F10A-9EF1-9318249D9996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27463" y="11113"/>
            <a:ext cx="2927350" cy="46513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000" b="0" i="1"/>
            </a:lvl1pPr>
          </a:lstStyle>
          <a:p>
            <a:pPr>
              <a:defRPr/>
            </a:pPr>
            <a:endParaRPr lang="it-IT" altLang="it-IT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5B1E54CA-E3AB-F072-3B69-2EFB62EFC692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-1588" y="9493250"/>
            <a:ext cx="2927351" cy="4651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algn="l" eaLnBrk="0" hangingPunct="0">
              <a:defRPr sz="1000" b="0" i="1"/>
            </a:lvl1pPr>
          </a:lstStyle>
          <a:p>
            <a:pPr>
              <a:defRPr/>
            </a:pPr>
            <a:endParaRPr lang="it-IT" altLang="it-IT"/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F2CD3F4E-D0FC-E594-60BF-CC346921F3DA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27463" y="9493250"/>
            <a:ext cx="2927350" cy="4651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000" b="0" i="1" smtClean="0"/>
            </a:lvl1pPr>
          </a:lstStyle>
          <a:p>
            <a:pPr>
              <a:defRPr/>
            </a:pPr>
            <a:fld id="{4ED2468A-18AE-483A-9C68-DB3C7F4245D5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AA58D9EA-C22D-FDC2-2E90-D77A0D3E125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-1588" y="11113"/>
            <a:ext cx="2927351" cy="46513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algn="l" defTabSz="762000" eaLnBrk="0" hangingPunct="0">
              <a:defRPr sz="1000" b="0" i="1"/>
            </a:lvl1pPr>
          </a:lstStyle>
          <a:p>
            <a:pPr>
              <a:defRPr/>
            </a:pPr>
            <a:endParaRPr lang="it-IT" altLang="it-IT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F26E5083-71A8-5DB3-9EF1-CC2EBEF9D8D4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27463" y="11113"/>
            <a:ext cx="2927350" cy="46513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algn="r" defTabSz="762000" eaLnBrk="0" hangingPunct="0">
              <a:defRPr sz="1000" b="0" i="1"/>
            </a:lvl1pPr>
          </a:lstStyle>
          <a:p>
            <a:pPr>
              <a:defRPr/>
            </a:pPr>
            <a:endParaRPr lang="it-IT" altLang="it-IT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6CD1D760-0327-6CDB-4D33-3196B761767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-1588" y="9493250"/>
            <a:ext cx="2927351" cy="4651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algn="l" defTabSz="762000" eaLnBrk="0" hangingPunct="0">
              <a:defRPr sz="1000" b="0" i="1"/>
            </a:lvl1pPr>
          </a:lstStyle>
          <a:p>
            <a:pPr>
              <a:defRPr/>
            </a:pPr>
            <a:endParaRPr lang="it-IT" altLang="it-IT"/>
          </a:p>
        </p:txBody>
      </p:sp>
      <p:sp>
        <p:nvSpPr>
          <p:cNvPr id="2053" name="Rectangle 5">
            <a:extLst>
              <a:ext uri="{FF2B5EF4-FFF2-40B4-BE49-F238E27FC236}">
                <a16:creationId xmlns:a16="http://schemas.microsoft.com/office/drawing/2014/main" id="{902FB861-0840-8BE6-E7F8-0C801F994E1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27463" y="9493250"/>
            <a:ext cx="2927350" cy="4651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algn="r" defTabSz="762000" eaLnBrk="0" hangingPunct="0">
              <a:defRPr sz="1000" b="0" i="1" smtClean="0"/>
            </a:lvl1pPr>
          </a:lstStyle>
          <a:p>
            <a:pPr>
              <a:defRPr/>
            </a:pPr>
            <a:fld id="{347DB6B3-034C-415E-8574-FB0C66455A46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  <p:sp>
        <p:nvSpPr>
          <p:cNvPr id="2054" name="Rectangle 6">
            <a:extLst>
              <a:ext uri="{FF2B5EF4-FFF2-40B4-BE49-F238E27FC236}">
                <a16:creationId xmlns:a16="http://schemas.microsoft.com/office/drawing/2014/main" id="{FA8C9A76-5A73-7880-D47D-8A8CD4D34C38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0113" y="4738688"/>
            <a:ext cx="4953000" cy="41973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 noProof="0"/>
              <a:t>Fare clic per modificare gli stili delle note dello Schema</a:t>
            </a:r>
          </a:p>
          <a:p>
            <a:pPr lvl="1"/>
            <a:r>
              <a:rPr lang="it-IT" altLang="it-IT" noProof="0"/>
              <a:t>Secondo livello</a:t>
            </a:r>
          </a:p>
          <a:p>
            <a:pPr lvl="2"/>
            <a:r>
              <a:rPr lang="it-IT" altLang="it-IT" noProof="0"/>
              <a:t>Terzo livello</a:t>
            </a:r>
          </a:p>
          <a:p>
            <a:pPr lvl="3"/>
            <a:r>
              <a:rPr lang="it-IT" altLang="it-IT" noProof="0"/>
              <a:t>Quarto Livello</a:t>
            </a:r>
          </a:p>
          <a:p>
            <a:pPr lvl="4"/>
            <a:r>
              <a:rPr lang="it-IT" altLang="it-IT" noProof="0"/>
              <a:t>Quinto livello</a:t>
            </a:r>
          </a:p>
        </p:txBody>
      </p:sp>
      <p:sp>
        <p:nvSpPr>
          <p:cNvPr id="2055" name="Rectangle 7">
            <a:extLst>
              <a:ext uri="{FF2B5EF4-FFF2-40B4-BE49-F238E27FC236}">
                <a16:creationId xmlns:a16="http://schemas.microsoft.com/office/drawing/2014/main" id="{E6D2235B-F221-7170-1BDA-E208C4427A58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50900" y="869950"/>
            <a:ext cx="5051425" cy="3492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5442581-241B-F407-4BCD-9B71E30A2D5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 altLang="it-IT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EACF23C8-5E33-A306-FD24-CA4AA1174D1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 altLang="it-IT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7A64DF60-0E6C-77BC-7A83-882B10D5E2E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6D9053-51C7-4898-8903-63D8EB42803E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662877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6CEF6E4C-61A9-9769-5AD3-1F5DD45189E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 altLang="it-IT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7A78BADA-0AED-654D-6289-24944705EF2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 altLang="it-IT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885B319A-A269-67F0-E5B8-ABCC1E3A3ED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A3756F-1FD4-4190-99C8-A95D3A720314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7301978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76275" y="1709738"/>
            <a:ext cx="8543925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676275" y="4589463"/>
            <a:ext cx="8543925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AEA526A7-D5B7-A204-8C49-1932C81D806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 altLang="it-IT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0CB571CC-BBDF-2D6F-8CA6-562A725C0FE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 altLang="it-IT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34E29B5E-4D03-614D-B3E9-8FF05751CC6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6E09A9-756D-4FF8-B2A1-8D1D1B827FE6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944368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20688" y="1447800"/>
            <a:ext cx="4373562" cy="464820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946650" y="1447800"/>
            <a:ext cx="4373563" cy="464820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7B7FDD0-B37F-69C0-BE76-CD65B3549FA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 altLang="it-IT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8C1BA64B-1BC9-DF80-2ABE-0F41C2157BF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 altLang="it-IT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D5D64ABD-BCBB-DA6E-8F5D-84644C547DE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87C451-F07F-405E-B52C-FB1B6BCEBA28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9388756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82625" y="365125"/>
            <a:ext cx="8543925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682625" y="1681163"/>
            <a:ext cx="419100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82625" y="2505075"/>
            <a:ext cx="4191000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6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63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8C2D1B12-6BE3-4FF1-9562-B7B5EA835D6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 altLang="it-IT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071AEAFF-0E7C-31FD-EFA0-FCE166A4250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 altLang="it-IT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18BBB8A9-0754-8E06-697D-FFF0F16146C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2F0983-EB5A-4E27-B596-D9AA70B74074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1685398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8E514C8-10EC-B2DC-36BA-C2E0176C65C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 altLang="it-IT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D97DBC0-551F-8576-A6B7-86511732454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 altLang="it-IT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A8747AC-F70D-9A86-CEAB-B240A46FDA4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0AD7EF-D795-4ACF-A1DF-EAA9D5F6D71E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9954405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474CD9BB-4352-4812-841E-E64C3CC16F7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 altLang="it-IT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1B44E77C-1679-B3C1-6214-C99932C3F71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 altLang="it-IT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2581900-7DA7-D8C3-9159-4A21CD98D08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1F8A06-EF1F-4FE8-9763-075725AD1507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4583639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82625" y="457200"/>
            <a:ext cx="3194050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211638" y="987425"/>
            <a:ext cx="5014912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682625" y="2057400"/>
            <a:ext cx="319405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CCC701A-2AFF-19DB-4EA5-715F9D2FDB2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 altLang="it-IT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4EE22CB8-D2ED-57FB-867B-7F955F52BE2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 altLang="it-IT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E5670AFE-1BC3-28B0-85C5-D5A4E8528B5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9CB8C1-BC7D-427E-8513-D1EC275F86B1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371880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82625" y="457200"/>
            <a:ext cx="3194050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4211638" y="987425"/>
            <a:ext cx="5014912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it-IT" noProof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682625" y="2057400"/>
            <a:ext cx="319405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E1BBF00-0324-109F-3001-FB523AC5CBF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 altLang="it-IT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D795A7AE-38E1-8046-0C70-776A8215C70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 altLang="it-IT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6A206893-16D2-43FD-40D7-24102404D7B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B715F7-C8A9-499A-86C7-065FF2FC3672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585392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C9A28C08-B7DA-7CB0-7D21-1A2EE6D6D4D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 altLang="it-IT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695274A5-6513-A283-8260-9AE4D689395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 altLang="it-IT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27FC5324-E08A-A9E9-BEAC-790EA342FFB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10BD18-8B0D-415A-9CBF-0E5F8392AF9B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5887721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7096125" y="188913"/>
            <a:ext cx="2224088" cy="5907087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20688" y="188913"/>
            <a:ext cx="6523037" cy="5907087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EF7BCD6-847A-020D-B911-2A9604D4C8F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 altLang="it-IT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206A92B9-FBE8-BF23-EFB3-05ABC3762A5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 altLang="it-IT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2BAD6FF9-74AF-0673-A546-E3708E78A95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AF246F-A35A-4503-8A23-C9F99C106016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7234566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olo, test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15950" y="188913"/>
            <a:ext cx="8674100" cy="642937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sz="half" idx="1"/>
          </p:nvPr>
        </p:nvSpPr>
        <p:spPr>
          <a:xfrm>
            <a:off x="420688" y="1447800"/>
            <a:ext cx="4373562" cy="464820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946650" y="1447800"/>
            <a:ext cx="4373563" cy="464820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29AFF41-D781-640D-CC5D-A02BFE4C722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 altLang="it-IT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14A810F3-EA38-232D-68F2-8B31FE9D14E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 altLang="it-IT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81973C8A-9AB9-7E81-2CC2-3D6CDA61DC0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128590-FFA8-4FF8-B8B3-ABA981B79A6E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4623869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w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9DC3D60E-288F-DA50-AFF7-77DE1C40AD6E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0574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l" defTabSz="762000" eaLnBrk="0" hangingPunct="0">
              <a:defRPr sz="1400" b="0"/>
            </a:lvl1pPr>
          </a:lstStyle>
          <a:p>
            <a:pPr>
              <a:defRPr/>
            </a:pPr>
            <a:endParaRPr lang="it-IT" altLang="it-IT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35D76799-C1C8-D359-CA32-C885BE7755BD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29000" y="6248400"/>
            <a:ext cx="3048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 defTabSz="762000" eaLnBrk="0" hangingPunct="0">
              <a:defRPr sz="1400" b="0"/>
            </a:lvl1pPr>
          </a:lstStyle>
          <a:p>
            <a:pPr>
              <a:defRPr/>
            </a:pPr>
            <a:endParaRPr lang="it-IT" altLang="it-IT"/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B312035F-630D-E43F-F67D-84E40EAF77C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86600" y="6248400"/>
            <a:ext cx="20574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 defTabSz="762000" eaLnBrk="0" hangingPunct="0">
              <a:defRPr sz="1400" b="0" smtClean="0"/>
            </a:lvl1pPr>
          </a:lstStyle>
          <a:p>
            <a:pPr>
              <a:defRPr/>
            </a:pPr>
            <a:fld id="{41DFB4D0-D530-4BB0-BA21-ACC9181B1CBC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  <p:grpSp>
        <p:nvGrpSpPr>
          <p:cNvPr id="1029" name="Group 7">
            <a:extLst>
              <a:ext uri="{FF2B5EF4-FFF2-40B4-BE49-F238E27FC236}">
                <a16:creationId xmlns:a16="http://schemas.microsoft.com/office/drawing/2014/main" id="{1A980B1F-A0ED-A2C7-8EB2-BF9EAABD3798}"/>
              </a:ext>
            </a:extLst>
          </p:cNvPr>
          <p:cNvGrpSpPr>
            <a:grpSpLocks/>
          </p:cNvGrpSpPr>
          <p:nvPr/>
        </p:nvGrpSpPr>
        <p:grpSpPr bwMode="auto">
          <a:xfrm>
            <a:off x="0" y="838200"/>
            <a:ext cx="9893300" cy="304800"/>
            <a:chOff x="0" y="624"/>
            <a:chExt cx="6232" cy="192"/>
          </a:xfrm>
        </p:grpSpPr>
        <p:sp>
          <p:nvSpPr>
            <p:cNvPr id="1034" name="Rectangle 5">
              <a:extLst>
                <a:ext uri="{FF2B5EF4-FFF2-40B4-BE49-F238E27FC236}">
                  <a16:creationId xmlns:a16="http://schemas.microsoft.com/office/drawing/2014/main" id="{E607B89C-D99C-16F8-9159-BBDA06743B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624"/>
              <a:ext cx="6232" cy="93"/>
            </a:xfrm>
            <a:prstGeom prst="rect">
              <a:avLst/>
            </a:prstGeom>
            <a:solidFill>
              <a:srgbClr val="E5405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1035" name="Rectangle 6">
              <a:extLst>
                <a:ext uri="{FF2B5EF4-FFF2-40B4-BE49-F238E27FC236}">
                  <a16:creationId xmlns:a16="http://schemas.microsoft.com/office/drawing/2014/main" id="{7CEA70B0-C625-1D80-8703-3EB562B0E9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768"/>
              <a:ext cx="6232" cy="48"/>
            </a:xfrm>
            <a:prstGeom prst="rect">
              <a:avLst/>
            </a:prstGeom>
            <a:solidFill>
              <a:srgbClr val="E5405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</p:grpSp>
      <p:sp>
        <p:nvSpPr>
          <p:cNvPr id="1030" name="Rectangle 8">
            <a:extLst>
              <a:ext uri="{FF2B5EF4-FFF2-40B4-BE49-F238E27FC236}">
                <a16:creationId xmlns:a16="http://schemas.microsoft.com/office/drawing/2014/main" id="{958F9E2C-772A-8264-D179-88FECAFAFF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15950" y="188913"/>
            <a:ext cx="8674100" cy="642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Fare clic per modificare il titolo dello schema</a:t>
            </a:r>
          </a:p>
        </p:txBody>
      </p:sp>
      <p:sp>
        <p:nvSpPr>
          <p:cNvPr id="1031" name="Rectangle 9">
            <a:extLst>
              <a:ext uri="{FF2B5EF4-FFF2-40B4-BE49-F238E27FC236}">
                <a16:creationId xmlns:a16="http://schemas.microsoft.com/office/drawing/2014/main" id="{9A847EE7-6D46-3730-1C7C-4824383401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20688" y="1447800"/>
            <a:ext cx="8899525" cy="464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Fare clic per modificare gli stili del testo dello schema</a:t>
            </a:r>
          </a:p>
          <a:p>
            <a:pPr lvl="1"/>
            <a:r>
              <a:rPr lang="it-IT" altLang="it-IT"/>
              <a:t>Secondo livello</a:t>
            </a:r>
          </a:p>
          <a:p>
            <a:pPr lvl="2"/>
            <a:r>
              <a:rPr lang="it-IT" altLang="it-IT"/>
              <a:t>Terzo livello</a:t>
            </a:r>
          </a:p>
          <a:p>
            <a:pPr lvl="3"/>
            <a:r>
              <a:rPr lang="it-IT" altLang="it-IT"/>
              <a:t> Quarto Livello</a:t>
            </a:r>
          </a:p>
          <a:p>
            <a:pPr lvl="4"/>
            <a:r>
              <a:rPr lang="it-IT" altLang="it-IT"/>
              <a:t> Quinto livello</a:t>
            </a:r>
          </a:p>
        </p:txBody>
      </p:sp>
      <p:sp>
        <p:nvSpPr>
          <p:cNvPr id="1032" name="Rectangle 10">
            <a:extLst>
              <a:ext uri="{FF2B5EF4-FFF2-40B4-BE49-F238E27FC236}">
                <a16:creationId xmlns:a16="http://schemas.microsoft.com/office/drawing/2014/main" id="{4BA4CAC6-E566-5F89-EA8A-15BEDF2D99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8750" y="6423025"/>
            <a:ext cx="509905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>
            <a:spAutoFit/>
          </a:bodyPr>
          <a:lstStyle>
            <a:lvl1pPr algn="ctr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t-IT" altLang="it-IT" sz="1200" b="0" i="1">
                <a:latin typeface="Century Gothic" panose="020B0502020202020204" pitchFamily="34" charset="0"/>
              </a:rPr>
              <a:t>DIS - Dipartimento di Informatica e Sistemistica- Università di Napoli</a:t>
            </a:r>
          </a:p>
        </p:txBody>
      </p:sp>
      <p:pic>
        <p:nvPicPr>
          <p:cNvPr id="1033" name="Picture 13">
            <a:extLst>
              <a:ext uri="{FF2B5EF4-FFF2-40B4-BE49-F238E27FC236}">
                <a16:creationId xmlns:a16="http://schemas.microsoft.com/office/drawing/2014/main" id="{8A544C4D-A0D3-E678-4BED-39D86C71359A}"/>
              </a:ext>
            </a:extLst>
          </p:cNvPr>
          <p:cNvPicPr>
            <a:picLocks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0213" y="6181725"/>
            <a:ext cx="596900" cy="596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panose="020B060402020202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panose="020B0604020202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panose="020B0604020202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panose="020B0604020202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panose="020B0604020202020204" pitchFamily="34" charset="0"/>
        </a:defRPr>
      </a:lvl9pPr>
    </p:titleStyle>
    <p:bodyStyle>
      <a:lvl1pPr marL="342900" indent="-342900" algn="just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anose="05000000000000000000" pitchFamily="2" charset="2"/>
        <a:buChar char="Ø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just" rtl="0" eaLnBrk="0" fontAlgn="base" hangingPunct="0">
        <a:spcBef>
          <a:spcPct val="20000"/>
        </a:spcBef>
        <a:spcAft>
          <a:spcPct val="0"/>
        </a:spcAft>
        <a:buClr>
          <a:srgbClr val="E5405D"/>
        </a:buClr>
        <a:buChar char="»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just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¨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just" rtl="0" eaLnBrk="0" fontAlgn="base" hangingPunct="0">
        <a:spcBef>
          <a:spcPct val="20000"/>
        </a:spcBef>
        <a:spcAft>
          <a:spcPct val="0"/>
        </a:spcAft>
        <a:buClr>
          <a:srgbClr val="E5405D"/>
        </a:buClr>
        <a:buSzPct val="64000"/>
        <a:buFont typeface="Monotype Sorts" charset="2"/>
        <a:buChar char="l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just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Rectangle 2">
            <a:extLst>
              <a:ext uri="{FF2B5EF4-FFF2-40B4-BE49-F238E27FC236}">
                <a16:creationId xmlns:a16="http://schemas.microsoft.com/office/drawing/2014/main" id="{07F42CDF-A0B1-743D-62BF-EA78EDAF396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066800" y="1524000"/>
            <a:ext cx="7772400" cy="1143000"/>
          </a:xfrm>
          <a:noFill/>
        </p:spPr>
        <p:txBody>
          <a:bodyPr anchor="ctr"/>
          <a:lstStyle/>
          <a:p>
            <a:r>
              <a:rPr lang="it-IT" altLang="it-IT" sz="4000">
                <a:solidFill>
                  <a:srgbClr val="FC0128"/>
                </a:solidFill>
              </a:rPr>
              <a:t>La Rappresentazione dei Numeri</a:t>
            </a:r>
          </a:p>
        </p:txBody>
      </p:sp>
      <p:sp>
        <p:nvSpPr>
          <p:cNvPr id="4098" name="Rectangle 3">
            <a:extLst>
              <a:ext uri="{FF2B5EF4-FFF2-40B4-BE49-F238E27FC236}">
                <a16:creationId xmlns:a16="http://schemas.microsoft.com/office/drawing/2014/main" id="{638C330C-FF88-4A08-DE79-2BF7F2456D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3276600"/>
            <a:ext cx="8534400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just"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buClrTx/>
              <a:buSzTx/>
              <a:buFontTx/>
              <a:buNone/>
            </a:pPr>
            <a:r>
              <a:rPr lang="it-IT" altLang="it-IT" sz="3200" b="0"/>
              <a:t>Corso di Calcolatori Elettronici I</a:t>
            </a:r>
          </a:p>
          <a:p>
            <a:pPr algn="ctr">
              <a:buClrTx/>
              <a:buSzTx/>
              <a:buFontTx/>
              <a:buNone/>
            </a:pPr>
            <a:endParaRPr lang="it-IT" altLang="it-IT" sz="3200" b="0"/>
          </a:p>
          <a:p>
            <a:pPr algn="ctr">
              <a:buClrTx/>
              <a:buSzTx/>
              <a:buFontTx/>
              <a:buNone/>
            </a:pPr>
            <a:r>
              <a:rPr lang="it-IT" altLang="it-IT" sz="2400" b="0"/>
              <a:t>Dipartimento di Informatica e Sistemistica</a:t>
            </a:r>
          </a:p>
          <a:p>
            <a:pPr algn="ctr">
              <a:buClrTx/>
              <a:buSzTx/>
              <a:buFontTx/>
              <a:buNone/>
            </a:pPr>
            <a:r>
              <a:rPr lang="it-IT" altLang="it-IT" sz="2400" b="0"/>
              <a:t>Università degli Studi di Napoli “Federico II”</a:t>
            </a:r>
            <a:endParaRPr lang="it-IT" altLang="it-IT" sz="1800" b="0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2">
            <a:extLst>
              <a:ext uri="{FF2B5EF4-FFF2-40B4-BE49-F238E27FC236}">
                <a16:creationId xmlns:a16="http://schemas.microsoft.com/office/drawing/2014/main" id="{DA3F3C7A-EA8D-EFCF-336C-57943D3629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/>
              <a:t>Sommario</a:t>
            </a:r>
            <a:endParaRPr lang="en-GB" altLang="it-IT"/>
          </a:p>
        </p:txBody>
      </p:sp>
      <p:sp>
        <p:nvSpPr>
          <p:cNvPr id="5122" name="Rectangle 3">
            <a:extLst>
              <a:ext uri="{FF2B5EF4-FFF2-40B4-BE49-F238E27FC236}">
                <a16:creationId xmlns:a16="http://schemas.microsoft.com/office/drawing/2014/main" id="{8D790C5B-DCFD-D3FF-3F57-42F5A3772F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20688" y="1447800"/>
            <a:ext cx="9180512" cy="4648200"/>
          </a:xfrm>
        </p:spPr>
        <p:txBody>
          <a:bodyPr/>
          <a:lstStyle/>
          <a:p>
            <a:pPr eaLnBrk="1" hangingPunct="1"/>
            <a:r>
              <a:rPr lang="it-IT" altLang="it-IT"/>
              <a:t>Rappresentazione dei numeri (richiami)</a:t>
            </a:r>
          </a:p>
          <a:p>
            <a:pPr lvl="1" eaLnBrk="1" hangingPunct="1"/>
            <a:r>
              <a:rPr lang="it-IT" altLang="it-IT"/>
              <a:t>Overflow e underflow</a:t>
            </a:r>
          </a:p>
          <a:p>
            <a:pPr lvl="1" eaLnBrk="1" hangingPunct="1"/>
            <a:r>
              <a:rPr lang="it-IT" altLang="it-IT"/>
              <a:t>La rappresentazione di numeri naturali</a:t>
            </a:r>
          </a:p>
          <a:p>
            <a:pPr lvl="1" eaLnBrk="1" hangingPunct="1"/>
            <a:r>
              <a:rPr lang="it-IT" altLang="it-IT"/>
              <a:t>La rappresentazione di numeri relativi</a:t>
            </a:r>
          </a:p>
          <a:p>
            <a:pPr lvl="1" eaLnBrk="1" hangingPunct="1"/>
            <a:r>
              <a:rPr lang="it-IT" altLang="it-IT"/>
              <a:t>Rappresentazione di numeri reali</a:t>
            </a:r>
          </a:p>
          <a:p>
            <a:pPr eaLnBrk="1" hangingPunct="1"/>
            <a:r>
              <a:rPr lang="en-GB" altLang="it-IT"/>
              <a:t>Operazioni aritmetiche</a:t>
            </a:r>
          </a:p>
          <a:p>
            <a:pPr lvl="1" eaLnBrk="1" hangingPunct="1"/>
            <a:r>
              <a:rPr lang="it-IT" altLang="it-IT"/>
              <a:t>Segno e modulo</a:t>
            </a:r>
          </a:p>
          <a:p>
            <a:pPr lvl="1" eaLnBrk="1" hangingPunct="1"/>
            <a:r>
              <a:rPr lang="it-IT" altLang="it-IT"/>
              <a:t>Complementi alla base</a:t>
            </a:r>
          </a:p>
          <a:p>
            <a:pPr lvl="1" eaLnBrk="1" hangingPunct="1"/>
            <a:r>
              <a:rPr lang="it-IT" altLang="it-IT"/>
              <a:t>Complementi diminuiti</a:t>
            </a:r>
          </a:p>
          <a:p>
            <a:pPr lvl="1" eaLnBrk="1" hangingPunct="1"/>
            <a:r>
              <a:rPr lang="it-IT" altLang="it-IT"/>
              <a:t>Eccesso-k</a:t>
            </a:r>
            <a:endParaRPr lang="en-GB" altLang="it-IT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2">
            <a:extLst>
              <a:ext uri="{FF2B5EF4-FFF2-40B4-BE49-F238E27FC236}">
                <a16:creationId xmlns:a16="http://schemas.microsoft.com/office/drawing/2014/main" id="{56585B31-5828-C732-06B4-3B1812F148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/>
              <a:t>Introduzione</a:t>
            </a:r>
            <a:endParaRPr lang="en-GB" altLang="it-IT"/>
          </a:p>
        </p:txBody>
      </p:sp>
      <p:sp>
        <p:nvSpPr>
          <p:cNvPr id="6146" name="Rectangle 3">
            <a:extLst>
              <a:ext uri="{FF2B5EF4-FFF2-40B4-BE49-F238E27FC236}">
                <a16:creationId xmlns:a16="http://schemas.microsoft.com/office/drawing/2014/main" id="{0D32A0F2-0F5C-4225-740A-9775CF3E29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15925" y="1196975"/>
            <a:ext cx="8929688" cy="3311525"/>
          </a:xfrm>
        </p:spPr>
        <p:txBody>
          <a:bodyPr/>
          <a:lstStyle/>
          <a:p>
            <a:pPr eaLnBrk="1" hangingPunct="1"/>
            <a:r>
              <a:rPr lang="it-IT" altLang="it-IT" sz="2400"/>
              <a:t>Pressoché tutte le applicazioni, per realizzare le loro elaborazioni, utilizzano calcoli numerici, indici, contatori, etc…</a:t>
            </a:r>
          </a:p>
          <a:p>
            <a:pPr eaLnBrk="1" hangingPunct="1"/>
            <a:r>
              <a:rPr lang="it-IT" altLang="it-IT" sz="2400"/>
              <a:t>Così come per qualsiasi altro tipo di dato, anche i numeri, per essere immagazzinati nella memoria di un calcolatore, devono essere tradotti in sequenze di bit</a:t>
            </a:r>
          </a:p>
          <a:p>
            <a:pPr eaLnBrk="1" hangingPunct="1"/>
            <a:r>
              <a:rPr lang="it-IT" altLang="it-IT" sz="2400"/>
              <a:t>Questa operazione è a tutti gli effetti analoga ad una generica operazione di codifica</a:t>
            </a:r>
          </a:p>
          <a:p>
            <a:pPr eaLnBrk="1" hangingPunct="1"/>
            <a:r>
              <a:rPr lang="it-IT" altLang="it-IT" sz="2400"/>
              <a:t>In particolare, l’alfabeto sorgente è costituito da numeri</a:t>
            </a:r>
          </a:p>
        </p:txBody>
      </p:sp>
      <p:sp>
        <p:nvSpPr>
          <p:cNvPr id="6147" name="Text Box 4">
            <a:extLst>
              <a:ext uri="{FF2B5EF4-FFF2-40B4-BE49-F238E27FC236}">
                <a16:creationId xmlns:a16="http://schemas.microsoft.com/office/drawing/2014/main" id="{4AF29430-B7B4-CC74-6349-E870DDDC2A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86413" y="4635500"/>
            <a:ext cx="1219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it-IT" altLang="it-IT" sz="2400" b="0">
                <a:latin typeface="Arial" panose="020B0604020202020204" pitchFamily="34" charset="0"/>
              </a:rPr>
              <a:t>numero</a:t>
            </a:r>
            <a:endParaRPr lang="en-GB" altLang="it-IT" sz="2400" b="0">
              <a:latin typeface="Arial" panose="020B0604020202020204" pitchFamily="34" charset="0"/>
            </a:endParaRPr>
          </a:p>
        </p:txBody>
      </p:sp>
      <p:sp>
        <p:nvSpPr>
          <p:cNvPr id="6148" name="Text Box 5">
            <a:extLst>
              <a:ext uri="{FF2B5EF4-FFF2-40B4-BE49-F238E27FC236}">
                <a16:creationId xmlns:a16="http://schemas.microsoft.com/office/drawing/2014/main" id="{5AFC0810-8B7D-72F3-7B9A-F0CB3E00FE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2100" y="4559300"/>
            <a:ext cx="25431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it-IT" altLang="it-IT" sz="2400" b="0">
                <a:latin typeface="Arial" panose="020B0604020202020204" pitchFamily="34" charset="0"/>
              </a:rPr>
              <a:t>rappresentazione</a:t>
            </a:r>
            <a:endParaRPr lang="en-GB" altLang="it-IT" sz="2400" b="0">
              <a:latin typeface="Arial" panose="020B0604020202020204" pitchFamily="34" charset="0"/>
            </a:endParaRPr>
          </a:p>
        </p:txBody>
      </p:sp>
      <p:sp>
        <p:nvSpPr>
          <p:cNvPr id="6149" name="Line 6">
            <a:extLst>
              <a:ext uri="{FF2B5EF4-FFF2-40B4-BE49-F238E27FC236}">
                <a16:creationId xmlns:a16="http://schemas.microsoft.com/office/drawing/2014/main" id="{B0EC5340-0CEB-099F-5E01-70F518106C66}"/>
              </a:ext>
            </a:extLst>
          </p:cNvPr>
          <p:cNvSpPr>
            <a:spLocks noChangeShapeType="1"/>
          </p:cNvSpPr>
          <p:nvPr/>
        </p:nvSpPr>
        <p:spPr bwMode="auto">
          <a:xfrm>
            <a:off x="4235450" y="5018088"/>
            <a:ext cx="57785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6150" name="Line 7">
            <a:extLst>
              <a:ext uri="{FF2B5EF4-FFF2-40B4-BE49-F238E27FC236}">
                <a16:creationId xmlns:a16="http://schemas.microsoft.com/office/drawing/2014/main" id="{C8B92353-429C-0F94-FF11-368B9B49D4B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57863" y="5018088"/>
            <a:ext cx="3302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6151" name="Text Box 8">
            <a:extLst>
              <a:ext uri="{FF2B5EF4-FFF2-40B4-BE49-F238E27FC236}">
                <a16:creationId xmlns:a16="http://schemas.microsoft.com/office/drawing/2014/main" id="{75871032-C3ED-52FA-E086-5414059606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513" y="5397500"/>
            <a:ext cx="12747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it-IT" altLang="it-IT" sz="2400" b="0">
                <a:latin typeface="Arial" panose="020B0604020202020204" pitchFamily="34" charset="0"/>
              </a:rPr>
              <a:t>X = r (x)</a:t>
            </a:r>
            <a:endParaRPr lang="en-GB" altLang="it-IT" sz="2400" b="0">
              <a:latin typeface="Arial" panose="020B0604020202020204" pitchFamily="34" charset="0"/>
            </a:endParaRPr>
          </a:p>
        </p:txBody>
      </p:sp>
      <p:sp>
        <p:nvSpPr>
          <p:cNvPr id="6152" name="Line 9">
            <a:extLst>
              <a:ext uri="{FF2B5EF4-FFF2-40B4-BE49-F238E27FC236}">
                <a16:creationId xmlns:a16="http://schemas.microsoft.com/office/drawing/2014/main" id="{92636E73-3BBB-251F-7F71-AB2203206EA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648200" y="5780088"/>
            <a:ext cx="6604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6153" name="Text Box 10">
            <a:extLst>
              <a:ext uri="{FF2B5EF4-FFF2-40B4-BE49-F238E27FC236}">
                <a16:creationId xmlns:a16="http://schemas.microsoft.com/office/drawing/2014/main" id="{1F8A1F05-81D6-B39D-4401-A42F12FEEE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74863" y="5778500"/>
            <a:ext cx="23733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it-IT" altLang="it-IT" sz="2400" b="0">
                <a:latin typeface="Arial" panose="020B0604020202020204" pitchFamily="34" charset="0"/>
              </a:rPr>
              <a:t>legge di codifica</a:t>
            </a:r>
            <a:endParaRPr lang="en-GB" altLang="it-IT" sz="2400" b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2">
            <a:extLst>
              <a:ext uri="{FF2B5EF4-FFF2-40B4-BE49-F238E27FC236}">
                <a16:creationId xmlns:a16="http://schemas.microsoft.com/office/drawing/2014/main" id="{2218541C-47CA-F25E-A249-DE1E16C4E4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/>
              <a:t>Strategie di codifica</a:t>
            </a:r>
            <a:endParaRPr lang="en-GB" altLang="it-IT"/>
          </a:p>
        </p:txBody>
      </p:sp>
      <p:sp>
        <p:nvSpPr>
          <p:cNvPr id="7170" name="Rectangle 3">
            <a:extLst>
              <a:ext uri="{FF2B5EF4-FFF2-40B4-BE49-F238E27FC236}">
                <a16:creationId xmlns:a16="http://schemas.microsoft.com/office/drawing/2014/main" id="{25587FE7-7E9E-7890-24CE-D0C7747201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20688" y="1219200"/>
            <a:ext cx="8869362" cy="5162550"/>
          </a:xfrm>
        </p:spPr>
        <p:txBody>
          <a:bodyPr/>
          <a:lstStyle/>
          <a:p>
            <a:pPr eaLnBrk="1" hangingPunct="1"/>
            <a:r>
              <a:rPr lang="it-IT" altLang="it-IT" sz="2400"/>
              <a:t>Tipicamente, si adotta una codifica a lunghezza fissa</a:t>
            </a:r>
          </a:p>
          <a:p>
            <a:pPr eaLnBrk="1" hangingPunct="1"/>
            <a:r>
              <a:rPr lang="it-IT" altLang="it-IT" sz="2400"/>
              <a:t>Il numero di bit varia a seconda della cardinalità dell’insieme dei numeri che si desidera rappresentare</a:t>
            </a:r>
          </a:p>
          <a:p>
            <a:pPr lvl="1" eaLnBrk="1" hangingPunct="1"/>
            <a:r>
              <a:rPr lang="it-IT" altLang="it-IT" sz="2000"/>
              <a:t>Nella pratica, resta comunque pari ad un multiplo di 8 bit (tipicamente 8, 16, 32, 64 bit).</a:t>
            </a:r>
          </a:p>
          <a:p>
            <a:pPr eaLnBrk="1" hangingPunct="1"/>
            <a:r>
              <a:rPr lang="it-IT" altLang="it-IT" sz="2400"/>
              <a:t>L’associazione di un numero alla parola codice viene</a:t>
            </a:r>
          </a:p>
          <a:p>
            <a:pPr lvl="1" eaLnBrk="1" hangingPunct="1"/>
            <a:r>
              <a:rPr lang="it-IT" altLang="it-IT" sz="2000"/>
              <a:t>Realizzata differentemente a seconda della tipologia di numeri che si desidera rappresentare</a:t>
            </a:r>
          </a:p>
          <a:p>
            <a:pPr lvl="2" eaLnBrk="1" hangingPunct="1"/>
            <a:r>
              <a:rPr lang="it-IT" altLang="it-IT" sz="2000"/>
              <a:t>(naturali, relativi, razionali, etc…).</a:t>
            </a:r>
          </a:p>
          <a:p>
            <a:pPr lvl="1" eaLnBrk="1" hangingPunct="1"/>
            <a:r>
              <a:rPr lang="it-IT" altLang="it-IT" sz="2000"/>
              <a:t>Influenzata da aspetti che mirano a preservare la facile manipolazione delle rappresentazioni da parte del calcolatore </a:t>
            </a:r>
          </a:p>
          <a:p>
            <a:pPr lvl="2" eaLnBrk="1" hangingPunct="1"/>
            <a:r>
              <a:rPr lang="it-IT" altLang="it-IT" sz="2000"/>
              <a:t>(operazioni aritmetiche, confronti logici, etc…).</a:t>
            </a:r>
            <a:endParaRPr lang="en-GB" altLang="it-IT" sz="2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2">
            <a:extLst>
              <a:ext uri="{FF2B5EF4-FFF2-40B4-BE49-F238E27FC236}">
                <a16:creationId xmlns:a16="http://schemas.microsoft.com/office/drawing/2014/main" id="{CEA517B0-0F85-EEAA-36F4-3DD3B84EB4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/>
              <a:t>Overflow - Definizione</a:t>
            </a:r>
            <a:endParaRPr lang="en-GB" altLang="it-IT"/>
          </a:p>
        </p:txBody>
      </p:sp>
      <p:sp>
        <p:nvSpPr>
          <p:cNvPr id="8194" name="Rectangle 3">
            <a:extLst>
              <a:ext uri="{FF2B5EF4-FFF2-40B4-BE49-F238E27FC236}">
                <a16:creationId xmlns:a16="http://schemas.microsoft.com/office/drawing/2014/main" id="{20A53281-46E0-9C37-89F5-F8BA50D57F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20688" y="1219200"/>
            <a:ext cx="8899525" cy="5181600"/>
          </a:xfrm>
        </p:spPr>
        <p:txBody>
          <a:bodyPr/>
          <a:lstStyle/>
          <a:p>
            <a:pPr eaLnBrk="1" hangingPunct="1"/>
            <a:r>
              <a:rPr lang="it-IT" altLang="it-IT" sz="2400"/>
              <a:t>Sia la dimensione che il numero dei registri in un calcolatore sono finiti</a:t>
            </a:r>
          </a:p>
          <a:p>
            <a:pPr eaLnBrk="1" hangingPunct="1"/>
            <a:r>
              <a:rPr lang="it-IT" altLang="it-IT" sz="2400"/>
              <a:t>La cardinalità degli insiemi numerici che si rappresentano è, invece, infinita</a:t>
            </a:r>
          </a:p>
          <a:p>
            <a:pPr eaLnBrk="1" hangingPunct="1"/>
            <a:r>
              <a:rPr lang="it-IT" altLang="it-IT" sz="2400"/>
              <a:t>È inevitabile dunque che in un insieme di cardinalità infinita solo un sotto-insieme finito di elementi possa essere rappresentato</a:t>
            </a:r>
          </a:p>
          <a:p>
            <a:pPr eaLnBrk="1" hangingPunct="1"/>
            <a:r>
              <a:rPr lang="it-IT" altLang="it-IT" sz="2400"/>
              <a:t>Gli operatori aritmetici, pur essendo talvolta chiusi rispetto all’intero insieme, quasi certamente non lo sono rispetto al sotto-insieme di cardinalità finita</a:t>
            </a:r>
          </a:p>
          <a:p>
            <a:pPr eaLnBrk="1" hangingPunct="1"/>
            <a:r>
              <a:rPr lang="it-IT" altLang="it-IT" sz="2400"/>
              <a:t>Quando accade che, per effetto di operazioni, si tenta di rappresentare un numero non contenuto nel sotto-insieme si parla di </a:t>
            </a:r>
            <a:r>
              <a:rPr lang="it-IT" altLang="it-IT" sz="2400" i="1"/>
              <a:t>overflow</a:t>
            </a:r>
            <a:endParaRPr lang="it-IT" altLang="it-IT" sz="2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Rectangle 2">
            <a:extLst>
              <a:ext uri="{FF2B5EF4-FFF2-40B4-BE49-F238E27FC236}">
                <a16:creationId xmlns:a16="http://schemas.microsoft.com/office/drawing/2014/main" id="{62A496B5-F296-B63F-D105-7C01945783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/>
              <a:t>Overflow - Esempio</a:t>
            </a:r>
            <a:endParaRPr lang="en-GB" altLang="it-IT"/>
          </a:p>
        </p:txBody>
      </p:sp>
      <p:sp>
        <p:nvSpPr>
          <p:cNvPr id="9218" name="Rectangle 3">
            <a:extLst>
              <a:ext uri="{FF2B5EF4-FFF2-40B4-BE49-F238E27FC236}">
                <a16:creationId xmlns:a16="http://schemas.microsoft.com/office/drawing/2014/main" id="{504E7E0F-402A-78DA-BE20-6C0B9AB344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20688" y="1219200"/>
            <a:ext cx="8899525" cy="4648200"/>
          </a:xfrm>
        </p:spPr>
        <p:txBody>
          <a:bodyPr/>
          <a:lstStyle/>
          <a:p>
            <a:pPr eaLnBrk="1" hangingPunct="1"/>
            <a:r>
              <a:rPr lang="it-IT" altLang="it-IT"/>
              <a:t>Si assuma di rappresentare i numeri naturali mediante un’operazione di codifica sul sottoinsieme da 0 a 127 (7 bit)</a:t>
            </a:r>
          </a:p>
          <a:p>
            <a:pPr lvl="1" eaLnBrk="1" hangingPunct="1"/>
            <a:r>
              <a:rPr lang="it-IT" altLang="it-IT"/>
              <a:t>La somma 100 +100 genera un overflow, essendo  il numero 200 non rappresentabile nel sottoinsieme</a:t>
            </a:r>
          </a:p>
          <a:p>
            <a:pPr lvl="1" eaLnBrk="1" hangingPunct="1"/>
            <a:r>
              <a:rPr lang="it-IT" altLang="it-IT"/>
              <a:t>La differenza 5 – 10 genera un overflow essendo  il numero  –5 non rappresentabile nel sottoinsieme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2">
            <a:extLst>
              <a:ext uri="{FF2B5EF4-FFF2-40B4-BE49-F238E27FC236}">
                <a16:creationId xmlns:a16="http://schemas.microsoft.com/office/drawing/2014/main" id="{D817DECE-E0B2-9F52-8908-30519EED93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/>
              <a:t>Errore di approssimazione</a:t>
            </a:r>
            <a:endParaRPr lang="en-GB" altLang="it-IT"/>
          </a:p>
        </p:txBody>
      </p:sp>
      <p:sp>
        <p:nvSpPr>
          <p:cNvPr id="10242" name="Rectangle 3">
            <a:extLst>
              <a:ext uri="{FF2B5EF4-FFF2-40B4-BE49-F238E27FC236}">
                <a16:creationId xmlns:a16="http://schemas.microsoft.com/office/drawing/2014/main" id="{57113997-4FBB-C883-ED87-06C646197A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20688" y="1295400"/>
            <a:ext cx="8899525" cy="5105400"/>
          </a:xfrm>
        </p:spPr>
        <p:txBody>
          <a:bodyPr/>
          <a:lstStyle/>
          <a:p>
            <a:pPr eaLnBrk="1" hangingPunct="1"/>
            <a:r>
              <a:rPr lang="it-IT" altLang="it-IT" sz="2400"/>
              <a:t>Nel caso della rappresentazione di numeri razionali sussiste il problema dell’overflow, ma subentra anche il problema dovuto alla caratteristica dei numeri razionali di costituire un insieme </a:t>
            </a:r>
            <a:r>
              <a:rPr lang="it-IT" altLang="it-IT" sz="2400" i="1"/>
              <a:t>denso</a:t>
            </a:r>
            <a:r>
              <a:rPr lang="it-IT" altLang="it-IT" sz="2400"/>
              <a:t>.</a:t>
            </a:r>
          </a:p>
          <a:p>
            <a:pPr eaLnBrk="1" hangingPunct="1"/>
            <a:r>
              <a:rPr lang="it-IT" altLang="it-IT" sz="2400"/>
              <a:t>A causa di ciò, anche se si sceglie per la rappresentazione un intervallo limitato, non tutti i numeri all’interno di esso potranno essere rappresentati.</a:t>
            </a:r>
          </a:p>
          <a:p>
            <a:pPr eaLnBrk="1" hangingPunct="1"/>
            <a:r>
              <a:rPr lang="it-IT" altLang="it-IT" sz="2400"/>
              <a:t>Quando si tenta di rappresentare un numero per cui non è stata prevista una rappresentazione, spesso si associa a tale numero la rappresentazione del numero “più vicino”, cioè quello che lo </a:t>
            </a:r>
            <a:r>
              <a:rPr lang="it-IT" altLang="it-IT" sz="2400" i="1"/>
              <a:t>approssima</a:t>
            </a:r>
            <a:r>
              <a:rPr lang="it-IT" altLang="it-IT" sz="2400"/>
              <a:t> meglio</a:t>
            </a:r>
          </a:p>
          <a:p>
            <a:pPr eaLnBrk="1" hangingPunct="1"/>
            <a:r>
              <a:rPr lang="it-IT" altLang="it-IT" sz="2400"/>
              <a:t>In questo caso si parla di </a:t>
            </a:r>
            <a:r>
              <a:rPr lang="it-IT" altLang="it-IT" sz="2400" i="1"/>
              <a:t>errore di approssimazione</a:t>
            </a:r>
            <a:endParaRPr lang="it-IT" altLang="it-IT" sz="2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Rectangle 2">
            <a:extLst>
              <a:ext uri="{FF2B5EF4-FFF2-40B4-BE49-F238E27FC236}">
                <a16:creationId xmlns:a16="http://schemas.microsoft.com/office/drawing/2014/main" id="{9E133177-FE61-37FE-5AD6-0AA1D33065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/>
              <a:t>Underflow</a:t>
            </a:r>
            <a:endParaRPr lang="en-GB" altLang="it-IT"/>
          </a:p>
        </p:txBody>
      </p:sp>
      <p:sp>
        <p:nvSpPr>
          <p:cNvPr id="11266" name="Rectangle 3">
            <a:extLst>
              <a:ext uri="{FF2B5EF4-FFF2-40B4-BE49-F238E27FC236}">
                <a16:creationId xmlns:a16="http://schemas.microsoft.com/office/drawing/2014/main" id="{673C91B8-D9F8-4CE4-D592-B93069640F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20688" y="1143000"/>
            <a:ext cx="9180512" cy="5334000"/>
          </a:xfrm>
        </p:spPr>
        <p:txBody>
          <a:bodyPr/>
          <a:lstStyle/>
          <a:p>
            <a:pPr eaLnBrk="1" hangingPunct="1"/>
            <a:r>
              <a:rPr lang="it-IT" altLang="it-IT" sz="2400"/>
              <a:t>Quando in un’elaborazione si tenta di rappresentare un numero “troppo vicino” allo zero, l’errore di approssimazione può far sì che la rappresentazione scelta sia quella dello zero</a:t>
            </a:r>
          </a:p>
          <a:p>
            <a:pPr eaLnBrk="1" hangingPunct="1"/>
            <a:r>
              <a:rPr lang="it-IT" altLang="it-IT" sz="2400"/>
              <a:t>Questa evenienza può condizionare pesantemente i calcoli successivi nel seguito dell’elaborazione a causa delle peculiarità della cifra </a:t>
            </a:r>
            <a:r>
              <a:rPr lang="it-IT" altLang="it-IT" sz="2400" i="1"/>
              <a:t>zero</a:t>
            </a:r>
            <a:r>
              <a:rPr lang="it-IT" altLang="it-IT" sz="2400"/>
              <a:t> (che, ad esempio, non può essere utilizzata al denominatore di una frazione)</a:t>
            </a:r>
          </a:p>
          <a:p>
            <a:pPr eaLnBrk="1" hangingPunct="1"/>
            <a:r>
              <a:rPr lang="it-IT" altLang="it-IT" sz="2400"/>
              <a:t>Si parla allora di </a:t>
            </a:r>
            <a:r>
              <a:rPr lang="it-IT" altLang="it-IT" sz="2400" i="1"/>
              <a:t>underflow</a:t>
            </a:r>
            <a:r>
              <a:rPr lang="it-IT" altLang="it-IT" sz="2400"/>
              <a:t>.</a:t>
            </a:r>
          </a:p>
          <a:p>
            <a:pPr eaLnBrk="1" hangingPunct="1"/>
            <a:r>
              <a:rPr lang="it-IT" altLang="it-IT" sz="2400"/>
              <a:t>Questa problematica è molto sentita nell’ambito del calcolo numerico, specialmente nelle applicazioni che, per loro natura, tendono a lavorare con quantità molto piccole (p.es. applicazioni di calcolo differenziale)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2">
            <a:extLst>
              <a:ext uri="{FF2B5EF4-FFF2-40B4-BE49-F238E27FC236}">
                <a16:creationId xmlns:a16="http://schemas.microsoft.com/office/drawing/2014/main" id="{80C65C69-39E9-3EE5-21D4-63652B8BE6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/>
              <a:t>Rappresentazione dei numeri naturali</a:t>
            </a:r>
            <a:endParaRPr lang="en-GB" altLang="it-IT"/>
          </a:p>
        </p:txBody>
      </p:sp>
      <p:sp>
        <p:nvSpPr>
          <p:cNvPr id="12290" name="Rectangle 3">
            <a:extLst>
              <a:ext uri="{FF2B5EF4-FFF2-40B4-BE49-F238E27FC236}">
                <a16:creationId xmlns:a16="http://schemas.microsoft.com/office/drawing/2014/main" id="{B827D85D-D3D9-78AB-BF9F-036694F7D05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295400"/>
            <a:ext cx="9137650" cy="5105400"/>
          </a:xfrm>
          <a:extLst>
            <a:ext uri="{91240B29-F687-4F45-9708-019B960494DF}">
              <a14:hiddenLine xmlns:a14="http://schemas.microsoft.com/office/drawing/2010/main" w="9525" cap="flat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it-IT" altLang="it-IT" sz="2400"/>
              <a:t>Si voglia rappresentare attraverso sequenze di bit di lunghezza costante pari ad n l’insieme dei numeri naturali</a:t>
            </a:r>
          </a:p>
          <a:p>
            <a:pPr lvl="1" eaLnBrk="1" hangingPunct="1"/>
            <a:r>
              <a:rPr lang="it-IT" altLang="it-IT" sz="2100"/>
              <a:t>Il numero degli elementi rappresentabili è pari a 2</a:t>
            </a:r>
            <a:r>
              <a:rPr lang="it-IT" altLang="it-IT" sz="2100" baseline="30000"/>
              <a:t>n</a:t>
            </a:r>
            <a:endParaRPr lang="it-IT" altLang="it-IT" sz="2100"/>
          </a:p>
          <a:p>
            <a:pPr lvl="1" eaLnBrk="1" hangingPunct="1"/>
            <a:r>
              <a:rPr lang="it-IT" altLang="it-IT" sz="2100"/>
              <a:t>Tipicamente, volendo rappresentare sempre anche lo zero, si rappresentano i numeri compresi tra 0 e 2</a:t>
            </a:r>
            <a:r>
              <a:rPr lang="it-IT" altLang="it-IT" sz="2100" baseline="30000"/>
              <a:t>n</a:t>
            </a:r>
            <a:r>
              <a:rPr lang="it-IT" altLang="it-IT" sz="2100"/>
              <a:t> – 1</a:t>
            </a:r>
          </a:p>
          <a:p>
            <a:pPr eaLnBrk="1" hangingPunct="1"/>
            <a:r>
              <a:rPr lang="it-IT" altLang="it-IT" sz="2400"/>
              <a:t>L’associazione tra ogni numero e la propria rappresentazione avviene, nei casi pratici, nella maniera più intuitiva</a:t>
            </a:r>
          </a:p>
          <a:p>
            <a:pPr lvl="1" eaLnBrk="1" hangingPunct="1"/>
            <a:r>
              <a:rPr lang="it-IT" altLang="it-IT" sz="2100"/>
              <a:t>Ad ogni numero viene associata la stringa di bit che lo rappresenta in un sistema di numerazione binario posizionale.</a:t>
            </a:r>
          </a:p>
          <a:p>
            <a:pPr eaLnBrk="1" hangingPunct="1"/>
            <a:r>
              <a:rPr lang="it-IT" altLang="it-IT" sz="2400"/>
              <a:t>L’overflow avviene quando si tenta di rappresentare un numero esterno all’intervallo [0; 2</a:t>
            </a:r>
            <a:r>
              <a:rPr lang="it-IT" altLang="it-IT" sz="2400" baseline="30000"/>
              <a:t>n</a:t>
            </a:r>
            <a:r>
              <a:rPr lang="it-IT" altLang="it-IT" sz="2400"/>
              <a:t> –1]</a:t>
            </a:r>
            <a:endParaRPr lang="en-GB" altLang="it-IT" sz="2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2">
            <a:extLst>
              <a:ext uri="{FF2B5EF4-FFF2-40B4-BE49-F238E27FC236}">
                <a16:creationId xmlns:a16="http://schemas.microsoft.com/office/drawing/2014/main" id="{A6B3D6B0-6809-0CC8-CD3D-4548F25AB2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/>
              <a:t>Esempio</a:t>
            </a:r>
          </a:p>
        </p:txBody>
      </p:sp>
      <p:sp>
        <p:nvSpPr>
          <p:cNvPr id="13314" name="Rectangle 3">
            <a:extLst>
              <a:ext uri="{FF2B5EF4-FFF2-40B4-BE49-F238E27FC236}">
                <a16:creationId xmlns:a16="http://schemas.microsoft.com/office/drawing/2014/main" id="{58DB2D8F-E897-B28B-47B6-ED06F5709924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20688" y="1447800"/>
            <a:ext cx="5395912" cy="4115014"/>
          </a:xfrm>
        </p:spPr>
        <p:txBody>
          <a:bodyPr/>
          <a:lstStyle/>
          <a:p>
            <a:pPr eaLnBrk="1" hangingPunct="1"/>
            <a:r>
              <a:rPr lang="it-IT" altLang="it-IT"/>
              <a:t>Rappresentazione dei numeri naturali su 4 bit</a:t>
            </a:r>
          </a:p>
          <a:p>
            <a:pPr lvl="1" eaLnBrk="1" hangingPunct="1"/>
            <a:r>
              <a:rPr lang="it-IT" altLang="it-IT"/>
              <a:t>n=4</a:t>
            </a:r>
          </a:p>
          <a:p>
            <a:pPr lvl="1" eaLnBrk="1" hangingPunct="1"/>
            <a:r>
              <a:rPr lang="it-IT" altLang="it-IT"/>
              <a:t>Intervallo: [0;15]</a:t>
            </a:r>
          </a:p>
          <a:p>
            <a:pPr lvl="1" eaLnBrk="1" hangingPunct="1"/>
            <a:r>
              <a:rPr lang="it-IT" altLang="it-IT"/>
              <a:t>Codifica: X=x</a:t>
            </a:r>
            <a:endParaRPr lang="it-IT" altLang="it-IT" sz="2000"/>
          </a:p>
        </p:txBody>
      </p:sp>
      <p:graphicFrame>
        <p:nvGraphicFramePr>
          <p:cNvPr id="384087" name="Group 87">
            <a:extLst>
              <a:ext uri="{FF2B5EF4-FFF2-40B4-BE49-F238E27FC236}">
                <a16:creationId xmlns:a16="http://schemas.microsoft.com/office/drawing/2014/main" id="{3F23CE76-5A5A-5EB0-7C60-255140DD97AF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105525" y="1341438"/>
          <a:ext cx="2376488" cy="4922843"/>
        </p:xfrm>
        <a:graphic>
          <a:graphicData uri="http://schemas.openxmlformats.org/drawingml/2006/table">
            <a:tbl>
              <a:tblPr/>
              <a:tblGrid>
                <a:gridCol w="7921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2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21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9579"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x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X</a:t>
                      </a:r>
                      <a:r>
                        <a:rPr kumimoji="0" lang="it-IT" altLang="it-IT" sz="13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X</a:t>
                      </a:r>
                      <a:r>
                        <a:rPr kumimoji="0" lang="it-IT" altLang="it-IT" sz="13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  <a:endParaRPr kumimoji="0" lang="en-GB" altLang="it-IT" sz="13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9579"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1111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9579"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14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1110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14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9579"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13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1101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13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9579"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12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1100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12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9579"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1011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9579"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1010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9579"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1001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9579"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1000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9579"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0111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9579"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0110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9579"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0101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9579"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0100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9579"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0011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9579"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0010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89579"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0001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89579"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0000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2">
            <a:extLst>
              <a:ext uri="{FF2B5EF4-FFF2-40B4-BE49-F238E27FC236}">
                <a16:creationId xmlns:a16="http://schemas.microsoft.com/office/drawing/2014/main" id="{162A9460-3A1F-8B7C-5F04-53A799DE4F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/>
              <a:t>Operazioni sui numeri naturali su 4 bit</a:t>
            </a:r>
          </a:p>
        </p:txBody>
      </p:sp>
      <p:sp>
        <p:nvSpPr>
          <p:cNvPr id="14338" name="Rectangle 3">
            <a:extLst>
              <a:ext uri="{FF2B5EF4-FFF2-40B4-BE49-F238E27FC236}">
                <a16:creationId xmlns:a16="http://schemas.microsoft.com/office/drawing/2014/main" id="{74D05A6C-EC71-F409-6F7B-FFE7385556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it-IT" altLang="it-IT"/>
              <a:t>Per realizzare le operazioni, il calcolatore può lavorare direttamente sulle rappresentazioni</a:t>
            </a:r>
          </a:p>
          <a:p>
            <a:pPr eaLnBrk="1" hangingPunct="1">
              <a:lnSpc>
                <a:spcPct val="90000"/>
              </a:lnSpc>
            </a:pPr>
            <a:endParaRPr lang="it-IT" altLang="it-IT"/>
          </a:p>
          <a:p>
            <a:pPr eaLnBrk="1" hangingPunct="1">
              <a:lnSpc>
                <a:spcPct val="90000"/>
              </a:lnSpc>
            </a:pPr>
            <a:r>
              <a:rPr lang="it-IT" altLang="it-IT"/>
              <a:t>La correttezza dei calcoli è garantita dalle leggi dell’aritmetica binaria posizionale (analoghe a quelle della classica aritmetica decimale)</a:t>
            </a:r>
          </a:p>
          <a:p>
            <a:pPr eaLnBrk="1" hangingPunct="1">
              <a:lnSpc>
                <a:spcPct val="90000"/>
              </a:lnSpc>
            </a:pPr>
            <a:endParaRPr lang="it-IT" altLang="it-IT"/>
          </a:p>
          <a:p>
            <a:pPr eaLnBrk="1" hangingPunct="1">
              <a:lnSpc>
                <a:spcPct val="90000"/>
              </a:lnSpc>
            </a:pPr>
            <a:r>
              <a:rPr lang="it-IT" altLang="it-IT"/>
              <a:t>L’overflow può essere facilmente rilevato attraverso la valutazione del riporto (o del prestito) sull’ultima cifra.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>
            <a:extLst>
              <a:ext uri="{FF2B5EF4-FFF2-40B4-BE49-F238E27FC236}">
                <a16:creationId xmlns:a16="http://schemas.microsoft.com/office/drawing/2014/main" id="{C45A4515-86E3-E669-CC61-AB727192F2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/>
              <a:t>Esempi</a:t>
            </a:r>
          </a:p>
        </p:txBody>
      </p:sp>
      <p:grpSp>
        <p:nvGrpSpPr>
          <p:cNvPr id="15362" name="Group 4">
            <a:extLst>
              <a:ext uri="{FF2B5EF4-FFF2-40B4-BE49-F238E27FC236}">
                <a16:creationId xmlns:a16="http://schemas.microsoft.com/office/drawing/2014/main" id="{FC7C030C-8F68-0F10-2E1B-3757B5194DFB}"/>
              </a:ext>
            </a:extLst>
          </p:cNvPr>
          <p:cNvGrpSpPr>
            <a:grpSpLocks/>
          </p:cNvGrpSpPr>
          <p:nvPr/>
        </p:nvGrpSpPr>
        <p:grpSpPr bwMode="auto">
          <a:xfrm>
            <a:off x="288925" y="1635125"/>
            <a:ext cx="9312275" cy="4079875"/>
            <a:chOff x="182" y="1030"/>
            <a:chExt cx="5866" cy="2570"/>
          </a:xfrm>
        </p:grpSpPr>
        <p:sp>
          <p:nvSpPr>
            <p:cNvPr id="15363" name="Text Box 5">
              <a:extLst>
                <a:ext uri="{FF2B5EF4-FFF2-40B4-BE49-F238E27FC236}">
                  <a16:creationId xmlns:a16="http://schemas.microsoft.com/office/drawing/2014/main" id="{A78D311D-6FE8-49E3-C9A7-3425B9B8FD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" y="1031"/>
              <a:ext cx="716" cy="11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r" eaLnBrk="1" hangingPunct="1"/>
              <a:r>
                <a:rPr lang="it-IT" altLang="it-IT">
                  <a:latin typeface="Arial" panose="020B0604020202020204" pitchFamily="34" charset="0"/>
                </a:rPr>
                <a:t>6+</a:t>
              </a:r>
            </a:p>
            <a:p>
              <a:pPr algn="r" eaLnBrk="1" hangingPunct="1"/>
              <a:r>
                <a:rPr lang="it-IT" altLang="it-IT">
                  <a:latin typeface="Arial" panose="020B0604020202020204" pitchFamily="34" charset="0"/>
                </a:rPr>
                <a:t>8=</a:t>
              </a:r>
            </a:p>
            <a:p>
              <a:pPr algn="r" eaLnBrk="1" hangingPunct="1"/>
              <a:r>
                <a:rPr lang="it-IT" altLang="it-IT">
                  <a:latin typeface="Arial" panose="020B0604020202020204" pitchFamily="34" charset="0"/>
                </a:rPr>
                <a:t>--------</a:t>
              </a:r>
            </a:p>
            <a:p>
              <a:pPr algn="r" eaLnBrk="1" hangingPunct="1"/>
              <a:r>
                <a:rPr lang="it-IT" altLang="it-IT">
                  <a:latin typeface="Arial" panose="020B0604020202020204" pitchFamily="34" charset="0"/>
                </a:rPr>
                <a:t>14  </a:t>
              </a:r>
              <a:endParaRPr lang="en-GB" altLang="it-IT">
                <a:latin typeface="Arial" panose="020B0604020202020204" pitchFamily="34" charset="0"/>
              </a:endParaRPr>
            </a:p>
          </p:txBody>
        </p:sp>
        <p:sp>
          <p:nvSpPr>
            <p:cNvPr id="15364" name="Line 6">
              <a:extLst>
                <a:ext uri="{FF2B5EF4-FFF2-40B4-BE49-F238E27FC236}">
                  <a16:creationId xmlns:a16="http://schemas.microsoft.com/office/drawing/2014/main" id="{1A3E8577-AE07-2D8E-06C1-75186F7435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31" y="1607"/>
              <a:ext cx="73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15365" name="Text Box 7">
              <a:extLst>
                <a:ext uri="{FF2B5EF4-FFF2-40B4-BE49-F238E27FC236}">
                  <a16:creationId xmlns:a16="http://schemas.microsoft.com/office/drawing/2014/main" id="{830828D3-274F-74DF-0CE9-90C13D399C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73" y="1030"/>
              <a:ext cx="747" cy="11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r" eaLnBrk="1" hangingPunct="1"/>
              <a:r>
                <a:rPr lang="it-IT" altLang="it-IT">
                  <a:latin typeface="Arial" panose="020B0604020202020204" pitchFamily="34" charset="0"/>
                </a:rPr>
                <a:t>0110+</a:t>
              </a:r>
            </a:p>
            <a:p>
              <a:pPr algn="r" eaLnBrk="1" hangingPunct="1"/>
              <a:r>
                <a:rPr lang="it-IT" altLang="it-IT">
                  <a:latin typeface="Arial" panose="020B0604020202020204" pitchFamily="34" charset="0"/>
                </a:rPr>
                <a:t>1000=</a:t>
              </a:r>
            </a:p>
            <a:p>
              <a:pPr algn="r" eaLnBrk="1" hangingPunct="1"/>
              <a:r>
                <a:rPr lang="it-IT" altLang="it-IT">
                  <a:latin typeface="Arial" panose="020B0604020202020204" pitchFamily="34" charset="0"/>
                </a:rPr>
                <a:t>--------</a:t>
              </a:r>
            </a:p>
            <a:p>
              <a:pPr algn="r" eaLnBrk="1" hangingPunct="1"/>
              <a:r>
                <a:rPr lang="it-IT" altLang="it-IT">
                  <a:latin typeface="Arial" panose="020B0604020202020204" pitchFamily="34" charset="0"/>
                </a:rPr>
                <a:t>1110  </a:t>
              </a:r>
              <a:endParaRPr lang="en-GB" altLang="it-IT">
                <a:latin typeface="Arial" panose="020B0604020202020204" pitchFamily="34" charset="0"/>
              </a:endParaRPr>
            </a:p>
          </p:txBody>
        </p:sp>
        <p:sp>
          <p:nvSpPr>
            <p:cNvPr id="15366" name="Text Box 8">
              <a:extLst>
                <a:ext uri="{FF2B5EF4-FFF2-40B4-BE49-F238E27FC236}">
                  <a16:creationId xmlns:a16="http://schemas.microsoft.com/office/drawing/2014/main" id="{E3CA8842-7086-7A4D-B14F-741B49E480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" y="2303"/>
              <a:ext cx="716" cy="11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r" eaLnBrk="1" hangingPunct="1"/>
              <a:r>
                <a:rPr lang="it-IT" altLang="it-IT">
                  <a:latin typeface="Arial" panose="020B0604020202020204" pitchFamily="34" charset="0"/>
                </a:rPr>
                <a:t>14+</a:t>
              </a:r>
            </a:p>
            <a:p>
              <a:pPr algn="r" eaLnBrk="1" hangingPunct="1"/>
              <a:r>
                <a:rPr lang="it-IT" altLang="it-IT">
                  <a:latin typeface="Arial" panose="020B0604020202020204" pitchFamily="34" charset="0"/>
                </a:rPr>
                <a:t>3=</a:t>
              </a:r>
            </a:p>
            <a:p>
              <a:pPr algn="r" eaLnBrk="1" hangingPunct="1"/>
              <a:r>
                <a:rPr lang="it-IT" altLang="it-IT">
                  <a:latin typeface="Arial" panose="020B0604020202020204" pitchFamily="34" charset="0"/>
                </a:rPr>
                <a:t>--------</a:t>
              </a:r>
            </a:p>
            <a:p>
              <a:pPr algn="r" eaLnBrk="1" hangingPunct="1"/>
              <a:r>
                <a:rPr lang="it-IT" altLang="it-IT">
                  <a:latin typeface="Arial" panose="020B0604020202020204" pitchFamily="34" charset="0"/>
                </a:rPr>
                <a:t>17  </a:t>
              </a:r>
              <a:endParaRPr lang="en-GB" altLang="it-IT">
                <a:latin typeface="Arial" panose="020B0604020202020204" pitchFamily="34" charset="0"/>
              </a:endParaRPr>
            </a:p>
          </p:txBody>
        </p:sp>
        <p:sp>
          <p:nvSpPr>
            <p:cNvPr id="15367" name="Line 9">
              <a:extLst>
                <a:ext uri="{FF2B5EF4-FFF2-40B4-BE49-F238E27FC236}">
                  <a16:creationId xmlns:a16="http://schemas.microsoft.com/office/drawing/2014/main" id="{669A16C5-EF29-ECC6-4C66-F12CB29B2D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31" y="2879"/>
              <a:ext cx="73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15368" name="Text Box 10">
              <a:extLst>
                <a:ext uri="{FF2B5EF4-FFF2-40B4-BE49-F238E27FC236}">
                  <a16:creationId xmlns:a16="http://schemas.microsoft.com/office/drawing/2014/main" id="{8238276B-327D-E2EE-8CBF-170ACC224D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39" y="2302"/>
              <a:ext cx="865" cy="11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r" eaLnBrk="1" hangingPunct="1"/>
              <a:r>
                <a:rPr lang="it-IT" altLang="it-IT">
                  <a:latin typeface="Arial" panose="020B0604020202020204" pitchFamily="34" charset="0"/>
                </a:rPr>
                <a:t>1110+</a:t>
              </a:r>
            </a:p>
            <a:p>
              <a:pPr algn="r" eaLnBrk="1" hangingPunct="1"/>
              <a:r>
                <a:rPr lang="it-IT" altLang="it-IT">
                  <a:latin typeface="Arial" panose="020B0604020202020204" pitchFamily="34" charset="0"/>
                </a:rPr>
                <a:t>0011=</a:t>
              </a:r>
            </a:p>
            <a:p>
              <a:pPr algn="r" eaLnBrk="1" hangingPunct="1"/>
              <a:r>
                <a:rPr lang="it-IT" altLang="it-IT">
                  <a:latin typeface="Arial" panose="020B0604020202020204" pitchFamily="34" charset="0"/>
                </a:rPr>
                <a:t>--------</a:t>
              </a:r>
            </a:p>
            <a:p>
              <a:pPr algn="r" eaLnBrk="1" hangingPunct="1"/>
              <a:r>
                <a:rPr lang="it-IT" altLang="it-IT">
                  <a:latin typeface="Arial" panose="020B0604020202020204" pitchFamily="34" charset="0"/>
                </a:rPr>
                <a:t>10001  </a:t>
              </a:r>
              <a:endParaRPr lang="en-GB" altLang="it-IT">
                <a:latin typeface="Arial" panose="020B0604020202020204" pitchFamily="34" charset="0"/>
              </a:endParaRPr>
            </a:p>
          </p:txBody>
        </p:sp>
        <p:sp>
          <p:nvSpPr>
            <p:cNvPr id="15369" name="Oval 11">
              <a:extLst>
                <a:ext uri="{FF2B5EF4-FFF2-40B4-BE49-F238E27FC236}">
                  <a16:creationId xmlns:a16="http://schemas.microsoft.com/office/drawing/2014/main" id="{7638FA73-7C1D-1629-3A89-E97031D9CA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57" y="3201"/>
              <a:ext cx="171" cy="212"/>
            </a:xfrm>
            <a:prstGeom prst="ellipse">
              <a:avLst/>
            </a:prstGeom>
            <a:noFill/>
            <a:ln w="28575">
              <a:solidFill>
                <a:srgbClr val="FF33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15370" name="Line 12">
              <a:extLst>
                <a:ext uri="{FF2B5EF4-FFF2-40B4-BE49-F238E27FC236}">
                  <a16:creationId xmlns:a16="http://schemas.microsoft.com/office/drawing/2014/main" id="{5303852D-0197-8BDF-41F0-9BECABDFF3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88" y="3088"/>
              <a:ext cx="113" cy="1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15371" name="Text Box 13">
              <a:extLst>
                <a:ext uri="{FF2B5EF4-FFF2-40B4-BE49-F238E27FC236}">
                  <a16:creationId xmlns:a16="http://schemas.microsoft.com/office/drawing/2014/main" id="{B0CFB766-3F5A-1DE7-089C-BF52DDF8CF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6" y="2937"/>
              <a:ext cx="70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it-IT" altLang="it-IT" sz="1800">
                  <a:latin typeface="Arial" panose="020B0604020202020204" pitchFamily="34" charset="0"/>
                </a:rPr>
                <a:t>overflow</a:t>
              </a:r>
              <a:endParaRPr lang="en-GB" altLang="it-IT" sz="1800">
                <a:latin typeface="Arial" panose="020B0604020202020204" pitchFamily="34" charset="0"/>
              </a:endParaRPr>
            </a:p>
          </p:txBody>
        </p:sp>
        <p:sp>
          <p:nvSpPr>
            <p:cNvPr id="15372" name="Text Box 14">
              <a:extLst>
                <a:ext uri="{FF2B5EF4-FFF2-40B4-BE49-F238E27FC236}">
                  <a16:creationId xmlns:a16="http://schemas.microsoft.com/office/drawing/2014/main" id="{1116D362-E9CD-B7C0-04BD-0817E6605B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56" y="1049"/>
              <a:ext cx="716" cy="11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r" eaLnBrk="1" hangingPunct="1"/>
              <a:r>
                <a:rPr lang="it-IT" altLang="it-IT">
                  <a:latin typeface="Arial" panose="020B0604020202020204" pitchFamily="34" charset="0"/>
                </a:rPr>
                <a:t>11 –</a:t>
              </a:r>
            </a:p>
            <a:p>
              <a:pPr algn="r" eaLnBrk="1" hangingPunct="1"/>
              <a:r>
                <a:rPr lang="it-IT" altLang="it-IT">
                  <a:latin typeface="Arial" panose="020B0604020202020204" pitchFamily="34" charset="0"/>
                </a:rPr>
                <a:t>5=</a:t>
              </a:r>
            </a:p>
            <a:p>
              <a:pPr algn="r" eaLnBrk="1" hangingPunct="1"/>
              <a:r>
                <a:rPr lang="it-IT" altLang="it-IT">
                  <a:latin typeface="Arial" panose="020B0604020202020204" pitchFamily="34" charset="0"/>
                </a:rPr>
                <a:t>--------</a:t>
              </a:r>
            </a:p>
            <a:p>
              <a:pPr algn="r" eaLnBrk="1" hangingPunct="1"/>
              <a:r>
                <a:rPr lang="it-IT" altLang="it-IT">
                  <a:latin typeface="Arial" panose="020B0604020202020204" pitchFamily="34" charset="0"/>
                </a:rPr>
                <a:t>6  </a:t>
              </a:r>
              <a:endParaRPr lang="en-GB" altLang="it-IT">
                <a:latin typeface="Arial" panose="020B0604020202020204" pitchFamily="34" charset="0"/>
              </a:endParaRPr>
            </a:p>
          </p:txBody>
        </p:sp>
        <p:sp>
          <p:nvSpPr>
            <p:cNvPr id="15373" name="Line 15">
              <a:extLst>
                <a:ext uri="{FF2B5EF4-FFF2-40B4-BE49-F238E27FC236}">
                  <a16:creationId xmlns:a16="http://schemas.microsoft.com/office/drawing/2014/main" id="{CEB9C558-016B-8713-9289-B1CBFE6B90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05" y="1621"/>
              <a:ext cx="73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15374" name="Text Box 16">
              <a:extLst>
                <a:ext uri="{FF2B5EF4-FFF2-40B4-BE49-F238E27FC236}">
                  <a16:creationId xmlns:a16="http://schemas.microsoft.com/office/drawing/2014/main" id="{7CEFF4CD-97EA-7A75-8266-0415DE89C1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61" y="1074"/>
              <a:ext cx="747" cy="11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r" eaLnBrk="1" hangingPunct="1"/>
              <a:r>
                <a:rPr lang="it-IT" altLang="it-IT">
                  <a:latin typeface="Arial" panose="020B0604020202020204" pitchFamily="34" charset="0"/>
                </a:rPr>
                <a:t>1011–</a:t>
              </a:r>
            </a:p>
            <a:p>
              <a:pPr algn="r" eaLnBrk="1" hangingPunct="1"/>
              <a:r>
                <a:rPr lang="it-IT" altLang="it-IT">
                  <a:latin typeface="Arial" panose="020B0604020202020204" pitchFamily="34" charset="0"/>
                </a:rPr>
                <a:t>0101=</a:t>
              </a:r>
            </a:p>
            <a:p>
              <a:pPr algn="r" eaLnBrk="1" hangingPunct="1"/>
              <a:r>
                <a:rPr lang="it-IT" altLang="it-IT">
                  <a:latin typeface="Arial" panose="020B0604020202020204" pitchFamily="34" charset="0"/>
                </a:rPr>
                <a:t>--------</a:t>
              </a:r>
            </a:p>
            <a:p>
              <a:pPr algn="r" eaLnBrk="1" hangingPunct="1"/>
              <a:r>
                <a:rPr lang="it-IT" altLang="it-IT">
                  <a:latin typeface="Arial" panose="020B0604020202020204" pitchFamily="34" charset="0"/>
                </a:rPr>
                <a:t>0110  </a:t>
              </a:r>
              <a:endParaRPr lang="en-GB" altLang="it-IT">
                <a:latin typeface="Arial" panose="020B0604020202020204" pitchFamily="34" charset="0"/>
              </a:endParaRPr>
            </a:p>
          </p:txBody>
        </p:sp>
        <p:sp>
          <p:nvSpPr>
            <p:cNvPr id="15375" name="Text Box 17">
              <a:extLst>
                <a:ext uri="{FF2B5EF4-FFF2-40B4-BE49-F238E27FC236}">
                  <a16:creationId xmlns:a16="http://schemas.microsoft.com/office/drawing/2014/main" id="{CDBA079D-2B4E-7EA8-B563-39D13804EE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24" y="1043"/>
              <a:ext cx="1091" cy="24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r" eaLnBrk="1" hangingPunct="1"/>
              <a:r>
                <a:rPr lang="it-IT" altLang="it-IT">
                  <a:latin typeface="Arial" panose="020B0604020202020204" pitchFamily="34" charset="0"/>
                </a:rPr>
                <a:t>0101</a:t>
              </a:r>
              <a:r>
                <a:rPr lang="it-IT" altLang="it-IT">
                  <a:latin typeface="Arial" panose="020B0604020202020204" pitchFamily="34" charset="0"/>
                  <a:sym typeface="Symbol" panose="05050102010706020507" pitchFamily="18" charset="2"/>
                </a:rPr>
                <a:t></a:t>
              </a:r>
              <a:endParaRPr lang="it-IT" altLang="it-IT">
                <a:latin typeface="Arial" panose="020B0604020202020204" pitchFamily="34" charset="0"/>
              </a:endParaRPr>
            </a:p>
            <a:p>
              <a:pPr algn="r" eaLnBrk="1" hangingPunct="1"/>
              <a:r>
                <a:rPr lang="it-IT" altLang="it-IT">
                  <a:latin typeface="Arial" panose="020B0604020202020204" pitchFamily="34" charset="0"/>
                </a:rPr>
                <a:t>0011=</a:t>
              </a:r>
            </a:p>
            <a:p>
              <a:pPr algn="r" eaLnBrk="1" hangingPunct="1"/>
              <a:r>
                <a:rPr lang="it-IT" altLang="it-IT">
                  <a:latin typeface="Arial" panose="020B0604020202020204" pitchFamily="34" charset="0"/>
                </a:rPr>
                <a:t>-------------</a:t>
              </a:r>
            </a:p>
            <a:p>
              <a:pPr algn="r" eaLnBrk="1" hangingPunct="1"/>
              <a:r>
                <a:rPr lang="it-IT" altLang="it-IT">
                  <a:latin typeface="Arial" panose="020B0604020202020204" pitchFamily="34" charset="0"/>
                </a:rPr>
                <a:t>0101</a:t>
              </a:r>
            </a:p>
            <a:p>
              <a:pPr algn="r" eaLnBrk="1" hangingPunct="1"/>
              <a:r>
                <a:rPr lang="it-IT" altLang="it-IT">
                  <a:latin typeface="Arial" panose="020B0604020202020204" pitchFamily="34" charset="0"/>
                </a:rPr>
                <a:t>0101=</a:t>
              </a:r>
            </a:p>
            <a:p>
              <a:pPr algn="r" eaLnBrk="1" hangingPunct="1"/>
              <a:r>
                <a:rPr lang="it-IT" altLang="it-IT">
                  <a:latin typeface="Arial" panose="020B0604020202020204" pitchFamily="34" charset="0"/>
                </a:rPr>
                <a:t>0000==</a:t>
              </a:r>
            </a:p>
            <a:p>
              <a:pPr algn="r" eaLnBrk="1" hangingPunct="1"/>
              <a:r>
                <a:rPr lang="it-IT" altLang="it-IT">
                  <a:latin typeface="Arial" panose="020B0604020202020204" pitchFamily="34" charset="0"/>
                </a:rPr>
                <a:t>0000===</a:t>
              </a:r>
            </a:p>
            <a:p>
              <a:pPr algn="r" eaLnBrk="1" hangingPunct="1"/>
              <a:r>
                <a:rPr lang="it-IT" altLang="it-IT">
                  <a:latin typeface="Arial" panose="020B0604020202020204" pitchFamily="34" charset="0"/>
                </a:rPr>
                <a:t>-------------</a:t>
              </a:r>
            </a:p>
            <a:p>
              <a:pPr algn="r" eaLnBrk="1" hangingPunct="1"/>
              <a:r>
                <a:rPr lang="it-IT" altLang="it-IT">
                  <a:latin typeface="Arial" panose="020B0604020202020204" pitchFamily="34" charset="0"/>
                </a:rPr>
                <a:t>0001111</a:t>
              </a:r>
              <a:endParaRPr lang="en-GB" altLang="it-IT">
                <a:latin typeface="Arial" panose="020B0604020202020204" pitchFamily="34" charset="0"/>
              </a:endParaRPr>
            </a:p>
          </p:txBody>
        </p:sp>
        <p:sp>
          <p:nvSpPr>
            <p:cNvPr id="15376" name="Text Box 18">
              <a:extLst>
                <a:ext uri="{FF2B5EF4-FFF2-40B4-BE49-F238E27FC236}">
                  <a16:creationId xmlns:a16="http://schemas.microsoft.com/office/drawing/2014/main" id="{2CA6F22B-0738-ACA3-F0D5-7D96C62C4A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56" y="2321"/>
              <a:ext cx="716" cy="11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r" eaLnBrk="1" hangingPunct="1"/>
              <a:r>
                <a:rPr lang="it-IT" altLang="it-IT">
                  <a:latin typeface="Arial" panose="020B0604020202020204" pitchFamily="34" charset="0"/>
                </a:rPr>
                <a:t>9–</a:t>
              </a:r>
            </a:p>
            <a:p>
              <a:pPr algn="r" eaLnBrk="1" hangingPunct="1"/>
              <a:r>
                <a:rPr lang="it-IT" altLang="it-IT">
                  <a:latin typeface="Arial" panose="020B0604020202020204" pitchFamily="34" charset="0"/>
                </a:rPr>
                <a:t>7=</a:t>
              </a:r>
            </a:p>
            <a:p>
              <a:pPr algn="r" eaLnBrk="1" hangingPunct="1"/>
              <a:r>
                <a:rPr lang="it-IT" altLang="it-IT">
                  <a:latin typeface="Arial" panose="020B0604020202020204" pitchFamily="34" charset="0"/>
                </a:rPr>
                <a:t>--------</a:t>
              </a:r>
            </a:p>
            <a:p>
              <a:pPr algn="r" eaLnBrk="1" hangingPunct="1"/>
              <a:r>
                <a:rPr lang="it-IT" altLang="it-IT">
                  <a:latin typeface="Arial" panose="020B0604020202020204" pitchFamily="34" charset="0"/>
                </a:rPr>
                <a:t>2  </a:t>
              </a:r>
              <a:endParaRPr lang="en-GB" altLang="it-IT">
                <a:latin typeface="Arial" panose="020B0604020202020204" pitchFamily="34" charset="0"/>
              </a:endParaRPr>
            </a:p>
          </p:txBody>
        </p:sp>
        <p:sp>
          <p:nvSpPr>
            <p:cNvPr id="15377" name="Line 19">
              <a:extLst>
                <a:ext uri="{FF2B5EF4-FFF2-40B4-BE49-F238E27FC236}">
                  <a16:creationId xmlns:a16="http://schemas.microsoft.com/office/drawing/2014/main" id="{1888FA32-B0A1-2131-A888-4F4F266064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05" y="2893"/>
              <a:ext cx="73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15378" name="Text Box 20">
              <a:extLst>
                <a:ext uri="{FF2B5EF4-FFF2-40B4-BE49-F238E27FC236}">
                  <a16:creationId xmlns:a16="http://schemas.microsoft.com/office/drawing/2014/main" id="{7CE74801-1FC5-75B0-DD91-09FC2C639B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61" y="2346"/>
              <a:ext cx="747" cy="11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r" eaLnBrk="1" hangingPunct="1"/>
              <a:r>
                <a:rPr lang="it-IT" altLang="it-IT">
                  <a:latin typeface="Arial" panose="020B0604020202020204" pitchFamily="34" charset="0"/>
                </a:rPr>
                <a:t>1001–</a:t>
              </a:r>
            </a:p>
            <a:p>
              <a:pPr algn="r" eaLnBrk="1" hangingPunct="1"/>
              <a:r>
                <a:rPr lang="it-IT" altLang="it-IT">
                  <a:latin typeface="Arial" panose="020B0604020202020204" pitchFamily="34" charset="0"/>
                </a:rPr>
                <a:t>0111=</a:t>
              </a:r>
            </a:p>
            <a:p>
              <a:pPr algn="r" eaLnBrk="1" hangingPunct="1"/>
              <a:r>
                <a:rPr lang="it-IT" altLang="it-IT">
                  <a:latin typeface="Arial" panose="020B0604020202020204" pitchFamily="34" charset="0"/>
                </a:rPr>
                <a:t>--------</a:t>
              </a:r>
            </a:p>
            <a:p>
              <a:pPr algn="r" eaLnBrk="1" hangingPunct="1"/>
              <a:r>
                <a:rPr lang="it-IT" altLang="it-IT">
                  <a:latin typeface="Arial" panose="020B0604020202020204" pitchFamily="34" charset="0"/>
                </a:rPr>
                <a:t>0010  </a:t>
              </a:r>
              <a:endParaRPr lang="en-GB" altLang="it-IT">
                <a:latin typeface="Arial" panose="020B0604020202020204" pitchFamily="34" charset="0"/>
              </a:endParaRPr>
            </a:p>
          </p:txBody>
        </p:sp>
        <p:sp>
          <p:nvSpPr>
            <p:cNvPr id="15379" name="Rectangle 21">
              <a:extLst>
                <a:ext uri="{FF2B5EF4-FFF2-40B4-BE49-F238E27FC236}">
                  <a16:creationId xmlns:a16="http://schemas.microsoft.com/office/drawing/2014/main" id="{E77F612A-802F-C30E-1A76-0937DACF6C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" y="1056"/>
              <a:ext cx="2217" cy="120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15380" name="Rectangle 22">
              <a:extLst>
                <a:ext uri="{FF2B5EF4-FFF2-40B4-BE49-F238E27FC236}">
                  <a16:creationId xmlns:a16="http://schemas.microsoft.com/office/drawing/2014/main" id="{83C7C5D7-2204-1964-9819-BD5D62F8AC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9" y="1056"/>
              <a:ext cx="2388" cy="120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15381" name="Rectangle 23">
              <a:extLst>
                <a:ext uri="{FF2B5EF4-FFF2-40B4-BE49-F238E27FC236}">
                  <a16:creationId xmlns:a16="http://schemas.microsoft.com/office/drawing/2014/main" id="{9D501637-5F90-506B-B02A-3C92ABFA82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7" y="1056"/>
              <a:ext cx="1251" cy="25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15382" name="Rectangle 24">
              <a:extLst>
                <a:ext uri="{FF2B5EF4-FFF2-40B4-BE49-F238E27FC236}">
                  <a16:creationId xmlns:a16="http://schemas.microsoft.com/office/drawing/2014/main" id="{5D37941F-4A7D-2991-B624-FEA18BB0B9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" y="2257"/>
              <a:ext cx="2217" cy="134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15383" name="Rectangle 25">
              <a:extLst>
                <a:ext uri="{FF2B5EF4-FFF2-40B4-BE49-F238E27FC236}">
                  <a16:creationId xmlns:a16="http://schemas.microsoft.com/office/drawing/2014/main" id="{CFD80C3A-FA4F-AC23-DEB9-E07EEECF8C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9" y="2257"/>
              <a:ext cx="2388" cy="134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4AA87E7E-DC6C-3D90-3F89-6F9FDF9243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/>
              <a:t>Rappresentazione in segno e modulo – 1/2</a:t>
            </a:r>
            <a:endParaRPr lang="en-GB" altLang="it-IT"/>
          </a:p>
        </p:txBody>
      </p:sp>
      <p:sp>
        <p:nvSpPr>
          <p:cNvPr id="16386" name="Rectangle 3">
            <a:extLst>
              <a:ext uri="{FF2B5EF4-FFF2-40B4-BE49-F238E27FC236}">
                <a16:creationId xmlns:a16="http://schemas.microsoft.com/office/drawing/2014/main" id="{FF01F35D-673F-9B01-BCE3-DF245DD67C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20688" y="1219200"/>
            <a:ext cx="8899525" cy="48736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it-IT" altLang="it-IT"/>
              <a:t>Mentre nel caso dei numeri naturali l’associazione di un numero con una stringa di bit è alquanto intuitiva, nel caso dei numeri relativi si pone il problema di associare una rappresentazione a ciascun numero negativo.</a:t>
            </a:r>
          </a:p>
          <a:p>
            <a:pPr eaLnBrk="1" hangingPunct="1">
              <a:lnSpc>
                <a:spcPct val="90000"/>
              </a:lnSpc>
            </a:pPr>
            <a:r>
              <a:rPr lang="it-IT" altLang="it-IT"/>
              <a:t>Una possibilità è:</a:t>
            </a:r>
          </a:p>
          <a:p>
            <a:pPr lvl="1" eaLnBrk="1" hangingPunct="1">
              <a:lnSpc>
                <a:spcPct val="90000"/>
              </a:lnSpc>
            </a:pPr>
            <a:r>
              <a:rPr lang="it-IT" altLang="it-IT"/>
              <a:t>Associare un singolo bit (per esempio quello più significativo) al segno </a:t>
            </a:r>
          </a:p>
          <a:p>
            <a:pPr lvl="1" eaLnBrk="1" hangingPunct="1">
              <a:lnSpc>
                <a:spcPct val="90000"/>
              </a:lnSpc>
            </a:pPr>
            <a:r>
              <a:rPr lang="it-IT" altLang="it-IT"/>
              <a:t>Utilizzare i restanti bit per rappresentare il modulo (che è un numero naturale).</a:t>
            </a:r>
          </a:p>
          <a:p>
            <a:pPr eaLnBrk="1" hangingPunct="1">
              <a:lnSpc>
                <a:spcPct val="90000"/>
              </a:lnSpc>
            </a:pPr>
            <a:r>
              <a:rPr lang="it-IT" altLang="it-IT"/>
              <a:t>Questo tipo di codifica va sotto il nome di </a:t>
            </a:r>
            <a:r>
              <a:rPr lang="it-IT" altLang="it-IT" i="1"/>
              <a:t>“codifica in segno e modulo”</a:t>
            </a:r>
            <a:endParaRPr lang="it-IT" altLang="it-IT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>
            <a:extLst>
              <a:ext uri="{FF2B5EF4-FFF2-40B4-BE49-F238E27FC236}">
                <a16:creationId xmlns:a16="http://schemas.microsoft.com/office/drawing/2014/main" id="{D432097F-442E-644B-D075-C7908AB1B8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/>
              <a:t>Rappresentazione in segno e modulo – 2/2</a:t>
            </a:r>
          </a:p>
        </p:txBody>
      </p:sp>
      <p:sp>
        <p:nvSpPr>
          <p:cNvPr id="17410" name="Rectangle 3">
            <a:extLst>
              <a:ext uri="{FF2B5EF4-FFF2-40B4-BE49-F238E27FC236}">
                <a16:creationId xmlns:a16="http://schemas.microsoft.com/office/drawing/2014/main" id="{072A66D3-8F2C-0CCE-643C-E9A0C5E1B3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it-IT" altLang="it-IT"/>
              <a:t>Se si utilizzano n bit:</a:t>
            </a:r>
          </a:p>
          <a:p>
            <a:pPr lvl="1" eaLnBrk="1" hangingPunct="1"/>
            <a:r>
              <a:rPr lang="it-IT" altLang="it-IT"/>
              <a:t>La legge di codifica per i numeri negativi è: X = |x|+ 2</a:t>
            </a:r>
            <a:r>
              <a:rPr lang="it-IT" altLang="it-IT" baseline="30000"/>
              <a:t>n-1 </a:t>
            </a:r>
            <a:r>
              <a:rPr lang="it-IT" altLang="it-IT">
                <a:sym typeface="Symbol" panose="05050102010706020507" pitchFamily="18" charset="2"/>
              </a:rPr>
              <a:t>*</a:t>
            </a:r>
            <a:r>
              <a:rPr lang="it-IT" altLang="it-IT" baseline="30000"/>
              <a:t> </a:t>
            </a:r>
            <a:r>
              <a:rPr lang="it-IT" altLang="it-IT"/>
              <a:t>sign(x) </a:t>
            </a:r>
          </a:p>
          <a:p>
            <a:pPr lvl="1" eaLnBrk="1" hangingPunct="1"/>
            <a:r>
              <a:rPr lang="it-IT" altLang="it-IT"/>
              <a:t>Si possono rappresentare i numeri relativi compresi nell’intervallo [–(2</a:t>
            </a:r>
            <a:r>
              <a:rPr lang="it-IT" altLang="it-IT" baseline="30000"/>
              <a:t>n-1</a:t>
            </a:r>
            <a:r>
              <a:rPr lang="it-IT" altLang="it-IT"/>
              <a:t> – 1); 2</a:t>
            </a:r>
            <a:r>
              <a:rPr lang="it-IT" altLang="it-IT" baseline="30000"/>
              <a:t>n-1</a:t>
            </a:r>
            <a:r>
              <a:rPr lang="it-IT" altLang="it-IT"/>
              <a:t> – 1]</a:t>
            </a:r>
          </a:p>
          <a:p>
            <a:pPr lvl="1" eaLnBrk="1" hangingPunct="1"/>
            <a:r>
              <a:rPr lang="it-IT" altLang="it-IT"/>
              <a:t>In totale i numeri rappresentati sono 2</a:t>
            </a:r>
            <a:r>
              <a:rPr lang="it-IT" altLang="it-IT" baseline="30000"/>
              <a:t>n</a:t>
            </a:r>
            <a:r>
              <a:rPr lang="it-IT" altLang="it-IT"/>
              <a:t> – 1 (e non 2</a:t>
            </a:r>
            <a:r>
              <a:rPr lang="it-IT" altLang="it-IT" baseline="30000"/>
              <a:t>n</a:t>
            </a:r>
            <a:r>
              <a:rPr lang="it-IT" altLang="it-IT"/>
              <a:t>)</a:t>
            </a:r>
          </a:p>
          <a:p>
            <a:pPr lvl="2" eaLnBrk="1" hangingPunct="1"/>
            <a:r>
              <a:rPr lang="it-IT" altLang="it-IT"/>
              <a:t>Ciò dipende dal fatto che, a causa della natura di questa codifica, lo zero ammette due possibili rappresentazioni dette </a:t>
            </a:r>
            <a:r>
              <a:rPr lang="it-IT" altLang="it-IT" i="1"/>
              <a:t>zero positivo</a:t>
            </a:r>
            <a:r>
              <a:rPr lang="it-IT" altLang="it-IT"/>
              <a:t> e </a:t>
            </a:r>
            <a:r>
              <a:rPr lang="it-IT" altLang="it-IT" i="1"/>
              <a:t>zero negativo</a:t>
            </a:r>
            <a:r>
              <a:rPr lang="it-IT" altLang="it-IT"/>
              <a:t>.</a:t>
            </a:r>
          </a:p>
          <a:p>
            <a:pPr lvl="1" eaLnBrk="1" hangingPunct="1"/>
            <a:endParaRPr lang="it-IT" altLang="it-IT"/>
          </a:p>
          <a:p>
            <a:pPr lvl="2" eaLnBrk="1" hangingPunct="1"/>
            <a:endParaRPr lang="it-IT" altLang="it-IT"/>
          </a:p>
          <a:p>
            <a:pPr lvl="1" eaLnBrk="1" hangingPunct="1"/>
            <a:endParaRPr lang="it-IT" altLang="it-IT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88AF886D-B853-E81D-CE1F-BC99B6F7A2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/>
              <a:t>Esempio</a:t>
            </a:r>
          </a:p>
        </p:txBody>
      </p:sp>
      <p:sp>
        <p:nvSpPr>
          <p:cNvPr id="18434" name="Rectangle 3">
            <a:extLst>
              <a:ext uri="{FF2B5EF4-FFF2-40B4-BE49-F238E27FC236}">
                <a16:creationId xmlns:a16="http://schemas.microsoft.com/office/drawing/2014/main" id="{207B6943-7834-D25E-831D-246343637878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20688" y="1447800"/>
            <a:ext cx="5253037" cy="4648200"/>
          </a:xfrm>
        </p:spPr>
        <p:txBody>
          <a:bodyPr/>
          <a:lstStyle/>
          <a:p>
            <a:pPr eaLnBrk="1" hangingPunct="1"/>
            <a:r>
              <a:rPr lang="it-IT" altLang="it-IT"/>
              <a:t>Rrappresentazione in segno e modulo su 4 bit</a:t>
            </a:r>
          </a:p>
          <a:p>
            <a:pPr lvl="1" eaLnBrk="1" hangingPunct="1"/>
            <a:r>
              <a:rPr lang="it-IT" altLang="it-IT"/>
              <a:t>n=4</a:t>
            </a:r>
          </a:p>
          <a:p>
            <a:pPr lvl="1" eaLnBrk="1" hangingPunct="1"/>
            <a:r>
              <a:rPr lang="it-IT" altLang="it-IT"/>
              <a:t>Intervallo: [-7;7]</a:t>
            </a:r>
          </a:p>
          <a:p>
            <a:pPr lvl="1" eaLnBrk="1" hangingPunct="1"/>
            <a:r>
              <a:rPr lang="it-IT" altLang="it-IT"/>
              <a:t>Codifica:</a:t>
            </a:r>
          </a:p>
          <a:p>
            <a:pPr lvl="2" eaLnBrk="1" hangingPunct="1"/>
            <a:r>
              <a:rPr lang="it-IT" altLang="it-IT"/>
              <a:t>X=|x|+8 </a:t>
            </a:r>
            <a:r>
              <a:rPr lang="it-IT" altLang="it-IT">
                <a:sym typeface="Symbol" panose="05050102010706020507" pitchFamily="18" charset="2"/>
              </a:rPr>
              <a:t>*</a:t>
            </a:r>
            <a:r>
              <a:rPr lang="it-IT" altLang="it-IT"/>
              <a:t> sign(x)</a:t>
            </a:r>
            <a:endParaRPr lang="en-GB" altLang="it-IT"/>
          </a:p>
          <a:p>
            <a:pPr eaLnBrk="1" hangingPunct="1"/>
            <a:endParaRPr lang="it-IT" altLang="it-IT" sz="2400"/>
          </a:p>
        </p:txBody>
      </p:sp>
      <p:graphicFrame>
        <p:nvGraphicFramePr>
          <p:cNvPr id="389201" name="Group 81">
            <a:extLst>
              <a:ext uri="{FF2B5EF4-FFF2-40B4-BE49-F238E27FC236}">
                <a16:creationId xmlns:a16="http://schemas.microsoft.com/office/drawing/2014/main" id="{2AE80CD9-8E84-A6D0-0EDA-C82DF41D7BE5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105525" y="1470025"/>
          <a:ext cx="2206625" cy="4632768"/>
        </p:xfrm>
        <a:graphic>
          <a:graphicData uri="http://schemas.openxmlformats.org/drawingml/2006/table">
            <a:tbl>
              <a:tblPr/>
              <a:tblGrid>
                <a:gridCol w="485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07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00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9520"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x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X</a:t>
                      </a:r>
                      <a:r>
                        <a:rPr kumimoji="0" lang="it-IT" altLang="it-IT" sz="13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endParaRPr kumimoji="0" lang="en-GB" altLang="it-IT" sz="13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X</a:t>
                      </a:r>
                      <a:r>
                        <a:rPr kumimoji="0" lang="it-IT" altLang="it-IT" sz="13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9520"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0111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9520"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0110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9520"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0101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9520"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0100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9520"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0011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9520"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0010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9520"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0001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9520"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0000;1000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0;8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9520"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-1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1001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9520"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-2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1010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9520"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-3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1011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9520"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-4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1100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12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9520"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-5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1101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13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9520"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-6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1110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14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89520"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-7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1111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>
            <a:extLst>
              <a:ext uri="{FF2B5EF4-FFF2-40B4-BE49-F238E27FC236}">
                <a16:creationId xmlns:a16="http://schemas.microsoft.com/office/drawing/2014/main" id="{01E3BFC0-E31A-1410-3B73-0609402506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/>
              <a:t>Operazioni in segno e modulo su 4 bit</a:t>
            </a:r>
          </a:p>
        </p:txBody>
      </p:sp>
      <p:sp>
        <p:nvSpPr>
          <p:cNvPr id="19458" name="Rectangle 3">
            <a:extLst>
              <a:ext uri="{FF2B5EF4-FFF2-40B4-BE49-F238E27FC236}">
                <a16:creationId xmlns:a16="http://schemas.microsoft.com/office/drawing/2014/main" id="{C7A51465-3B15-5283-F932-3095676B74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it-IT" altLang="it-IT" sz="2400"/>
              <a:t>Diversamente dalla rappresentazione dei numeri naturali, questa volta non è possibile lavorare direttamente sulle rappresentazioni dei numeri per realizzare le operazioni aritmetiche. È necessario, invece, lavorare separatamente sul segno e sul modulo.</a:t>
            </a:r>
          </a:p>
          <a:p>
            <a:pPr eaLnBrk="1" hangingPunct="1">
              <a:lnSpc>
                <a:spcPct val="90000"/>
              </a:lnSpc>
            </a:pPr>
            <a:r>
              <a:rPr lang="it-IT" altLang="it-IT" sz="2400"/>
              <a:t>Quando, ad esempio, si sommano due numeri di segno discorde, bisogna determinare quello con modulo maggiore e sottrarre ad esso il modulo dell’altro. Il segno del risultato sarà quello dell’addendo maggiore in modulo.</a:t>
            </a:r>
          </a:p>
          <a:p>
            <a:pPr eaLnBrk="1" hangingPunct="1">
              <a:lnSpc>
                <a:spcPct val="90000"/>
              </a:lnSpc>
            </a:pPr>
            <a:r>
              <a:rPr lang="it-IT" altLang="it-IT" sz="2400"/>
              <a:t>Tale caratteristica, insieme con il problema della doppia rappresentazione dello zero, rende i calcoli particolarmente laboriosi e, per questo motivo, non è molto utilizzata nella pratica.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76D022CE-77A1-815A-7AC4-11D6EB722D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/>
              <a:t>Rappresentazione in complementi alla base</a:t>
            </a:r>
            <a:endParaRPr lang="en-GB" altLang="it-IT"/>
          </a:p>
        </p:txBody>
      </p:sp>
      <p:sp>
        <p:nvSpPr>
          <p:cNvPr id="20482" name="Rectangle 3">
            <a:extLst>
              <a:ext uri="{FF2B5EF4-FFF2-40B4-BE49-F238E27FC236}">
                <a16:creationId xmlns:a16="http://schemas.microsoft.com/office/drawing/2014/main" id="{21AE5CA8-F102-5DBE-3388-211B60BF3B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20688" y="1447800"/>
            <a:ext cx="8740775" cy="4648200"/>
          </a:xfrm>
        </p:spPr>
        <p:txBody>
          <a:bodyPr/>
          <a:lstStyle/>
          <a:p>
            <a:pPr eaLnBrk="1" hangingPunct="1"/>
            <a:r>
              <a:rPr lang="it-IT" altLang="it-IT" sz="2400"/>
              <a:t>Una seconda tecnica per la rappresentazione dei numeri relativi consiste nell’associare a ciascun numero il suo resto modulo M=2</a:t>
            </a:r>
            <a:r>
              <a:rPr lang="it-IT" altLang="it-IT" sz="2400" baseline="30000"/>
              <a:t>n</a:t>
            </a:r>
            <a:r>
              <a:rPr lang="it-IT" altLang="it-IT" sz="2400"/>
              <a:t>, definito come:</a:t>
            </a:r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it-IT" altLang="it-IT" sz="2400"/>
              <a:t>|x|</a:t>
            </a:r>
            <a:r>
              <a:rPr lang="it-IT" altLang="it-IT" sz="2400" baseline="-25000"/>
              <a:t>M</a:t>
            </a:r>
            <a:r>
              <a:rPr lang="it-IT" altLang="it-IT" sz="2400"/>
              <a:t>=x-[x/M]</a:t>
            </a:r>
            <a:r>
              <a:rPr lang="it-IT" altLang="it-IT" sz="2400">
                <a:sym typeface="Symbol" panose="05050102010706020507" pitchFamily="18" charset="2"/>
              </a:rPr>
              <a:t>*</a:t>
            </a:r>
            <a:r>
              <a:rPr lang="it-IT" altLang="it-IT" sz="2400"/>
              <a:t>M</a:t>
            </a:r>
          </a:p>
          <a:p>
            <a:pPr eaLnBrk="1" hangingPunct="1"/>
            <a:r>
              <a:rPr lang="it-IT" altLang="it-IT" sz="2400"/>
              <a:t>Questo tipo di codifica, su n bit,  è equivalente ad associare:</a:t>
            </a:r>
          </a:p>
          <a:p>
            <a:pPr lvl="1" eaLnBrk="1" hangingPunct="1"/>
            <a:r>
              <a:rPr lang="it-IT" altLang="it-IT" sz="2000"/>
              <a:t>il numero stesso (</a:t>
            </a:r>
            <a:r>
              <a:rPr lang="it-IT" altLang="it-IT" sz="2000">
                <a:solidFill>
                  <a:srgbClr val="FF0000"/>
                </a:solidFill>
              </a:rPr>
              <a:t>cioè X=x</a:t>
            </a:r>
            <a:r>
              <a:rPr lang="it-IT" altLang="it-IT" sz="2000"/>
              <a:t>), ai numeri positivi compresi tra 0 e 2</a:t>
            </a:r>
            <a:r>
              <a:rPr lang="it-IT" altLang="it-IT" sz="2000" baseline="30000"/>
              <a:t>n-1</a:t>
            </a:r>
            <a:r>
              <a:rPr lang="it-IT" altLang="it-IT" sz="2000"/>
              <a:t> – 1;</a:t>
            </a:r>
          </a:p>
          <a:p>
            <a:pPr lvl="1" eaLnBrk="1" hangingPunct="1"/>
            <a:r>
              <a:rPr lang="it-IT" altLang="it-IT" sz="2000"/>
              <a:t>il numero </a:t>
            </a:r>
            <a:r>
              <a:rPr lang="it-IT" altLang="it-IT" sz="2000">
                <a:solidFill>
                  <a:srgbClr val="FF0000"/>
                </a:solidFill>
              </a:rPr>
              <a:t>X = 2</a:t>
            </a:r>
            <a:r>
              <a:rPr lang="it-IT" altLang="it-IT" sz="2000" baseline="30000">
                <a:solidFill>
                  <a:srgbClr val="FF0000"/>
                </a:solidFill>
              </a:rPr>
              <a:t>n</a:t>
            </a:r>
            <a:r>
              <a:rPr lang="it-IT" altLang="it-IT" sz="2000">
                <a:solidFill>
                  <a:srgbClr val="FF0000"/>
                </a:solidFill>
              </a:rPr>
              <a:t> – |x|, </a:t>
            </a:r>
            <a:r>
              <a:rPr lang="it-IT" altLang="it-IT" sz="2000"/>
              <a:t>ai numeri negativi compresi tra 2</a:t>
            </a:r>
            <a:r>
              <a:rPr lang="it-IT" altLang="it-IT" sz="2000" baseline="30000"/>
              <a:t>n-1</a:t>
            </a:r>
            <a:r>
              <a:rPr lang="it-IT" altLang="it-IT" sz="2000"/>
              <a:t> e – 1;</a:t>
            </a:r>
          </a:p>
          <a:p>
            <a:pPr eaLnBrk="1" hangingPunct="1"/>
            <a:r>
              <a:rPr lang="it-IT" altLang="it-IT" sz="2400"/>
              <a:t>I numeri rappresentati sono quelli compresi nell’intervallo</a:t>
            </a:r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it-IT" altLang="it-IT" sz="2400"/>
              <a:t>[–2</a:t>
            </a:r>
            <a:r>
              <a:rPr lang="it-IT" altLang="it-IT" sz="2400" baseline="30000"/>
              <a:t>n-1</a:t>
            </a:r>
            <a:r>
              <a:rPr lang="it-IT" altLang="it-IT" sz="2400"/>
              <a:t>; 2</a:t>
            </a:r>
            <a:r>
              <a:rPr lang="it-IT" altLang="it-IT" sz="2400" baseline="30000"/>
              <a:t>n-1</a:t>
            </a:r>
            <a:r>
              <a:rPr lang="it-IT" altLang="it-IT" sz="2400"/>
              <a:t> – 1]</a:t>
            </a:r>
          </a:p>
          <a:p>
            <a:pPr lvl="1" eaLnBrk="1" hangingPunct="1"/>
            <a:endParaRPr lang="en-GB" altLang="it-IT" sz="20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>
            <a:extLst>
              <a:ext uri="{FF2B5EF4-FFF2-40B4-BE49-F238E27FC236}">
                <a16:creationId xmlns:a16="http://schemas.microsoft.com/office/drawing/2014/main" id="{6840FDBB-5526-3AD0-E8F9-CA8527FA5F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/>
              <a:t>Esempio</a:t>
            </a:r>
          </a:p>
        </p:txBody>
      </p:sp>
      <p:sp>
        <p:nvSpPr>
          <p:cNvPr id="21506" name="Rectangle 3">
            <a:extLst>
              <a:ext uri="{FF2B5EF4-FFF2-40B4-BE49-F238E27FC236}">
                <a16:creationId xmlns:a16="http://schemas.microsoft.com/office/drawing/2014/main" id="{C4389278-3909-4ED1-59B9-AFAFD22B0BC3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20688" y="1447800"/>
            <a:ext cx="4532312" cy="4648200"/>
          </a:xfrm>
        </p:spPr>
        <p:txBody>
          <a:bodyPr/>
          <a:lstStyle/>
          <a:p>
            <a:pPr eaLnBrk="1" hangingPunct="1"/>
            <a:r>
              <a:rPr lang="it-IT" altLang="it-IT"/>
              <a:t>Rappresentazione in complementi alla base su 4 bit</a:t>
            </a:r>
          </a:p>
          <a:p>
            <a:pPr lvl="1" eaLnBrk="1" hangingPunct="1"/>
            <a:r>
              <a:rPr lang="it-IT" altLang="it-IT"/>
              <a:t>n=4</a:t>
            </a:r>
          </a:p>
          <a:p>
            <a:pPr lvl="1" eaLnBrk="1" hangingPunct="1"/>
            <a:r>
              <a:rPr lang="it-IT" altLang="it-IT"/>
              <a:t>Intervallo: [– 8;7]</a:t>
            </a:r>
          </a:p>
          <a:p>
            <a:pPr lvl="1" eaLnBrk="1" hangingPunct="1"/>
            <a:r>
              <a:rPr lang="it-IT" altLang="it-IT"/>
              <a:t>Codifica:</a:t>
            </a:r>
          </a:p>
          <a:p>
            <a:pPr lvl="2" eaLnBrk="1" hangingPunct="1"/>
            <a:r>
              <a:rPr lang="it-IT" altLang="it-IT"/>
              <a:t>X=x;		0&lt;=x&lt;=7</a:t>
            </a:r>
          </a:p>
          <a:p>
            <a:pPr lvl="2" eaLnBrk="1" hangingPunct="1"/>
            <a:r>
              <a:rPr lang="it-IT" altLang="it-IT"/>
              <a:t>X= 2</a:t>
            </a:r>
            <a:r>
              <a:rPr lang="it-IT" altLang="it-IT" baseline="30000"/>
              <a:t>n</a:t>
            </a:r>
            <a:r>
              <a:rPr lang="it-IT" altLang="it-IT"/>
              <a:t> – |x|; -8&lt;=x&lt;= –1</a:t>
            </a:r>
          </a:p>
        </p:txBody>
      </p:sp>
      <p:graphicFrame>
        <p:nvGraphicFramePr>
          <p:cNvPr id="392279" name="Group 87">
            <a:extLst>
              <a:ext uri="{FF2B5EF4-FFF2-40B4-BE49-F238E27FC236}">
                <a16:creationId xmlns:a16="http://schemas.microsoft.com/office/drawing/2014/main" id="{D9D34803-9409-FF9F-4C43-D95B06299FA2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103938" y="1412875"/>
          <a:ext cx="1944687" cy="4922843"/>
        </p:xfrm>
        <a:graphic>
          <a:graphicData uri="http://schemas.openxmlformats.org/drawingml/2006/table">
            <a:tbl>
              <a:tblPr/>
              <a:tblGrid>
                <a:gridCol w="5032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9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9579"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x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X</a:t>
                      </a:r>
                      <a:r>
                        <a:rPr kumimoji="0" lang="it-IT" altLang="it-IT" sz="13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endParaRPr kumimoji="0" lang="en-GB" altLang="it-IT" sz="13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X</a:t>
                      </a:r>
                      <a:r>
                        <a:rPr kumimoji="0" lang="it-IT" altLang="it-IT" sz="13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9579"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0111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9579"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0110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9579"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0101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9579"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0100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9579"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0011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9579"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0010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9579"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0001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9579"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0000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9579"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-1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1111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9579"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-2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1110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14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9579"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-3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1101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13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9579"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-4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1100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12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9579"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-5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1011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9579"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-6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1010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89579"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-7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1001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89579"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-8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1000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>
            <a:extLst>
              <a:ext uri="{FF2B5EF4-FFF2-40B4-BE49-F238E27FC236}">
                <a16:creationId xmlns:a16="http://schemas.microsoft.com/office/drawing/2014/main" id="{89243ED5-AA03-0132-5451-BBC6BAABAF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/>
              <a:t>Complementi alla base: proprietà</a:t>
            </a:r>
            <a:endParaRPr lang="en-GB" altLang="it-IT"/>
          </a:p>
        </p:txBody>
      </p:sp>
      <p:sp>
        <p:nvSpPr>
          <p:cNvPr id="22530" name="Rectangle 3">
            <a:extLst>
              <a:ext uri="{FF2B5EF4-FFF2-40B4-BE49-F238E27FC236}">
                <a16:creationId xmlns:a16="http://schemas.microsoft.com/office/drawing/2014/main" id="{74847BD1-F1E3-75B9-A9A5-3F5879F13D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20688" y="1447800"/>
            <a:ext cx="8899525" cy="4860925"/>
          </a:xfrm>
        </p:spPr>
        <p:txBody>
          <a:bodyPr/>
          <a:lstStyle/>
          <a:p>
            <a:pPr eaLnBrk="1" hangingPunct="1"/>
            <a:r>
              <a:rPr lang="it-IT" altLang="it-IT" sz="2400"/>
              <a:t>Questa rappresentazione ha il fondamentale vantaggio di permettere, nell’ambito di operazioni aritmetiche, di lavorare direttamente sulle rappresentazioni.</a:t>
            </a:r>
          </a:p>
          <a:p>
            <a:pPr eaLnBrk="1" hangingPunct="1"/>
            <a:r>
              <a:rPr lang="it-IT" altLang="it-IT" sz="2400"/>
              <a:t>La regola sulla quale questa affermazione si basa è la seguente:</a:t>
            </a:r>
          </a:p>
          <a:p>
            <a:pPr eaLnBrk="1" hangingPunct="1"/>
            <a:endParaRPr lang="it-IT" altLang="it-IT" sz="2400"/>
          </a:p>
          <a:p>
            <a:pPr lvl="2" eaLnBrk="1" hangingPunct="1">
              <a:buFont typeface="Symbol" panose="05050102010706020507" pitchFamily="18" charset="2"/>
              <a:buNone/>
            </a:pPr>
            <a:r>
              <a:rPr lang="it-IT" altLang="it-IT" sz="2000" i="1"/>
              <a:t>la rappresentazione della somma (algebrica) di x ed y si ottiene come somma (modulo-M) delle rappresentazioni di x e y; analoghe sono le proprietà della differenza e del prodotto.</a:t>
            </a:r>
          </a:p>
          <a:p>
            <a:pPr lvl="2" eaLnBrk="1" hangingPunct="1">
              <a:buFont typeface="Symbol" panose="05050102010706020507" pitchFamily="18" charset="2"/>
              <a:buNone/>
            </a:pPr>
            <a:endParaRPr lang="it-IT" altLang="it-IT" sz="2000" i="1"/>
          </a:p>
          <a:p>
            <a:pPr eaLnBrk="1" hangingPunct="1"/>
            <a:r>
              <a:rPr lang="it-IT" altLang="it-IT" sz="2400"/>
              <a:t>Questo tipo di codifica conserva, inoltre, la proprietà delle rappresentazioni di avere il primo bit alto se (e solo se) il corrispondente numero è negativo.</a:t>
            </a:r>
            <a:endParaRPr lang="en-GB" altLang="it-IT" sz="24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>
            <a:extLst>
              <a:ext uri="{FF2B5EF4-FFF2-40B4-BE49-F238E27FC236}">
                <a16:creationId xmlns:a16="http://schemas.microsoft.com/office/drawing/2014/main" id="{61F32BE5-DB61-ED6B-2083-9CA7012F3F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/>
              <a:t>Esempi di addizioni in complementi alla base</a:t>
            </a:r>
            <a:endParaRPr lang="en-GB" altLang="it-IT"/>
          </a:p>
        </p:txBody>
      </p:sp>
      <p:sp>
        <p:nvSpPr>
          <p:cNvPr id="23554" name="Text Box 15">
            <a:extLst>
              <a:ext uri="{FF2B5EF4-FFF2-40B4-BE49-F238E27FC236}">
                <a16:creationId xmlns:a16="http://schemas.microsoft.com/office/drawing/2014/main" id="{9341180C-3B3E-B48D-8AA2-60AC06365D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" y="4797425"/>
            <a:ext cx="8750300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/>
            <a:r>
              <a:rPr lang="it-IT" altLang="it-IT" sz="2400" b="0">
                <a:latin typeface="Arial" panose="020B0604020202020204" pitchFamily="34" charset="0"/>
              </a:rPr>
              <a:t>È possibile effettuare la somma direttamente tra le rappresentazioni modulo-M: il risultato ottenuto in questo modo, è proprio la rappresentazione (modulo-M) del risultato corretto.</a:t>
            </a:r>
            <a:endParaRPr lang="en-GB" altLang="it-IT" sz="2400" b="0">
              <a:latin typeface="Arial" panose="020B0604020202020204" pitchFamily="34" charset="0"/>
            </a:endParaRPr>
          </a:p>
        </p:txBody>
      </p:sp>
      <p:grpSp>
        <p:nvGrpSpPr>
          <p:cNvPr id="23555" name="Group 19">
            <a:extLst>
              <a:ext uri="{FF2B5EF4-FFF2-40B4-BE49-F238E27FC236}">
                <a16:creationId xmlns:a16="http://schemas.microsoft.com/office/drawing/2014/main" id="{A386F65F-FC6F-1C8C-9E50-0FFCFE7636E5}"/>
              </a:ext>
            </a:extLst>
          </p:cNvPr>
          <p:cNvGrpSpPr>
            <a:grpSpLocks/>
          </p:cNvGrpSpPr>
          <p:nvPr/>
        </p:nvGrpSpPr>
        <p:grpSpPr bwMode="auto">
          <a:xfrm>
            <a:off x="546100" y="1552575"/>
            <a:ext cx="8750300" cy="2943225"/>
            <a:chOff x="344" y="834"/>
            <a:chExt cx="5512" cy="1854"/>
          </a:xfrm>
        </p:grpSpPr>
        <p:sp>
          <p:nvSpPr>
            <p:cNvPr id="23556" name="Text Box 3">
              <a:extLst>
                <a:ext uri="{FF2B5EF4-FFF2-40B4-BE49-F238E27FC236}">
                  <a16:creationId xmlns:a16="http://schemas.microsoft.com/office/drawing/2014/main" id="{027FB748-8E27-5BDE-F14B-885FC433C9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9" y="876"/>
              <a:ext cx="1016" cy="11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r" eaLnBrk="1" hangingPunct="1"/>
              <a:r>
                <a:rPr lang="it-IT" altLang="it-IT">
                  <a:latin typeface="Arial" panose="020B0604020202020204" pitchFamily="34" charset="0"/>
                </a:rPr>
                <a:t>2+</a:t>
              </a:r>
            </a:p>
            <a:p>
              <a:pPr algn="r" eaLnBrk="1" hangingPunct="1"/>
              <a:r>
                <a:rPr lang="it-IT" altLang="it-IT" sz="2400">
                  <a:latin typeface="Arial" panose="020B0604020202020204" pitchFamily="34" charset="0"/>
                </a:rPr>
                <a:t>–</a:t>
              </a:r>
              <a:r>
                <a:rPr lang="it-IT" altLang="it-IT">
                  <a:latin typeface="Arial" panose="020B0604020202020204" pitchFamily="34" charset="0"/>
                </a:rPr>
                <a:t> 6=</a:t>
              </a:r>
            </a:p>
            <a:p>
              <a:pPr algn="r" eaLnBrk="1" hangingPunct="1"/>
              <a:r>
                <a:rPr lang="it-IT" altLang="it-IT">
                  <a:latin typeface="Arial" panose="020B0604020202020204" pitchFamily="34" charset="0"/>
                </a:rPr>
                <a:t>------------</a:t>
              </a:r>
            </a:p>
            <a:p>
              <a:pPr algn="r" eaLnBrk="1" hangingPunct="1"/>
              <a:r>
                <a:rPr lang="it-IT" altLang="it-IT" sz="2400">
                  <a:latin typeface="Arial" panose="020B0604020202020204" pitchFamily="34" charset="0"/>
                </a:rPr>
                <a:t>–4 </a:t>
              </a:r>
              <a:r>
                <a:rPr lang="it-IT" altLang="it-IT">
                  <a:latin typeface="Arial" panose="020B0604020202020204" pitchFamily="34" charset="0"/>
                </a:rPr>
                <a:t> </a:t>
              </a:r>
              <a:endParaRPr lang="en-GB" altLang="it-IT">
                <a:latin typeface="Arial" panose="020B0604020202020204" pitchFamily="34" charset="0"/>
              </a:endParaRPr>
            </a:p>
          </p:txBody>
        </p:sp>
        <p:sp>
          <p:nvSpPr>
            <p:cNvPr id="23557" name="Text Box 4">
              <a:extLst>
                <a:ext uri="{FF2B5EF4-FFF2-40B4-BE49-F238E27FC236}">
                  <a16:creationId xmlns:a16="http://schemas.microsoft.com/office/drawing/2014/main" id="{66651C14-3369-35B0-7E4F-8B9EE32A59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6" y="884"/>
              <a:ext cx="1016" cy="11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r" eaLnBrk="1" hangingPunct="1"/>
              <a:r>
                <a:rPr lang="it-IT" altLang="it-IT">
                  <a:latin typeface="Arial" panose="020B0604020202020204" pitchFamily="34" charset="0"/>
                </a:rPr>
                <a:t>0010+</a:t>
              </a:r>
            </a:p>
            <a:p>
              <a:pPr algn="r" eaLnBrk="1" hangingPunct="1"/>
              <a:r>
                <a:rPr lang="it-IT" altLang="it-IT">
                  <a:latin typeface="Arial" panose="020B0604020202020204" pitchFamily="34" charset="0"/>
                </a:rPr>
                <a:t>1010=</a:t>
              </a:r>
            </a:p>
            <a:p>
              <a:pPr algn="r" eaLnBrk="1" hangingPunct="1"/>
              <a:r>
                <a:rPr lang="it-IT" altLang="it-IT">
                  <a:latin typeface="Arial" panose="020B0604020202020204" pitchFamily="34" charset="0"/>
                </a:rPr>
                <a:t>------------</a:t>
              </a:r>
            </a:p>
            <a:p>
              <a:pPr algn="r" eaLnBrk="1" hangingPunct="1"/>
              <a:r>
                <a:rPr lang="it-IT" altLang="it-IT">
                  <a:latin typeface="Arial" panose="020B0604020202020204" pitchFamily="34" charset="0"/>
                </a:rPr>
                <a:t>1100  </a:t>
              </a:r>
              <a:endParaRPr lang="en-GB" altLang="it-IT">
                <a:latin typeface="Arial" panose="020B0604020202020204" pitchFamily="34" charset="0"/>
              </a:endParaRPr>
            </a:p>
          </p:txBody>
        </p:sp>
        <p:sp>
          <p:nvSpPr>
            <p:cNvPr id="23558" name="Line 5">
              <a:extLst>
                <a:ext uri="{FF2B5EF4-FFF2-40B4-BE49-F238E27FC236}">
                  <a16:creationId xmlns:a16="http://schemas.microsoft.com/office/drawing/2014/main" id="{3F915D76-6A4B-4B25-660E-FD8FCC8D54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09" y="1339"/>
              <a:ext cx="4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23559" name="Text Box 6">
              <a:extLst>
                <a:ext uri="{FF2B5EF4-FFF2-40B4-BE49-F238E27FC236}">
                  <a16:creationId xmlns:a16="http://schemas.microsoft.com/office/drawing/2014/main" id="{B04C5304-9502-40E3-C2D0-AA0E37A1A2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83" y="893"/>
              <a:ext cx="1016" cy="11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r" eaLnBrk="1" hangingPunct="1"/>
              <a:r>
                <a:rPr lang="it-IT" altLang="it-IT" sz="2400">
                  <a:latin typeface="Arial" panose="020B0604020202020204" pitchFamily="34" charset="0"/>
                </a:rPr>
                <a:t>–</a:t>
              </a:r>
              <a:r>
                <a:rPr lang="it-IT" altLang="it-IT">
                  <a:latin typeface="Arial" panose="020B0604020202020204" pitchFamily="34" charset="0"/>
                </a:rPr>
                <a:t> 2+</a:t>
              </a:r>
            </a:p>
            <a:p>
              <a:pPr algn="r" eaLnBrk="1" hangingPunct="1"/>
              <a:r>
                <a:rPr lang="it-IT" altLang="it-IT" sz="2400">
                  <a:latin typeface="Arial" panose="020B0604020202020204" pitchFamily="34" charset="0"/>
                </a:rPr>
                <a:t>–</a:t>
              </a:r>
              <a:r>
                <a:rPr lang="it-IT" altLang="it-IT">
                  <a:latin typeface="Arial" panose="020B0604020202020204" pitchFamily="34" charset="0"/>
                </a:rPr>
                <a:t> 3=</a:t>
              </a:r>
            </a:p>
            <a:p>
              <a:pPr algn="r" eaLnBrk="1" hangingPunct="1"/>
              <a:r>
                <a:rPr lang="it-IT" altLang="it-IT">
                  <a:latin typeface="Arial" panose="020B0604020202020204" pitchFamily="34" charset="0"/>
                </a:rPr>
                <a:t>------------</a:t>
              </a:r>
            </a:p>
            <a:p>
              <a:pPr algn="r" eaLnBrk="1" hangingPunct="1"/>
              <a:r>
                <a:rPr lang="it-IT" altLang="it-IT" sz="2400">
                  <a:latin typeface="Arial" panose="020B0604020202020204" pitchFamily="34" charset="0"/>
                </a:rPr>
                <a:t>–5 </a:t>
              </a:r>
              <a:r>
                <a:rPr lang="it-IT" altLang="it-IT">
                  <a:latin typeface="Arial" panose="020B0604020202020204" pitchFamily="34" charset="0"/>
                </a:rPr>
                <a:t> </a:t>
              </a:r>
              <a:endParaRPr lang="en-GB" altLang="it-IT">
                <a:latin typeface="Arial" panose="020B0604020202020204" pitchFamily="34" charset="0"/>
              </a:endParaRPr>
            </a:p>
          </p:txBody>
        </p:sp>
        <p:sp>
          <p:nvSpPr>
            <p:cNvPr id="23560" name="Text Box 7">
              <a:extLst>
                <a:ext uri="{FF2B5EF4-FFF2-40B4-BE49-F238E27FC236}">
                  <a16:creationId xmlns:a16="http://schemas.microsoft.com/office/drawing/2014/main" id="{B8285820-2754-AD00-DBA0-B0C85D00D8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00" y="902"/>
              <a:ext cx="1016" cy="11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r" eaLnBrk="1" hangingPunct="1"/>
              <a:r>
                <a:rPr lang="it-IT" altLang="it-IT">
                  <a:latin typeface="Arial" panose="020B0604020202020204" pitchFamily="34" charset="0"/>
                </a:rPr>
                <a:t>1110+</a:t>
              </a:r>
            </a:p>
            <a:p>
              <a:pPr algn="r" eaLnBrk="1" hangingPunct="1"/>
              <a:r>
                <a:rPr lang="it-IT" altLang="it-IT">
                  <a:latin typeface="Arial" panose="020B0604020202020204" pitchFamily="34" charset="0"/>
                </a:rPr>
                <a:t>1101=</a:t>
              </a:r>
            </a:p>
            <a:p>
              <a:pPr algn="r" eaLnBrk="1" hangingPunct="1"/>
              <a:r>
                <a:rPr lang="it-IT" altLang="it-IT">
                  <a:latin typeface="Arial" panose="020B0604020202020204" pitchFamily="34" charset="0"/>
                </a:rPr>
                <a:t>------------</a:t>
              </a:r>
            </a:p>
            <a:p>
              <a:pPr algn="r" eaLnBrk="1" hangingPunct="1"/>
              <a:r>
                <a:rPr lang="it-IT" altLang="it-IT">
                  <a:latin typeface="Arial" panose="020B0604020202020204" pitchFamily="34" charset="0"/>
                </a:rPr>
                <a:t>11011  </a:t>
              </a:r>
              <a:endParaRPr lang="en-GB" altLang="it-IT">
                <a:latin typeface="Arial" panose="020B0604020202020204" pitchFamily="34" charset="0"/>
              </a:endParaRPr>
            </a:p>
          </p:txBody>
        </p:sp>
        <p:sp>
          <p:nvSpPr>
            <p:cNvPr id="23561" name="Line 8">
              <a:extLst>
                <a:ext uri="{FF2B5EF4-FFF2-40B4-BE49-F238E27FC236}">
                  <a16:creationId xmlns:a16="http://schemas.microsoft.com/office/drawing/2014/main" id="{7C9696D8-853B-CAE8-3FF1-B6A384377F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33" y="1357"/>
              <a:ext cx="4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23562" name="AutoShape 9">
              <a:extLst>
                <a:ext uri="{FF2B5EF4-FFF2-40B4-BE49-F238E27FC236}">
                  <a16:creationId xmlns:a16="http://schemas.microsoft.com/office/drawing/2014/main" id="{81CF2435-6374-2906-4C62-82D240BED763}"/>
                </a:ext>
              </a:extLst>
            </p:cNvPr>
            <p:cNvSpPr>
              <a:spLocks/>
            </p:cNvSpPr>
            <p:nvPr/>
          </p:nvSpPr>
          <p:spPr bwMode="auto">
            <a:xfrm rot="5418613">
              <a:off x="5064" y="1880"/>
              <a:ext cx="215" cy="487"/>
            </a:xfrm>
            <a:prstGeom prst="rightBrace">
              <a:avLst>
                <a:gd name="adj1" fmla="val 18876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23563" name="Text Box 10">
              <a:extLst>
                <a:ext uri="{FF2B5EF4-FFF2-40B4-BE49-F238E27FC236}">
                  <a16:creationId xmlns:a16="http://schemas.microsoft.com/office/drawing/2014/main" id="{3B7DB5DD-0B1F-9874-78B6-7CD013BEC4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12" y="2170"/>
              <a:ext cx="720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it-IT" altLang="it-IT" sz="1600" b="0">
                  <a:latin typeface="Arial" panose="020B0604020202020204" pitchFamily="34" charset="0"/>
                </a:rPr>
                <a:t>somma</a:t>
              </a:r>
            </a:p>
            <a:p>
              <a:pPr eaLnBrk="1" hangingPunct="1"/>
              <a:r>
                <a:rPr lang="it-IT" altLang="it-IT" sz="1600" b="0">
                  <a:latin typeface="Arial" panose="020B0604020202020204" pitchFamily="34" charset="0"/>
                </a:rPr>
                <a:t>modulo-16</a:t>
              </a:r>
              <a:endParaRPr lang="en-GB" altLang="it-IT" sz="1600" b="0">
                <a:latin typeface="Arial" panose="020B0604020202020204" pitchFamily="34" charset="0"/>
              </a:endParaRPr>
            </a:p>
          </p:txBody>
        </p:sp>
        <p:sp>
          <p:nvSpPr>
            <p:cNvPr id="23564" name="Line 11">
              <a:extLst>
                <a:ext uri="{FF2B5EF4-FFF2-40B4-BE49-F238E27FC236}">
                  <a16:creationId xmlns:a16="http://schemas.microsoft.com/office/drawing/2014/main" id="{AE96A827-807E-0CF2-9913-789A5B28E89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00" y="1968"/>
              <a:ext cx="312" cy="12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23565" name="Text Box 12">
              <a:extLst>
                <a:ext uri="{FF2B5EF4-FFF2-40B4-BE49-F238E27FC236}">
                  <a16:creationId xmlns:a16="http://schemas.microsoft.com/office/drawing/2014/main" id="{D1676DF8-92AB-172B-A35E-A2B65EE059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74" y="2013"/>
              <a:ext cx="72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it-IT" altLang="it-IT" sz="2000" b="0">
                  <a:latin typeface="Arial" panose="020B0604020202020204" pitchFamily="34" charset="0"/>
                </a:rPr>
                <a:t>si ignora</a:t>
              </a:r>
              <a:endParaRPr lang="en-GB" altLang="it-IT" sz="2000" b="0">
                <a:latin typeface="Arial" panose="020B0604020202020204" pitchFamily="34" charset="0"/>
              </a:endParaRPr>
            </a:p>
          </p:txBody>
        </p:sp>
        <p:sp>
          <p:nvSpPr>
            <p:cNvPr id="23566" name="Rectangle 13">
              <a:extLst>
                <a:ext uri="{FF2B5EF4-FFF2-40B4-BE49-F238E27FC236}">
                  <a16:creationId xmlns:a16="http://schemas.microsoft.com/office/drawing/2014/main" id="{0C36377C-3788-8F63-CB5E-DBE3EBA827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" y="834"/>
              <a:ext cx="2756" cy="185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23567" name="Rectangle 14">
              <a:extLst>
                <a:ext uri="{FF2B5EF4-FFF2-40B4-BE49-F238E27FC236}">
                  <a16:creationId xmlns:a16="http://schemas.microsoft.com/office/drawing/2014/main" id="{868D84DB-0BA2-5A04-E351-B5166B4043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00" y="834"/>
              <a:ext cx="2756" cy="185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23568" name="Oval 16">
              <a:extLst>
                <a:ext uri="{FF2B5EF4-FFF2-40B4-BE49-F238E27FC236}">
                  <a16:creationId xmlns:a16="http://schemas.microsoft.com/office/drawing/2014/main" id="{28617ED5-1A53-B44D-2BE7-DABC1D9754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36" y="1776"/>
              <a:ext cx="182" cy="215"/>
            </a:xfrm>
            <a:prstGeom prst="ellipse">
              <a:avLst/>
            </a:prstGeom>
            <a:noFill/>
            <a:ln w="28575">
              <a:solidFill>
                <a:srgbClr val="FF33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>
            <a:extLst>
              <a:ext uri="{FF2B5EF4-FFF2-40B4-BE49-F238E27FC236}">
                <a16:creationId xmlns:a16="http://schemas.microsoft.com/office/drawing/2014/main" id="{12BBDEF8-45E6-A7EF-FA74-7B29F3E1C5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/>
              <a:t>Complementi alla base: la complementazione</a:t>
            </a:r>
            <a:endParaRPr lang="en-GB" altLang="it-IT"/>
          </a:p>
        </p:txBody>
      </p:sp>
      <p:sp>
        <p:nvSpPr>
          <p:cNvPr id="24578" name="Rectangle 3">
            <a:extLst>
              <a:ext uri="{FF2B5EF4-FFF2-40B4-BE49-F238E27FC236}">
                <a16:creationId xmlns:a16="http://schemas.microsoft.com/office/drawing/2014/main" id="{81F13CBD-6311-9E46-0522-C9A264E81B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it-IT" altLang="it-IT" sz="2400"/>
              <a:t>In complementi alla base, a partire dalla rappresentazione di un numero, è anche particolarmente semplice ottenere la rappresentazione del suo opposto</a:t>
            </a:r>
          </a:p>
          <a:p>
            <a:pPr eaLnBrk="1" hangingPunct="1">
              <a:lnSpc>
                <a:spcPct val="90000"/>
              </a:lnSpc>
            </a:pPr>
            <a:r>
              <a:rPr lang="it-IT" altLang="it-IT" sz="2400"/>
              <a:t>È infatti sufficiente </a:t>
            </a:r>
            <a:r>
              <a:rPr lang="it-IT" altLang="it-IT" sz="2400" i="1"/>
              <a:t>complementare tutti i bit a partire da sinistra, tranne l’uno più a destra ed eventuali zero successivi</a:t>
            </a:r>
            <a:r>
              <a:rPr lang="it-IT" altLang="it-IT" sz="2400"/>
              <a:t>.</a:t>
            </a:r>
          </a:p>
          <a:p>
            <a:pPr eaLnBrk="1" hangingPunct="1">
              <a:lnSpc>
                <a:spcPct val="90000"/>
              </a:lnSpc>
            </a:pPr>
            <a:r>
              <a:rPr lang="it-IT" altLang="it-IT" sz="2400"/>
              <a:t>Questa ulteriore caratteristica consente di realizzare le sottrazioni attraverso la composizione di una complementazione (nel senso suddetto) ed un’addizione.</a:t>
            </a:r>
          </a:p>
          <a:p>
            <a:pPr eaLnBrk="1" hangingPunct="1">
              <a:lnSpc>
                <a:spcPct val="90000"/>
              </a:lnSpc>
            </a:pPr>
            <a:r>
              <a:rPr lang="it-IT" altLang="it-IT" sz="2400"/>
              <a:t>Nell’aritmetica in complementi alla base, di conseguenza, l’addizionatore e il complementatore rappresentano i componenti fondamentali per la realizzazione di tutte le operazioni.</a:t>
            </a:r>
            <a:endParaRPr lang="en-GB" altLang="it-IT" sz="24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2">
            <a:extLst>
              <a:ext uri="{FF2B5EF4-FFF2-40B4-BE49-F238E27FC236}">
                <a16:creationId xmlns:a16="http://schemas.microsoft.com/office/drawing/2014/main" id="{F5FBBDAA-BB84-1DA5-7517-C8E68F6339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ct val="0"/>
              </a:spcBef>
            </a:pPr>
            <a:r>
              <a:rPr lang="it-IT" altLang="it-IT" sz="2400"/>
              <a:t>La rappresentazione di 6</a:t>
            </a:r>
            <a:r>
              <a:rPr lang="it-IT" altLang="it-IT" sz="2400" baseline="-25000"/>
              <a:t>10</a:t>
            </a:r>
            <a:r>
              <a:rPr lang="it-IT" altLang="it-IT" sz="2400"/>
              <a:t> su 4 bit è </a:t>
            </a:r>
            <a:r>
              <a:rPr lang="it-IT" altLang="it-IT" sz="2400">
                <a:sym typeface="Symbol" panose="05050102010706020507" pitchFamily="18" charset="2"/>
              </a:rPr>
              <a:t>0110</a:t>
            </a:r>
            <a:r>
              <a:rPr lang="it-IT" altLang="it-IT" sz="2400" baseline="-25000">
                <a:sym typeface="Symbol" panose="05050102010706020507" pitchFamily="18" charset="2"/>
              </a:rPr>
              <a:t>2</a:t>
            </a:r>
            <a:r>
              <a:rPr lang="it-IT" altLang="it-IT" sz="2400">
                <a:sym typeface="Symbol" panose="05050102010706020507" pitchFamily="18" charset="2"/>
              </a:rPr>
              <a:t>.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</a:pPr>
            <a:r>
              <a:rPr lang="it-IT" altLang="it-IT" sz="2400">
                <a:sym typeface="Symbol" panose="05050102010706020507" pitchFamily="18" charset="2"/>
              </a:rPr>
              <a:t>Complementando tutti i bit tranne l’uno più a destra e gli zero successivi si ottiene: 1010</a:t>
            </a:r>
            <a:r>
              <a:rPr lang="it-IT" altLang="it-IT" sz="2400" baseline="-25000">
                <a:sym typeface="Symbol" panose="05050102010706020507" pitchFamily="18" charset="2"/>
              </a:rPr>
              <a:t>2</a:t>
            </a:r>
            <a:r>
              <a:rPr lang="it-IT" altLang="it-IT" sz="2400">
                <a:sym typeface="Symbol" panose="05050102010706020507" pitchFamily="18" charset="2"/>
              </a:rPr>
              <a:t>.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</a:pPr>
            <a:r>
              <a:rPr lang="it-IT" altLang="it-IT" sz="2400">
                <a:sym typeface="Symbol" panose="05050102010706020507" pitchFamily="18" charset="2"/>
              </a:rPr>
              <a:t>1010</a:t>
            </a:r>
            <a:r>
              <a:rPr lang="it-IT" altLang="it-IT" sz="2400" baseline="-25000">
                <a:sym typeface="Symbol" panose="05050102010706020507" pitchFamily="18" charset="2"/>
              </a:rPr>
              <a:t>2</a:t>
            </a:r>
            <a:r>
              <a:rPr lang="it-IT" altLang="it-IT" sz="2400">
                <a:sym typeface="Symbol" panose="05050102010706020507" pitchFamily="18" charset="2"/>
              </a:rPr>
              <a:t> è la rappresentazione di –6 in complementi alla base.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</a:pPr>
            <a:endParaRPr lang="it-IT" altLang="it-IT" sz="2400"/>
          </a:p>
          <a:p>
            <a:pPr eaLnBrk="1" hangingPunct="1">
              <a:lnSpc>
                <a:spcPct val="90000"/>
              </a:lnSpc>
              <a:spcBef>
                <a:spcPct val="0"/>
              </a:spcBef>
            </a:pPr>
            <a:r>
              <a:rPr lang="it-IT" altLang="it-IT" sz="2400"/>
              <a:t>La rappresentazione di 5</a:t>
            </a:r>
            <a:r>
              <a:rPr lang="it-IT" altLang="it-IT" sz="2400" baseline="-25000"/>
              <a:t>10</a:t>
            </a:r>
            <a:r>
              <a:rPr lang="it-IT" altLang="it-IT" sz="2400"/>
              <a:t> su 4 bit è </a:t>
            </a:r>
            <a:r>
              <a:rPr lang="it-IT" altLang="it-IT" sz="2400">
                <a:sym typeface="Symbol" panose="05050102010706020507" pitchFamily="18" charset="2"/>
              </a:rPr>
              <a:t>0101</a:t>
            </a:r>
            <a:r>
              <a:rPr lang="it-IT" altLang="it-IT" sz="2400" baseline="-25000">
                <a:sym typeface="Symbol" panose="05050102010706020507" pitchFamily="18" charset="2"/>
              </a:rPr>
              <a:t>2</a:t>
            </a:r>
            <a:r>
              <a:rPr lang="it-IT" altLang="it-IT" sz="2400">
                <a:sym typeface="Symbol" panose="05050102010706020507" pitchFamily="18" charset="2"/>
              </a:rPr>
              <a:t>.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</a:pPr>
            <a:r>
              <a:rPr lang="it-IT" altLang="it-IT" sz="2400">
                <a:sym typeface="Symbol" panose="05050102010706020507" pitchFamily="18" charset="2"/>
              </a:rPr>
              <a:t>Complementando tutti i bit tranne l’uno più a destra e gli zero successivi si ottiene: 1011</a:t>
            </a:r>
            <a:r>
              <a:rPr lang="it-IT" altLang="it-IT" sz="2400" baseline="-25000">
                <a:sym typeface="Symbol" panose="05050102010706020507" pitchFamily="18" charset="2"/>
              </a:rPr>
              <a:t>2</a:t>
            </a:r>
            <a:r>
              <a:rPr lang="it-IT" altLang="it-IT" sz="2400">
                <a:sym typeface="Symbol" panose="05050102010706020507" pitchFamily="18" charset="2"/>
              </a:rPr>
              <a:t>.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</a:pPr>
            <a:r>
              <a:rPr lang="it-IT" altLang="it-IT" sz="2400">
                <a:sym typeface="Symbol" panose="05050102010706020507" pitchFamily="18" charset="2"/>
              </a:rPr>
              <a:t>1011</a:t>
            </a:r>
            <a:r>
              <a:rPr lang="it-IT" altLang="it-IT" sz="2400" baseline="-25000">
                <a:sym typeface="Symbol" panose="05050102010706020507" pitchFamily="18" charset="2"/>
              </a:rPr>
              <a:t>2</a:t>
            </a:r>
            <a:r>
              <a:rPr lang="it-IT" altLang="it-IT" sz="2400">
                <a:sym typeface="Symbol" panose="05050102010706020507" pitchFamily="18" charset="2"/>
              </a:rPr>
              <a:t> è la rappresentazione di –5 in complementi alla base.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</a:pPr>
            <a:endParaRPr lang="it-IT" altLang="it-IT" sz="2400"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</a:pPr>
            <a:r>
              <a:rPr lang="it-IT" altLang="it-IT" sz="2400"/>
              <a:t>La rappresentazione di 1</a:t>
            </a:r>
            <a:r>
              <a:rPr lang="it-IT" altLang="it-IT" sz="2400" baseline="-25000"/>
              <a:t>10</a:t>
            </a:r>
            <a:r>
              <a:rPr lang="it-IT" altLang="it-IT" sz="2400"/>
              <a:t> su 4 bit è </a:t>
            </a:r>
            <a:r>
              <a:rPr lang="it-IT" altLang="it-IT" sz="2400">
                <a:sym typeface="Symbol" panose="05050102010706020507" pitchFamily="18" charset="2"/>
              </a:rPr>
              <a:t>0001</a:t>
            </a:r>
            <a:r>
              <a:rPr lang="it-IT" altLang="it-IT" sz="2400" baseline="-25000">
                <a:sym typeface="Symbol" panose="05050102010706020507" pitchFamily="18" charset="2"/>
              </a:rPr>
              <a:t>2</a:t>
            </a:r>
            <a:r>
              <a:rPr lang="it-IT" altLang="it-IT" sz="2400">
                <a:sym typeface="Symbol" panose="05050102010706020507" pitchFamily="18" charset="2"/>
              </a:rPr>
              <a:t>.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</a:pPr>
            <a:r>
              <a:rPr lang="it-IT" altLang="it-IT" sz="2400">
                <a:sym typeface="Symbol" panose="05050102010706020507" pitchFamily="18" charset="2"/>
              </a:rPr>
              <a:t>Complementando tutti i bit tranne l’uno più a destra e gli zero successivi si ottiene: 1111</a:t>
            </a:r>
            <a:r>
              <a:rPr lang="it-IT" altLang="it-IT" sz="2400" baseline="-25000">
                <a:sym typeface="Symbol" panose="05050102010706020507" pitchFamily="18" charset="2"/>
              </a:rPr>
              <a:t>2</a:t>
            </a:r>
            <a:r>
              <a:rPr lang="it-IT" altLang="it-IT" sz="2400">
                <a:sym typeface="Symbol" panose="05050102010706020507" pitchFamily="18" charset="2"/>
              </a:rPr>
              <a:t>.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</a:pPr>
            <a:r>
              <a:rPr lang="it-IT" altLang="it-IT" sz="2400">
                <a:sym typeface="Symbol" panose="05050102010706020507" pitchFamily="18" charset="2"/>
              </a:rPr>
              <a:t>1111</a:t>
            </a:r>
            <a:r>
              <a:rPr lang="it-IT" altLang="it-IT" sz="2400" baseline="-25000">
                <a:sym typeface="Symbol" panose="05050102010706020507" pitchFamily="18" charset="2"/>
              </a:rPr>
              <a:t>2</a:t>
            </a:r>
            <a:r>
              <a:rPr lang="it-IT" altLang="it-IT" sz="2400">
                <a:sym typeface="Symbol" panose="05050102010706020507" pitchFamily="18" charset="2"/>
              </a:rPr>
              <a:t> è la rappresentazione di –1 in complementi alla base.</a:t>
            </a:r>
          </a:p>
        </p:txBody>
      </p:sp>
      <p:sp>
        <p:nvSpPr>
          <p:cNvPr id="25602" name="Rectangle 3">
            <a:extLst>
              <a:ext uri="{FF2B5EF4-FFF2-40B4-BE49-F238E27FC236}">
                <a16:creationId xmlns:a16="http://schemas.microsoft.com/office/drawing/2014/main" id="{821583A8-2EB0-7B14-65AD-51F3D25711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/>
              <a:t>Esempi di complementazione su 4 bit</a:t>
            </a:r>
            <a:endParaRPr lang="en-GB" altLang="it-IT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2">
            <a:extLst>
              <a:ext uri="{FF2B5EF4-FFF2-40B4-BE49-F238E27FC236}">
                <a16:creationId xmlns:a16="http://schemas.microsoft.com/office/drawing/2014/main" id="{6EE53570-B5B4-F855-A2B7-672012D84C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 sz="2800"/>
              <a:t>Esempio di moltiplicazione in complementi alla base</a:t>
            </a:r>
            <a:endParaRPr lang="en-GB" altLang="it-IT" sz="2800"/>
          </a:p>
        </p:txBody>
      </p:sp>
      <p:grpSp>
        <p:nvGrpSpPr>
          <p:cNvPr id="26626" name="Group 11">
            <a:extLst>
              <a:ext uri="{FF2B5EF4-FFF2-40B4-BE49-F238E27FC236}">
                <a16:creationId xmlns:a16="http://schemas.microsoft.com/office/drawing/2014/main" id="{C87B80AC-BA2E-5B24-B913-19BC486C8A05}"/>
              </a:ext>
            </a:extLst>
          </p:cNvPr>
          <p:cNvGrpSpPr>
            <a:grpSpLocks/>
          </p:cNvGrpSpPr>
          <p:nvPr/>
        </p:nvGrpSpPr>
        <p:grpSpPr bwMode="auto">
          <a:xfrm>
            <a:off x="1535113" y="1143000"/>
            <a:ext cx="6542087" cy="5130800"/>
            <a:chOff x="1008" y="816"/>
            <a:chExt cx="4121" cy="3232"/>
          </a:xfrm>
        </p:grpSpPr>
        <p:sp>
          <p:nvSpPr>
            <p:cNvPr id="26627" name="AutoShape 3">
              <a:extLst>
                <a:ext uri="{FF2B5EF4-FFF2-40B4-BE49-F238E27FC236}">
                  <a16:creationId xmlns:a16="http://schemas.microsoft.com/office/drawing/2014/main" id="{4707BB9C-F053-8D68-9972-EB579B91CA04}"/>
                </a:ext>
              </a:extLst>
            </p:cNvPr>
            <p:cNvSpPr>
              <a:spLocks/>
            </p:cNvSpPr>
            <p:nvPr/>
          </p:nvSpPr>
          <p:spPr bwMode="auto">
            <a:xfrm rot="5418613">
              <a:off x="4564" y="3361"/>
              <a:ext cx="171" cy="549"/>
            </a:xfrm>
            <a:prstGeom prst="rightBrace">
              <a:avLst>
                <a:gd name="adj1" fmla="val 26754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26628" name="Line 5">
              <a:extLst>
                <a:ext uri="{FF2B5EF4-FFF2-40B4-BE49-F238E27FC236}">
                  <a16:creationId xmlns:a16="http://schemas.microsoft.com/office/drawing/2014/main" id="{616A0609-22C7-5382-F197-D7AFD5C7BCC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47" y="3502"/>
              <a:ext cx="312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26629" name="Text Box 6">
              <a:extLst>
                <a:ext uri="{FF2B5EF4-FFF2-40B4-BE49-F238E27FC236}">
                  <a16:creationId xmlns:a16="http://schemas.microsoft.com/office/drawing/2014/main" id="{51DA2A12-A866-4329-66F4-F430C88B19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18" y="3501"/>
              <a:ext cx="96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it-IT" altLang="it-IT" b="0">
                  <a:latin typeface="Arial" panose="020B0604020202020204" pitchFamily="34" charset="0"/>
                </a:rPr>
                <a:t>si ignora</a:t>
              </a:r>
              <a:endParaRPr lang="en-GB" altLang="it-IT" b="0">
                <a:latin typeface="Arial" panose="020B0604020202020204" pitchFamily="34" charset="0"/>
              </a:endParaRPr>
            </a:p>
          </p:txBody>
        </p:sp>
        <p:sp>
          <p:nvSpPr>
            <p:cNvPr id="26630" name="Oval 7">
              <a:extLst>
                <a:ext uri="{FF2B5EF4-FFF2-40B4-BE49-F238E27FC236}">
                  <a16:creationId xmlns:a16="http://schemas.microsoft.com/office/drawing/2014/main" id="{B98AA452-2F69-2673-C822-EE7CF17CEF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95" y="3323"/>
              <a:ext cx="480" cy="314"/>
            </a:xfrm>
            <a:prstGeom prst="ellipse">
              <a:avLst/>
            </a:prstGeom>
            <a:noFill/>
            <a:ln w="28575">
              <a:solidFill>
                <a:srgbClr val="FF33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26631" name="Text Box 8">
              <a:extLst>
                <a:ext uri="{FF2B5EF4-FFF2-40B4-BE49-F238E27FC236}">
                  <a16:creationId xmlns:a16="http://schemas.microsoft.com/office/drawing/2014/main" id="{22826EE3-C928-D735-A166-E43834A61C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03" y="816"/>
              <a:ext cx="1221" cy="28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r" eaLnBrk="1" hangingPunct="1"/>
              <a:r>
                <a:rPr lang="it-IT" altLang="it-IT" sz="3200" b="0">
                  <a:latin typeface="Arial" panose="020B0604020202020204" pitchFamily="34" charset="0"/>
                </a:rPr>
                <a:t>0010</a:t>
              </a:r>
              <a:r>
                <a:rPr lang="it-IT" altLang="it-IT" sz="3200" b="0">
                  <a:latin typeface="Arial" panose="020B0604020202020204" pitchFamily="34" charset="0"/>
                  <a:sym typeface="Symbol" panose="05050102010706020507" pitchFamily="18" charset="2"/>
                </a:rPr>
                <a:t></a:t>
              </a:r>
              <a:endParaRPr lang="it-IT" altLang="it-IT" sz="3200" b="0">
                <a:latin typeface="Arial" panose="020B0604020202020204" pitchFamily="34" charset="0"/>
              </a:endParaRPr>
            </a:p>
            <a:p>
              <a:pPr algn="r" eaLnBrk="1" hangingPunct="1"/>
              <a:r>
                <a:rPr lang="it-IT" altLang="it-IT" sz="3200" b="0">
                  <a:latin typeface="Arial" panose="020B0604020202020204" pitchFamily="34" charset="0"/>
                </a:rPr>
                <a:t>1101=</a:t>
              </a:r>
            </a:p>
            <a:p>
              <a:pPr algn="r" eaLnBrk="1" hangingPunct="1"/>
              <a:r>
                <a:rPr lang="it-IT" altLang="it-IT" sz="3200" b="0">
                  <a:latin typeface="Arial" panose="020B0604020202020204" pitchFamily="34" charset="0"/>
                </a:rPr>
                <a:t>-------------</a:t>
              </a:r>
            </a:p>
            <a:p>
              <a:pPr algn="r" eaLnBrk="1" hangingPunct="1"/>
              <a:r>
                <a:rPr lang="it-IT" altLang="it-IT" sz="3200" b="0">
                  <a:latin typeface="Arial" panose="020B0604020202020204" pitchFamily="34" charset="0"/>
                </a:rPr>
                <a:t>0010</a:t>
              </a:r>
            </a:p>
            <a:p>
              <a:pPr algn="r" eaLnBrk="1" hangingPunct="1"/>
              <a:r>
                <a:rPr lang="it-IT" altLang="it-IT" sz="3200" b="0">
                  <a:latin typeface="Arial" panose="020B0604020202020204" pitchFamily="34" charset="0"/>
                </a:rPr>
                <a:t>0000=</a:t>
              </a:r>
            </a:p>
            <a:p>
              <a:pPr algn="r" eaLnBrk="1" hangingPunct="1"/>
              <a:r>
                <a:rPr lang="it-IT" altLang="it-IT" sz="3200" b="0">
                  <a:latin typeface="Arial" panose="020B0604020202020204" pitchFamily="34" charset="0"/>
                </a:rPr>
                <a:t>0010==</a:t>
              </a:r>
            </a:p>
            <a:p>
              <a:pPr algn="r" eaLnBrk="1" hangingPunct="1"/>
              <a:r>
                <a:rPr lang="it-IT" altLang="it-IT" sz="3200" b="0">
                  <a:latin typeface="Arial" panose="020B0604020202020204" pitchFamily="34" charset="0"/>
                </a:rPr>
                <a:t>0010===</a:t>
              </a:r>
            </a:p>
            <a:p>
              <a:pPr algn="r" eaLnBrk="1" hangingPunct="1"/>
              <a:r>
                <a:rPr lang="it-IT" altLang="it-IT" sz="3200" b="0">
                  <a:latin typeface="Arial" panose="020B0604020202020204" pitchFamily="34" charset="0"/>
                </a:rPr>
                <a:t>-------------</a:t>
              </a:r>
            </a:p>
            <a:p>
              <a:pPr algn="r" eaLnBrk="1" hangingPunct="1"/>
              <a:r>
                <a:rPr lang="it-IT" altLang="it-IT" sz="3200" b="0">
                  <a:latin typeface="Arial" panose="020B0604020202020204" pitchFamily="34" charset="0"/>
                </a:rPr>
                <a:t>0011010</a:t>
              </a:r>
              <a:endParaRPr lang="en-GB" altLang="it-IT" sz="3200" b="0">
                <a:latin typeface="Arial" panose="020B0604020202020204" pitchFamily="34" charset="0"/>
              </a:endParaRPr>
            </a:p>
          </p:txBody>
        </p:sp>
        <p:sp>
          <p:nvSpPr>
            <p:cNvPr id="26632" name="Text Box 9">
              <a:extLst>
                <a:ext uri="{FF2B5EF4-FFF2-40B4-BE49-F238E27FC236}">
                  <a16:creationId xmlns:a16="http://schemas.microsoft.com/office/drawing/2014/main" id="{1D6F128A-6B46-967A-68F7-147DAE358C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8" y="861"/>
              <a:ext cx="1221" cy="13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r" eaLnBrk="1" hangingPunct="1"/>
              <a:r>
                <a:rPr lang="it-IT" altLang="it-IT" sz="3200" b="0">
                  <a:latin typeface="Arial" panose="020B0604020202020204" pitchFamily="34" charset="0"/>
                </a:rPr>
                <a:t>2*</a:t>
              </a:r>
            </a:p>
            <a:p>
              <a:pPr algn="r" eaLnBrk="1" hangingPunct="1"/>
              <a:r>
                <a:rPr lang="it-IT" altLang="it-IT" sz="3600" b="0">
                  <a:latin typeface="Arial" panose="020B0604020202020204" pitchFamily="34" charset="0"/>
                  <a:sym typeface="Symbol" panose="05050102010706020507" pitchFamily="18" charset="2"/>
                </a:rPr>
                <a:t>–</a:t>
              </a:r>
              <a:r>
                <a:rPr lang="it-IT" altLang="it-IT" sz="3200" b="0">
                  <a:latin typeface="Arial" panose="020B0604020202020204" pitchFamily="34" charset="0"/>
                </a:rPr>
                <a:t> 3=</a:t>
              </a:r>
            </a:p>
            <a:p>
              <a:pPr algn="r" eaLnBrk="1" hangingPunct="1"/>
              <a:r>
                <a:rPr lang="it-IT" altLang="it-IT" sz="3200" b="0">
                  <a:latin typeface="Arial" panose="020B0604020202020204" pitchFamily="34" charset="0"/>
                </a:rPr>
                <a:t>-------------</a:t>
              </a:r>
            </a:p>
            <a:p>
              <a:pPr algn="r" eaLnBrk="1" hangingPunct="1"/>
              <a:r>
                <a:rPr lang="it-IT" altLang="it-IT" sz="3600" b="0">
                  <a:latin typeface="Arial" panose="020B0604020202020204" pitchFamily="34" charset="0"/>
                  <a:sym typeface="Symbol" panose="05050102010706020507" pitchFamily="18" charset="2"/>
                </a:rPr>
                <a:t>–</a:t>
              </a:r>
              <a:r>
                <a:rPr lang="it-IT" altLang="it-IT" sz="3200" b="0">
                  <a:latin typeface="Arial" panose="020B0604020202020204" pitchFamily="34" charset="0"/>
                </a:rPr>
                <a:t> 6  </a:t>
              </a:r>
              <a:endParaRPr lang="en-GB" altLang="it-IT" sz="3200" b="0">
                <a:latin typeface="Arial" panose="020B0604020202020204" pitchFamily="34" charset="0"/>
              </a:endParaRPr>
            </a:p>
          </p:txBody>
        </p:sp>
        <p:sp>
          <p:nvSpPr>
            <p:cNvPr id="26633" name="Text Box 10">
              <a:extLst>
                <a:ext uri="{FF2B5EF4-FFF2-40B4-BE49-F238E27FC236}">
                  <a16:creationId xmlns:a16="http://schemas.microsoft.com/office/drawing/2014/main" id="{EFA5A7AC-409C-B5B9-BE03-4A1E3E82A7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89" y="3721"/>
              <a:ext cx="94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it-IT" altLang="it-IT" b="0">
                  <a:latin typeface="Arial" panose="020B0604020202020204" pitchFamily="34" charset="0"/>
                </a:rPr>
                <a:t>prodotto</a:t>
              </a:r>
              <a:endParaRPr lang="en-GB" altLang="it-IT" b="0">
                <a:latin typeface="Arial" panose="020B0604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">
            <a:extLst>
              <a:ext uri="{FF2B5EF4-FFF2-40B4-BE49-F238E27FC236}">
                <a16:creationId xmlns:a16="http://schemas.microsoft.com/office/drawing/2014/main" id="{0D10D273-049F-5B18-69A3-4FE039379C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/>
              <a:t>Complementi diminuiti</a:t>
            </a:r>
            <a:endParaRPr lang="en-GB" altLang="it-IT"/>
          </a:p>
        </p:txBody>
      </p:sp>
      <p:sp>
        <p:nvSpPr>
          <p:cNvPr id="27650" name="Rectangle 3">
            <a:extLst>
              <a:ext uri="{FF2B5EF4-FFF2-40B4-BE49-F238E27FC236}">
                <a16:creationId xmlns:a16="http://schemas.microsoft.com/office/drawing/2014/main" id="{412A03F6-0BEC-C572-8F4C-076E49B192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it-IT" altLang="it-IT" sz="2400"/>
              <a:t>La rappresentazione in complementi diminuiti costituisce un’ulteriore alternativa per la codifica dei numeri relativi.</a:t>
            </a:r>
          </a:p>
          <a:p>
            <a:pPr eaLnBrk="1" hangingPunct="1">
              <a:lnSpc>
                <a:spcPct val="90000"/>
              </a:lnSpc>
            </a:pPr>
            <a:r>
              <a:rPr lang="it-IT" altLang="it-IT" sz="2400"/>
              <a:t>Concettualmente è analoga alla rappresentazione in complementi alla base.</a:t>
            </a:r>
          </a:p>
          <a:p>
            <a:pPr eaLnBrk="1" hangingPunct="1">
              <a:lnSpc>
                <a:spcPct val="90000"/>
              </a:lnSpc>
            </a:pPr>
            <a:r>
              <a:rPr lang="it-IT" altLang="it-IT" sz="2400"/>
              <a:t>La differenza rispetto ad essa è che la legge di codifica dei numeri negativi è leggermente differente:</a:t>
            </a:r>
          </a:p>
          <a:p>
            <a:pPr lvl="1" eaLnBrk="1" hangingPunct="1">
              <a:lnSpc>
                <a:spcPct val="90000"/>
              </a:lnSpc>
            </a:pPr>
            <a:r>
              <a:rPr lang="it-IT" altLang="it-IT" sz="2000"/>
              <a:t>X=</a:t>
            </a:r>
            <a:r>
              <a:rPr lang="it-IT" altLang="it-IT" sz="2000">
                <a:sym typeface="Symbol" panose="05050102010706020507" pitchFamily="18" charset="2"/>
              </a:rPr>
              <a:t>2</a:t>
            </a:r>
            <a:r>
              <a:rPr lang="it-IT" altLang="it-IT" sz="2000" baseline="30000">
                <a:sym typeface="Symbol" panose="05050102010706020507" pitchFamily="18" charset="2"/>
              </a:rPr>
              <a:t>n</a:t>
            </a:r>
            <a:r>
              <a:rPr lang="it-IT" altLang="it-IT" sz="2000">
                <a:sym typeface="Symbol" panose="05050102010706020507" pitchFamily="18" charset="2"/>
              </a:rPr>
              <a:t> </a:t>
            </a:r>
            <a:r>
              <a:rPr lang="it-IT" altLang="it-IT" sz="2000"/>
              <a:t>–</a:t>
            </a:r>
            <a:r>
              <a:rPr lang="it-IT" altLang="it-IT" sz="2000">
                <a:sym typeface="Symbol" panose="05050102010706020507" pitchFamily="18" charset="2"/>
              </a:rPr>
              <a:t> |x|;		(complementi alla base)</a:t>
            </a:r>
          </a:p>
          <a:p>
            <a:pPr lvl="1" eaLnBrk="1" hangingPunct="1">
              <a:lnSpc>
                <a:spcPct val="90000"/>
              </a:lnSpc>
            </a:pPr>
            <a:r>
              <a:rPr lang="it-IT" altLang="it-IT" sz="2000">
                <a:solidFill>
                  <a:srgbClr val="FF0000"/>
                </a:solidFill>
              </a:rPr>
              <a:t>X=</a:t>
            </a:r>
            <a:r>
              <a:rPr lang="it-IT" altLang="it-IT" sz="2000">
                <a:solidFill>
                  <a:srgbClr val="FF0000"/>
                </a:solidFill>
                <a:sym typeface="Symbol" panose="05050102010706020507" pitchFamily="18" charset="2"/>
              </a:rPr>
              <a:t>2</a:t>
            </a:r>
            <a:r>
              <a:rPr lang="it-IT" altLang="it-IT" sz="2000" baseline="30000">
                <a:solidFill>
                  <a:srgbClr val="FF0000"/>
                </a:solidFill>
                <a:sym typeface="Symbol" panose="05050102010706020507" pitchFamily="18" charset="2"/>
              </a:rPr>
              <a:t>n</a:t>
            </a:r>
            <a:r>
              <a:rPr lang="it-IT" altLang="it-IT" sz="2000">
                <a:solidFill>
                  <a:srgbClr val="FF0000"/>
                </a:solidFill>
                <a:sym typeface="Symbol" panose="05050102010706020507" pitchFamily="18" charset="2"/>
              </a:rPr>
              <a:t> </a:t>
            </a:r>
            <a:r>
              <a:rPr lang="it-IT" altLang="it-IT" sz="2000">
                <a:solidFill>
                  <a:srgbClr val="FF0000"/>
                </a:solidFill>
              </a:rPr>
              <a:t>–</a:t>
            </a:r>
            <a:r>
              <a:rPr lang="it-IT" altLang="it-IT" sz="2000">
                <a:solidFill>
                  <a:srgbClr val="FF0000"/>
                </a:solidFill>
                <a:sym typeface="Symbol" panose="05050102010706020507" pitchFamily="18" charset="2"/>
              </a:rPr>
              <a:t> 1 </a:t>
            </a:r>
            <a:r>
              <a:rPr lang="it-IT" altLang="it-IT" sz="2000">
                <a:solidFill>
                  <a:srgbClr val="FF0000"/>
                </a:solidFill>
              </a:rPr>
              <a:t>–</a:t>
            </a:r>
            <a:r>
              <a:rPr lang="it-IT" altLang="it-IT" sz="2000">
                <a:solidFill>
                  <a:srgbClr val="FF0000"/>
                </a:solidFill>
                <a:sym typeface="Symbol" panose="05050102010706020507" pitchFamily="18" charset="2"/>
              </a:rPr>
              <a:t> |x|;</a:t>
            </a:r>
            <a:r>
              <a:rPr lang="it-IT" altLang="it-IT" sz="2000">
                <a:sym typeface="Symbol" panose="05050102010706020507" pitchFamily="18" charset="2"/>
              </a:rPr>
              <a:t>		(complementi diminuiti)</a:t>
            </a:r>
          </a:p>
          <a:p>
            <a:pPr eaLnBrk="1" hangingPunct="1">
              <a:lnSpc>
                <a:spcPct val="90000"/>
              </a:lnSpc>
            </a:pPr>
            <a:r>
              <a:rPr lang="it-IT" altLang="it-IT" sz="2400">
                <a:sym typeface="Symbol" panose="05050102010706020507" pitchFamily="18" charset="2"/>
              </a:rPr>
              <a:t>I numeri rappresentabili, se si utilizzano n bit, sono quelli compresi nell’intervallo </a:t>
            </a:r>
            <a:r>
              <a:rPr lang="it-IT" altLang="it-IT" sz="2400"/>
              <a:t>[–(2</a:t>
            </a:r>
            <a:r>
              <a:rPr lang="it-IT" altLang="it-IT" sz="2400" baseline="30000"/>
              <a:t>n-1</a:t>
            </a:r>
            <a:r>
              <a:rPr lang="it-IT" altLang="it-IT" sz="2400"/>
              <a:t> – 1); 2</a:t>
            </a:r>
            <a:r>
              <a:rPr lang="it-IT" altLang="it-IT" sz="2400" baseline="30000"/>
              <a:t>n-1</a:t>
            </a:r>
            <a:r>
              <a:rPr lang="it-IT" altLang="it-IT" sz="2400"/>
              <a:t> – 1].</a:t>
            </a:r>
          </a:p>
          <a:p>
            <a:pPr eaLnBrk="1" hangingPunct="1">
              <a:lnSpc>
                <a:spcPct val="90000"/>
              </a:lnSpc>
            </a:pPr>
            <a:r>
              <a:rPr lang="it-IT" altLang="it-IT" sz="2400"/>
              <a:t>Anche in questo caso, quindi, le cifre rappresentabili sono 2</a:t>
            </a:r>
            <a:r>
              <a:rPr lang="it-IT" altLang="it-IT" sz="2400" baseline="30000"/>
              <a:t>n </a:t>
            </a:r>
            <a:r>
              <a:rPr lang="it-IT" altLang="it-IT" sz="2400"/>
              <a:t>–</a:t>
            </a:r>
            <a:r>
              <a:rPr lang="it-IT" altLang="it-IT" sz="2400" baseline="30000"/>
              <a:t> </a:t>
            </a:r>
            <a:r>
              <a:rPr lang="it-IT" altLang="it-IT" sz="2400"/>
              <a:t>1 e ancora una volta è lo zero ad avere una doppia rappresentazione.</a:t>
            </a:r>
            <a:endParaRPr lang="en-GB" altLang="it-IT" sz="240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>
            <a:extLst>
              <a:ext uri="{FF2B5EF4-FFF2-40B4-BE49-F238E27FC236}">
                <a16:creationId xmlns:a16="http://schemas.microsoft.com/office/drawing/2014/main" id="{8EB176EB-F904-DF39-9A9B-82AED1F14E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/>
              <a:t>Esempio</a:t>
            </a:r>
            <a:endParaRPr lang="en-GB" altLang="it-IT"/>
          </a:p>
        </p:txBody>
      </p:sp>
      <p:sp>
        <p:nvSpPr>
          <p:cNvPr id="28674" name="Text Box 3">
            <a:extLst>
              <a:ext uri="{FF2B5EF4-FFF2-40B4-BE49-F238E27FC236}">
                <a16:creationId xmlns:a16="http://schemas.microsoft.com/office/drawing/2014/main" id="{0D8F7D44-DB3B-BB2C-91DC-4949C6F1BC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250" y="3635375"/>
            <a:ext cx="5026025" cy="2227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it-IT" altLang="it-IT" b="0">
                <a:latin typeface="Arial" panose="020B0604020202020204" pitchFamily="34" charset="0"/>
              </a:rPr>
              <a:t>n=4</a:t>
            </a:r>
          </a:p>
          <a:p>
            <a:pPr algn="l" eaLnBrk="1" hangingPunct="1"/>
            <a:r>
              <a:rPr lang="it-IT" altLang="it-IT" b="0">
                <a:latin typeface="Arial" panose="020B0604020202020204" pitchFamily="34" charset="0"/>
              </a:rPr>
              <a:t>Intervallo: [– 7;7]</a:t>
            </a:r>
          </a:p>
          <a:p>
            <a:pPr algn="l" eaLnBrk="1" hangingPunct="1"/>
            <a:r>
              <a:rPr lang="it-IT" altLang="it-IT" b="0">
                <a:latin typeface="Arial" panose="020B0604020202020204" pitchFamily="34" charset="0"/>
              </a:rPr>
              <a:t>Codifica:</a:t>
            </a:r>
          </a:p>
          <a:p>
            <a:pPr algn="l" eaLnBrk="1" hangingPunct="1"/>
            <a:r>
              <a:rPr lang="it-IT" altLang="it-IT" b="0">
                <a:latin typeface="Arial" panose="020B0604020202020204" pitchFamily="34" charset="0"/>
              </a:rPr>
              <a:t>  X=x;		0&lt;=x&lt;=7</a:t>
            </a:r>
          </a:p>
          <a:p>
            <a:pPr algn="l" eaLnBrk="1" hangingPunct="1"/>
            <a:r>
              <a:rPr lang="it-IT" altLang="it-IT" b="0">
                <a:latin typeface="Arial" panose="020B0604020202020204" pitchFamily="34" charset="0"/>
              </a:rPr>
              <a:t>  X= 2</a:t>
            </a:r>
            <a:r>
              <a:rPr lang="it-IT" altLang="it-IT" b="0" baseline="30000">
                <a:latin typeface="Arial" panose="020B0604020202020204" pitchFamily="34" charset="0"/>
              </a:rPr>
              <a:t>n</a:t>
            </a:r>
            <a:r>
              <a:rPr lang="it-IT" altLang="it-IT" b="0">
                <a:latin typeface="Arial" panose="020B0604020202020204" pitchFamily="34" charset="0"/>
              </a:rPr>
              <a:t> – 1 – |x|;	– 7&lt;=x&lt;= – 1</a:t>
            </a:r>
            <a:endParaRPr lang="en-GB" altLang="it-IT" b="0">
              <a:latin typeface="Arial" panose="020B0604020202020204" pitchFamily="34" charset="0"/>
            </a:endParaRPr>
          </a:p>
        </p:txBody>
      </p:sp>
      <p:graphicFrame>
        <p:nvGraphicFramePr>
          <p:cNvPr id="364619" name="Group 75">
            <a:extLst>
              <a:ext uri="{FF2B5EF4-FFF2-40B4-BE49-F238E27FC236}">
                <a16:creationId xmlns:a16="http://schemas.microsoft.com/office/drawing/2014/main" id="{34130425-17D0-E62E-39F3-84E588823371}"/>
              </a:ext>
            </a:extLst>
          </p:cNvPr>
          <p:cNvGraphicFramePr>
            <a:graphicFrameLocks noGrp="1"/>
          </p:cNvGraphicFramePr>
          <p:nvPr/>
        </p:nvGraphicFramePr>
        <p:xfrm>
          <a:off x="6584950" y="1066800"/>
          <a:ext cx="2559050" cy="5608638"/>
        </p:xfrm>
        <a:graphic>
          <a:graphicData uri="http://schemas.openxmlformats.org/drawingml/2006/table">
            <a:tbl>
              <a:tblPr/>
              <a:tblGrid>
                <a:gridCol w="7699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12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5299"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x</a:t>
                      </a:r>
                      <a:endParaRPr kumimoji="0" lang="en-GB" altLang="it-IT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X</a:t>
                      </a:r>
                      <a:r>
                        <a:rPr kumimoji="0" lang="it-IT" altLang="it-IT" sz="16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endParaRPr kumimoji="0" lang="en-GB" altLang="it-IT" sz="16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X</a:t>
                      </a:r>
                      <a:r>
                        <a:rPr kumimoji="0" lang="it-IT" altLang="it-IT" sz="16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  <a:endParaRPr kumimoji="0" lang="en-GB" altLang="it-IT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99"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  <a:endParaRPr kumimoji="0" lang="en-GB" altLang="it-IT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0111</a:t>
                      </a:r>
                      <a:endParaRPr kumimoji="0" lang="en-GB" altLang="it-IT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  <a:endParaRPr kumimoji="0" lang="en-GB" altLang="it-IT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99"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  <a:endParaRPr kumimoji="0" lang="en-GB" altLang="it-IT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0110</a:t>
                      </a:r>
                      <a:endParaRPr kumimoji="0" lang="en-GB" altLang="it-IT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  <a:endParaRPr kumimoji="0" lang="en-GB" altLang="it-IT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99"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  <a:endParaRPr kumimoji="0" lang="en-GB" altLang="it-IT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0101</a:t>
                      </a:r>
                      <a:endParaRPr kumimoji="0" lang="en-GB" altLang="it-IT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  <a:endParaRPr kumimoji="0" lang="en-GB" altLang="it-IT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99"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endParaRPr kumimoji="0" lang="en-GB" altLang="it-IT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0100</a:t>
                      </a:r>
                      <a:endParaRPr kumimoji="0" lang="en-GB" altLang="it-IT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endParaRPr kumimoji="0" lang="en-GB" altLang="it-IT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99"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  <a:endParaRPr kumimoji="0" lang="en-GB" altLang="it-IT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0011</a:t>
                      </a:r>
                      <a:endParaRPr kumimoji="0" lang="en-GB" altLang="it-IT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  <a:endParaRPr kumimoji="0" lang="en-GB" altLang="it-IT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299"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endParaRPr kumimoji="0" lang="en-GB" altLang="it-IT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0010</a:t>
                      </a:r>
                      <a:endParaRPr kumimoji="0" lang="en-GB" altLang="it-IT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endParaRPr kumimoji="0" lang="en-GB" altLang="it-IT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299"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kumimoji="0" lang="en-GB" altLang="it-IT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0001</a:t>
                      </a:r>
                      <a:endParaRPr kumimoji="0" lang="en-GB" altLang="it-IT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kumimoji="0" lang="en-GB" altLang="it-IT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79153"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kumimoji="0" lang="en-GB" altLang="it-IT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0000;1111</a:t>
                      </a:r>
                      <a:endParaRPr kumimoji="0" lang="en-GB" altLang="it-IT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0;15</a:t>
                      </a:r>
                      <a:endParaRPr kumimoji="0" lang="en-GB" altLang="it-IT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299"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-1</a:t>
                      </a:r>
                      <a:endParaRPr kumimoji="0" lang="en-GB" altLang="it-IT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1110</a:t>
                      </a:r>
                      <a:endParaRPr kumimoji="0" lang="en-GB" altLang="it-IT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14</a:t>
                      </a:r>
                      <a:endParaRPr kumimoji="0" lang="en-GB" altLang="it-IT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299"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-2</a:t>
                      </a:r>
                      <a:endParaRPr kumimoji="0" lang="en-GB" altLang="it-IT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1101</a:t>
                      </a:r>
                      <a:endParaRPr kumimoji="0" lang="en-GB" altLang="it-IT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13</a:t>
                      </a:r>
                      <a:endParaRPr kumimoji="0" lang="en-GB" altLang="it-IT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5299"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-3</a:t>
                      </a:r>
                      <a:endParaRPr kumimoji="0" lang="en-GB" altLang="it-IT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1100</a:t>
                      </a:r>
                      <a:endParaRPr kumimoji="0" lang="en-GB" altLang="it-IT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12</a:t>
                      </a:r>
                      <a:endParaRPr kumimoji="0" lang="en-GB" altLang="it-IT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5299"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-4</a:t>
                      </a:r>
                      <a:endParaRPr kumimoji="0" lang="en-GB" altLang="it-IT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1011</a:t>
                      </a:r>
                      <a:endParaRPr kumimoji="0" lang="en-GB" altLang="it-IT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  <a:endParaRPr kumimoji="0" lang="en-GB" altLang="it-IT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35299"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-5</a:t>
                      </a:r>
                      <a:endParaRPr kumimoji="0" lang="en-GB" altLang="it-IT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1010</a:t>
                      </a:r>
                      <a:endParaRPr kumimoji="0" lang="en-GB" altLang="it-IT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  <a:endParaRPr kumimoji="0" lang="en-GB" altLang="it-IT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35299"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-6</a:t>
                      </a:r>
                      <a:endParaRPr kumimoji="0" lang="en-GB" altLang="it-IT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1001</a:t>
                      </a:r>
                      <a:endParaRPr kumimoji="0" lang="en-GB" altLang="it-IT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  <a:endParaRPr kumimoji="0" lang="en-GB" altLang="it-IT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35299"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-7</a:t>
                      </a:r>
                      <a:endParaRPr kumimoji="0" lang="en-GB" altLang="it-IT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1000</a:t>
                      </a:r>
                      <a:endParaRPr kumimoji="0" lang="en-GB" altLang="it-IT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  <a:endParaRPr kumimoji="0" lang="en-GB" altLang="it-IT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28745" name="Text Box 74">
            <a:extLst>
              <a:ext uri="{FF2B5EF4-FFF2-40B4-BE49-F238E27FC236}">
                <a16:creationId xmlns:a16="http://schemas.microsoft.com/office/drawing/2014/main" id="{906193A6-F5AB-4661-73CA-A4589CF8F0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13400" y="1524000"/>
            <a:ext cx="3962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it-IT" sz="2400" b="0"/>
          </a:p>
        </p:txBody>
      </p:sp>
      <p:sp>
        <p:nvSpPr>
          <p:cNvPr id="28746" name="Rectangle 76">
            <a:extLst>
              <a:ext uri="{FF2B5EF4-FFF2-40B4-BE49-F238E27FC236}">
                <a16:creationId xmlns:a16="http://schemas.microsoft.com/office/drawing/2014/main" id="{EAB66A2B-A9A2-0F2B-D404-05CCE9CE2D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500" y="1384300"/>
            <a:ext cx="5473700" cy="1692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b"/>
          <a:lstStyle>
            <a:lvl1pPr algn="ctr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it-IT" altLang="it-IT" sz="3200" b="0">
                <a:latin typeface="Arial" panose="020B0604020202020204" pitchFamily="34" charset="0"/>
              </a:rPr>
              <a:t>Rappresentazione in complementi diminuiti su 4 bit</a:t>
            </a:r>
            <a:endParaRPr lang="en-GB" altLang="it-IT" sz="3200" b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2">
            <a:extLst>
              <a:ext uri="{FF2B5EF4-FFF2-40B4-BE49-F238E27FC236}">
                <a16:creationId xmlns:a16="http://schemas.microsoft.com/office/drawing/2014/main" id="{A25472D7-408F-7FB2-558F-B10619E15F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/>
              <a:t>Esempio</a:t>
            </a:r>
          </a:p>
        </p:txBody>
      </p:sp>
      <p:sp>
        <p:nvSpPr>
          <p:cNvPr id="29698" name="Rectangle 3">
            <a:extLst>
              <a:ext uri="{FF2B5EF4-FFF2-40B4-BE49-F238E27FC236}">
                <a16:creationId xmlns:a16="http://schemas.microsoft.com/office/drawing/2014/main" id="{64DED69B-881C-6D6D-8769-7B2CEF10067E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20688" y="1447800"/>
            <a:ext cx="4532312" cy="4648200"/>
          </a:xfrm>
        </p:spPr>
        <p:txBody>
          <a:bodyPr/>
          <a:lstStyle/>
          <a:p>
            <a:pPr eaLnBrk="1" hangingPunct="1"/>
            <a:r>
              <a:rPr lang="it-IT" altLang="it-IT"/>
              <a:t>Rappresentazione in complementi diminuiti su 4 bit</a:t>
            </a:r>
          </a:p>
          <a:p>
            <a:pPr lvl="1" eaLnBrk="1" hangingPunct="1"/>
            <a:r>
              <a:rPr lang="it-IT" altLang="it-IT"/>
              <a:t>n=4</a:t>
            </a:r>
          </a:p>
          <a:p>
            <a:pPr lvl="1" eaLnBrk="1" hangingPunct="1"/>
            <a:r>
              <a:rPr lang="it-IT" altLang="it-IT"/>
              <a:t>Intervallo: [– 7;7]</a:t>
            </a:r>
          </a:p>
          <a:p>
            <a:pPr lvl="1" eaLnBrk="1" hangingPunct="1"/>
            <a:r>
              <a:rPr lang="it-IT" altLang="it-IT"/>
              <a:t>Codifica</a:t>
            </a:r>
          </a:p>
          <a:p>
            <a:pPr lvl="2" eaLnBrk="1" hangingPunct="1"/>
            <a:r>
              <a:rPr lang="it-IT" altLang="it-IT"/>
              <a:t>X=x;		0&lt;=x&lt;=7</a:t>
            </a:r>
          </a:p>
          <a:p>
            <a:pPr lvl="2" eaLnBrk="1" hangingPunct="1"/>
            <a:r>
              <a:rPr lang="it-IT" altLang="it-IT"/>
              <a:t>X= 2</a:t>
            </a:r>
            <a:r>
              <a:rPr lang="it-IT" altLang="it-IT" baseline="30000"/>
              <a:t>n</a:t>
            </a:r>
            <a:r>
              <a:rPr lang="it-IT" altLang="it-IT"/>
              <a:t> – 1 – |x|;			–7&lt;=x&lt;=–1</a:t>
            </a:r>
          </a:p>
        </p:txBody>
      </p:sp>
      <p:graphicFrame>
        <p:nvGraphicFramePr>
          <p:cNvPr id="395344" name="Group 80">
            <a:extLst>
              <a:ext uri="{FF2B5EF4-FFF2-40B4-BE49-F238E27FC236}">
                <a16:creationId xmlns:a16="http://schemas.microsoft.com/office/drawing/2014/main" id="{327410C9-58D9-ED23-5174-DBBFB60B0539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5411788" y="1470025"/>
          <a:ext cx="2493962" cy="4632768"/>
        </p:xfrm>
        <a:graphic>
          <a:graphicData uri="http://schemas.openxmlformats.org/drawingml/2006/table">
            <a:tbl>
              <a:tblPr/>
              <a:tblGrid>
                <a:gridCol w="5826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3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75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9520"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x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X</a:t>
                      </a:r>
                      <a:r>
                        <a:rPr kumimoji="0" lang="it-IT" altLang="it-IT" sz="13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endParaRPr kumimoji="0" lang="en-GB" altLang="it-IT" sz="13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X</a:t>
                      </a:r>
                      <a:r>
                        <a:rPr kumimoji="0" lang="it-IT" altLang="it-IT" sz="13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9520"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0111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9520"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0110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9520"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0101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9520"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0100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9520"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0011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9520"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0010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9520"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0001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9520"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0000;1111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0;15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9520"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-1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1110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14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9520"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-2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1101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13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9520"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-3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1100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12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9520"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-4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1011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9520"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-5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1010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9520"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-6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1001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89520"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-7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1000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>
            <a:extLst>
              <a:ext uri="{FF2B5EF4-FFF2-40B4-BE49-F238E27FC236}">
                <a16:creationId xmlns:a16="http://schemas.microsoft.com/office/drawing/2014/main" id="{E1CB3516-45D3-1E36-7747-5C9D923061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/>
              <a:t>Complementi diminuiti: perché?</a:t>
            </a:r>
            <a:endParaRPr lang="en-GB" altLang="it-IT"/>
          </a:p>
        </p:txBody>
      </p:sp>
      <p:sp>
        <p:nvSpPr>
          <p:cNvPr id="30722" name="Rectangle 3">
            <a:extLst>
              <a:ext uri="{FF2B5EF4-FFF2-40B4-BE49-F238E27FC236}">
                <a16:creationId xmlns:a16="http://schemas.microsoft.com/office/drawing/2014/main" id="{EDB43012-7ED4-5DE0-5EF6-A1DD0B16F0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20688" y="1219200"/>
            <a:ext cx="9104312" cy="5257800"/>
          </a:xfrm>
        </p:spPr>
        <p:txBody>
          <a:bodyPr/>
          <a:lstStyle/>
          <a:p>
            <a:pPr eaLnBrk="1" hangingPunct="1"/>
            <a:r>
              <a:rPr lang="it-IT" altLang="it-IT" sz="2400"/>
              <a:t>Maggiore semplicità con cui è possibile calcolare la rappresentazione dell’opposto di un numero, a partire dalla rappresentazione del numero stesso: basta semplicemente complementare tutti i bit della rappresentazione indistintamente.	</a:t>
            </a:r>
          </a:p>
          <a:p>
            <a:pPr eaLnBrk="1" hangingPunct="1"/>
            <a:r>
              <a:rPr lang="it-IT" altLang="it-IT" sz="2400"/>
              <a:t>Esempio:</a:t>
            </a:r>
          </a:p>
          <a:p>
            <a:pPr lvl="1" eaLnBrk="1" hangingPunct="1"/>
            <a:r>
              <a:rPr lang="it-IT" altLang="it-IT" sz="2000"/>
              <a:t>la rappresentazione in complementi diminuiti su 4 bit di 4 è 0100;</a:t>
            </a:r>
          </a:p>
          <a:p>
            <a:pPr lvl="1" eaLnBrk="1" hangingPunct="1"/>
            <a:r>
              <a:rPr lang="it-IT" altLang="it-IT" sz="2000"/>
              <a:t>complementando tutti i bit si ottiene 1011;</a:t>
            </a:r>
          </a:p>
          <a:p>
            <a:pPr lvl="1" eaLnBrk="1" hangingPunct="1"/>
            <a:r>
              <a:rPr lang="it-IT" altLang="it-IT" sz="2000"/>
              <a:t>1011 è la rappresentazione in complementi diminuiti su 4 bit di –4.</a:t>
            </a:r>
          </a:p>
          <a:p>
            <a:pPr lvl="1" eaLnBrk="1" hangingPunct="1"/>
            <a:endParaRPr lang="it-IT" altLang="it-IT" sz="2000"/>
          </a:p>
          <a:p>
            <a:pPr lvl="1" eaLnBrk="1" hangingPunct="1"/>
            <a:r>
              <a:rPr lang="it-IT" altLang="it-IT" sz="2000"/>
              <a:t>la rappresentazione in complementi diminuiti su 4 bit di – 6 è 1001;</a:t>
            </a:r>
          </a:p>
          <a:p>
            <a:pPr lvl="1" eaLnBrk="1" hangingPunct="1"/>
            <a:r>
              <a:rPr lang="it-IT" altLang="it-IT" sz="2000"/>
              <a:t>complementando tutti i bit si ottiene 0110;</a:t>
            </a:r>
          </a:p>
          <a:p>
            <a:pPr lvl="1" eaLnBrk="1" hangingPunct="1"/>
            <a:r>
              <a:rPr lang="it-IT" altLang="it-IT" sz="2000"/>
              <a:t>0110 è la rappresentazione in complementi diminuiti su 4 bit di 6.</a:t>
            </a:r>
            <a:endParaRPr lang="en-GB" altLang="it-IT" sz="20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>
            <a:extLst>
              <a:ext uri="{FF2B5EF4-FFF2-40B4-BE49-F238E27FC236}">
                <a16:creationId xmlns:a16="http://schemas.microsoft.com/office/drawing/2014/main" id="{0DF716D5-125D-2B58-A316-39C5AFBE39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20688" y="387350"/>
            <a:ext cx="9180512" cy="444500"/>
          </a:xfrm>
        </p:spPr>
        <p:txBody>
          <a:bodyPr/>
          <a:lstStyle/>
          <a:p>
            <a:pPr eaLnBrk="1" hangingPunct="1"/>
            <a:r>
              <a:rPr lang="it-IT" altLang="it-IT"/>
              <a:t>Aritmetica in complementi diminuiti</a:t>
            </a:r>
            <a:endParaRPr lang="en-GB" altLang="it-IT"/>
          </a:p>
        </p:txBody>
      </p:sp>
      <p:sp>
        <p:nvSpPr>
          <p:cNvPr id="31746" name="Rectangle 3">
            <a:extLst>
              <a:ext uri="{FF2B5EF4-FFF2-40B4-BE49-F238E27FC236}">
                <a16:creationId xmlns:a16="http://schemas.microsoft.com/office/drawing/2014/main" id="{02DE7B2E-B841-45E1-0DDD-6AE27D0C78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20688" y="1143000"/>
            <a:ext cx="8899525" cy="5310188"/>
          </a:xfrm>
        </p:spPr>
        <p:txBody>
          <a:bodyPr/>
          <a:lstStyle/>
          <a:p>
            <a:pPr eaLnBrk="1" hangingPunct="1"/>
            <a:r>
              <a:rPr lang="it-IT" altLang="it-IT" sz="2400"/>
              <a:t>Componenti:</a:t>
            </a:r>
          </a:p>
          <a:p>
            <a:pPr lvl="1" eaLnBrk="1" hangingPunct="1"/>
            <a:r>
              <a:rPr lang="it-IT" altLang="it-IT" sz="2000"/>
              <a:t>Ancora l’addizionatore modulo-2</a:t>
            </a:r>
            <a:r>
              <a:rPr lang="it-IT" altLang="it-IT" sz="2000" baseline="30000"/>
              <a:t>n</a:t>
            </a:r>
            <a:r>
              <a:rPr lang="it-IT" altLang="it-IT" sz="2000"/>
              <a:t> (e non 2</a:t>
            </a:r>
            <a:r>
              <a:rPr lang="it-IT" altLang="it-IT" sz="2000" baseline="30000"/>
              <a:t>n-1</a:t>
            </a:r>
            <a:r>
              <a:rPr lang="it-IT" altLang="it-IT" sz="2000"/>
              <a:t>)</a:t>
            </a:r>
          </a:p>
          <a:p>
            <a:pPr lvl="2" eaLnBrk="1" hangingPunct="1"/>
            <a:r>
              <a:rPr lang="it-IT" altLang="it-IT" sz="2000"/>
              <a:t> L’addizionatore modulo-2</a:t>
            </a:r>
            <a:r>
              <a:rPr lang="it-IT" altLang="it-IT" sz="2000" baseline="30000"/>
              <a:t>n</a:t>
            </a:r>
            <a:r>
              <a:rPr lang="it-IT" altLang="it-IT" sz="2000"/>
              <a:t> è più semplice da realizzare</a:t>
            </a:r>
          </a:p>
          <a:p>
            <a:pPr lvl="1" eaLnBrk="1" hangingPunct="1"/>
            <a:r>
              <a:rPr lang="it-IT" altLang="it-IT" sz="2000"/>
              <a:t>Un complementatore.</a:t>
            </a:r>
          </a:p>
          <a:p>
            <a:pPr eaLnBrk="1" hangingPunct="1"/>
            <a:r>
              <a:rPr lang="it-IT" altLang="it-IT" sz="2400"/>
              <a:t>Il risultato però deve essere opportunamente “corretto” per renderlo compatibile con l’aritmetica in modulo 2</a:t>
            </a:r>
            <a:r>
              <a:rPr lang="it-IT" altLang="it-IT" sz="2400" baseline="30000"/>
              <a:t>n-1</a:t>
            </a:r>
            <a:r>
              <a:rPr lang="it-IT" altLang="it-IT" sz="2400"/>
              <a:t>.</a:t>
            </a:r>
          </a:p>
          <a:p>
            <a:pPr eaLnBrk="1" hangingPunct="1"/>
            <a:r>
              <a:rPr lang="it-IT" altLang="it-IT" sz="2400"/>
              <a:t>In particolare deve essere aggiunta un’unità al risultato nei seguenti casi:</a:t>
            </a:r>
          </a:p>
          <a:p>
            <a:pPr lvl="1" eaLnBrk="1" hangingPunct="1"/>
            <a:r>
              <a:rPr lang="it-IT" altLang="it-IT" sz="2000"/>
              <a:t>se entrambi gli addendi sono negativi;</a:t>
            </a:r>
          </a:p>
          <a:p>
            <a:pPr lvl="1" eaLnBrk="1" hangingPunct="1"/>
            <a:r>
              <a:rPr lang="it-IT" altLang="it-IT" sz="2000"/>
              <a:t>se un addendo è positivo, l’altro negativo e la somma è positiva.</a:t>
            </a:r>
          </a:p>
          <a:p>
            <a:pPr eaLnBrk="1" hangingPunct="1"/>
            <a:r>
              <a:rPr lang="it-IT" altLang="it-IT" sz="2400"/>
              <a:t>Nei casi suddetti l’aritmetica degli interi positivi darebbe overflow</a:t>
            </a:r>
          </a:p>
          <a:p>
            <a:pPr lvl="1" eaLnBrk="1" hangingPunct="1"/>
            <a:r>
              <a:rPr lang="it-IT" altLang="it-IT" sz="2000"/>
              <a:t>L’overflow quindi può essere interpretato come la necessità di effettuare la correzione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>
            <a:extLst>
              <a:ext uri="{FF2B5EF4-FFF2-40B4-BE49-F238E27FC236}">
                <a16:creationId xmlns:a16="http://schemas.microsoft.com/office/drawing/2014/main" id="{578FB2CD-BFAC-9947-C8AB-31FB874651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/>
              <a:t>Esempi di somme in complementi diminuiti.</a:t>
            </a:r>
          </a:p>
        </p:txBody>
      </p:sp>
      <p:sp>
        <p:nvSpPr>
          <p:cNvPr id="32770" name="Text Box 4">
            <a:extLst>
              <a:ext uri="{FF2B5EF4-FFF2-40B4-BE49-F238E27FC236}">
                <a16:creationId xmlns:a16="http://schemas.microsoft.com/office/drawing/2014/main" id="{91CCA42D-1405-3398-C559-9C1EE746EB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425" y="5180013"/>
            <a:ext cx="798513" cy="1069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lg" len="lg"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/>
            <a:r>
              <a:rPr lang="it-IT" altLang="it-IT" sz="1600" b="0">
                <a:latin typeface="Arial" panose="020B0604020202020204" pitchFamily="34" charset="0"/>
              </a:rPr>
              <a:t>3+</a:t>
            </a:r>
          </a:p>
          <a:p>
            <a:pPr algn="r" eaLnBrk="1" hangingPunct="1"/>
            <a:r>
              <a:rPr lang="it-IT" altLang="it-IT" sz="1400" b="0">
                <a:latin typeface="Arial" panose="020B0604020202020204" pitchFamily="34" charset="0"/>
              </a:rPr>
              <a:t>–</a:t>
            </a:r>
            <a:r>
              <a:rPr lang="it-IT" altLang="it-IT" sz="1600" b="0">
                <a:latin typeface="Arial" panose="020B0604020202020204" pitchFamily="34" charset="0"/>
              </a:rPr>
              <a:t> 4=</a:t>
            </a:r>
          </a:p>
          <a:p>
            <a:pPr algn="r" eaLnBrk="1" hangingPunct="1"/>
            <a:r>
              <a:rPr lang="it-IT" altLang="it-IT" sz="1600" b="0">
                <a:latin typeface="Arial" panose="020B0604020202020204" pitchFamily="34" charset="0"/>
              </a:rPr>
              <a:t>---------</a:t>
            </a:r>
          </a:p>
          <a:p>
            <a:pPr algn="r" eaLnBrk="1" hangingPunct="1"/>
            <a:r>
              <a:rPr lang="it-IT" altLang="it-IT" sz="1400" b="0">
                <a:latin typeface="Arial" panose="020B0604020202020204" pitchFamily="34" charset="0"/>
              </a:rPr>
              <a:t>–</a:t>
            </a:r>
            <a:r>
              <a:rPr lang="it-IT" altLang="it-IT" sz="1600" b="0">
                <a:latin typeface="Arial" panose="020B0604020202020204" pitchFamily="34" charset="0"/>
              </a:rPr>
              <a:t> 1  </a:t>
            </a:r>
            <a:endParaRPr lang="en-GB" altLang="it-IT" sz="1600" b="0">
              <a:latin typeface="Arial" panose="020B0604020202020204" pitchFamily="34" charset="0"/>
            </a:endParaRPr>
          </a:p>
        </p:txBody>
      </p:sp>
      <p:sp>
        <p:nvSpPr>
          <p:cNvPr id="32771" name="Line 5">
            <a:extLst>
              <a:ext uri="{FF2B5EF4-FFF2-40B4-BE49-F238E27FC236}">
                <a16:creationId xmlns:a16="http://schemas.microsoft.com/office/drawing/2014/main" id="{817EFB86-C372-C976-F27B-62FE64003ACF}"/>
              </a:ext>
            </a:extLst>
          </p:cNvPr>
          <p:cNvSpPr>
            <a:spLocks noChangeShapeType="1"/>
          </p:cNvSpPr>
          <p:nvPr/>
        </p:nvSpPr>
        <p:spPr bwMode="auto">
          <a:xfrm>
            <a:off x="1425575" y="5881688"/>
            <a:ext cx="660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none" w="lg" len="lg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32772" name="Text Box 6">
            <a:extLst>
              <a:ext uri="{FF2B5EF4-FFF2-40B4-BE49-F238E27FC236}">
                <a16:creationId xmlns:a16="http://schemas.microsoft.com/office/drawing/2014/main" id="{8E833591-E01F-1671-777D-59F1E05336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60638" y="5186363"/>
            <a:ext cx="798512" cy="1069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lg" len="lg"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/>
            <a:r>
              <a:rPr lang="it-IT" altLang="it-IT" sz="1600" b="0">
                <a:latin typeface="Arial" panose="020B0604020202020204" pitchFamily="34" charset="0"/>
              </a:rPr>
              <a:t>0011+</a:t>
            </a:r>
          </a:p>
          <a:p>
            <a:pPr algn="r" eaLnBrk="1" hangingPunct="1"/>
            <a:r>
              <a:rPr lang="it-IT" altLang="it-IT" sz="1600" b="0">
                <a:latin typeface="Arial" panose="020B0604020202020204" pitchFamily="34" charset="0"/>
              </a:rPr>
              <a:t>1011=</a:t>
            </a:r>
          </a:p>
          <a:p>
            <a:pPr algn="r" eaLnBrk="1" hangingPunct="1"/>
            <a:r>
              <a:rPr lang="it-IT" altLang="it-IT" sz="1600" b="0">
                <a:latin typeface="Arial" panose="020B0604020202020204" pitchFamily="34" charset="0"/>
              </a:rPr>
              <a:t>---------</a:t>
            </a:r>
          </a:p>
          <a:p>
            <a:pPr algn="r" eaLnBrk="1" hangingPunct="1"/>
            <a:r>
              <a:rPr lang="it-IT" altLang="it-IT" sz="1600" b="0">
                <a:latin typeface="Arial" panose="020B0604020202020204" pitchFamily="34" charset="0"/>
              </a:rPr>
              <a:t>1110  </a:t>
            </a:r>
            <a:endParaRPr lang="en-GB" altLang="it-IT" sz="1600" b="0">
              <a:latin typeface="Arial" panose="020B0604020202020204" pitchFamily="34" charset="0"/>
            </a:endParaRPr>
          </a:p>
        </p:txBody>
      </p:sp>
      <p:sp>
        <p:nvSpPr>
          <p:cNvPr id="32773" name="Text Box 7">
            <a:extLst>
              <a:ext uri="{FF2B5EF4-FFF2-40B4-BE49-F238E27FC236}">
                <a16:creationId xmlns:a16="http://schemas.microsoft.com/office/drawing/2014/main" id="{09667DC1-EEC7-4098-9BFB-FAF78CE318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44950" y="5410200"/>
            <a:ext cx="4875213" cy="942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lg" len="lg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it-IT" altLang="it-IT" sz="1400" b="0">
                <a:latin typeface="Arial" panose="020B0604020202020204" pitchFamily="34" charset="0"/>
              </a:rPr>
              <a:t>Somma di un numero positivo e un numero negativo.</a:t>
            </a:r>
          </a:p>
          <a:p>
            <a:pPr algn="l" eaLnBrk="1" hangingPunct="1"/>
            <a:r>
              <a:rPr lang="it-IT" altLang="it-IT" sz="1400" b="0">
                <a:latin typeface="Arial" panose="020B0604020202020204" pitchFamily="34" charset="0"/>
              </a:rPr>
              <a:t>Il risultato è negativo.</a:t>
            </a:r>
          </a:p>
          <a:p>
            <a:pPr algn="l" eaLnBrk="1" hangingPunct="1"/>
            <a:r>
              <a:rPr lang="it-IT" altLang="it-IT" sz="1400" b="0">
                <a:latin typeface="Arial" panose="020B0604020202020204" pitchFamily="34" charset="0"/>
              </a:rPr>
              <a:t>Non si è generato overflow nell’aritmetica degli interi positivi</a:t>
            </a:r>
          </a:p>
          <a:p>
            <a:pPr algn="l" eaLnBrk="1" hangingPunct="1"/>
            <a:r>
              <a:rPr lang="it-IT" altLang="it-IT" sz="1400" b="0">
                <a:latin typeface="Arial" panose="020B0604020202020204" pitchFamily="34" charset="0"/>
              </a:rPr>
              <a:t>Non necessita alcuna correzione. </a:t>
            </a:r>
            <a:endParaRPr lang="en-GB" altLang="it-IT" sz="1400" b="0">
              <a:latin typeface="Arial" panose="020B0604020202020204" pitchFamily="34" charset="0"/>
            </a:endParaRPr>
          </a:p>
        </p:txBody>
      </p:sp>
      <p:sp>
        <p:nvSpPr>
          <p:cNvPr id="32774" name="Text Box 8">
            <a:extLst>
              <a:ext uri="{FF2B5EF4-FFF2-40B4-BE49-F238E27FC236}">
                <a16:creationId xmlns:a16="http://schemas.microsoft.com/office/drawing/2014/main" id="{B4C0213B-BFF2-B655-50D7-9E39AE0C6E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425" y="1370013"/>
            <a:ext cx="798513" cy="1069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lg" len="lg"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/>
            <a:r>
              <a:rPr lang="it-IT" altLang="it-IT" sz="1400" b="0">
                <a:latin typeface="Arial" panose="020B0604020202020204" pitchFamily="34" charset="0"/>
              </a:rPr>
              <a:t>–</a:t>
            </a:r>
            <a:r>
              <a:rPr lang="it-IT" altLang="it-IT" sz="1600" b="0">
                <a:latin typeface="Arial" panose="020B0604020202020204" pitchFamily="34" charset="0"/>
              </a:rPr>
              <a:t> 2+</a:t>
            </a:r>
          </a:p>
          <a:p>
            <a:pPr algn="r" eaLnBrk="1" hangingPunct="1"/>
            <a:r>
              <a:rPr lang="it-IT" altLang="it-IT" sz="1400" b="0">
                <a:latin typeface="Arial" panose="020B0604020202020204" pitchFamily="34" charset="0"/>
              </a:rPr>
              <a:t>–</a:t>
            </a:r>
            <a:r>
              <a:rPr lang="it-IT" altLang="it-IT" sz="1600" b="0">
                <a:latin typeface="Arial" panose="020B0604020202020204" pitchFamily="34" charset="0"/>
              </a:rPr>
              <a:t> 3=</a:t>
            </a:r>
          </a:p>
          <a:p>
            <a:pPr algn="r" eaLnBrk="1" hangingPunct="1"/>
            <a:r>
              <a:rPr lang="it-IT" altLang="it-IT" sz="1600" b="0">
                <a:latin typeface="Arial" panose="020B0604020202020204" pitchFamily="34" charset="0"/>
              </a:rPr>
              <a:t>---------</a:t>
            </a:r>
          </a:p>
          <a:p>
            <a:pPr algn="r" eaLnBrk="1" hangingPunct="1"/>
            <a:r>
              <a:rPr lang="it-IT" altLang="it-IT" sz="1400" b="0">
                <a:latin typeface="Arial" panose="020B0604020202020204" pitchFamily="34" charset="0"/>
              </a:rPr>
              <a:t>–</a:t>
            </a:r>
            <a:r>
              <a:rPr lang="it-IT" altLang="it-IT" sz="1600" b="0">
                <a:latin typeface="Arial" panose="020B0604020202020204" pitchFamily="34" charset="0"/>
              </a:rPr>
              <a:t> 5  </a:t>
            </a:r>
            <a:endParaRPr lang="en-GB" altLang="it-IT" sz="1600" b="0">
              <a:latin typeface="Arial" panose="020B0604020202020204" pitchFamily="34" charset="0"/>
            </a:endParaRPr>
          </a:p>
        </p:txBody>
      </p:sp>
      <p:sp>
        <p:nvSpPr>
          <p:cNvPr id="32775" name="Line 9">
            <a:extLst>
              <a:ext uri="{FF2B5EF4-FFF2-40B4-BE49-F238E27FC236}">
                <a16:creationId xmlns:a16="http://schemas.microsoft.com/office/drawing/2014/main" id="{73C925ED-26FB-A333-BBCD-4A20AE5AD2CD}"/>
              </a:ext>
            </a:extLst>
          </p:cNvPr>
          <p:cNvSpPr>
            <a:spLocks noChangeShapeType="1"/>
          </p:cNvSpPr>
          <p:nvPr/>
        </p:nvSpPr>
        <p:spPr bwMode="auto">
          <a:xfrm>
            <a:off x="1425575" y="2071688"/>
            <a:ext cx="660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none" w="lg" len="lg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32776" name="Text Box 10">
            <a:extLst>
              <a:ext uri="{FF2B5EF4-FFF2-40B4-BE49-F238E27FC236}">
                <a16:creationId xmlns:a16="http://schemas.microsoft.com/office/drawing/2014/main" id="{5B30C986-7FCF-C14F-182B-866CA1A6CF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0" y="1376363"/>
            <a:ext cx="850900" cy="180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lg" len="lg"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/>
            <a:r>
              <a:rPr lang="it-IT" altLang="it-IT" sz="1600" b="0">
                <a:latin typeface="Arial" panose="020B0604020202020204" pitchFamily="34" charset="0"/>
              </a:rPr>
              <a:t>1101+</a:t>
            </a:r>
          </a:p>
          <a:p>
            <a:pPr algn="r" eaLnBrk="1" hangingPunct="1"/>
            <a:r>
              <a:rPr lang="it-IT" altLang="it-IT" sz="1600" b="0">
                <a:latin typeface="Arial" panose="020B0604020202020204" pitchFamily="34" charset="0"/>
              </a:rPr>
              <a:t>1100=</a:t>
            </a:r>
          </a:p>
          <a:p>
            <a:pPr algn="r" eaLnBrk="1" hangingPunct="1"/>
            <a:r>
              <a:rPr lang="it-IT" altLang="it-IT" sz="1600" b="0">
                <a:latin typeface="Arial" panose="020B0604020202020204" pitchFamily="34" charset="0"/>
              </a:rPr>
              <a:t>---------</a:t>
            </a:r>
          </a:p>
          <a:p>
            <a:pPr algn="r" eaLnBrk="1" hangingPunct="1"/>
            <a:r>
              <a:rPr lang="it-IT" altLang="it-IT" sz="1600">
                <a:latin typeface="Arial" panose="020B0604020202020204" pitchFamily="34" charset="0"/>
              </a:rPr>
              <a:t>1</a:t>
            </a:r>
            <a:r>
              <a:rPr lang="it-IT" altLang="it-IT" sz="1600" b="0">
                <a:latin typeface="Arial" panose="020B0604020202020204" pitchFamily="34" charset="0"/>
              </a:rPr>
              <a:t>1001</a:t>
            </a:r>
            <a:r>
              <a:rPr lang="it-IT" altLang="it-IT" sz="1400" b="0">
                <a:latin typeface="Arial" panose="020B0604020202020204" pitchFamily="34" charset="0"/>
              </a:rPr>
              <a:t>+</a:t>
            </a:r>
          </a:p>
          <a:p>
            <a:pPr algn="r" eaLnBrk="1" hangingPunct="1"/>
            <a:r>
              <a:rPr lang="it-IT" altLang="it-IT" sz="1600" b="0">
                <a:latin typeface="Arial" panose="020B0604020202020204" pitchFamily="34" charset="0"/>
              </a:rPr>
              <a:t>1=</a:t>
            </a:r>
          </a:p>
          <a:p>
            <a:pPr algn="r" eaLnBrk="1" hangingPunct="1"/>
            <a:r>
              <a:rPr lang="it-IT" altLang="it-IT" sz="1600" b="0">
                <a:latin typeface="Arial" panose="020B0604020202020204" pitchFamily="34" charset="0"/>
              </a:rPr>
              <a:t>---------</a:t>
            </a:r>
          </a:p>
          <a:p>
            <a:pPr algn="r" eaLnBrk="1" hangingPunct="1"/>
            <a:r>
              <a:rPr lang="it-IT" altLang="it-IT" sz="1600" b="0">
                <a:latin typeface="Arial" panose="020B0604020202020204" pitchFamily="34" charset="0"/>
              </a:rPr>
              <a:t>1010  </a:t>
            </a:r>
            <a:endParaRPr lang="en-GB" altLang="it-IT" sz="1600" b="0">
              <a:latin typeface="Arial" panose="020B0604020202020204" pitchFamily="34" charset="0"/>
            </a:endParaRPr>
          </a:p>
        </p:txBody>
      </p:sp>
      <p:sp>
        <p:nvSpPr>
          <p:cNvPr id="32777" name="Text Box 11">
            <a:extLst>
              <a:ext uri="{FF2B5EF4-FFF2-40B4-BE49-F238E27FC236}">
                <a16:creationId xmlns:a16="http://schemas.microsoft.com/office/drawing/2014/main" id="{51081BFC-EC4B-977E-C364-286706F00C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1752600"/>
            <a:ext cx="4579938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lg" len="lg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it-IT" altLang="it-IT" sz="1400" b="0">
                <a:latin typeface="Arial" panose="020B0604020202020204" pitchFamily="34" charset="0"/>
              </a:rPr>
              <a:t>Somma di due numeri negativi.</a:t>
            </a:r>
          </a:p>
          <a:p>
            <a:pPr algn="l" eaLnBrk="1" hangingPunct="1"/>
            <a:r>
              <a:rPr lang="it-IT" altLang="it-IT" sz="1400" b="0">
                <a:latin typeface="Arial" panose="020B0604020202020204" pitchFamily="34" charset="0"/>
              </a:rPr>
              <a:t>Si è generato overflow nell’aritmetica degli interi positivi.</a:t>
            </a:r>
          </a:p>
          <a:p>
            <a:pPr algn="l" eaLnBrk="1" hangingPunct="1"/>
            <a:r>
              <a:rPr lang="it-IT" altLang="it-IT" sz="1600">
                <a:latin typeface="Arial" panose="020B0604020202020204" pitchFamily="34" charset="0"/>
              </a:rPr>
              <a:t>Necessita correzione. </a:t>
            </a:r>
            <a:endParaRPr lang="en-GB" altLang="it-IT" sz="1600">
              <a:latin typeface="Arial" panose="020B0604020202020204" pitchFamily="34" charset="0"/>
            </a:endParaRPr>
          </a:p>
        </p:txBody>
      </p:sp>
      <p:sp>
        <p:nvSpPr>
          <p:cNvPr id="32778" name="Text Box 12">
            <a:extLst>
              <a:ext uri="{FF2B5EF4-FFF2-40B4-BE49-F238E27FC236}">
                <a16:creationId xmlns:a16="http://schemas.microsoft.com/office/drawing/2014/main" id="{95C547CB-F950-0139-E363-35B83DFC97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1963" y="3268663"/>
            <a:ext cx="798512" cy="1069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lg" len="lg"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/>
            <a:r>
              <a:rPr lang="it-IT" altLang="it-IT" sz="1400" b="0">
                <a:latin typeface="Arial" panose="020B0604020202020204" pitchFamily="34" charset="0"/>
              </a:rPr>
              <a:t>5</a:t>
            </a:r>
            <a:r>
              <a:rPr lang="it-IT" altLang="it-IT" sz="1600" b="0">
                <a:latin typeface="Arial" panose="020B0604020202020204" pitchFamily="34" charset="0"/>
              </a:rPr>
              <a:t>+</a:t>
            </a:r>
          </a:p>
          <a:p>
            <a:pPr algn="r" eaLnBrk="1" hangingPunct="1"/>
            <a:r>
              <a:rPr lang="it-IT" altLang="it-IT" sz="1400" b="0">
                <a:latin typeface="Arial" panose="020B0604020202020204" pitchFamily="34" charset="0"/>
              </a:rPr>
              <a:t>–</a:t>
            </a:r>
            <a:r>
              <a:rPr lang="it-IT" altLang="it-IT" sz="1600" b="0">
                <a:latin typeface="Arial" panose="020B0604020202020204" pitchFamily="34" charset="0"/>
              </a:rPr>
              <a:t> 2=</a:t>
            </a:r>
          </a:p>
          <a:p>
            <a:pPr algn="r" eaLnBrk="1" hangingPunct="1"/>
            <a:r>
              <a:rPr lang="it-IT" altLang="it-IT" sz="1600" b="0">
                <a:latin typeface="Arial" panose="020B0604020202020204" pitchFamily="34" charset="0"/>
              </a:rPr>
              <a:t>---------</a:t>
            </a:r>
          </a:p>
          <a:p>
            <a:pPr algn="r" eaLnBrk="1" hangingPunct="1"/>
            <a:r>
              <a:rPr lang="it-IT" altLang="it-IT" sz="1400" b="0">
                <a:latin typeface="Arial" panose="020B0604020202020204" pitchFamily="34" charset="0"/>
              </a:rPr>
              <a:t>3</a:t>
            </a:r>
            <a:r>
              <a:rPr lang="it-IT" altLang="it-IT" sz="1600" b="0">
                <a:latin typeface="Arial" panose="020B0604020202020204" pitchFamily="34" charset="0"/>
              </a:rPr>
              <a:t>  </a:t>
            </a:r>
            <a:endParaRPr lang="en-GB" altLang="it-IT" sz="1600" b="0">
              <a:latin typeface="Arial" panose="020B0604020202020204" pitchFamily="34" charset="0"/>
            </a:endParaRPr>
          </a:p>
        </p:txBody>
      </p:sp>
      <p:sp>
        <p:nvSpPr>
          <p:cNvPr id="32779" name="Line 13">
            <a:extLst>
              <a:ext uri="{FF2B5EF4-FFF2-40B4-BE49-F238E27FC236}">
                <a16:creationId xmlns:a16="http://schemas.microsoft.com/office/drawing/2014/main" id="{691D7C2D-3579-1B07-EEAD-863C445BC2B8}"/>
              </a:ext>
            </a:extLst>
          </p:cNvPr>
          <p:cNvSpPr>
            <a:spLocks noChangeShapeType="1"/>
          </p:cNvSpPr>
          <p:nvPr/>
        </p:nvSpPr>
        <p:spPr bwMode="auto">
          <a:xfrm>
            <a:off x="1408113" y="3970338"/>
            <a:ext cx="660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none" w="lg" len="lg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32780" name="Text Box 14">
            <a:extLst>
              <a:ext uri="{FF2B5EF4-FFF2-40B4-BE49-F238E27FC236}">
                <a16:creationId xmlns:a16="http://schemas.microsoft.com/office/drawing/2014/main" id="{432A17BB-D01C-97F2-B7F8-BB0A2FB71A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90788" y="3275013"/>
            <a:ext cx="850900" cy="180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lg" len="lg"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/>
            <a:r>
              <a:rPr lang="it-IT" altLang="it-IT" sz="1600" b="0">
                <a:latin typeface="Arial" panose="020B0604020202020204" pitchFamily="34" charset="0"/>
              </a:rPr>
              <a:t>0101+</a:t>
            </a:r>
          </a:p>
          <a:p>
            <a:pPr algn="r" eaLnBrk="1" hangingPunct="1"/>
            <a:r>
              <a:rPr lang="it-IT" altLang="it-IT" sz="1600" b="0">
                <a:latin typeface="Arial" panose="020B0604020202020204" pitchFamily="34" charset="0"/>
              </a:rPr>
              <a:t>1101=</a:t>
            </a:r>
          </a:p>
          <a:p>
            <a:pPr algn="r" eaLnBrk="1" hangingPunct="1"/>
            <a:r>
              <a:rPr lang="it-IT" altLang="it-IT" sz="1600" b="0">
                <a:latin typeface="Arial" panose="020B0604020202020204" pitchFamily="34" charset="0"/>
              </a:rPr>
              <a:t>---------</a:t>
            </a:r>
          </a:p>
          <a:p>
            <a:pPr algn="r" eaLnBrk="1" hangingPunct="1"/>
            <a:r>
              <a:rPr lang="it-IT" altLang="it-IT" sz="1600">
                <a:latin typeface="Arial" panose="020B0604020202020204" pitchFamily="34" charset="0"/>
              </a:rPr>
              <a:t>1</a:t>
            </a:r>
            <a:r>
              <a:rPr lang="it-IT" altLang="it-IT" sz="1600" b="0">
                <a:latin typeface="Arial" panose="020B0604020202020204" pitchFamily="34" charset="0"/>
              </a:rPr>
              <a:t>0010</a:t>
            </a:r>
            <a:r>
              <a:rPr lang="it-IT" altLang="it-IT" sz="1400" b="0">
                <a:latin typeface="Arial" panose="020B0604020202020204" pitchFamily="34" charset="0"/>
              </a:rPr>
              <a:t>+</a:t>
            </a:r>
          </a:p>
          <a:p>
            <a:pPr algn="r" eaLnBrk="1" hangingPunct="1"/>
            <a:r>
              <a:rPr lang="it-IT" altLang="it-IT" sz="1600" b="0">
                <a:latin typeface="Arial" panose="020B0604020202020204" pitchFamily="34" charset="0"/>
              </a:rPr>
              <a:t>1=</a:t>
            </a:r>
          </a:p>
          <a:p>
            <a:pPr algn="r" eaLnBrk="1" hangingPunct="1"/>
            <a:r>
              <a:rPr lang="it-IT" altLang="it-IT" sz="1600" b="0">
                <a:latin typeface="Arial" panose="020B0604020202020204" pitchFamily="34" charset="0"/>
              </a:rPr>
              <a:t>---------</a:t>
            </a:r>
          </a:p>
          <a:p>
            <a:pPr algn="r" eaLnBrk="1" hangingPunct="1"/>
            <a:r>
              <a:rPr lang="it-IT" altLang="it-IT" sz="1600" b="0">
                <a:latin typeface="Arial" panose="020B0604020202020204" pitchFamily="34" charset="0"/>
              </a:rPr>
              <a:t>0011  </a:t>
            </a:r>
            <a:endParaRPr lang="en-GB" altLang="it-IT" sz="1600" b="0">
              <a:latin typeface="Arial" panose="020B0604020202020204" pitchFamily="34" charset="0"/>
            </a:endParaRPr>
          </a:p>
        </p:txBody>
      </p:sp>
      <p:sp>
        <p:nvSpPr>
          <p:cNvPr id="32781" name="Line 15">
            <a:extLst>
              <a:ext uri="{FF2B5EF4-FFF2-40B4-BE49-F238E27FC236}">
                <a16:creationId xmlns:a16="http://schemas.microsoft.com/office/drawing/2014/main" id="{0D98AF06-005A-131F-5CC8-0E737879A532}"/>
              </a:ext>
            </a:extLst>
          </p:cNvPr>
          <p:cNvSpPr>
            <a:spLocks noChangeShapeType="1"/>
          </p:cNvSpPr>
          <p:nvPr/>
        </p:nvSpPr>
        <p:spPr bwMode="auto">
          <a:xfrm>
            <a:off x="247650" y="3200400"/>
            <a:ext cx="9245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none" w="lg" len="lg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32782" name="Line 16">
            <a:extLst>
              <a:ext uri="{FF2B5EF4-FFF2-40B4-BE49-F238E27FC236}">
                <a16:creationId xmlns:a16="http://schemas.microsoft.com/office/drawing/2014/main" id="{96D9664F-6DF2-5FA0-1BE8-BEC1CCC29358}"/>
              </a:ext>
            </a:extLst>
          </p:cNvPr>
          <p:cNvSpPr>
            <a:spLocks noChangeShapeType="1"/>
          </p:cNvSpPr>
          <p:nvPr/>
        </p:nvSpPr>
        <p:spPr bwMode="auto">
          <a:xfrm>
            <a:off x="247650" y="5105400"/>
            <a:ext cx="9245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none" w="lg" len="lg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32783" name="Text Box 17">
            <a:extLst>
              <a:ext uri="{FF2B5EF4-FFF2-40B4-BE49-F238E27FC236}">
                <a16:creationId xmlns:a16="http://schemas.microsoft.com/office/drawing/2014/main" id="{BACF878D-9E04-5A67-C067-4E6B3F2833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5425" y="3657600"/>
            <a:ext cx="4530725" cy="974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lg" len="lg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it-IT" altLang="it-IT" sz="1400" b="0">
                <a:latin typeface="Arial" panose="020B0604020202020204" pitchFamily="34" charset="0"/>
              </a:rPr>
              <a:t>Somma di un numero positivo e un numero negativo.</a:t>
            </a:r>
          </a:p>
          <a:p>
            <a:pPr algn="l" eaLnBrk="1" hangingPunct="1"/>
            <a:r>
              <a:rPr lang="it-IT" altLang="it-IT" sz="1400" b="0">
                <a:latin typeface="Arial" panose="020B0604020202020204" pitchFamily="34" charset="0"/>
              </a:rPr>
              <a:t>Il risultato è positivo.</a:t>
            </a:r>
          </a:p>
          <a:p>
            <a:pPr algn="l" eaLnBrk="1" hangingPunct="1"/>
            <a:r>
              <a:rPr lang="it-IT" altLang="it-IT" sz="1400" b="0">
                <a:latin typeface="Arial" panose="020B0604020202020204" pitchFamily="34" charset="0"/>
              </a:rPr>
              <a:t>Si è generato overflow nell’aritmetica degli interi positivi</a:t>
            </a:r>
          </a:p>
          <a:p>
            <a:pPr algn="l" eaLnBrk="1" hangingPunct="1"/>
            <a:r>
              <a:rPr lang="it-IT" altLang="it-IT" sz="1600">
                <a:latin typeface="Arial" panose="020B0604020202020204" pitchFamily="34" charset="0"/>
              </a:rPr>
              <a:t>Necessita correzione. </a:t>
            </a:r>
            <a:endParaRPr lang="en-GB" altLang="it-IT" sz="1600">
              <a:latin typeface="Arial" panose="020B0604020202020204" pitchFamily="34" charset="0"/>
            </a:endParaRPr>
          </a:p>
        </p:txBody>
      </p:sp>
      <p:sp>
        <p:nvSpPr>
          <p:cNvPr id="32784" name="Line 18">
            <a:extLst>
              <a:ext uri="{FF2B5EF4-FFF2-40B4-BE49-F238E27FC236}">
                <a16:creationId xmlns:a16="http://schemas.microsoft.com/office/drawing/2014/main" id="{3DD6BDDC-9075-A20C-4CC0-6B869BEBF98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63750" y="2286000"/>
            <a:ext cx="4953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none" w="lg" len="lg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32785" name="Text Box 19">
            <a:extLst>
              <a:ext uri="{FF2B5EF4-FFF2-40B4-BE49-F238E27FC236}">
                <a16:creationId xmlns:a16="http://schemas.microsoft.com/office/drawing/2014/main" id="{CF54FE74-F919-FCFD-5CD7-E6B188C03D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3200" y="2481263"/>
            <a:ext cx="102076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lg" len="lg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it-IT" altLang="it-IT" sz="1600">
                <a:latin typeface="Arial" panose="020B0604020202020204" pitchFamily="34" charset="0"/>
              </a:rPr>
              <a:t>overflow</a:t>
            </a:r>
            <a:endParaRPr lang="en-GB" altLang="it-IT" sz="1600">
              <a:latin typeface="Arial" panose="020B0604020202020204" pitchFamily="34" charset="0"/>
            </a:endParaRPr>
          </a:p>
        </p:txBody>
      </p:sp>
      <p:sp>
        <p:nvSpPr>
          <p:cNvPr id="32786" name="Line 20">
            <a:extLst>
              <a:ext uri="{FF2B5EF4-FFF2-40B4-BE49-F238E27FC236}">
                <a16:creationId xmlns:a16="http://schemas.microsoft.com/office/drawing/2014/main" id="{9C7A1454-7C60-908B-E3EE-315E4D72C4D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63750" y="4191000"/>
            <a:ext cx="4953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none" w="lg" len="lg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32787" name="Text Box 21">
            <a:extLst>
              <a:ext uri="{FF2B5EF4-FFF2-40B4-BE49-F238E27FC236}">
                <a16:creationId xmlns:a16="http://schemas.microsoft.com/office/drawing/2014/main" id="{C6D6440B-65FB-DBFA-B6FE-AA0A5FC1CE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3200" y="4386263"/>
            <a:ext cx="102076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lg" len="lg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it-IT" altLang="it-IT" sz="1600">
                <a:latin typeface="Arial" panose="020B0604020202020204" pitchFamily="34" charset="0"/>
              </a:rPr>
              <a:t>overflow</a:t>
            </a:r>
            <a:endParaRPr lang="en-GB" altLang="it-IT" sz="16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2">
            <a:extLst>
              <a:ext uri="{FF2B5EF4-FFF2-40B4-BE49-F238E27FC236}">
                <a16:creationId xmlns:a16="http://schemas.microsoft.com/office/drawing/2014/main" id="{4074BDB0-9760-945F-D63D-E8FCAE2484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/>
              <a:t>Rappresentazione eccesso-k</a:t>
            </a:r>
            <a:endParaRPr lang="en-GB" altLang="it-IT"/>
          </a:p>
        </p:txBody>
      </p:sp>
      <p:sp>
        <p:nvSpPr>
          <p:cNvPr id="33794" name="Rectangle 3">
            <a:extLst>
              <a:ext uri="{FF2B5EF4-FFF2-40B4-BE49-F238E27FC236}">
                <a16:creationId xmlns:a16="http://schemas.microsoft.com/office/drawing/2014/main" id="{1DA392B8-1326-C96A-D5C7-9F222A224A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73075" y="1447800"/>
            <a:ext cx="8899525" cy="4648200"/>
          </a:xfrm>
        </p:spPr>
        <p:txBody>
          <a:bodyPr/>
          <a:lstStyle/>
          <a:p>
            <a:pPr eaLnBrk="1" hangingPunct="1"/>
            <a:r>
              <a:rPr lang="it-IT" altLang="it-IT"/>
              <a:t>La rappresentazione in eccesso-k costituisce un metodo diverso da quello dei resti in modulo per ricondurre i numeri negativi a positivi.</a:t>
            </a:r>
          </a:p>
          <a:p>
            <a:pPr eaLnBrk="1" hangingPunct="1"/>
            <a:r>
              <a:rPr lang="it-IT" altLang="it-IT"/>
              <a:t>In particolare, tutti i numeri sono traslati verso l’alto di k, che viene scelto maggiore o uguale al numero più piccolo da rappresentare: X = r(x) = x+k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2">
            <a:extLst>
              <a:ext uri="{FF2B5EF4-FFF2-40B4-BE49-F238E27FC236}">
                <a16:creationId xmlns:a16="http://schemas.microsoft.com/office/drawing/2014/main" id="{A671CFF7-A967-5EFF-20EA-503B07868D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/>
              <a:t>Rappresentazione eccesso-k - Proprietà</a:t>
            </a:r>
            <a:endParaRPr lang="en-GB" altLang="it-IT"/>
          </a:p>
        </p:txBody>
      </p:sp>
      <p:sp>
        <p:nvSpPr>
          <p:cNvPr id="34818" name="Rectangle 3">
            <a:extLst>
              <a:ext uri="{FF2B5EF4-FFF2-40B4-BE49-F238E27FC236}">
                <a16:creationId xmlns:a16="http://schemas.microsoft.com/office/drawing/2014/main" id="{BFC848F2-025F-8A59-02C4-194173CD6C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20688" y="1143000"/>
            <a:ext cx="9104312" cy="5257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it-IT" altLang="it-IT" sz="2600"/>
              <a:t>Analogamente al caso dei complementi diminuiti, la somma va corretta aggiungendo o sottraendo la costante k, e quindi in maniera sufficientemente semplice </a:t>
            </a:r>
          </a:p>
          <a:p>
            <a:pPr eaLnBrk="1" hangingPunct="1">
              <a:lnSpc>
                <a:spcPct val="90000"/>
              </a:lnSpc>
            </a:pPr>
            <a:r>
              <a:rPr lang="it-IT" altLang="it-IT" sz="2600"/>
              <a:t>Le moltiplicazioni e le divisioni risultano invece più complesse.</a:t>
            </a:r>
          </a:p>
          <a:p>
            <a:pPr eaLnBrk="1" hangingPunct="1">
              <a:lnSpc>
                <a:spcPct val="90000"/>
              </a:lnSpc>
            </a:pPr>
            <a:r>
              <a:rPr lang="it-IT" altLang="it-IT" sz="2600"/>
              <a:t>Il vantaggio di tale codifica è che viene conservata la proprietà della disuguaglianza sulle rappresentazioni:</a:t>
            </a:r>
          </a:p>
          <a:p>
            <a:pPr algn="ctr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it-IT" altLang="it-IT" sz="2600">
                <a:sym typeface="Symbol" panose="05050102010706020507" pitchFamily="18" charset="2"/>
              </a:rPr>
              <a:t>x</a:t>
            </a:r>
            <a:r>
              <a:rPr lang="it-IT" altLang="it-IT" sz="2600" baseline="-25000">
                <a:sym typeface="Symbol" panose="05050102010706020507" pitchFamily="18" charset="2"/>
              </a:rPr>
              <a:t>1</a:t>
            </a:r>
            <a:r>
              <a:rPr lang="it-IT" altLang="it-IT" sz="2600">
                <a:sym typeface="Symbol" panose="05050102010706020507" pitchFamily="18" charset="2"/>
              </a:rPr>
              <a:t> &gt; x</a:t>
            </a:r>
            <a:r>
              <a:rPr lang="it-IT" altLang="it-IT" sz="2600" baseline="-25000">
                <a:sym typeface="Symbol" panose="05050102010706020507" pitchFamily="18" charset="2"/>
              </a:rPr>
              <a:t>2</a:t>
            </a:r>
            <a:r>
              <a:rPr lang="it-IT" altLang="it-IT" sz="2600"/>
              <a:t> </a:t>
            </a:r>
            <a:r>
              <a:rPr lang="it-IT" altLang="it-IT" sz="2600">
                <a:sym typeface="Symbol" panose="05050102010706020507" pitchFamily="18" charset="2"/>
              </a:rPr>
              <a:t></a:t>
            </a:r>
            <a:r>
              <a:rPr lang="it-IT" altLang="it-IT" sz="2600"/>
              <a:t> X</a:t>
            </a:r>
            <a:r>
              <a:rPr lang="it-IT" altLang="it-IT" sz="2600" baseline="-25000"/>
              <a:t>1</a:t>
            </a:r>
            <a:r>
              <a:rPr lang="it-IT" altLang="it-IT" sz="2600"/>
              <a:t> &gt; X</a:t>
            </a:r>
            <a:r>
              <a:rPr lang="it-IT" altLang="it-IT" sz="2600" baseline="-25000"/>
              <a:t>2</a:t>
            </a:r>
            <a:endParaRPr lang="it-IT" altLang="it-IT" sz="2600" baseline="-25000"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</a:pPr>
            <a:r>
              <a:rPr lang="it-IT" altLang="it-IT" sz="2600"/>
              <a:t>Questa rappresentazione, perciò, è utilizzata soltanto laddove siano richieste fondamentalmente somme algebriche e confronti logici fra gli operandi.</a:t>
            </a:r>
          </a:p>
          <a:p>
            <a:pPr eaLnBrk="1" hangingPunct="1">
              <a:lnSpc>
                <a:spcPct val="90000"/>
              </a:lnSpc>
            </a:pPr>
            <a:r>
              <a:rPr lang="it-IT" altLang="it-IT" sz="2600"/>
              <a:t>Tipicamente si utilizza per rappresentare gli esponenti nella rappresentazione in virgola mobile</a:t>
            </a:r>
            <a:endParaRPr lang="en-GB" altLang="it-IT" sz="26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2">
            <a:extLst>
              <a:ext uri="{FF2B5EF4-FFF2-40B4-BE49-F238E27FC236}">
                <a16:creationId xmlns:a16="http://schemas.microsoft.com/office/drawing/2014/main" id="{949BAEEA-46B5-D63E-A4D8-90885EBC92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/>
              <a:t>Esempio</a:t>
            </a:r>
          </a:p>
        </p:txBody>
      </p:sp>
      <p:sp>
        <p:nvSpPr>
          <p:cNvPr id="35842" name="Rectangle 3">
            <a:extLst>
              <a:ext uri="{FF2B5EF4-FFF2-40B4-BE49-F238E27FC236}">
                <a16:creationId xmlns:a16="http://schemas.microsoft.com/office/drawing/2014/main" id="{5DB8D76A-1AC2-B8AC-C591-D7FA75576D84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20688" y="1447800"/>
            <a:ext cx="4373562" cy="3360738"/>
          </a:xfrm>
        </p:spPr>
        <p:txBody>
          <a:bodyPr/>
          <a:lstStyle/>
          <a:p>
            <a:pPr eaLnBrk="1" hangingPunct="1"/>
            <a:r>
              <a:rPr lang="it-IT" altLang="it-IT"/>
              <a:t>Rappresentazione in eccesso-8 su 4 bit</a:t>
            </a:r>
          </a:p>
          <a:p>
            <a:pPr lvl="1" eaLnBrk="1" hangingPunct="1"/>
            <a:r>
              <a:rPr lang="it-IT" altLang="it-IT"/>
              <a:t>n=4</a:t>
            </a:r>
          </a:p>
          <a:p>
            <a:pPr lvl="1" eaLnBrk="1" hangingPunct="1"/>
            <a:r>
              <a:rPr lang="it-IT" altLang="it-IT"/>
              <a:t>Intervallo: [–8;7]</a:t>
            </a:r>
          </a:p>
          <a:p>
            <a:pPr lvl="1" eaLnBrk="1" hangingPunct="1"/>
            <a:r>
              <a:rPr lang="it-IT" altLang="it-IT"/>
              <a:t>Codifica:</a:t>
            </a:r>
          </a:p>
          <a:p>
            <a:pPr lvl="2" eaLnBrk="1" hangingPunct="1"/>
            <a:r>
              <a:rPr lang="it-IT" altLang="it-IT"/>
              <a:t>X=x+k;</a:t>
            </a:r>
            <a:endParaRPr lang="en-GB" altLang="it-IT"/>
          </a:p>
          <a:p>
            <a:pPr lvl="1" algn="l" eaLnBrk="1" hangingPunct="1">
              <a:spcBef>
                <a:spcPct val="0"/>
              </a:spcBef>
              <a:buClrTx/>
              <a:buFontTx/>
              <a:buNone/>
            </a:pPr>
            <a:endParaRPr lang="it-IT" altLang="it-IT"/>
          </a:p>
          <a:p>
            <a:pPr lvl="1" eaLnBrk="1" hangingPunct="1"/>
            <a:endParaRPr lang="en-GB" altLang="it-IT"/>
          </a:p>
          <a:p>
            <a:pPr eaLnBrk="1" hangingPunct="1"/>
            <a:endParaRPr lang="it-IT" altLang="it-IT"/>
          </a:p>
        </p:txBody>
      </p:sp>
      <p:graphicFrame>
        <p:nvGraphicFramePr>
          <p:cNvPr id="398421" name="Group 85">
            <a:extLst>
              <a:ext uri="{FF2B5EF4-FFF2-40B4-BE49-F238E27FC236}">
                <a16:creationId xmlns:a16="http://schemas.microsoft.com/office/drawing/2014/main" id="{C0FC470C-E796-296B-F5EF-33E7E288F036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5673725" y="1341438"/>
          <a:ext cx="2279650" cy="4922843"/>
        </p:xfrm>
        <a:graphic>
          <a:graphicData uri="http://schemas.openxmlformats.org/drawingml/2006/table">
            <a:tbl>
              <a:tblPr/>
              <a:tblGrid>
                <a:gridCol w="6588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58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9579"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x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X</a:t>
                      </a:r>
                      <a:r>
                        <a:rPr kumimoji="0" lang="it-IT" altLang="it-IT" sz="13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endParaRPr kumimoji="0" lang="en-GB" altLang="it-IT" sz="13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X</a:t>
                      </a:r>
                      <a:r>
                        <a:rPr kumimoji="0" lang="it-IT" altLang="it-IT" sz="13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9579"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1111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9579"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1110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14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9579"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1101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13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9579"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1100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12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9579"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1011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9579"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1010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9579"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1001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9579"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1000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9579"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-1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0111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9579"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-2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0110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9579"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-3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0101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9579"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-4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0100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9579"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-5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0011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9579"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-6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0010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89579"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-7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0001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89579"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-8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triangl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0000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triangl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kumimoji="0" lang="en-GB" altLang="it-IT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triangl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2">
            <a:extLst>
              <a:ext uri="{FF2B5EF4-FFF2-40B4-BE49-F238E27FC236}">
                <a16:creationId xmlns:a16="http://schemas.microsoft.com/office/drawing/2014/main" id="{5F27DD15-A848-6D32-72A0-952528E4BD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/>
              <a:t>Numeri reali in virgola fissa</a:t>
            </a:r>
            <a:endParaRPr lang="en-GB" altLang="it-IT"/>
          </a:p>
        </p:txBody>
      </p:sp>
      <p:sp>
        <p:nvSpPr>
          <p:cNvPr id="36866" name="Rectangle 3">
            <a:extLst>
              <a:ext uri="{FF2B5EF4-FFF2-40B4-BE49-F238E27FC236}">
                <a16:creationId xmlns:a16="http://schemas.microsoft.com/office/drawing/2014/main" id="{EFB576FB-FB48-FAE5-5D45-618319D07A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it-IT" altLang="it-IT"/>
              <a:t>Quando di un numero frazionario si rappresentano separatamente la parte intera e la parte frazionaria si parla di rappresentazione in </a:t>
            </a:r>
            <a:r>
              <a:rPr lang="it-IT" altLang="it-IT" i="1"/>
              <a:t>virgola fissa</a:t>
            </a:r>
            <a:r>
              <a:rPr lang="it-IT" altLang="it-IT"/>
              <a:t>.</a:t>
            </a:r>
          </a:p>
          <a:p>
            <a:pPr eaLnBrk="1" hangingPunct="1"/>
            <a:r>
              <a:rPr lang="it-IT" altLang="it-IT"/>
              <a:t>La rappresentazione dei due contributi (che sono numeri interi) può essere realizzata secondo una delle tecniche viste in precedenza.</a:t>
            </a:r>
          </a:p>
          <a:p>
            <a:pPr eaLnBrk="1" hangingPunct="1"/>
            <a:r>
              <a:rPr lang="it-IT" altLang="it-IT"/>
              <a:t>In questo caso la posizione della virgola è fissa e resta sottintesa.</a:t>
            </a:r>
            <a:endParaRPr lang="en-GB" altLang="it-IT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2">
            <a:extLst>
              <a:ext uri="{FF2B5EF4-FFF2-40B4-BE49-F238E27FC236}">
                <a16:creationId xmlns:a16="http://schemas.microsoft.com/office/drawing/2014/main" id="{6179FD0C-9ED8-54F8-AB22-92495BE9C3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/>
              <a:t>Numeri reali in virgola mobile</a:t>
            </a:r>
            <a:endParaRPr lang="en-GB" altLang="it-IT"/>
          </a:p>
        </p:txBody>
      </p:sp>
      <p:sp>
        <p:nvSpPr>
          <p:cNvPr id="37890" name="Rectangle 3">
            <a:extLst>
              <a:ext uri="{FF2B5EF4-FFF2-40B4-BE49-F238E27FC236}">
                <a16:creationId xmlns:a16="http://schemas.microsoft.com/office/drawing/2014/main" id="{7A10FD98-FA65-36D4-5156-9A85F9F0E5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it-IT" altLang="it-IT"/>
              <a:t>Un numero reale x può essere rappresentato dalla coppia</a:t>
            </a:r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it-IT" altLang="it-IT"/>
              <a:t>(m,e)</a:t>
            </a:r>
          </a:p>
          <a:p>
            <a:pPr lvl="1" eaLnBrk="1" hangingPunct="1">
              <a:buFontTx/>
              <a:buNone/>
            </a:pPr>
            <a:r>
              <a:rPr lang="it-IT" altLang="it-IT"/>
              <a:t>tale che:</a:t>
            </a:r>
          </a:p>
          <a:p>
            <a:pPr lvl="1" algn="ctr" eaLnBrk="1" hangingPunct="1">
              <a:buFontTx/>
              <a:buNone/>
            </a:pPr>
            <a:r>
              <a:rPr lang="it-IT" altLang="it-IT"/>
              <a:t>x = m</a:t>
            </a:r>
            <a:r>
              <a:rPr lang="it-IT" altLang="it-IT">
                <a:ea typeface="Times New Roman" panose="02020603050405020304" pitchFamily="18" charset="0"/>
                <a:cs typeface="Times New Roman" panose="02020603050405020304" pitchFamily="18" charset="0"/>
              </a:rPr>
              <a:t>*b</a:t>
            </a:r>
            <a:r>
              <a:rPr lang="it-IT" altLang="it-IT" baseline="30000"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it-IT" altLang="it-IT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>
              <a:buFontTx/>
              <a:buNone/>
            </a:pPr>
            <a:r>
              <a:rPr lang="it-IT" altLang="it-IT"/>
              <a:t>dove:</a:t>
            </a:r>
          </a:p>
          <a:p>
            <a:pPr lvl="1" eaLnBrk="1" hangingPunct="1"/>
            <a:r>
              <a:rPr lang="it-IT" altLang="it-IT" i="1"/>
              <a:t>m</a:t>
            </a:r>
            <a:r>
              <a:rPr lang="it-IT" altLang="it-IT"/>
              <a:t> è detta </a:t>
            </a:r>
            <a:r>
              <a:rPr lang="it-IT" altLang="it-IT" i="1"/>
              <a:t>mantissa</a:t>
            </a:r>
            <a:r>
              <a:rPr lang="it-IT" altLang="it-IT"/>
              <a:t>;</a:t>
            </a:r>
          </a:p>
          <a:p>
            <a:pPr lvl="1" eaLnBrk="1" hangingPunct="1"/>
            <a:r>
              <a:rPr lang="it-IT" altLang="it-IT" i="1"/>
              <a:t>e</a:t>
            </a:r>
            <a:r>
              <a:rPr lang="it-IT" altLang="it-IT"/>
              <a:t> è detto </a:t>
            </a:r>
            <a:r>
              <a:rPr lang="it-IT" altLang="it-IT" i="1"/>
              <a:t>esponente</a:t>
            </a:r>
            <a:r>
              <a:rPr lang="it-IT" altLang="it-IT"/>
              <a:t>;</a:t>
            </a:r>
          </a:p>
          <a:p>
            <a:pPr lvl="1" eaLnBrk="1" hangingPunct="1"/>
            <a:r>
              <a:rPr lang="it-IT" altLang="it-IT" i="1"/>
              <a:t>b</a:t>
            </a:r>
            <a:r>
              <a:rPr lang="it-IT" altLang="it-IT"/>
              <a:t> è la base di numerazione adottata.</a:t>
            </a:r>
          </a:p>
          <a:p>
            <a:pPr eaLnBrk="1" hangingPunct="1"/>
            <a:r>
              <a:rPr lang="it-IT" altLang="it-IT"/>
              <a:t>Il metodo, in questo caso, prende il nome di </a:t>
            </a:r>
            <a:r>
              <a:rPr lang="it-IT" altLang="it-IT" i="1"/>
              <a:t>codifica in virgola mobile</a:t>
            </a:r>
            <a:r>
              <a:rPr lang="it-IT" altLang="it-IT"/>
              <a:t>.</a:t>
            </a:r>
            <a:endParaRPr lang="en-GB" altLang="it-IT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2">
            <a:extLst>
              <a:ext uri="{FF2B5EF4-FFF2-40B4-BE49-F238E27FC236}">
                <a16:creationId xmlns:a16="http://schemas.microsoft.com/office/drawing/2014/main" id="{3DC32CE1-A1D1-597E-2871-81835CB890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/>
              <a:t>Normalizzazione</a:t>
            </a:r>
            <a:endParaRPr lang="en-GB" altLang="it-IT"/>
          </a:p>
        </p:txBody>
      </p:sp>
      <p:sp>
        <p:nvSpPr>
          <p:cNvPr id="38914" name="Rectangle 3">
            <a:extLst>
              <a:ext uri="{FF2B5EF4-FFF2-40B4-BE49-F238E27FC236}">
                <a16:creationId xmlns:a16="http://schemas.microsoft.com/office/drawing/2014/main" id="{AA2012EA-8769-52DA-1B2D-E264F447DF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it-IT" altLang="it-IT" sz="2400"/>
              <a:t>Per ciascun numero esistono infinite coppie che lo rappresentano.</a:t>
            </a:r>
          </a:p>
          <a:p>
            <a:pPr eaLnBrk="1" hangingPunct="1"/>
            <a:r>
              <a:rPr lang="it-IT" altLang="it-IT" sz="2400"/>
              <a:t>Esempio (b=10):</a:t>
            </a:r>
          </a:p>
          <a:p>
            <a:pPr lvl="2" eaLnBrk="1" hangingPunct="1"/>
            <a:r>
              <a:rPr lang="it-IT" altLang="it-IT" sz="2000"/>
              <a:t>346.09801 è rappresentato da </a:t>
            </a:r>
          </a:p>
          <a:p>
            <a:pPr lvl="4" eaLnBrk="1" hangingPunct="1"/>
            <a:r>
              <a:rPr lang="it-IT" altLang="it-IT" sz="1800"/>
              <a:t>( 346.09801, 0 ) oppure</a:t>
            </a:r>
          </a:p>
          <a:p>
            <a:pPr lvl="4" eaLnBrk="1" hangingPunct="1"/>
            <a:r>
              <a:rPr lang="it-IT" altLang="it-IT" sz="1800"/>
              <a:t>( 346098.01, -3 ) oppure</a:t>
            </a:r>
          </a:p>
          <a:p>
            <a:pPr lvl="4" eaLnBrk="1" hangingPunct="1"/>
            <a:r>
              <a:rPr lang="it-IT" altLang="it-IT" sz="1800"/>
              <a:t>( 0.034609801, 4 ) etc…</a:t>
            </a:r>
          </a:p>
          <a:p>
            <a:pPr lvl="4" eaLnBrk="1" hangingPunct="1"/>
            <a:endParaRPr lang="it-IT" altLang="it-IT" sz="1800"/>
          </a:p>
          <a:p>
            <a:pPr eaLnBrk="1" hangingPunct="1"/>
            <a:r>
              <a:rPr lang="it-IT" altLang="it-IT" sz="2400"/>
              <a:t>Allo scopo di uniformare le rappresentazioni, si fissa convenzionalmente la posizione della virgola subito dopo la prima cifra significativa, ottenendo l’</a:t>
            </a:r>
            <a:r>
              <a:rPr lang="it-IT" altLang="it-IT" sz="2400" i="1"/>
              <a:t>unico rappresentante</a:t>
            </a:r>
            <a:r>
              <a:rPr lang="it-IT" altLang="it-IT" sz="2400"/>
              <a:t>:</a:t>
            </a:r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it-IT" altLang="it-IT" sz="2400"/>
              <a:t>( 3.4609801, 2 )</a:t>
            </a:r>
          </a:p>
          <a:p>
            <a:pPr eaLnBrk="1" hangingPunct="1"/>
            <a:endParaRPr lang="it-IT" altLang="it-IT" sz="2400"/>
          </a:p>
          <a:p>
            <a:pPr lvl="4" eaLnBrk="1" hangingPunct="1"/>
            <a:endParaRPr lang="it-IT" altLang="it-IT" sz="1800"/>
          </a:p>
          <a:p>
            <a:pPr lvl="4" eaLnBrk="1" hangingPunct="1"/>
            <a:endParaRPr lang="it-IT" altLang="it-IT" sz="1800"/>
          </a:p>
          <a:p>
            <a:pPr lvl="3" eaLnBrk="1" hangingPunct="1"/>
            <a:endParaRPr lang="en-GB" altLang="it-IT" sz="18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2">
            <a:extLst>
              <a:ext uri="{FF2B5EF4-FFF2-40B4-BE49-F238E27FC236}">
                <a16:creationId xmlns:a16="http://schemas.microsoft.com/office/drawing/2014/main" id="{3A264F8D-00D4-87B5-9783-4762BF6C4B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/>
              <a:t>Esempio: intervallo di rappresentazione</a:t>
            </a:r>
            <a:endParaRPr lang="en-GB" altLang="it-IT"/>
          </a:p>
        </p:txBody>
      </p:sp>
      <p:sp>
        <p:nvSpPr>
          <p:cNvPr id="39938" name="Rectangle 3">
            <a:extLst>
              <a:ext uri="{FF2B5EF4-FFF2-40B4-BE49-F238E27FC236}">
                <a16:creationId xmlns:a16="http://schemas.microsoft.com/office/drawing/2014/main" id="{73F7E75C-495A-B332-C50C-55E9D77D56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it-IT" altLang="it-IT"/>
              <a:t>Con b=10, usando 4 cifre per </a:t>
            </a:r>
            <a:r>
              <a:rPr lang="it-IT" altLang="it-IT" i="1"/>
              <a:t>m</a:t>
            </a:r>
            <a:r>
              <a:rPr lang="it-IT" altLang="it-IT"/>
              <a:t> e 2  per </a:t>
            </a:r>
            <a:r>
              <a:rPr lang="it-IT" altLang="it-IT" i="1"/>
              <a:t>e</a:t>
            </a:r>
            <a:r>
              <a:rPr lang="it-IT" altLang="it-IT"/>
              <a:t> (più due bit per i relativi segni), l’insieme rappresentabile (utilizzando solo rappresentazioni normalizzate) è:</a:t>
            </a:r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it-IT" altLang="it-IT"/>
              <a:t>[-9.999</a:t>
            </a:r>
            <a:r>
              <a:rPr lang="it-IT" altLang="it-IT">
                <a:sym typeface="Symbol" panose="05050102010706020507" pitchFamily="18" charset="2"/>
              </a:rPr>
              <a:t>10</a:t>
            </a:r>
            <a:r>
              <a:rPr lang="it-IT" altLang="it-IT" baseline="30000">
                <a:sym typeface="Symbol" panose="05050102010706020507" pitchFamily="18" charset="2"/>
              </a:rPr>
              <a:t>99</a:t>
            </a:r>
            <a:r>
              <a:rPr lang="it-IT" altLang="it-IT">
                <a:sym typeface="Symbol" panose="05050102010706020507" pitchFamily="18" charset="2"/>
              </a:rPr>
              <a:t>,-1.00010</a:t>
            </a:r>
            <a:r>
              <a:rPr lang="it-IT" altLang="it-IT" baseline="30000">
                <a:sym typeface="Symbol" panose="05050102010706020507" pitchFamily="18" charset="2"/>
              </a:rPr>
              <a:t>-99</a:t>
            </a:r>
            <a:r>
              <a:rPr lang="it-IT" altLang="it-IT">
                <a:sym typeface="Symbol" panose="05050102010706020507" pitchFamily="18" charset="2"/>
              </a:rPr>
              <a:t>]{0} </a:t>
            </a:r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it-IT" altLang="it-IT">
                <a:sym typeface="Symbol" panose="05050102010706020507" pitchFamily="18" charset="2"/>
              </a:rPr>
              <a:t></a:t>
            </a:r>
            <a:r>
              <a:rPr lang="it-IT" altLang="it-IT"/>
              <a:t>[+1.000</a:t>
            </a:r>
            <a:r>
              <a:rPr lang="it-IT" altLang="it-IT">
                <a:sym typeface="Symbol" panose="05050102010706020507" pitchFamily="18" charset="2"/>
              </a:rPr>
              <a:t>10</a:t>
            </a:r>
            <a:r>
              <a:rPr lang="it-IT" altLang="it-IT" baseline="30000">
                <a:sym typeface="Symbol" panose="05050102010706020507" pitchFamily="18" charset="2"/>
              </a:rPr>
              <a:t>-99</a:t>
            </a:r>
            <a:r>
              <a:rPr lang="it-IT" altLang="it-IT">
                <a:sym typeface="Symbol" panose="05050102010706020507" pitchFamily="18" charset="2"/>
              </a:rPr>
              <a:t>,+9.99910</a:t>
            </a:r>
            <a:r>
              <a:rPr lang="it-IT" altLang="it-IT" baseline="30000">
                <a:sym typeface="Symbol" panose="05050102010706020507" pitchFamily="18" charset="2"/>
              </a:rPr>
              <a:t>99</a:t>
            </a:r>
            <a:r>
              <a:rPr lang="it-IT" altLang="it-IT">
                <a:sym typeface="Symbol" panose="05050102010706020507" pitchFamily="18" charset="2"/>
              </a:rPr>
              <a:t>]</a:t>
            </a:r>
          </a:p>
        </p:txBody>
      </p:sp>
      <p:sp>
        <p:nvSpPr>
          <p:cNvPr id="39939" name="Line 4">
            <a:extLst>
              <a:ext uri="{FF2B5EF4-FFF2-40B4-BE49-F238E27FC236}">
                <a16:creationId xmlns:a16="http://schemas.microsoft.com/office/drawing/2014/main" id="{76F8D110-1CE8-71C7-75DA-7D64CD15E9C4}"/>
              </a:ext>
            </a:extLst>
          </p:cNvPr>
          <p:cNvSpPr>
            <a:spLocks noChangeShapeType="1"/>
          </p:cNvSpPr>
          <p:nvPr/>
        </p:nvSpPr>
        <p:spPr bwMode="auto">
          <a:xfrm>
            <a:off x="1155700" y="5105400"/>
            <a:ext cx="7594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oval" w="lg" len="lg"/>
            <a:tailEnd type="oval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39940" name="Line 5">
            <a:extLst>
              <a:ext uri="{FF2B5EF4-FFF2-40B4-BE49-F238E27FC236}">
                <a16:creationId xmlns:a16="http://schemas.microsoft.com/office/drawing/2014/main" id="{8A612791-7AEF-2B4D-B8EF-6E0DE13416DF}"/>
              </a:ext>
            </a:extLst>
          </p:cNvPr>
          <p:cNvSpPr>
            <a:spLocks noChangeShapeType="1"/>
          </p:cNvSpPr>
          <p:nvPr/>
        </p:nvSpPr>
        <p:spPr bwMode="auto">
          <a:xfrm>
            <a:off x="1155700" y="5105400"/>
            <a:ext cx="34671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oval" w="med" len="med"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39941" name="Line 6">
            <a:extLst>
              <a:ext uri="{FF2B5EF4-FFF2-40B4-BE49-F238E27FC236}">
                <a16:creationId xmlns:a16="http://schemas.microsoft.com/office/drawing/2014/main" id="{3C45E4A2-550E-C8B1-E380-A73B5B2F9BA9}"/>
              </a:ext>
            </a:extLst>
          </p:cNvPr>
          <p:cNvSpPr>
            <a:spLocks noChangeShapeType="1"/>
          </p:cNvSpPr>
          <p:nvPr/>
        </p:nvSpPr>
        <p:spPr bwMode="auto">
          <a:xfrm>
            <a:off x="5200650" y="5105400"/>
            <a:ext cx="35496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oval" w="med" len="med"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39942" name="Line 7">
            <a:extLst>
              <a:ext uri="{FF2B5EF4-FFF2-40B4-BE49-F238E27FC236}">
                <a16:creationId xmlns:a16="http://schemas.microsoft.com/office/drawing/2014/main" id="{BB4E7E8B-D025-A955-F54A-7FCCD91C1240}"/>
              </a:ext>
            </a:extLst>
          </p:cNvPr>
          <p:cNvSpPr>
            <a:spLocks noChangeShapeType="1"/>
          </p:cNvSpPr>
          <p:nvPr/>
        </p:nvSpPr>
        <p:spPr bwMode="auto">
          <a:xfrm>
            <a:off x="4127500" y="5029200"/>
            <a:ext cx="0" cy="152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lg" len="lg"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39943" name="Line 8">
            <a:extLst>
              <a:ext uri="{FF2B5EF4-FFF2-40B4-BE49-F238E27FC236}">
                <a16:creationId xmlns:a16="http://schemas.microsoft.com/office/drawing/2014/main" id="{2D92B5B7-D566-3313-2EDE-B87E91555E98}"/>
              </a:ext>
            </a:extLst>
          </p:cNvPr>
          <p:cNvSpPr>
            <a:spLocks noChangeShapeType="1"/>
          </p:cNvSpPr>
          <p:nvPr/>
        </p:nvSpPr>
        <p:spPr bwMode="auto">
          <a:xfrm>
            <a:off x="5778500" y="5029200"/>
            <a:ext cx="0" cy="152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lg" len="lg"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39944" name="Oval 9">
            <a:extLst>
              <a:ext uri="{FF2B5EF4-FFF2-40B4-BE49-F238E27FC236}">
                <a16:creationId xmlns:a16="http://schemas.microsoft.com/office/drawing/2014/main" id="{CEBA10B1-019C-FE1C-29D5-F001853127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22825" y="5029200"/>
            <a:ext cx="165100" cy="1524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 type="none" w="lg" len="lg"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39945" name="Text Box 10">
            <a:extLst>
              <a:ext uri="{FF2B5EF4-FFF2-40B4-BE49-F238E27FC236}">
                <a16:creationId xmlns:a16="http://schemas.microsoft.com/office/drawing/2014/main" id="{0AEE1D4D-E648-C6DB-A041-783CC34DCB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0750" y="5100638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lg" len="lg"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it-IT" altLang="it-IT" sz="2400" b="0">
                <a:latin typeface="Arial" panose="020B0604020202020204" pitchFamily="34" charset="0"/>
              </a:rPr>
              <a:t>0</a:t>
            </a:r>
            <a:endParaRPr lang="en-GB" altLang="it-IT" sz="2400" b="0">
              <a:latin typeface="Arial" panose="020B0604020202020204" pitchFamily="34" charset="0"/>
            </a:endParaRPr>
          </a:p>
        </p:txBody>
      </p:sp>
      <p:sp>
        <p:nvSpPr>
          <p:cNvPr id="39946" name="Text Box 11">
            <a:extLst>
              <a:ext uri="{FF2B5EF4-FFF2-40B4-BE49-F238E27FC236}">
                <a16:creationId xmlns:a16="http://schemas.microsoft.com/office/drawing/2014/main" id="{3CD4B434-4935-FD4B-EF72-1AFAC2A9C7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92550" y="5103813"/>
            <a:ext cx="4556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lg" len="lg"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it-IT" altLang="it-IT" sz="2400" b="0">
                <a:latin typeface="Arial" panose="020B0604020202020204" pitchFamily="34" charset="0"/>
              </a:rPr>
              <a:t>-1</a:t>
            </a:r>
            <a:endParaRPr lang="en-GB" altLang="it-IT" sz="2400" b="0">
              <a:latin typeface="Arial" panose="020B0604020202020204" pitchFamily="34" charset="0"/>
            </a:endParaRPr>
          </a:p>
        </p:txBody>
      </p:sp>
      <p:sp>
        <p:nvSpPr>
          <p:cNvPr id="39947" name="Text Box 12">
            <a:extLst>
              <a:ext uri="{FF2B5EF4-FFF2-40B4-BE49-F238E27FC236}">
                <a16:creationId xmlns:a16="http://schemas.microsoft.com/office/drawing/2014/main" id="{ABAF4929-3224-14C2-D8C0-CC013588E3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8150" y="5103813"/>
            <a:ext cx="5318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lg" len="lg"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it-IT" altLang="it-IT" sz="2400" b="0">
                <a:latin typeface="Arial" panose="020B0604020202020204" pitchFamily="34" charset="0"/>
              </a:rPr>
              <a:t>+1</a:t>
            </a:r>
            <a:endParaRPr lang="en-GB" altLang="it-IT" sz="2400" b="0">
              <a:latin typeface="Arial" panose="020B0604020202020204" pitchFamily="34" charset="0"/>
            </a:endParaRPr>
          </a:p>
        </p:txBody>
      </p:sp>
      <p:sp>
        <p:nvSpPr>
          <p:cNvPr id="39948" name="Line 13">
            <a:extLst>
              <a:ext uri="{FF2B5EF4-FFF2-40B4-BE49-F238E27FC236}">
                <a16:creationId xmlns:a16="http://schemas.microsoft.com/office/drawing/2014/main" id="{29556841-CC41-B51D-B64E-BDA32A75169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292600" y="4495800"/>
            <a:ext cx="24765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none" w="lg" len="lg"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39949" name="Text Box 14">
            <a:extLst>
              <a:ext uri="{FF2B5EF4-FFF2-40B4-BE49-F238E27FC236}">
                <a16:creationId xmlns:a16="http://schemas.microsoft.com/office/drawing/2014/main" id="{1B663EB8-9647-9436-DB7A-FFB6930A56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59113" y="4038600"/>
            <a:ext cx="18494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lg" len="lg"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it-IT" altLang="it-IT" sz="2400" b="0">
                <a:latin typeface="Arial" panose="020B0604020202020204" pitchFamily="34" charset="0"/>
                <a:sym typeface="Symbol" panose="05050102010706020507" pitchFamily="18" charset="2"/>
              </a:rPr>
              <a:t>-1.00010</a:t>
            </a:r>
            <a:r>
              <a:rPr lang="it-IT" altLang="it-IT" sz="2400" b="0" baseline="30000">
                <a:latin typeface="Arial" panose="020B0604020202020204" pitchFamily="34" charset="0"/>
                <a:sym typeface="Symbol" panose="05050102010706020507" pitchFamily="18" charset="2"/>
              </a:rPr>
              <a:t>-99</a:t>
            </a:r>
            <a:endParaRPr lang="en-GB" altLang="it-IT" sz="2400" b="0" baseline="3000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39950" name="Text Box 15">
            <a:extLst>
              <a:ext uri="{FF2B5EF4-FFF2-40B4-BE49-F238E27FC236}">
                <a16:creationId xmlns:a16="http://schemas.microsoft.com/office/drawing/2014/main" id="{5C0D0D7A-C6C5-52B0-D82A-FBEB47E699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7313" y="4038600"/>
            <a:ext cx="19256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lg" len="lg"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it-IT" altLang="it-IT" sz="2400" b="0">
                <a:latin typeface="Arial" panose="020B0604020202020204" pitchFamily="34" charset="0"/>
                <a:sym typeface="Symbol" panose="05050102010706020507" pitchFamily="18" charset="2"/>
              </a:rPr>
              <a:t>+1.00010</a:t>
            </a:r>
            <a:r>
              <a:rPr lang="it-IT" altLang="it-IT" sz="2400" b="0" baseline="30000">
                <a:latin typeface="Arial" panose="020B0604020202020204" pitchFamily="34" charset="0"/>
                <a:sym typeface="Symbol" panose="05050102010706020507" pitchFamily="18" charset="2"/>
              </a:rPr>
              <a:t>-99</a:t>
            </a:r>
            <a:endParaRPr lang="en-GB" altLang="it-IT" sz="2400" b="0" baseline="3000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39951" name="Line 16">
            <a:extLst>
              <a:ext uri="{FF2B5EF4-FFF2-40B4-BE49-F238E27FC236}">
                <a16:creationId xmlns:a16="http://schemas.microsoft.com/office/drawing/2014/main" id="{4B6C4430-438E-B331-9A83-F0C4991BC27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83200" y="4495800"/>
            <a:ext cx="330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none" w="lg" len="lg"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39952" name="Text Box 17">
            <a:extLst>
              <a:ext uri="{FF2B5EF4-FFF2-40B4-BE49-F238E27FC236}">
                <a16:creationId xmlns:a16="http://schemas.microsoft.com/office/drawing/2014/main" id="{8712054D-B631-46D3-A962-3E7893A94C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5715000"/>
            <a:ext cx="17811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lg" len="lg"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it-IT" altLang="it-IT" sz="2400" b="0">
                <a:latin typeface="Arial" panose="020B0604020202020204" pitchFamily="34" charset="0"/>
                <a:sym typeface="Symbol" panose="05050102010706020507" pitchFamily="18" charset="2"/>
              </a:rPr>
              <a:t>-9.99910</a:t>
            </a:r>
            <a:r>
              <a:rPr lang="it-IT" altLang="it-IT" sz="2400" b="0" baseline="30000">
                <a:latin typeface="Arial" panose="020B0604020202020204" pitchFamily="34" charset="0"/>
                <a:sym typeface="Symbol" panose="05050102010706020507" pitchFamily="18" charset="2"/>
              </a:rPr>
              <a:t>99</a:t>
            </a:r>
            <a:endParaRPr lang="en-GB" altLang="it-IT" sz="2400" b="0" baseline="3000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39953" name="Text Box 18">
            <a:extLst>
              <a:ext uri="{FF2B5EF4-FFF2-40B4-BE49-F238E27FC236}">
                <a16:creationId xmlns:a16="http://schemas.microsoft.com/office/drawing/2014/main" id="{FE8FD214-EEEE-1D95-2EC1-C4F6CEC7C3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7600" y="5715000"/>
            <a:ext cx="18573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lg" len="lg"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it-IT" altLang="it-IT" sz="2400" b="0">
                <a:latin typeface="Arial" panose="020B0604020202020204" pitchFamily="34" charset="0"/>
                <a:sym typeface="Symbol" panose="05050102010706020507" pitchFamily="18" charset="2"/>
              </a:rPr>
              <a:t>+9.99910</a:t>
            </a:r>
            <a:r>
              <a:rPr lang="it-IT" altLang="it-IT" sz="2400" b="0" baseline="30000">
                <a:latin typeface="Arial" panose="020B0604020202020204" pitchFamily="34" charset="0"/>
                <a:sym typeface="Symbol" panose="05050102010706020507" pitchFamily="18" charset="2"/>
              </a:rPr>
              <a:t>99</a:t>
            </a:r>
            <a:endParaRPr lang="en-GB" altLang="it-IT" sz="2400" b="0" baseline="3000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39954" name="Line 19">
            <a:extLst>
              <a:ext uri="{FF2B5EF4-FFF2-40B4-BE49-F238E27FC236}">
                <a16:creationId xmlns:a16="http://schemas.microsoft.com/office/drawing/2014/main" id="{63A7505B-FAAB-FF83-DC92-5074B8C58AE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502650" y="5257800"/>
            <a:ext cx="1651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none" w="lg" len="lg"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39955" name="Line 20">
            <a:extLst>
              <a:ext uri="{FF2B5EF4-FFF2-40B4-BE49-F238E27FC236}">
                <a16:creationId xmlns:a16="http://schemas.microsoft.com/office/drawing/2014/main" id="{4A8FECF0-FD01-48D7-87E6-A114E577DDA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238250" y="5257800"/>
            <a:ext cx="1651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none" w="lg" len="lg"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it-IT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2">
            <a:extLst>
              <a:ext uri="{FF2B5EF4-FFF2-40B4-BE49-F238E27FC236}">
                <a16:creationId xmlns:a16="http://schemas.microsoft.com/office/drawing/2014/main" id="{B5E77FC2-EB9B-C453-0A0D-149DE8AADD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/>
              <a:t>Overflow e Underflow</a:t>
            </a:r>
            <a:endParaRPr lang="en-GB" altLang="it-IT"/>
          </a:p>
        </p:txBody>
      </p:sp>
      <p:sp>
        <p:nvSpPr>
          <p:cNvPr id="41986" name="Rectangle 3">
            <a:extLst>
              <a:ext uri="{FF2B5EF4-FFF2-40B4-BE49-F238E27FC236}">
                <a16:creationId xmlns:a16="http://schemas.microsoft.com/office/drawing/2014/main" id="{FB934649-5D2B-2CA6-BA75-B92E96D7BF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it-IT" altLang="it-IT"/>
              <a:t>L’errore relativo dipende dal numero di cifre della mantissa.</a:t>
            </a:r>
          </a:p>
          <a:p>
            <a:pPr eaLnBrk="1" hangingPunct="1"/>
            <a:r>
              <a:rPr lang="it-IT" altLang="it-IT"/>
              <a:t>Gli estremi dell’intervallo di rappresentazione dipendono dal numero di cifre dell’esponente.</a:t>
            </a:r>
          </a:p>
          <a:p>
            <a:pPr eaLnBrk="1" hangingPunct="1"/>
            <a:endParaRPr lang="it-IT" altLang="it-IT"/>
          </a:p>
          <a:p>
            <a:pPr eaLnBrk="1" hangingPunct="1"/>
            <a:r>
              <a:rPr lang="it-IT" altLang="it-IT"/>
              <a:t>Nel caso precedente di 2 cifre per l’esponente, si ha overflow per numeri maggiori (in modulo) di 10</a:t>
            </a:r>
            <a:r>
              <a:rPr lang="it-IT" altLang="it-IT" baseline="30000"/>
              <a:t>99</a:t>
            </a:r>
            <a:r>
              <a:rPr lang="it-IT" altLang="it-IT"/>
              <a:t> e si ha underflow per numeri minori (in modulo) di 10</a:t>
            </a:r>
            <a:r>
              <a:rPr lang="it-IT" altLang="it-IT" baseline="30000"/>
              <a:t>-99</a:t>
            </a:r>
            <a:r>
              <a:rPr lang="it-IT" altLang="it-IT"/>
              <a:t>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2">
            <a:extLst>
              <a:ext uri="{FF2B5EF4-FFF2-40B4-BE49-F238E27FC236}">
                <a16:creationId xmlns:a16="http://schemas.microsoft.com/office/drawing/2014/main" id="{653B6403-497D-4E86-2828-6E0A49C603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/>
              <a:t>Approssimazione</a:t>
            </a:r>
            <a:endParaRPr lang="en-GB" altLang="it-IT"/>
          </a:p>
        </p:txBody>
      </p:sp>
      <p:sp>
        <p:nvSpPr>
          <p:cNvPr id="40962" name="Rectangle 3">
            <a:extLst>
              <a:ext uri="{FF2B5EF4-FFF2-40B4-BE49-F238E27FC236}">
                <a16:creationId xmlns:a16="http://schemas.microsoft.com/office/drawing/2014/main" id="{2F1A297A-0FD8-E953-CF79-E6EBC33161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20688" y="1219200"/>
            <a:ext cx="9104312" cy="5257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it-IT" altLang="it-IT" sz="2400"/>
              <a:t>Come è facile verificare, in questo tipo di rappresentazione l’approssimazione non è costante.</a:t>
            </a:r>
          </a:p>
          <a:p>
            <a:pPr eaLnBrk="1" hangingPunct="1">
              <a:lnSpc>
                <a:spcPct val="90000"/>
              </a:lnSpc>
            </a:pPr>
            <a:r>
              <a:rPr lang="it-IT" altLang="it-IT" sz="2400"/>
              <a:t>In particolare la precisione assoluta è molto spinta in prossimità dello zero e va diminuendo progressivamente a mano a mano che il numero aumenta (in valore assoluto).</a:t>
            </a:r>
          </a:p>
          <a:p>
            <a:pPr eaLnBrk="1" hangingPunct="1">
              <a:lnSpc>
                <a:spcPct val="90000"/>
              </a:lnSpc>
            </a:pPr>
            <a:r>
              <a:rPr lang="it-IT" altLang="it-IT" sz="2400"/>
              <a:t>Ad esempio:</a:t>
            </a:r>
          </a:p>
          <a:p>
            <a:pPr lvl="1" eaLnBrk="1" hangingPunct="1">
              <a:lnSpc>
                <a:spcPct val="90000"/>
              </a:lnSpc>
            </a:pPr>
            <a:r>
              <a:rPr lang="it-IT" altLang="it-IT" sz="2000"/>
              <a:t>in prossimità dello zero l’errore massimo che può essere commesso è pari a </a:t>
            </a:r>
            <a:r>
              <a:rPr lang="it-IT" altLang="it-IT" sz="2000">
                <a:sym typeface="Symbol" panose="05050102010706020507" pitchFamily="18" charset="2"/>
              </a:rPr>
              <a:t>1.001*10</a:t>
            </a:r>
            <a:r>
              <a:rPr lang="it-IT" altLang="it-IT" sz="2000" baseline="30000">
                <a:sym typeface="Symbol" panose="05050102010706020507" pitchFamily="18" charset="2"/>
              </a:rPr>
              <a:t>-99</a:t>
            </a:r>
            <a:r>
              <a:rPr lang="it-IT" altLang="it-IT" sz="2000">
                <a:sym typeface="Symbol" panose="05050102010706020507" pitchFamily="18" charset="2"/>
              </a:rPr>
              <a:t>- 1.000*10</a:t>
            </a:r>
            <a:r>
              <a:rPr lang="it-IT" altLang="it-IT" sz="2000" baseline="30000">
                <a:sym typeface="Symbol" panose="05050102010706020507" pitchFamily="18" charset="2"/>
              </a:rPr>
              <a:t>-99= </a:t>
            </a:r>
            <a:r>
              <a:rPr lang="it-IT" altLang="it-IT" sz="2000">
                <a:sym typeface="Symbol" panose="05050102010706020507" pitchFamily="18" charset="2"/>
              </a:rPr>
              <a:t>0.001*10</a:t>
            </a:r>
            <a:r>
              <a:rPr lang="it-IT" altLang="it-IT" sz="2000" baseline="30000">
                <a:sym typeface="Symbol" panose="05050102010706020507" pitchFamily="18" charset="2"/>
              </a:rPr>
              <a:t>-99</a:t>
            </a:r>
            <a:r>
              <a:rPr lang="it-IT" altLang="it-IT" sz="2000">
                <a:sym typeface="Symbol" panose="05050102010706020507" pitchFamily="18" charset="2"/>
              </a:rPr>
              <a:t>;</a:t>
            </a:r>
          </a:p>
          <a:p>
            <a:pPr lvl="1" eaLnBrk="1" hangingPunct="1">
              <a:lnSpc>
                <a:spcPct val="90000"/>
              </a:lnSpc>
            </a:pPr>
            <a:r>
              <a:rPr lang="it-IT" altLang="it-IT" sz="2000">
                <a:sym typeface="Symbol" panose="05050102010706020507" pitchFamily="18" charset="2"/>
              </a:rPr>
              <a:t>in prossimità dell’estremo superiore dell’intervallo di rappresentazione, invece, l’errore massimo che si può commettere è 9.999*10</a:t>
            </a:r>
            <a:r>
              <a:rPr lang="it-IT" altLang="it-IT" sz="2000" baseline="30000">
                <a:sym typeface="Symbol" panose="05050102010706020507" pitchFamily="18" charset="2"/>
              </a:rPr>
              <a:t>99</a:t>
            </a:r>
            <a:r>
              <a:rPr lang="it-IT" altLang="it-IT" sz="2000">
                <a:sym typeface="Symbol" panose="05050102010706020507" pitchFamily="18" charset="2"/>
              </a:rPr>
              <a:t>-9.998 *10</a:t>
            </a:r>
            <a:r>
              <a:rPr lang="it-IT" altLang="it-IT" sz="2000" baseline="30000">
                <a:sym typeface="Symbol" panose="05050102010706020507" pitchFamily="18" charset="2"/>
              </a:rPr>
              <a:t>99</a:t>
            </a:r>
            <a:r>
              <a:rPr lang="it-IT" altLang="it-IT" sz="2000">
                <a:sym typeface="Symbol" panose="05050102010706020507" pitchFamily="18" charset="2"/>
              </a:rPr>
              <a:t>=0.001 *10</a:t>
            </a:r>
            <a:r>
              <a:rPr lang="it-IT" altLang="it-IT" sz="2000" baseline="30000">
                <a:sym typeface="Symbol" panose="05050102010706020507" pitchFamily="18" charset="2"/>
              </a:rPr>
              <a:t>99</a:t>
            </a:r>
            <a:r>
              <a:rPr lang="it-IT" altLang="it-IT" sz="2000">
                <a:sym typeface="Symbol" panose="05050102010706020507" pitchFamily="18" charset="2"/>
              </a:rPr>
              <a:t>.</a:t>
            </a:r>
          </a:p>
          <a:p>
            <a:pPr eaLnBrk="1" hangingPunct="1">
              <a:lnSpc>
                <a:spcPct val="90000"/>
              </a:lnSpc>
            </a:pPr>
            <a:r>
              <a:rPr lang="it-IT" altLang="it-IT" sz="2400">
                <a:sym typeface="Symbol" panose="05050102010706020507" pitchFamily="18" charset="2"/>
              </a:rPr>
              <a:t>Si commettono quindi “errori piccoli” su “numeri piccoli” ed “errori grandi” su “numeri grandi”.</a:t>
            </a:r>
          </a:p>
          <a:p>
            <a:pPr eaLnBrk="1" hangingPunct="1">
              <a:lnSpc>
                <a:spcPct val="90000"/>
              </a:lnSpc>
            </a:pPr>
            <a:r>
              <a:rPr lang="it-IT" altLang="it-IT" sz="2400">
                <a:sym typeface="Symbol" panose="05050102010706020507" pitchFamily="18" charset="2"/>
              </a:rPr>
              <a:t>Quello che resta inalterato è invece l’errore relativo, costante su tutto l’asse di rappresentabilità.</a:t>
            </a:r>
            <a:endParaRPr lang="en-GB" altLang="it-IT" sz="240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oppialc">
  <a:themeElements>
    <a:clrScheme name="">
      <a:dk1>
        <a:srgbClr val="000000"/>
      </a:dk1>
      <a:lt1>
        <a:srgbClr val="FFFFFF"/>
      </a:lt1>
      <a:dk2>
        <a:srgbClr val="006B61"/>
      </a:dk2>
      <a:lt2>
        <a:srgbClr val="C0C0C0"/>
      </a:lt2>
      <a:accent1>
        <a:srgbClr val="FF00FF"/>
      </a:accent1>
      <a:accent2>
        <a:srgbClr val="00C0C0"/>
      </a:accent2>
      <a:accent3>
        <a:srgbClr val="FFFFFF"/>
      </a:accent3>
      <a:accent4>
        <a:srgbClr val="000000"/>
      </a:accent4>
      <a:accent5>
        <a:srgbClr val="FFAAFF"/>
      </a:accent5>
      <a:accent6>
        <a:srgbClr val="00AEAE"/>
      </a:accent6>
      <a:hlink>
        <a:srgbClr val="00C000"/>
      </a:hlink>
      <a:folHlink>
        <a:srgbClr val="800080"/>
      </a:folHlink>
    </a:clrScheme>
    <a:fontScheme name="doppial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triangle" w="lg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it-IT" altLang="it-IT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triangle" w="lg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it-IT" altLang="it-IT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doppialc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oppial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oppialc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oppialc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oppialc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oppialc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oppialc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F36501F82A52044904E2AA776D592FE" ma:contentTypeVersion="7" ma:contentTypeDescription="Create a new document." ma:contentTypeScope="" ma:versionID="ac12382b13ceaf092b54f0e0c65626fa">
  <xsd:schema xmlns:xsd="http://www.w3.org/2001/XMLSchema" xmlns:xs="http://www.w3.org/2001/XMLSchema" xmlns:p="http://schemas.microsoft.com/office/2006/metadata/properties" xmlns:ns2="6e71ac32-155a-4619-8d53-7abf123e0249" targetNamespace="http://schemas.microsoft.com/office/2006/metadata/properties" ma:root="true" ma:fieldsID="e5af121a0c3934511d7015a115c26a1d" ns2:_="">
    <xsd:import namespace="6e71ac32-155a-4619-8d53-7abf123e024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71ac32-155a-4619-8d53-7abf123e024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C173BE8-5BDB-4170-8257-3E76F86EE3C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e71ac32-155a-4619-8d53-7abf123e024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9657091-01C7-440C-9432-02A884208865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475331DD-C3A2-490D-A226-B04297B5365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c:\powerpnt\modelli\lucidicl\doppialc.ppt</Template>
  <TotalTime>4</TotalTime>
  <Pages>39</Pages>
  <Words>3303</Words>
  <Application>Microsoft Office PowerPoint</Application>
  <PresentationFormat>A4 (21x29,7 cm)</PresentationFormat>
  <Paragraphs>665</Paragraphs>
  <Slides>38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38</vt:i4>
      </vt:variant>
    </vt:vector>
  </HeadingPairs>
  <TitlesOfParts>
    <vt:vector size="39" baseType="lpstr">
      <vt:lpstr>doppialc</vt:lpstr>
      <vt:lpstr>La Rappresentazione dei Numeri</vt:lpstr>
      <vt:lpstr>Sommario</vt:lpstr>
      <vt:lpstr>Introduzione</vt:lpstr>
      <vt:lpstr>Strategie di codifica</vt:lpstr>
      <vt:lpstr>Overflow - Definizione</vt:lpstr>
      <vt:lpstr>Overflow - Esempio</vt:lpstr>
      <vt:lpstr>Errore di approssimazione</vt:lpstr>
      <vt:lpstr>Underflow</vt:lpstr>
      <vt:lpstr>Rappresentazione dei numeri naturali</vt:lpstr>
      <vt:lpstr>Esempio</vt:lpstr>
      <vt:lpstr>Operazioni sui numeri naturali su 4 bit</vt:lpstr>
      <vt:lpstr>Esempi</vt:lpstr>
      <vt:lpstr>Rappresentazione in segno e modulo – 1/2</vt:lpstr>
      <vt:lpstr>Rappresentazione in segno e modulo – 2/2</vt:lpstr>
      <vt:lpstr>Esempio</vt:lpstr>
      <vt:lpstr>Operazioni in segno e modulo su 4 bit</vt:lpstr>
      <vt:lpstr>Rappresentazione in complementi alla base</vt:lpstr>
      <vt:lpstr>Esempio</vt:lpstr>
      <vt:lpstr>Complementi alla base: proprietà</vt:lpstr>
      <vt:lpstr>Esempi di addizioni in complementi alla base</vt:lpstr>
      <vt:lpstr>Complementi alla base: la complementazione</vt:lpstr>
      <vt:lpstr>Esempi di complementazione su 4 bit</vt:lpstr>
      <vt:lpstr>Esempio di moltiplicazione in complementi alla base</vt:lpstr>
      <vt:lpstr>Complementi diminuiti</vt:lpstr>
      <vt:lpstr>Esempio</vt:lpstr>
      <vt:lpstr>Esempio</vt:lpstr>
      <vt:lpstr>Complementi diminuiti: perché?</vt:lpstr>
      <vt:lpstr>Aritmetica in complementi diminuiti</vt:lpstr>
      <vt:lpstr>Esempi di somme in complementi diminuiti.</vt:lpstr>
      <vt:lpstr>Rappresentazione eccesso-k</vt:lpstr>
      <vt:lpstr>Rappresentazione eccesso-k - Proprietà</vt:lpstr>
      <vt:lpstr>Esempio</vt:lpstr>
      <vt:lpstr>Numeri reali in virgola fissa</vt:lpstr>
      <vt:lpstr>Numeri reali in virgola mobile</vt:lpstr>
      <vt:lpstr>Normalizzazione</vt:lpstr>
      <vt:lpstr>Esempio: intervallo di rappresentazione</vt:lpstr>
      <vt:lpstr>Overflow e Underflow</vt:lpstr>
      <vt:lpstr>Approssimazione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rete atm seminario</dc:title>
  <dc:subject/>
  <dc:creator/>
  <cp:keywords/>
  <dc:description/>
  <cp:lastModifiedBy>VALENTINA CASOLA</cp:lastModifiedBy>
  <cp:revision>252</cp:revision>
  <cp:lastPrinted>1999-05-26T13:44:20Z</cp:lastPrinted>
  <dcterms:created xsi:type="dcterms:W3CDTF">1996-03-27T11:34:30Z</dcterms:created>
  <dcterms:modified xsi:type="dcterms:W3CDTF">2026-05-19T14:59:12Z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0x0101005F36501F82A52044904E2AA776D592FE</vt:lpwstr>
  </property>
</Properties>
</file>