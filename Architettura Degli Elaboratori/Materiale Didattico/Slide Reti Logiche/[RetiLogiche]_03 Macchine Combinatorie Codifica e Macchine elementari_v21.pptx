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11"/>
  </p:notesMasterIdLst>
  <p:handoutMasterIdLst>
    <p:handoutMasterId r:id="rId112"/>
  </p:handoutMasterIdLst>
  <p:sldIdLst>
    <p:sldId id="256" r:id="rId5"/>
    <p:sldId id="281" r:id="rId6"/>
    <p:sldId id="294" r:id="rId7"/>
    <p:sldId id="295" r:id="rId8"/>
    <p:sldId id="305" r:id="rId9"/>
    <p:sldId id="306" r:id="rId10"/>
    <p:sldId id="297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9" r:id="rId22"/>
    <p:sldId id="317" r:id="rId23"/>
    <p:sldId id="318" r:id="rId24"/>
    <p:sldId id="260" r:id="rId25"/>
    <p:sldId id="261" r:id="rId26"/>
    <p:sldId id="262" r:id="rId27"/>
    <p:sldId id="289" r:id="rId28"/>
    <p:sldId id="276" r:id="rId29"/>
    <p:sldId id="277" r:id="rId30"/>
    <p:sldId id="278" r:id="rId31"/>
    <p:sldId id="290" r:id="rId32"/>
    <p:sldId id="263" r:id="rId33"/>
    <p:sldId id="337" r:id="rId34"/>
    <p:sldId id="338" r:id="rId35"/>
    <p:sldId id="320" r:id="rId36"/>
    <p:sldId id="321" r:id="rId37"/>
    <p:sldId id="324" r:id="rId38"/>
    <p:sldId id="325" r:id="rId39"/>
    <p:sldId id="326" r:id="rId40"/>
    <p:sldId id="266" r:id="rId41"/>
    <p:sldId id="293" r:id="rId42"/>
    <p:sldId id="292" r:id="rId43"/>
    <p:sldId id="267" r:id="rId44"/>
    <p:sldId id="327" r:id="rId45"/>
    <p:sldId id="328" r:id="rId46"/>
    <p:sldId id="329" r:id="rId47"/>
    <p:sldId id="330" r:id="rId48"/>
    <p:sldId id="296" r:id="rId49"/>
    <p:sldId id="274" r:id="rId50"/>
    <p:sldId id="282" r:id="rId51"/>
    <p:sldId id="268" r:id="rId52"/>
    <p:sldId id="331" r:id="rId53"/>
    <p:sldId id="275" r:id="rId54"/>
    <p:sldId id="269" r:id="rId55"/>
    <p:sldId id="389" r:id="rId56"/>
    <p:sldId id="390" r:id="rId57"/>
    <p:sldId id="391" r:id="rId58"/>
    <p:sldId id="392" r:id="rId59"/>
    <p:sldId id="393" r:id="rId60"/>
    <p:sldId id="394" r:id="rId61"/>
    <p:sldId id="288" r:id="rId62"/>
    <p:sldId id="283" r:id="rId63"/>
    <p:sldId id="346" r:id="rId64"/>
    <p:sldId id="284" r:id="rId65"/>
    <p:sldId id="285" r:id="rId66"/>
    <p:sldId id="340" r:id="rId67"/>
    <p:sldId id="341" r:id="rId68"/>
    <p:sldId id="342" r:id="rId69"/>
    <p:sldId id="343" r:id="rId70"/>
    <p:sldId id="344" r:id="rId71"/>
    <p:sldId id="345" r:id="rId72"/>
    <p:sldId id="302" r:id="rId73"/>
    <p:sldId id="298" r:id="rId74"/>
    <p:sldId id="299" r:id="rId75"/>
    <p:sldId id="300" r:id="rId76"/>
    <p:sldId id="301" r:id="rId77"/>
    <p:sldId id="347" r:id="rId78"/>
    <p:sldId id="348" r:id="rId79"/>
    <p:sldId id="349" r:id="rId80"/>
    <p:sldId id="350" r:id="rId81"/>
    <p:sldId id="351" r:id="rId82"/>
    <p:sldId id="352" r:id="rId83"/>
    <p:sldId id="381" r:id="rId84"/>
    <p:sldId id="353" r:id="rId85"/>
    <p:sldId id="354" r:id="rId86"/>
    <p:sldId id="355" r:id="rId87"/>
    <p:sldId id="356" r:id="rId88"/>
    <p:sldId id="357" r:id="rId89"/>
    <p:sldId id="361" r:id="rId90"/>
    <p:sldId id="362" r:id="rId91"/>
    <p:sldId id="363" r:id="rId92"/>
    <p:sldId id="364" r:id="rId93"/>
    <p:sldId id="365" r:id="rId94"/>
    <p:sldId id="366" r:id="rId95"/>
    <p:sldId id="367" r:id="rId96"/>
    <p:sldId id="368" r:id="rId97"/>
    <p:sldId id="369" r:id="rId98"/>
    <p:sldId id="370" r:id="rId99"/>
    <p:sldId id="372" r:id="rId100"/>
    <p:sldId id="371" r:id="rId101"/>
    <p:sldId id="303" r:id="rId102"/>
    <p:sldId id="382" r:id="rId103"/>
    <p:sldId id="383" r:id="rId104"/>
    <p:sldId id="384" r:id="rId105"/>
    <p:sldId id="385" r:id="rId106"/>
    <p:sldId id="386" r:id="rId107"/>
    <p:sldId id="387" r:id="rId108"/>
    <p:sldId id="388" r:id="rId109"/>
    <p:sldId id="304" r:id="rId110"/>
  </p:sldIdLst>
  <p:sldSz cx="9906000" cy="6858000" type="A4"/>
  <p:notesSz cx="7300913" cy="95869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B9D63-A19B-85A1-4C86-9731AE933D0A}" v="1" dt="2026-03-18T15:09:33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8"/>
    <p:restoredTop sz="94649"/>
  </p:normalViewPr>
  <p:slideViewPr>
    <p:cSldViewPr snapToObjects="1">
      <p:cViewPr varScale="1">
        <p:scale>
          <a:sx n="92" d="100"/>
          <a:sy n="92" d="100"/>
        </p:scale>
        <p:origin x="1448" y="1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microsoft.com/office/2016/11/relationships/changesInfo" Target="changesInfos/changesInfo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presProps" Target="presProps.xml"/><Relationship Id="rId118" Type="http://schemas.microsoft.com/office/2015/10/relationships/revisionInfo" Target="revisionInfo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1.xml"/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ZAPPOLI" userId="S::f.zappoli@studenti.unina.it::afcf2a90-be09-4188-b199-639d58b03d2b" providerId="AD" clId="Web-{543B9D63-A19B-85A1-4C86-9731AE933D0A}"/>
    <pc:docChg chg="modSld">
      <pc:chgData name="FRANCO ZAPPOLI" userId="S::f.zappoli@studenti.unina.it::afcf2a90-be09-4188-b199-639d58b03d2b" providerId="AD" clId="Web-{543B9D63-A19B-85A1-4C86-9731AE933D0A}" dt="2026-03-18T15:09:33.425" v="0" actId="1076"/>
      <pc:docMkLst>
        <pc:docMk/>
      </pc:docMkLst>
      <pc:sldChg chg="modSp">
        <pc:chgData name="FRANCO ZAPPOLI" userId="S::f.zappoli@studenti.unina.it::afcf2a90-be09-4188-b199-639d58b03d2b" providerId="AD" clId="Web-{543B9D63-A19B-85A1-4C86-9731AE933D0A}" dt="2026-03-18T15:09:33.425" v="0" actId="1076"/>
        <pc:sldMkLst>
          <pc:docMk/>
          <pc:sldMk cId="0" sldId="299"/>
        </pc:sldMkLst>
        <pc:picChg chg="mod">
          <ac:chgData name="FRANCO ZAPPOLI" userId="S::f.zappoli@studenti.unina.it::afcf2a90-be09-4188-b199-639d58b03d2b" providerId="AD" clId="Web-{543B9D63-A19B-85A1-4C86-9731AE933D0A}" dt="2026-03-18T15:09:33.425" v="0" actId="1076"/>
          <ac:picMkLst>
            <pc:docMk/>
            <pc:sldMk cId="0" sldId="299"/>
            <ac:picMk id="102410" creationId="{568F3511-108D-ADB0-B085-63E4EF69E0BE}"/>
          </ac:picMkLst>
        </pc:picChg>
      </pc:sldChg>
    </pc:docChg>
  </pc:docChgLst>
  <pc:docChgLst>
    <pc:chgData name="FRANCO ZAPPOLI" userId="S::f.zappoli@studenti.unina.it::afcf2a90-be09-4188-b199-639d58b03d2b" providerId="AD" clId="Web-{7D55B8AF-CEF6-3429-8557-F0077DB17A50}"/>
    <pc:docChg chg="modSld">
      <pc:chgData name="FRANCO ZAPPOLI" userId="S::f.zappoli@studenti.unina.it::afcf2a90-be09-4188-b199-639d58b03d2b" providerId="AD" clId="Web-{7D55B8AF-CEF6-3429-8557-F0077DB17A50}" dt="2026-03-13T10:15:56.129" v="0" actId="1076"/>
      <pc:docMkLst>
        <pc:docMk/>
      </pc:docMkLst>
      <pc:sldChg chg="modSp">
        <pc:chgData name="FRANCO ZAPPOLI" userId="S::f.zappoli@studenti.unina.it::afcf2a90-be09-4188-b199-639d58b03d2b" providerId="AD" clId="Web-{7D55B8AF-CEF6-3429-8557-F0077DB17A50}" dt="2026-03-13T10:15:56.129" v="0" actId="1076"/>
        <pc:sldMkLst>
          <pc:docMk/>
          <pc:sldMk cId="0" sldId="313"/>
        </pc:sldMkLst>
        <pc:graphicFrameChg chg="mod">
          <ac:chgData name="FRANCO ZAPPOLI" userId="S::f.zappoli@studenti.unina.it::afcf2a90-be09-4188-b199-639d58b03d2b" providerId="AD" clId="Web-{7D55B8AF-CEF6-3429-8557-F0077DB17A50}" dt="2026-03-13T10:15:56.129" v="0" actId="1076"/>
          <ac:graphicFrameMkLst>
            <pc:docMk/>
            <pc:sldMk cId="0" sldId="313"/>
            <ac:graphicFrameMk id="32771" creationId="{4D64480F-1C07-113D-35A7-C74AF3A45E1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68AD4C-40F4-5D88-42C5-A70AB29B14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838EB3A-90F8-7463-5FAA-3DC8FB1FC1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F396FE5-A22A-8CAB-1D9F-9B91223C05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37C70D-2E80-0198-90E0-F1F83B3A30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/>
            </a:lvl1pPr>
          </a:lstStyle>
          <a:p>
            <a:pPr>
              <a:defRPr/>
            </a:pPr>
            <a:fld id="{0F1B9D64-6380-4AE2-9032-D4793893A37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64BBE60-7B48-A551-2B8A-25E1405F48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937B760-DC6A-3C48-22D9-B71E74516B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56B6118-58FB-11C2-200A-36AFB0A662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36EC1BF-FAEA-3739-C940-D850A4A635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/>
            </a:lvl1pPr>
          </a:lstStyle>
          <a:p>
            <a:pPr>
              <a:defRPr/>
            </a:pPr>
            <a:fld id="{56B7DF70-089C-42D8-8B02-B6F22E05D28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FD0B7B8-172C-364C-3C1E-D448BF3844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6125"/>
            <a:ext cx="5353050" cy="403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7" tIns="47714" rIns="95427" bIns="47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delle note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5BF99004-6793-DDE7-82AA-F9D4D092DA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23963" y="836613"/>
            <a:ext cx="4851400" cy="3357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1930BE9C-5B31-0FA3-D16B-DD7649D399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BE00FD-9F4D-4F7C-A8D9-ADEDD12408DA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8468699F-B027-4B9F-CF51-5F46E32EA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3E1CEF8-3178-A2EB-7D49-0AC3B16F6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Notazioni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Cardinalità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Insistere sulla natura finita di R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Discretizzazione di insiemi continui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4404FF1-4A32-E705-3122-E3EE32253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BD52036-FC1D-4C16-92B8-8730937B873D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0D12F37-ED96-CEA3-9B5D-7A7FC6281E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67E2231-E995-1B91-C840-84964130A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Esempio: i numeri di telefono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Le istruzioni in linguaggio macchina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Esemplificare mettendo in evidenza il ruolo del prefisso e sottolineando I trade-off possibili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Il risparmio di tempo dipende dal tipo di operazioni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Algoritmi di codifica/decodifica più complessi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19FEF21C-2D83-D06B-0869-207BEB93E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CD29D5-2DA7-4699-A627-B282663EE872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BC2A15DC-5C4E-2A12-BAC3-2E30FD645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3EF1559-F64D-7E66-87E0-341902761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Esempio: i numeri di telefono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Le istruzioni in linguaggio macchina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Esemplificare mettendo in evidenza il ruolo del prefisso e sottolineando I trade-off possibili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Il risparmio di tempo dipende dal tipo di operazioni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Algoritmi di codifica/decodifica più complessi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5">
            <a:extLst>
              <a:ext uri="{FF2B5EF4-FFF2-40B4-BE49-F238E27FC236}">
                <a16:creationId xmlns:a16="http://schemas.microsoft.com/office/drawing/2014/main" id="{9E1C5D11-0DAD-9A88-BE9C-6621D0393B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78C4B5-EE0E-4C4D-8188-C39F8B9106DE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22B927D-C222-1183-1B9B-80549AEED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BFCABD1-12B1-84F7-8F09-289C830EF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5">
            <a:extLst>
              <a:ext uri="{FF2B5EF4-FFF2-40B4-BE49-F238E27FC236}">
                <a16:creationId xmlns:a16="http://schemas.microsoft.com/office/drawing/2014/main" id="{57B8AD67-E09C-655C-94FC-7D74A5E1CF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C5D62C7-26B7-46A1-8144-2F8E471E83E3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E2D8E3E3-8725-EA26-26DD-52143D386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08DFAC7-A8F2-27AC-B5F5-F694EF30B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egnaposto immagine diapositiva 1">
            <a:extLst>
              <a:ext uri="{FF2B5EF4-FFF2-40B4-BE49-F238E27FC236}">
                <a16:creationId xmlns:a16="http://schemas.microsoft.com/office/drawing/2014/main" id="{EFBA42C6-42BD-6E7C-8D2B-53ECFB03A6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Segnaposto note 2">
            <a:extLst>
              <a:ext uri="{FF2B5EF4-FFF2-40B4-BE49-F238E27FC236}">
                <a16:creationId xmlns:a16="http://schemas.microsoft.com/office/drawing/2014/main" id="{5DB6B75F-3F5F-A46C-1233-5F20D95F2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alto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F in posizione x: P0, Quello in posizione 0; P1 quello in posizione 1; P2, quello in posizione 2…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7" name="Segnaposto numero diapositiva 3">
            <a:extLst>
              <a:ext uri="{FF2B5EF4-FFF2-40B4-BE49-F238E27FC236}">
                <a16:creationId xmlns:a16="http://schemas.microsoft.com/office/drawing/2014/main" id="{8C9A28B9-0A3D-4691-5E96-FFA051E04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EC2E031-ED84-429F-92DA-353BC1067E0E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egnaposto immagine diapositiva 1">
            <a:extLst>
              <a:ext uri="{FF2B5EF4-FFF2-40B4-BE49-F238E27FC236}">
                <a16:creationId xmlns:a16="http://schemas.microsoft.com/office/drawing/2014/main" id="{CD4ED212-52AA-1780-D8D1-12604ECF3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Segnaposto note 2">
            <a:extLst>
              <a:ext uri="{FF2B5EF4-FFF2-40B4-BE49-F238E27FC236}">
                <a16:creationId xmlns:a16="http://schemas.microsoft.com/office/drawing/2014/main" id="{8E140B6C-CA4E-E903-8D8E-91A282D2E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Usando i punti di don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t care… esempio di F2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9395" name="Segnaposto numero diapositiva 3">
            <a:extLst>
              <a:ext uri="{FF2B5EF4-FFF2-40B4-BE49-F238E27FC236}">
                <a16:creationId xmlns:a16="http://schemas.microsoft.com/office/drawing/2014/main" id="{9B2E15F0-7F56-0DDB-FD8C-EE0CB5A92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D460BC-2D54-4F47-974D-C6B3E83761BE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5">
            <a:extLst>
              <a:ext uri="{FF2B5EF4-FFF2-40B4-BE49-F238E27FC236}">
                <a16:creationId xmlns:a16="http://schemas.microsoft.com/office/drawing/2014/main" id="{9B103F54-4CEB-83C0-137A-A314182DDF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47C9D4-7150-4F84-B395-CEF8435BA683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37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0E001960-2B7A-2461-B0DE-44BAF19DFB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0B0DCF9-8EF3-956B-8A46-8EAB4CFAB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5">
            <a:extLst>
              <a:ext uri="{FF2B5EF4-FFF2-40B4-BE49-F238E27FC236}">
                <a16:creationId xmlns:a16="http://schemas.microsoft.com/office/drawing/2014/main" id="{DCF68523-DCA2-799B-9495-BFFDE7AE2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36057B-2A1C-46C2-9576-3EBF383354FE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38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3F82DE6-CF13-FF52-8A95-8DEB7041C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4EEA8F0-34AA-1828-B14E-B5F5B915A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1" tIns="46550" rIns="93101" bIns="46550"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5">
            <a:extLst>
              <a:ext uri="{FF2B5EF4-FFF2-40B4-BE49-F238E27FC236}">
                <a16:creationId xmlns:a16="http://schemas.microsoft.com/office/drawing/2014/main" id="{69D8F57F-EF84-894B-7929-394DCB717C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1E46A0-7377-43D7-B0EF-C72235D60D41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39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9845F625-A520-FC59-9439-A9D43BE38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BDC8AC5-B5C9-C9A8-05AB-EA4DA63E1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1" tIns="46550" rIns="93101" bIns="46550"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egnaposto immagine diapositiva 1">
            <a:extLst>
              <a:ext uri="{FF2B5EF4-FFF2-40B4-BE49-F238E27FC236}">
                <a16:creationId xmlns:a16="http://schemas.microsoft.com/office/drawing/2014/main" id="{36AAE4B0-9426-994F-A604-CC392E333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Segnaposto note 2">
            <a:extLst>
              <a:ext uri="{FF2B5EF4-FFF2-40B4-BE49-F238E27FC236}">
                <a16:creationId xmlns:a16="http://schemas.microsoft.com/office/drawing/2014/main" id="{25E1EE98-FCB6-D507-18AF-91CC0B8EA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Fai vedere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esempio dicendo: se entra F1 esce 1? Se entra F9 esce 9?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Rappresentazione decodificata di 8 + rappresentazione decodificata di 9</a:t>
            </a:r>
          </a:p>
        </p:txBody>
      </p:sp>
      <p:sp>
        <p:nvSpPr>
          <p:cNvPr id="72707" name="Segnaposto numero diapositiva 3">
            <a:extLst>
              <a:ext uri="{FF2B5EF4-FFF2-40B4-BE49-F238E27FC236}">
                <a16:creationId xmlns:a16="http://schemas.microsoft.com/office/drawing/2014/main" id="{84D18A14-7F65-66AC-98E5-730242096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CE4E79C-1B90-4EEF-8247-8CA41C9F1699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6CE9A600-F6F0-1A4E-6A84-5BFD2900C7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202393A-E2C6-429B-87AE-43EC8C9006B9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79D5F56A-C11F-D290-5480-A17E5E6561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55CEE67-18A5-8013-AF56-A9C646559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8E81035C-4ACE-A276-08E5-23267D2F73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9E6AFC-90B6-4564-A032-51AA361787A7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4E6E30FD-969D-5E46-F158-83A729D495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FCE416A-34D8-8A4C-411F-0F68817CC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>
            <a:extLst>
              <a:ext uri="{FF2B5EF4-FFF2-40B4-BE49-F238E27FC236}">
                <a16:creationId xmlns:a16="http://schemas.microsoft.com/office/drawing/2014/main" id="{DE2CEDAD-5B91-9301-C3F0-AC6BD615E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E0C677-3DAD-4906-8251-67F62E757081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101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B808C2D1-8943-C5D6-2418-AD5C73AFA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AA8743AD-DD5E-EA1A-B586-B5D8DCDDE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>
            <a:extLst>
              <a:ext uri="{FF2B5EF4-FFF2-40B4-BE49-F238E27FC236}">
                <a16:creationId xmlns:a16="http://schemas.microsoft.com/office/drawing/2014/main" id="{757276CE-FDE5-9EF5-FD1D-2942A3349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19E279-5662-4AF0-964C-C70302AAEA9B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102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103AAF62-DC90-3F86-72AA-88CFE80582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EF8028F1-FB22-B340-0A0F-1F1690FF8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Gli errori producono un interpretazione errata di uno o più bit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ridondanti che rilevano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che permettono la correzione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CRC e altri metodi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>
            <a:extLst>
              <a:ext uri="{FF2B5EF4-FFF2-40B4-BE49-F238E27FC236}">
                <a16:creationId xmlns:a16="http://schemas.microsoft.com/office/drawing/2014/main" id="{07D9F3B4-30B9-E7D3-3E83-9AF2C5292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3442DB-720F-4E6F-8F0E-7C0871C0FA72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466CD3C7-46C5-4CB0-6A16-FEA10FB81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6FF7AF92-56E5-5A61-D054-6D598C847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Gli errori producono un interpretazione errata di uno o più bit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ridondanti che rilevano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che permettono la correzione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CRC e altri metodi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>
            <a:extLst>
              <a:ext uri="{FF2B5EF4-FFF2-40B4-BE49-F238E27FC236}">
                <a16:creationId xmlns:a16="http://schemas.microsoft.com/office/drawing/2014/main" id="{5E0CDF4A-BE3A-1800-F875-53A7E018A9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254C97-04F0-479E-A692-3CF479B30E6B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8C8C1CEA-B0E6-FB7D-119A-E8F2F8FEC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DAC21945-ED02-5056-BE0D-2C33A92A4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7">
            <a:extLst>
              <a:ext uri="{FF2B5EF4-FFF2-40B4-BE49-F238E27FC236}">
                <a16:creationId xmlns:a16="http://schemas.microsoft.com/office/drawing/2014/main" id="{D47757D1-D831-DBD8-8917-DA35B3DB2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8CA130-4364-4E8C-876B-E80039C70D43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0FB4FEDD-26C1-63D8-1CA1-352EA979D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3B2F605D-745E-B18F-6C05-795CDEEE6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548BF1-CA58-D4F0-01CF-BA57B9FA1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586626-632D-A90A-5597-59E513F75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371E387-A89B-6F9D-67CC-F18078BE6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089FD-8587-4331-B4CF-B2A36009933B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1436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B45683-04AB-321A-27F0-292A55A5B1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C62696-CADF-BAFB-9F8C-264663E07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8A725F7-13B1-9E52-EA53-3005500CE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3A8BA-E7B7-442F-B59A-A8E39EE1D24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2056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E84633-2E1E-42E9-5EDD-735C99967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14DB131-FAEB-1484-6DC7-80A434767F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3C3FE3A-9347-6133-5BA7-CC9274647B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F6770-301C-45B8-B500-7B459C52AC97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8216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136140-EC74-9C9B-FB27-E9BF1FE33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303892E-7714-BBE9-96D4-FAA7A416B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F38DC2A-57CA-6351-79B5-D90A02F789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3A4BF-7BDA-49ED-81C8-A769304B20A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9647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019A25-9136-A07C-E0C8-3854C2FB04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ED348F7-16C0-1613-7AAE-5A0F177D3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83DC3F0-D174-C833-282C-FDAE20A52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0F1AA-3DB8-4267-9F67-CAF4F42CD41D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9402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A9708-94D0-43B1-0596-A319D8703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1E00A-4663-E720-3648-EB2DE37FC0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551EE2-01D3-18B4-A632-6C71ACE33E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5F898-7843-4A8D-BF33-EBD3B6ACE89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0753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C0987E-5326-3DE9-94FF-8BB53F7D0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9037A1A-1FD2-7CDE-BC5A-164DFF2BE9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E183EE-2EAF-558B-FB86-4217E695C5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0BAFC-A83F-4733-BD2F-BB38C3F475C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6843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1715F1-89B7-E784-7386-14497ED064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04594C2-12B0-E3A0-1174-A5E67DE2B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A0C379-F9A4-312D-712C-AE9BA81482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E19CC-279B-420F-B2AD-A543F71DF17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0961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CE972-5F5D-71F9-65CF-E0BF97BFFA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FB185D-B90C-AE81-E38B-C71DFFB9ED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8F5EC22-B831-5330-C92D-68474AE5A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17221-8C75-45B8-B91A-EE7F6973150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809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447DF6-BDA7-A84D-431A-07E1878BA3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637E6F-8D23-0159-B9D0-6186D7576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FF2D6D-A276-4A45-1679-33D68A1F62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45546-DE65-4831-91E5-F6FD843BA51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5542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96125" y="387350"/>
            <a:ext cx="2224088" cy="57086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20688" y="387350"/>
            <a:ext cx="6523037" cy="57086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58BA55-056B-13BE-EED8-50F80A519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D59027-5FF1-3101-8402-90E6CE41E1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6E54FDC-2D72-F610-8FD9-2AD2D50824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6CB60-D504-43BA-968D-A9903010B2BE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40932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5950" y="387350"/>
            <a:ext cx="8674100" cy="4445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2E4555-1EF5-8681-26E1-A8810E3E3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8F6D008-C209-3990-A3CE-63EAAFE7E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A44D8-6B40-2AAE-24A2-CA3E19E8AD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7D027B-8D80-4DB9-B0EA-FCFD8B8B5541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796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">
            <a:extLst>
              <a:ext uri="{FF2B5EF4-FFF2-40B4-BE49-F238E27FC236}">
                <a16:creationId xmlns:a16="http://schemas.microsoft.com/office/drawing/2014/main" id="{7AA8EEFB-C886-B533-21C1-38F7A621E7C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76300"/>
            <a:ext cx="9906000" cy="233363"/>
            <a:chOff x="0" y="624"/>
            <a:chExt cx="6232" cy="192"/>
          </a:xfrm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B4EB0317-6E5A-FB72-061B-087E20498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>
                <a:latin typeface="Arial" panose="020B0604020202020204" pitchFamily="34" charset="0"/>
              </a:endParaRPr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43788319-AF13-D139-A8A6-99F2CEFE4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>
                <a:latin typeface="Arial" panose="020B0604020202020204" pitchFamily="34" charset="0"/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48866" y="171451"/>
            <a:ext cx="8915400" cy="9112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95300" y="1314451"/>
            <a:ext cx="4375150" cy="48164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3555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503555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E72D670-8AEB-21E4-241C-7D696C0C4A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110A2-CC4C-4F7C-B34E-67BDDEFF0CF5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8022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10">
            <a:extLst>
              <a:ext uri="{FF2B5EF4-FFF2-40B4-BE49-F238E27FC236}">
                <a16:creationId xmlns:a16="http://schemas.microsoft.com/office/drawing/2014/main" id="{D79EB5A8-883A-B16D-5723-F452C96A91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38200"/>
            <a:ext cx="10082213" cy="322263"/>
            <a:chOff x="0" y="624"/>
            <a:chExt cx="6232" cy="192"/>
          </a:xfrm>
        </p:grpSpPr>
        <p:sp>
          <p:nvSpPr>
            <p:cNvPr id="8" name="Rectangle 111">
              <a:extLst>
                <a:ext uri="{FF2B5EF4-FFF2-40B4-BE49-F238E27FC236}">
                  <a16:creationId xmlns:a16="http://schemas.microsoft.com/office/drawing/2014/main" id="{B8393A38-1B4D-FFE7-38A0-1563D641E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9" name="Rectangle 112">
              <a:extLst>
                <a:ext uri="{FF2B5EF4-FFF2-40B4-BE49-F238E27FC236}">
                  <a16:creationId xmlns:a16="http://schemas.microsoft.com/office/drawing/2014/main" id="{233AC260-62D3-2DBF-6EF2-63E32F58B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448867" y="171451"/>
            <a:ext cx="8915400" cy="9112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9530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3555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9530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555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0" name="Segnaposto piè di pagina 6">
            <a:extLst>
              <a:ext uri="{FF2B5EF4-FFF2-40B4-BE49-F238E27FC236}">
                <a16:creationId xmlns:a16="http://schemas.microsoft.com/office/drawing/2014/main" id="{C9DDBFFE-7F50-3469-5C61-00C8B6CE2B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14650" y="6265863"/>
            <a:ext cx="4527550" cy="458787"/>
          </a:xfrm>
        </p:spPr>
        <p:txBody>
          <a:bodyPr wrap="square" lIns="94613" tIns="47306" rIns="94613" bIns="47306" anchor="t"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" name="Segnaposto numero diapositiva 7">
            <a:extLst>
              <a:ext uri="{FF2B5EF4-FFF2-40B4-BE49-F238E27FC236}">
                <a16:creationId xmlns:a16="http://schemas.microsoft.com/office/drawing/2014/main" id="{A1056753-3DBF-05D1-4B35-3F72AD63BA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5525" y="144463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9A284-470C-4906-8612-01BF6142CE3E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0322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D1FD82-0E3D-8C6E-FB21-2EB727E18A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518DAA-026D-C13E-C71E-D185C11268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30C76F-EB2A-35D5-5437-67486476F4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 b="0"/>
            </a:lvl1pPr>
          </a:lstStyle>
          <a:p>
            <a:pPr>
              <a:defRPr/>
            </a:pPr>
            <a:fld id="{09D440B4-F7E2-4434-888F-4E9811447F6B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  <p:grpSp>
        <p:nvGrpSpPr>
          <p:cNvPr id="1029" name="Group 7">
            <a:extLst>
              <a:ext uri="{FF2B5EF4-FFF2-40B4-BE49-F238E27FC236}">
                <a16:creationId xmlns:a16="http://schemas.microsoft.com/office/drawing/2014/main" id="{0B2F9E1C-AB8B-5B34-FF08-0794561C526D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893300" cy="304800"/>
            <a:chOff x="0" y="624"/>
            <a:chExt cx="6232" cy="192"/>
          </a:xfrm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BCA720E0-F6A4-64F7-61B5-AD618DA49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6190D17C-22E1-AA09-043C-3E5FF5E33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30" name="Rectangle 8">
            <a:extLst>
              <a:ext uri="{FF2B5EF4-FFF2-40B4-BE49-F238E27FC236}">
                <a16:creationId xmlns:a16="http://schemas.microsoft.com/office/drawing/2014/main" id="{4BB8635E-581F-0A0A-7AC7-306EC072A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387350"/>
            <a:ext cx="86741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il titolo dello schema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261EE804-75D9-7993-48F5-413B92C86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0688" y="1447800"/>
            <a:ext cx="88995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F6D25C75-CF98-7227-5D04-0D54F33DC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6423025"/>
            <a:ext cx="5099050" cy="274638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it-IT" altLang="it-IT" sz="1200" b="0" i="1">
                <a:latin typeface="Century Gothic" panose="020B0502020202020204" pitchFamily="34" charset="0"/>
              </a:rPr>
              <a:t>DIS - Dipartimento di Informatica e Sistemistica- Università di Napoli</a:t>
            </a: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986D3F11-898F-2612-D258-F0410B6B624D}"/>
              </a:ext>
            </a:extLst>
          </p:cNvPr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13" y="6181725"/>
            <a:ext cx="5969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Char char="»"/>
        <a:defRPr sz="24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¨"/>
        <a:defRPr sz="24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SzPct val="64000"/>
        <a:buFont typeface="Monotype Sorts" charset="2"/>
        <a:buChar char="l"/>
        <a:defRPr sz="2000"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4.wmf"/><Relationship Id="rId7" Type="http://schemas.openxmlformats.org/officeDocument/2006/relationships/oleObject" Target="../embeddings/oleObject8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0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6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9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72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76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45.bin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63A5323-2D8F-8C8B-EF37-73C504F082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1524000"/>
            <a:ext cx="7772400" cy="1143000"/>
          </a:xfrm>
          <a:noFill/>
        </p:spPr>
        <p:txBody>
          <a:bodyPr anchor="ctr"/>
          <a:lstStyle/>
          <a:p>
            <a:pPr algn="ctr"/>
            <a: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Codifica delle informazioni e Macchine Elementari</a:t>
            </a:r>
            <a:b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</a:br>
            <a: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(Richiami)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52410464-9854-C063-06DD-7AEB09D7C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8534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it-IT" altLang="it-IT" sz="3200" b="0">
                <a:latin typeface="Arial" panose="020B0604020202020204" pitchFamily="34" charset="0"/>
              </a:rPr>
              <a:t>Reti Logiche</a:t>
            </a:r>
          </a:p>
          <a:p>
            <a:pPr>
              <a:buClrTx/>
              <a:buSzTx/>
              <a:buFontTx/>
              <a:buNone/>
            </a:pPr>
            <a:endParaRPr lang="it-IT" altLang="it-IT" sz="3600">
              <a:latin typeface="Arial" panose="020B0604020202020204" pitchFamily="34" charset="0"/>
            </a:endParaRP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Dipartimento di Informatica e Sistemistica</a:t>
            </a: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Università degli Studi di Napoli </a:t>
            </a:r>
            <a:r>
              <a:rPr lang="ja-JP" altLang="it-IT" sz="2400" b="0">
                <a:latin typeface="Arial" panose="020B0604020202020204" pitchFamily="34" charset="0"/>
              </a:rPr>
              <a:t>“</a:t>
            </a:r>
            <a:r>
              <a:rPr lang="it-IT" altLang="ja-JP" sz="2400" b="0">
                <a:latin typeface="Arial" panose="020B0604020202020204" pitchFamily="34" charset="0"/>
              </a:rPr>
              <a:t>Federico II</a:t>
            </a:r>
            <a:r>
              <a:rPr lang="ja-JP" altLang="it-IT" sz="2400" b="0">
                <a:latin typeface="Arial" panose="020B0604020202020204" pitchFamily="34" charset="0"/>
              </a:rPr>
              <a:t>”</a:t>
            </a:r>
            <a:endParaRPr lang="it-IT" altLang="it-IT" sz="1800" b="0">
              <a:latin typeface="Arial" panose="020B0604020202020204" pitchFamily="34" charset="0"/>
            </a:endParaRPr>
          </a:p>
        </p:txBody>
      </p:sp>
      <p:sp>
        <p:nvSpPr>
          <p:cNvPr id="18435" name="Segnaposto numero diapositiva 3">
            <a:extLst>
              <a:ext uri="{FF2B5EF4-FFF2-40B4-BE49-F238E27FC236}">
                <a16:creationId xmlns:a16="http://schemas.microsoft.com/office/drawing/2014/main" id="{6E1D54F0-FCB8-116F-9792-C89CD20B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1B14C5-C574-4630-A835-046BEAD14A9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153520E-3B1D-7081-FE3B-D32532DD4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387350"/>
            <a:ext cx="8674100" cy="3175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Tassonomia dei circuiti digitali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B455CF62-2FE4-9B5C-7916-BB4C2473B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1193800"/>
            <a:ext cx="949325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I circuiti digitali possono essere classificati in due categorie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FC0128"/>
                </a:solidFill>
                <a:ea typeface="ＭＳ Ｐゴシック" panose="020B0600070205080204" pitchFamily="34" charset="-128"/>
              </a:rPr>
              <a:t>Circuiti combinatori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Il valore delle uscite ad un determinato istante dipende unicamente dal valore degli ingressi in quello stesso istante.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FC0128"/>
                </a:solidFill>
                <a:ea typeface="ＭＳ Ｐゴシック" panose="020B0600070205080204" pitchFamily="34" charset="-128"/>
              </a:rPr>
              <a:t>Circuti sequenziali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Il valore delle uscite in un determinato istante dipende sia dal valore degli ingressi in quell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sia dal valore degli ingressi in istanti precedenti (concetto di tempo)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Per definire il comportamento di un circuito sequenziale è necessario tenere conto della storia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passata degli ingressi del circuito (concetto di stato)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it-IT">
              <a:solidFill>
                <a:srgbClr val="FC0128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9459" name="Segnaposto numero diapositiva 3">
            <a:extLst>
              <a:ext uri="{FF2B5EF4-FFF2-40B4-BE49-F238E27FC236}">
                <a16:creationId xmlns:a16="http://schemas.microsoft.com/office/drawing/2014/main" id="{CFC0E913-331D-2B81-FF99-74148B98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5E2BE8-2FCD-469A-B3EB-DCBF8A1FCAC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it-IT" altLang="it-IT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>
            <a:extLst>
              <a:ext uri="{FF2B5EF4-FFF2-40B4-BE49-F238E27FC236}">
                <a16:creationId xmlns:a16="http://schemas.microsoft.com/office/drawing/2014/main" id="{0EDFF48C-5107-B053-ADBA-5AAC39C0E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152400"/>
            <a:ext cx="957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000" b="0">
                <a:latin typeface="Book Antiqua" panose="02040602050305030304" pitchFamily="18" charset="0"/>
              </a:rPr>
              <a:t>Macchine combinatorie (1/4)</a:t>
            </a:r>
          </a:p>
        </p:txBody>
      </p:sp>
      <p:sp>
        <p:nvSpPr>
          <p:cNvPr id="20482" name="Text Box 3">
            <a:extLst>
              <a:ext uri="{FF2B5EF4-FFF2-40B4-BE49-F238E27FC236}">
                <a16:creationId xmlns:a16="http://schemas.microsoft.com/office/drawing/2014/main" id="{C3B92826-8DC5-DE37-5617-525646948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295400"/>
            <a:ext cx="965835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Reti logiche con </a:t>
            </a:r>
            <a:r>
              <a:rPr lang="it-IT" altLang="it-IT" sz="2400" b="0" i="1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 ingressi 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 e </a:t>
            </a:r>
            <a:r>
              <a:rPr lang="it-IT" altLang="it-IT" sz="2400" b="0" i="1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uscite y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y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y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che realizzano la corrispondenza: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		y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 = f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(x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			. . . . . 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		y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= f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(x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)</a:t>
            </a:r>
            <a:endParaRPr lang="it-IT" altLang="it-IT" sz="2400" b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3F04202E-9536-4A3F-2E21-83FE4B927E4B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3505200"/>
            <a:ext cx="6191250" cy="2362200"/>
            <a:chOff x="1008" y="2208"/>
            <a:chExt cx="3600" cy="1488"/>
          </a:xfrm>
        </p:grpSpPr>
        <p:sp>
          <p:nvSpPr>
            <p:cNvPr id="20485" name="Rectangle 5">
              <a:extLst>
                <a:ext uri="{FF2B5EF4-FFF2-40B4-BE49-F238E27FC236}">
                  <a16:creationId xmlns:a16="http://schemas.microsoft.com/office/drawing/2014/main" id="{56DF659E-A1D8-C3D8-F97E-FE0AC8859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08"/>
              <a:ext cx="1584" cy="1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20486" name="Line 6">
              <a:extLst>
                <a:ext uri="{FF2B5EF4-FFF2-40B4-BE49-F238E27FC236}">
                  <a16:creationId xmlns:a16="http://schemas.microsoft.com/office/drawing/2014/main" id="{24267AE9-9A48-1121-AE5F-6F3E967E0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Line 7">
              <a:extLst>
                <a:ext uri="{FF2B5EF4-FFF2-40B4-BE49-F238E27FC236}">
                  <a16:creationId xmlns:a16="http://schemas.microsoft.com/office/drawing/2014/main" id="{CFB19D5B-CE94-E6E8-2B2E-1EEBEF811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8">
              <a:extLst>
                <a:ext uri="{FF2B5EF4-FFF2-40B4-BE49-F238E27FC236}">
                  <a16:creationId xmlns:a16="http://schemas.microsoft.com/office/drawing/2014/main" id="{06C80855-277E-B10D-D3D8-9809ABDB7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9">
              <a:extLst>
                <a:ext uri="{FF2B5EF4-FFF2-40B4-BE49-F238E27FC236}">
                  <a16:creationId xmlns:a16="http://schemas.microsoft.com/office/drawing/2014/main" id="{DCEE5288-45EF-09E4-B5FC-03AA408CD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10">
              <a:extLst>
                <a:ext uri="{FF2B5EF4-FFF2-40B4-BE49-F238E27FC236}">
                  <a16:creationId xmlns:a16="http://schemas.microsoft.com/office/drawing/2014/main" id="{99797A95-393B-F86F-4D66-582EB459F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544"/>
              <a:ext cx="0" cy="720"/>
            </a:xfrm>
            <a:prstGeom prst="line">
              <a:avLst/>
            </a:prstGeom>
            <a:noFill/>
            <a:ln w="635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Line 11">
              <a:extLst>
                <a:ext uri="{FF2B5EF4-FFF2-40B4-BE49-F238E27FC236}">
                  <a16:creationId xmlns:a16="http://schemas.microsoft.com/office/drawing/2014/main" id="{B82A8F41-34BA-9F77-0C30-4001B96E8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96"/>
              <a:ext cx="0" cy="720"/>
            </a:xfrm>
            <a:prstGeom prst="line">
              <a:avLst/>
            </a:prstGeom>
            <a:noFill/>
            <a:ln w="635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Text Box 12">
              <a:extLst>
                <a:ext uri="{FF2B5EF4-FFF2-40B4-BE49-F238E27FC236}">
                  <a16:creationId xmlns:a16="http://schemas.microsoft.com/office/drawing/2014/main" id="{18432BB3-1E74-619E-F1C7-1737361B0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x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1</a:t>
              </a:r>
              <a:endParaRPr lang="it-IT" altLang="it-IT" sz="2400" b="0"/>
            </a:p>
          </p:txBody>
        </p:sp>
        <p:sp>
          <p:nvSpPr>
            <p:cNvPr id="20493" name="Text Box 13">
              <a:extLst>
                <a:ext uri="{FF2B5EF4-FFF2-40B4-BE49-F238E27FC236}">
                  <a16:creationId xmlns:a16="http://schemas.microsoft.com/office/drawing/2014/main" id="{FF5803D4-2B9B-C863-2D55-53A3ACB3A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x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n</a:t>
              </a:r>
              <a:endParaRPr lang="it-IT" altLang="it-IT" sz="2400" b="0"/>
            </a:p>
          </p:txBody>
        </p:sp>
        <p:sp>
          <p:nvSpPr>
            <p:cNvPr id="20494" name="Text Box 14">
              <a:extLst>
                <a:ext uri="{FF2B5EF4-FFF2-40B4-BE49-F238E27FC236}">
                  <a16:creationId xmlns:a16="http://schemas.microsoft.com/office/drawing/2014/main" id="{3C319A54-180B-C69E-2262-74143FA50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2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y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1</a:t>
              </a:r>
              <a:endParaRPr lang="it-IT" altLang="it-IT" sz="2400" b="0"/>
            </a:p>
          </p:txBody>
        </p:sp>
        <p:sp>
          <p:nvSpPr>
            <p:cNvPr id="20495" name="Text Box 15">
              <a:extLst>
                <a:ext uri="{FF2B5EF4-FFF2-40B4-BE49-F238E27FC236}">
                  <a16:creationId xmlns:a16="http://schemas.microsoft.com/office/drawing/2014/main" id="{7586E413-A2ED-76A2-F2BF-9EF736F19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y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m</a:t>
              </a:r>
              <a:endParaRPr lang="it-IT" altLang="it-IT" sz="2400" b="0"/>
            </a:p>
          </p:txBody>
        </p:sp>
      </p:grpSp>
      <p:sp>
        <p:nvSpPr>
          <p:cNvPr id="20484" name="Segnaposto numero diapositiva 15">
            <a:extLst>
              <a:ext uri="{FF2B5EF4-FFF2-40B4-BE49-F238E27FC236}">
                <a16:creationId xmlns:a16="http://schemas.microsoft.com/office/drawing/2014/main" id="{E3867ADA-450D-F13C-F18D-53C9823E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F91FBB-8792-4639-9306-83251B0698E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it-IT" altLang="it-IT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>
            <a:extLst>
              <a:ext uri="{FF2B5EF4-FFF2-40B4-BE49-F238E27FC236}">
                <a16:creationId xmlns:a16="http://schemas.microsoft.com/office/drawing/2014/main" id="{209D6E00-3DB7-AE19-0EB4-2A083A93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152400"/>
            <a:ext cx="957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000" b="0">
                <a:latin typeface="Book Antiqua" panose="02040602050305030304" pitchFamily="18" charset="0"/>
              </a:rPr>
              <a:t>Macchine combinatorie (2/4)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C54B4D94-5D1A-572D-CA0E-2D674C16F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1447800"/>
            <a:ext cx="8899525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it-IT" altLang="it-IT" sz="2400" b="0"/>
              <a:t>Una macchina combinatoria è una rete logica con </a:t>
            </a:r>
            <a:r>
              <a:rPr lang="it-IT" altLang="it-IT" sz="2400" b="0" i="1"/>
              <a:t>n </a:t>
            </a:r>
            <a:r>
              <a:rPr lang="it-IT" altLang="it-IT" sz="2400" b="0"/>
              <a:t>ingressi (x</a:t>
            </a:r>
            <a:r>
              <a:rPr lang="it-IT" altLang="it-IT" sz="2400" b="0" baseline="-25000"/>
              <a:t>1</a:t>
            </a:r>
            <a:r>
              <a:rPr lang="it-IT" altLang="it-IT" sz="2400" b="0"/>
              <a:t>, x</a:t>
            </a:r>
            <a:r>
              <a:rPr lang="it-IT" altLang="it-IT" sz="2400" b="0" baseline="-25000"/>
              <a:t>2</a:t>
            </a:r>
            <a:r>
              <a:rPr lang="it-IT" altLang="it-IT" sz="2400" b="0"/>
              <a:t>, …, x</a:t>
            </a:r>
            <a:r>
              <a:rPr lang="it-IT" altLang="it-IT" sz="2400" b="0" baseline="-25000"/>
              <a:t>n</a:t>
            </a:r>
            <a:r>
              <a:rPr lang="it-IT" altLang="it-IT" sz="2400" b="0"/>
              <a:t>) ed </a:t>
            </a:r>
            <a:r>
              <a:rPr lang="it-IT" altLang="it-IT" sz="2400" b="0" i="1"/>
              <a:t> m </a:t>
            </a:r>
            <a:r>
              <a:rPr lang="it-IT" altLang="it-IT" sz="2400" b="0"/>
              <a:t>uscite (y</a:t>
            </a:r>
            <a:r>
              <a:rPr lang="it-IT" altLang="it-IT" sz="2400" b="0" baseline="-25000"/>
              <a:t>1</a:t>
            </a:r>
            <a:r>
              <a:rPr lang="it-IT" altLang="it-IT" sz="2400" b="0"/>
              <a:t>, y</a:t>
            </a:r>
            <a:r>
              <a:rPr lang="it-IT" altLang="it-IT" sz="2400" b="0" baseline="-25000"/>
              <a:t>2</a:t>
            </a:r>
            <a:r>
              <a:rPr lang="it-IT" altLang="it-IT" sz="2400" b="0"/>
              <a:t>, …, y</a:t>
            </a:r>
            <a:r>
              <a:rPr lang="it-IT" altLang="it-IT" sz="2400" b="0" baseline="-25000"/>
              <a:t>m</a:t>
            </a:r>
            <a:r>
              <a:rPr lang="it-IT" altLang="it-IT" sz="2400" b="0"/>
              <a:t>) ed è tale che ad ogni insieme di valori degli ingressi corrisponde un preciso insieme di valori delle uscite</a:t>
            </a:r>
          </a:p>
          <a:p>
            <a:pPr algn="just">
              <a:lnSpc>
                <a:spcPct val="80000"/>
              </a:lnSpc>
            </a:pPr>
            <a:endParaRPr lang="it-IT" altLang="it-IT" sz="2400" b="0"/>
          </a:p>
          <a:p>
            <a:pPr algn="just">
              <a:lnSpc>
                <a:spcPct val="80000"/>
              </a:lnSpc>
            </a:pPr>
            <a:r>
              <a:rPr lang="it-IT" altLang="it-IT" sz="2400" b="0"/>
              <a:t>Il comportamento di una rete combinatoria </a:t>
            </a:r>
            <a:r>
              <a:rPr lang="it-IT" altLang="it-IT" sz="2400" b="0" i="1"/>
              <a:t>n</a:t>
            </a:r>
            <a:r>
              <a:rPr lang="it-IT" altLang="it-IT" sz="2400" b="0"/>
              <a:t>x</a:t>
            </a:r>
            <a:r>
              <a:rPr lang="it-IT" altLang="it-IT" sz="2400" b="0" i="1"/>
              <a:t>m </a:t>
            </a:r>
            <a:r>
              <a:rPr lang="it-IT" altLang="it-IT" sz="2400" b="0"/>
              <a:t>può essere descritto tramite: </a:t>
            </a:r>
          </a:p>
          <a:p>
            <a:pPr lvl="1" algn="just">
              <a:lnSpc>
                <a:spcPct val="80000"/>
              </a:lnSpc>
            </a:pPr>
            <a:r>
              <a:rPr lang="it-IT" altLang="it-IT" sz="2000" b="0"/>
              <a:t>una tabella di verità in cui viene specificato il valore dell</a:t>
            </a:r>
            <a:r>
              <a:rPr lang="ja-JP" altLang="it-IT" sz="2000" b="0"/>
              <a:t>’</a:t>
            </a:r>
            <a:r>
              <a:rPr lang="it-IT" altLang="ja-JP" sz="2000" b="0"/>
              <a:t>uscita per ognuna delle possibili combinazioni dei valori degli ingressi </a:t>
            </a:r>
          </a:p>
          <a:p>
            <a:pPr lvl="1" algn="just">
              <a:lnSpc>
                <a:spcPct val="80000"/>
              </a:lnSpc>
            </a:pPr>
            <a:r>
              <a:rPr lang="it-IT" altLang="it-IT" sz="2000" b="0"/>
              <a:t>m funzioni booleane, una per ogni uscita, ciascuna delle quali esprime il valore della corrispondente variabile di uscita in funzione delle n variabili di ingresso </a:t>
            </a:r>
          </a:p>
        </p:txBody>
      </p:sp>
      <p:sp>
        <p:nvSpPr>
          <p:cNvPr id="21507" name="Segnaposto numero diapositiva 3">
            <a:extLst>
              <a:ext uri="{FF2B5EF4-FFF2-40B4-BE49-F238E27FC236}">
                <a16:creationId xmlns:a16="http://schemas.microsoft.com/office/drawing/2014/main" id="{CE29D5DD-DF8A-0AD0-C4EA-4297ECA7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990F12-6970-4C06-ACBB-FB467DFAE75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it-IT" altLang="it-IT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C855D00-7A4E-0841-9EE6-A9405A22A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Macchina combinatoria (3/4)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6A758DEA-FA7E-78DF-59A3-A2C4EAF2C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4860925"/>
          </a:xfrm>
        </p:spPr>
        <p:txBody>
          <a:bodyPr/>
          <a:lstStyle/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In una macchina combinatoria i valori delle uscite dipendono esclusivamente dai valori degli ingressi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macchina combinatoria ideale: tale dipendenza è istantanea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macchina combinatoria reale: presenza di ritardo tra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in cui c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è una variazione in uno degli ingressi e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in cui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effetto di questa variazione si manifesta sulle uscite</a:t>
            </a:r>
          </a:p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importante notare come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ciascuna y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può essere decomposta in funzioni componenti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due distinte y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possono contenere una identica funzione componente</a:t>
            </a:r>
          </a:p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Ciò comporta, ad esempio, una potenziale diminuzione di porte elementari rispetto ad una realizzazione indipendente delle y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22531" name="Segnaposto numero diapositiva 3">
            <a:extLst>
              <a:ext uri="{FF2B5EF4-FFF2-40B4-BE49-F238E27FC236}">
                <a16:creationId xmlns:a16="http://schemas.microsoft.com/office/drawing/2014/main" id="{0C3CAD7B-21B2-E61C-0448-81F04B09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6878AA-B17B-45F4-864C-7D2EC687795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it-IT" altLang="it-IT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FE31F47F-2575-067B-AFB2-C7F8B9E53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Macchina combinatoria 4/4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83F0DF9-FFDA-2C5A-0A82-B6BFE875E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it-IT" altLang="it-IT">
                <a:ea typeface="ＭＳ Ｐゴシック" panose="020B0600070205080204" pitchFamily="34" charset="-128"/>
              </a:rPr>
              <a:t>Mentre ad ogni rete combinatoria corrisponde un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unica tabella di verità, ad una tabella di verità possono corrispondere più reti combinatorie</a:t>
            </a:r>
          </a:p>
          <a:p>
            <a:pPr algn="just"/>
            <a:r>
              <a:rPr lang="it-IT" altLang="it-IT">
                <a:ea typeface="ＭＳ Ｐゴシック" panose="020B0600070205080204" pitchFamily="34" charset="-128"/>
              </a:rPr>
              <a:t>Nel procedimento di sintesi ci possiamo quindi porre particolari obiettivi come ad esempio:</a:t>
            </a:r>
          </a:p>
          <a:p>
            <a:pPr lvl="1" algn="just"/>
            <a:r>
              <a:rPr lang="it-IT" altLang="it-IT">
                <a:ea typeface="ＭＳ Ｐゴシック" panose="020B0600070205080204" pitchFamily="34" charset="-128"/>
              </a:rPr>
              <a:t>utilizzare esclusivamente circuiti elementari di un certo tipo</a:t>
            </a:r>
          </a:p>
          <a:p>
            <a:pPr lvl="1" algn="just"/>
            <a:r>
              <a:rPr lang="it-IT" altLang="it-IT">
                <a:ea typeface="ＭＳ Ｐゴシック" panose="020B0600070205080204" pitchFamily="34" charset="-128"/>
              </a:rPr>
              <a:t>progettare un circuito che abbia il minimo numero di porte logiche</a:t>
            </a:r>
          </a:p>
        </p:txBody>
      </p:sp>
      <p:sp>
        <p:nvSpPr>
          <p:cNvPr id="23555" name="Segnaposto numero diapositiva 3">
            <a:extLst>
              <a:ext uri="{FF2B5EF4-FFF2-40B4-BE49-F238E27FC236}">
                <a16:creationId xmlns:a16="http://schemas.microsoft.com/office/drawing/2014/main" id="{E38F58BB-73A2-AF1D-0703-B4320C32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B0FCF3-18F2-410C-AB28-0728F87B15F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it-IT" altLang="it-IT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A4F8D89-87A4-A282-54CC-7EB6272C4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1AE43631-CE0D-2148-D9C3-5565B08F0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Codifica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it-IT" altLang="it-IT" sz="5400">
              <a:ea typeface="ＭＳ Ｐゴシック" panose="020B0600070205080204" pitchFamily="34" charset="-128"/>
            </a:endParaRPr>
          </a:p>
        </p:txBody>
      </p:sp>
      <p:sp>
        <p:nvSpPr>
          <p:cNvPr id="24579" name="Segnaposto numero diapositiva 3">
            <a:extLst>
              <a:ext uri="{FF2B5EF4-FFF2-40B4-BE49-F238E27FC236}">
                <a16:creationId xmlns:a16="http://schemas.microsoft.com/office/drawing/2014/main" id="{6960F428-8747-AD34-B1F3-12B56F79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C330AF-F2BE-4D81-894D-B5C233499E8B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it-IT" altLang="it-IT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003F35DA-2EBC-A16C-B9B4-13B91F2CB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9163050" cy="419100"/>
          </a:xfrm>
        </p:spPr>
        <p:txBody>
          <a:bodyPr/>
          <a:lstStyle/>
          <a:p>
            <a:r>
              <a:rPr lang="it-IT" altLang="it-IT" sz="2800" i="1">
                <a:ea typeface="ＭＳ Ｐゴシック" panose="020B0600070205080204" pitchFamily="34" charset="-128"/>
              </a:rPr>
              <a:t>Codifica</a:t>
            </a:r>
            <a:r>
              <a:rPr lang="it-IT" altLang="it-IT" sz="2800">
                <a:ea typeface="ＭＳ Ｐゴシック" panose="020B0600070205080204" pitchFamily="34" charset="-128"/>
              </a:rPr>
              <a:t> delle informazioni: sul piano formale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97BFD38B-26E2-F88E-7182-BF6C0A8EC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31913"/>
            <a:ext cx="9712325" cy="4760912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 i="1">
                <a:ea typeface="ＭＳ Ｐゴシック" panose="020B0600070205080204" pitchFamily="34" charset="-128"/>
              </a:rPr>
              <a:t>Rappresentazione</a:t>
            </a:r>
            <a:r>
              <a:rPr lang="it-IT" altLang="it-IT">
                <a:ea typeface="ＭＳ Ｐゴシック" panose="020B0600070205080204" pitchFamily="34" charset="-128"/>
              </a:rPr>
              <a:t> di informazioni appartenenti a un insieme finito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  <a:endParaRPr lang="it-IT" altLang="it-IT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>
                <a:ea typeface="ＭＳ Ｐゴシック" panose="020B0600070205080204" pitchFamily="34" charset="-128"/>
              </a:rPr>
              <a:t>Funzione </a:t>
            </a:r>
            <a:r>
              <a:rPr lang="it-IT" altLang="it-IT" i="1">
                <a:ea typeface="ＭＳ Ｐゴシック" panose="020B0600070205080204" pitchFamily="34" charset="-128"/>
              </a:rPr>
              <a:t>iniettiva</a:t>
            </a:r>
            <a:r>
              <a:rPr lang="it-IT" altLang="it-IT">
                <a:ea typeface="ＭＳ Ｐゴシック" panose="020B0600070205080204" pitchFamily="34" charset="-128"/>
              </a:rPr>
              <a:t> dall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insieme </a:t>
            </a:r>
            <a:r>
              <a:rPr lang="it-IT" altLang="ja-JP" i="1">
                <a:ea typeface="ＭＳ Ｐゴシック" panose="020B0600070205080204" pitchFamily="34" charset="-128"/>
              </a:rPr>
              <a:t>D</a:t>
            </a:r>
            <a:r>
              <a:rPr lang="it-IT" altLang="ja-JP">
                <a:ea typeface="ＭＳ Ｐゴシック" panose="020B0600070205080204" pitchFamily="34" charset="-128"/>
              </a:rPr>
              <a:t> (</a:t>
            </a:r>
            <a:r>
              <a:rPr lang="it-IT" altLang="ja-JP" i="1">
                <a:ea typeface="ＭＳ Ｐゴシック" panose="020B0600070205080204" pitchFamily="34" charset="-128"/>
              </a:rPr>
              <a:t>dominio</a:t>
            </a:r>
            <a:r>
              <a:rPr lang="it-IT" altLang="ja-JP">
                <a:ea typeface="ＭＳ Ｐゴシック" panose="020B0600070205080204" pitchFamily="34" charset="-128"/>
              </a:rPr>
              <a:t>) a un insieme direttamente manipolabile </a:t>
            </a:r>
            <a:r>
              <a:rPr lang="it-IT" altLang="ja-JP" i="1">
                <a:ea typeface="ＭＳ Ｐゴシック" panose="020B0600070205080204" pitchFamily="34" charset="-128"/>
              </a:rPr>
              <a:t>R</a:t>
            </a:r>
            <a:r>
              <a:rPr lang="it-IT" altLang="ja-JP">
                <a:ea typeface="ＭＳ Ｐゴシック" panose="020B0600070205080204" pitchFamily="34" charset="-128"/>
              </a:rPr>
              <a:t> (</a:t>
            </a:r>
            <a:r>
              <a:rPr lang="it-IT" altLang="ja-JP" i="1">
                <a:ea typeface="ＭＳ Ｐゴシック" panose="020B0600070205080204" pitchFamily="34" charset="-128"/>
              </a:rPr>
              <a:t>codominio</a:t>
            </a:r>
            <a:r>
              <a:rPr lang="it-IT" altLang="ja-JP">
                <a:ea typeface="ＭＳ Ｐゴシック" panose="020B0600070205080204" pitchFamily="34" charset="-128"/>
              </a:rPr>
              <a:t>)</a:t>
            </a:r>
          </a:p>
          <a:p>
            <a:pPr algn="ctr">
              <a:lnSpc>
                <a:spcPct val="90000"/>
              </a:lnSpc>
              <a:spcAft>
                <a:spcPct val="30000"/>
              </a:spcAft>
              <a:buFontTx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c</a:t>
            </a:r>
            <a:r>
              <a:rPr lang="it-IT" altLang="it-IT">
                <a:ea typeface="ＭＳ Ｐゴシック" panose="020B0600070205080204" pitchFamily="34" charset="-128"/>
              </a:rPr>
              <a:t> :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 i="1">
                <a:ea typeface="ＭＳ Ｐゴシック" panose="020B0600070205080204" pitchFamily="34" charset="-128"/>
              </a:rPr>
              <a:t>R</a:t>
            </a:r>
          </a:p>
          <a:p>
            <a:pPr algn="ctr">
              <a:lnSpc>
                <a:spcPct val="90000"/>
              </a:lnSpc>
              <a:spcAft>
                <a:spcPct val="30000"/>
              </a:spcAft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  <a:r>
              <a:rPr lang="it-IT" altLang="it-IT" i="1">
                <a:ea typeface="ＭＳ Ｐゴシック" panose="020B0600070205080204" pitchFamily="34" charset="-128"/>
              </a:rPr>
              <a:t>R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 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D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</a:p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La funzione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 c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è detta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codifica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o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rappresentazione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delle informazioni appartenenti a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25603" name="Segnaposto numero diapositiva 3">
            <a:extLst>
              <a:ext uri="{FF2B5EF4-FFF2-40B4-BE49-F238E27FC236}">
                <a16:creationId xmlns:a16="http://schemas.microsoft.com/office/drawing/2014/main" id="{776C97A5-7B37-2EDE-A1D4-FAE1B323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95FF49-F2E8-4E8E-95C6-3A92FFA1776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it-IT" altLang="it-IT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66887F53-80D1-DEEF-323C-02C18BAC1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8255000" cy="5619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Definizioni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EE936B92-2DB8-5AF7-9519-D64AEC795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463" y="1196975"/>
            <a:ext cx="8750300" cy="41148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Alfabeto origine T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il dato da rappresentare appartiene ad un tipo T = (x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,…..,x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) </a:t>
            </a:r>
          </a:p>
          <a:p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Alfabeto in codice E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il dato è rappresentato mediante dati di tipo E = (a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,…..,a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k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) </a:t>
            </a:r>
          </a:p>
          <a:p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Tabella Codice C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la codifica di T mediante E è un</a:t>
            </a:r>
            <a:r>
              <a:rPr lang="ja-JP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applicazione C, detta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tabella codice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, che trasforma ciascun elemento x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T in una stringa di lunghezza l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 di elementi a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E, detta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parola codice </a:t>
            </a:r>
            <a:endParaRPr lang="it-IT" altLang="it-IT" i="1">
              <a:solidFill>
                <a:srgbClr val="99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7651" name="Segnaposto numero diapositiva 3">
            <a:extLst>
              <a:ext uri="{FF2B5EF4-FFF2-40B4-BE49-F238E27FC236}">
                <a16:creationId xmlns:a16="http://schemas.microsoft.com/office/drawing/2014/main" id="{BAA9A161-BA57-0BFC-976C-FCE31B58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D6D5D5-49CE-4C42-AE90-7C0611FBBD8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it-IT" altLang="it-IT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7DC9999-1D54-BF0A-ED33-CE67DF4E1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0"/>
            <a:ext cx="8255000" cy="7858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fissa</a:t>
            </a:r>
          </a:p>
        </p:txBody>
      </p:sp>
      <p:sp>
        <p:nvSpPr>
          <p:cNvPr id="28674" name="Text Box 3">
            <a:extLst>
              <a:ext uri="{FF2B5EF4-FFF2-40B4-BE49-F238E27FC236}">
                <a16:creationId xmlns:a16="http://schemas.microsoft.com/office/drawing/2014/main" id="{70C783E8-67FB-143B-CFBF-0D8DFD8C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954338"/>
            <a:ext cx="1701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</a:rPr>
              <a:t>K</a:t>
            </a:r>
            <a:r>
              <a:rPr lang="it-IT" altLang="it-IT" sz="3200" baseline="30000">
                <a:solidFill>
                  <a:srgbClr val="990000"/>
                </a:solidFill>
              </a:rPr>
              <a:t>m</a:t>
            </a:r>
            <a:r>
              <a:rPr lang="it-IT" altLang="it-IT" sz="3200">
                <a:solidFill>
                  <a:srgbClr val="990000"/>
                </a:solidFill>
              </a:rPr>
              <a:t> &gt;= N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9D45437D-DCBD-BECB-D1D1-EF43A20BD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3944938"/>
            <a:ext cx="2636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</a:rPr>
              <a:t>m = {[log</a:t>
            </a:r>
            <a:r>
              <a:rPr lang="it-IT" altLang="it-IT" sz="3200" baseline="-25000">
                <a:solidFill>
                  <a:srgbClr val="990000"/>
                </a:solidFill>
              </a:rPr>
              <a:t>k</a:t>
            </a:r>
            <a:r>
              <a:rPr lang="it-IT" altLang="it-IT" sz="3200">
                <a:solidFill>
                  <a:srgbClr val="990000"/>
                </a:solidFill>
              </a:rPr>
              <a:t> N]}</a:t>
            </a:r>
          </a:p>
        </p:txBody>
      </p:sp>
      <p:sp>
        <p:nvSpPr>
          <p:cNvPr id="28676" name="Text Box 5">
            <a:extLst>
              <a:ext uri="{FF2B5EF4-FFF2-40B4-BE49-F238E27FC236}">
                <a16:creationId xmlns:a16="http://schemas.microsoft.com/office/drawing/2014/main" id="{52F4C2CA-B9D0-0AF6-449A-EFA96A779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300" y="5851525"/>
            <a:ext cx="102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 &gt;= m</a:t>
            </a:r>
          </a:p>
        </p:txBody>
      </p:sp>
      <p:sp>
        <p:nvSpPr>
          <p:cNvPr id="28677" name="Text Box 6">
            <a:extLst>
              <a:ext uri="{FF2B5EF4-FFF2-40B4-BE49-F238E27FC236}">
                <a16:creationId xmlns:a16="http://schemas.microsoft.com/office/drawing/2014/main" id="{FB243A49-8A65-D1B3-77A7-A25A41873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5851525"/>
            <a:ext cx="3028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l lunghezza del codice</a:t>
            </a:r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96545900-CAF8-ADF6-13F9-813BBFBA5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8713"/>
            <a:ext cx="97409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Se si pone l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 = m = costante per tutti gli elementi di T, si ottiene una codifica a lunghezza fissa. In tal caso il codice è fissato facendo corrispondere a ciascun elemento x</a:t>
            </a:r>
            <a:r>
              <a:rPr lang="it-IT" altLang="it-IT" sz="2400" baseline="-25000">
                <a:solidFill>
                  <a:schemeClr val="tx2"/>
                </a:solidFill>
              </a:rPr>
              <a:t>i </a:t>
            </a:r>
            <a:r>
              <a:rPr lang="it-IT" altLang="it-IT" sz="2400">
                <a:solidFill>
                  <a:schemeClr val="tx2"/>
                </a:solidFill>
                <a:sym typeface="Symbol" panose="05050102010706020507" pitchFamily="18" charset="2"/>
              </a:rPr>
              <a:t></a:t>
            </a:r>
            <a:r>
              <a:rPr lang="it-IT" altLang="it-IT" sz="2400">
                <a:solidFill>
                  <a:schemeClr val="tx2"/>
                </a:solidFill>
              </a:rPr>
              <a:t>T una delle k</a:t>
            </a:r>
            <a:r>
              <a:rPr lang="it-IT" altLang="it-IT" sz="2400" baseline="30000">
                <a:solidFill>
                  <a:schemeClr val="tx2"/>
                </a:solidFill>
              </a:rPr>
              <a:t>m</a:t>
            </a:r>
            <a:r>
              <a:rPr lang="it-IT" altLang="it-IT" sz="2400">
                <a:solidFill>
                  <a:schemeClr val="tx2"/>
                </a:solidFill>
              </a:rPr>
              <a:t> disposizioni con ripetizione dei k simboli di tipo E sugli m posti della stringa e quindi:   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734AA095-B61F-4FB9-1833-87CC70BC2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14713"/>
            <a:ext cx="1263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da cui</a:t>
            </a:r>
          </a:p>
        </p:txBody>
      </p:sp>
      <p:sp>
        <p:nvSpPr>
          <p:cNvPr id="28680" name="Rectangle 9">
            <a:extLst>
              <a:ext uri="{FF2B5EF4-FFF2-40B4-BE49-F238E27FC236}">
                <a16:creationId xmlns:a16="http://schemas.microsoft.com/office/drawing/2014/main" id="{FF0FFCC0-5332-3F5C-82CF-9A9B3C022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4729163"/>
            <a:ext cx="97409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Per codificare un dato di cardinalità N mediante un alfabeto di k simboli è necessaria una stringa di lunghezza minima m   </a:t>
            </a:r>
          </a:p>
        </p:txBody>
      </p:sp>
      <p:sp>
        <p:nvSpPr>
          <p:cNvPr id="28681" name="Segnaposto numero diapositiva 9">
            <a:extLst>
              <a:ext uri="{FF2B5EF4-FFF2-40B4-BE49-F238E27FC236}">
                <a16:creationId xmlns:a16="http://schemas.microsoft.com/office/drawing/2014/main" id="{267BAF51-FF89-AE9F-6B19-6D5CDB3F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1B7093-9A2C-43AD-90C2-D8CC0FB1A90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it-IT" altLang="it-IT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B28753F-3002-71BB-CEF4-54E3E74C9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fissa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7FB280E4-162D-9FA5-BC5C-5CFE31ED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279525"/>
            <a:ext cx="91630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CODICE INCOMPLETO : </a:t>
            </a:r>
            <a:r>
              <a:rPr lang="it-IT" altLang="it-IT" sz="2400">
                <a:solidFill>
                  <a:srgbClr val="990000"/>
                </a:solidFill>
              </a:rPr>
              <a:t>se l = m ma N non è potenza di k, il codice viene detto incompleto e la differenza k</a:t>
            </a:r>
            <a:r>
              <a:rPr lang="it-IT" altLang="it-IT" sz="2400" baseline="30000">
                <a:solidFill>
                  <a:srgbClr val="990000"/>
                </a:solidFill>
              </a:rPr>
              <a:t>m</a:t>
            </a:r>
            <a:r>
              <a:rPr lang="it-IT" altLang="it-IT" sz="2400">
                <a:solidFill>
                  <a:srgbClr val="990000"/>
                </a:solidFill>
              </a:rPr>
              <a:t>-N fornisce il numero di parole codice non assegnate, cioè non associate ad alcun elemento dell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alfabeto origine. (vedi es. 1, 2)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it-IT" altLang="it-IT" sz="800">
              <a:solidFill>
                <a:srgbClr val="990000"/>
              </a:solidFill>
            </a:endParaRP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CODICE RIDONDANTE : </a:t>
            </a:r>
            <a:r>
              <a:rPr lang="it-IT" altLang="it-IT" sz="2400">
                <a:solidFill>
                  <a:srgbClr val="990000"/>
                </a:solidFill>
              </a:rPr>
              <a:t>si ottiene per l &gt; m adoperando più caratteri dell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alfabeto in codice di quanto strettamente necessari. 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it-IT" altLang="it-IT" sz="2400">
                <a:solidFill>
                  <a:srgbClr val="990000"/>
                </a:solidFill>
              </a:rPr>
              <a:t>    Questi codici vengono utilizzati per rilevare ed eventualmente correggere errori dovuti ad alterazioni del dato.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it-IT" altLang="it-IT" sz="2400" i="1">
              <a:solidFill>
                <a:srgbClr val="990000"/>
              </a:solidFill>
            </a:endParaRPr>
          </a:p>
        </p:txBody>
      </p:sp>
      <p:sp>
        <p:nvSpPr>
          <p:cNvPr id="278532" name="Rectangle 4">
            <a:extLst>
              <a:ext uri="{FF2B5EF4-FFF2-40B4-BE49-F238E27FC236}">
                <a16:creationId xmlns:a16="http://schemas.microsoft.com/office/drawing/2014/main" id="{E78136F9-964C-0289-8C01-E9AE66CE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5638800"/>
            <a:ext cx="9163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it-IT" altLang="it-IT" sz="2400"/>
              <a:t>CODICE RIDONDANTE</a:t>
            </a:r>
            <a:r>
              <a:rPr lang="it-IT" altLang="it-IT" sz="2200"/>
              <a:t> </a:t>
            </a:r>
            <a:r>
              <a:rPr lang="it-IT" altLang="it-IT" sz="2200">
                <a:sym typeface="Wingdings" panose="05000000000000000000" pitchFamily="2" charset="2"/>
              </a:rPr>
              <a:t> </a:t>
            </a:r>
            <a:r>
              <a:rPr lang="it-IT" altLang="it-IT" sz="2400"/>
              <a:t>CODICE INCOMPLETO</a:t>
            </a:r>
            <a:r>
              <a:rPr lang="it-IT" altLang="it-IT" sz="2200"/>
              <a:t> </a:t>
            </a:r>
            <a:endParaRPr lang="it-IT" altLang="it-IT" sz="2200" i="1">
              <a:solidFill>
                <a:srgbClr val="FF0000"/>
              </a:solidFill>
            </a:endParaRPr>
          </a:p>
        </p:txBody>
      </p:sp>
      <p:sp>
        <p:nvSpPr>
          <p:cNvPr id="29700" name="Segnaposto numero diapositiva 4">
            <a:extLst>
              <a:ext uri="{FF2B5EF4-FFF2-40B4-BE49-F238E27FC236}">
                <a16:creationId xmlns:a16="http://schemas.microsoft.com/office/drawing/2014/main" id="{51396027-7E9E-97AF-0BDE-C39F3D22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7AA90D-4BE5-443C-88C6-45A3FCC690D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94E5AA8-22A3-EFDF-EC66-B6190D7E7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variabile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45AA6A27-1BB3-0BAB-79CB-42EA0AE1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688" y="1257300"/>
            <a:ext cx="9906001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La lunghezza l</a:t>
            </a:r>
            <a:r>
              <a:rPr lang="it-IT" altLang="it-IT" sz="2400" baseline="-25000">
                <a:solidFill>
                  <a:srgbClr val="990000"/>
                </a:solidFill>
              </a:rPr>
              <a:t>i</a:t>
            </a:r>
            <a:r>
              <a:rPr lang="it-IT" altLang="it-IT" sz="2400">
                <a:solidFill>
                  <a:srgbClr val="990000"/>
                </a:solidFill>
              </a:rPr>
              <a:t> del codice è funzione di ciascun elemento x</a:t>
            </a:r>
            <a:r>
              <a:rPr lang="it-IT" altLang="it-IT" sz="2400" baseline="-25000">
                <a:solidFill>
                  <a:srgbClr val="990000"/>
                </a:solidFill>
              </a:rPr>
              <a:t>i</a:t>
            </a:r>
            <a:r>
              <a:rPr lang="it-IT" altLang="it-IT" sz="2400">
                <a:solidFill>
                  <a:srgbClr val="990000"/>
                </a:solidFill>
              </a:rPr>
              <a:t> 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l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 = f(x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 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Proprietà fondamentale è quella che la (o le) parola più corta è individuata da un particolare codice che non si ritrova come sequenza iniziale in quelle più lunghe: è la lunghezza stessa che deve essere riconosciuta nel contesto della parola-codice.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uso di questo tipo di codifica è giustificato quando gli elementi del tipo T (alfabeto origine) non hanno tutti la stessa probabilità di occorrenza.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30723" name="Segnaposto numero diapositiva 3">
            <a:extLst>
              <a:ext uri="{FF2B5EF4-FFF2-40B4-BE49-F238E27FC236}">
                <a16:creationId xmlns:a16="http://schemas.microsoft.com/office/drawing/2014/main" id="{E8A2192F-2EE1-D4E3-B07A-4F7C9AA0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E8622C-F5CB-4DCB-81D7-6FBF1C4A8CF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BBDD80-1F82-D2C6-EC26-8E3D7D4E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152400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variabile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CBA53461-C3E9-00F9-D1FB-42D0FCC98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57300"/>
            <a:ext cx="990600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Dato l</a:t>
            </a:r>
            <a:r>
              <a:rPr lang="ja-JP" altLang="it-IT" sz="2000">
                <a:solidFill>
                  <a:schemeClr val="tx2"/>
                </a:solidFill>
              </a:rPr>
              <a:t>’</a:t>
            </a:r>
            <a:r>
              <a:rPr lang="it-IT" altLang="ja-JP" sz="2000">
                <a:solidFill>
                  <a:schemeClr val="tx2"/>
                </a:solidFill>
              </a:rPr>
              <a:t>insieme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		T = (x</a:t>
            </a:r>
            <a:r>
              <a:rPr lang="it-IT" altLang="it-IT" sz="2000" baseline="-25000">
                <a:solidFill>
                  <a:schemeClr val="tx2"/>
                </a:solidFill>
              </a:rPr>
              <a:t>1</a:t>
            </a:r>
            <a:r>
              <a:rPr lang="it-IT" altLang="it-IT" sz="2000">
                <a:solidFill>
                  <a:schemeClr val="tx2"/>
                </a:solidFill>
              </a:rPr>
              <a:t>,…..,x</a:t>
            </a:r>
            <a:r>
              <a:rPr lang="it-IT" altLang="it-IT" sz="2000" baseline="-25000">
                <a:solidFill>
                  <a:schemeClr val="tx2"/>
                </a:solidFill>
              </a:rPr>
              <a:t>n</a:t>
            </a:r>
            <a:r>
              <a:rPr lang="it-IT" altLang="it-IT" sz="2000">
                <a:solidFill>
                  <a:schemeClr val="tx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Dette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    	   	    p</a:t>
            </a:r>
            <a:r>
              <a:rPr lang="it-IT" altLang="it-IT" sz="2000" baseline="-25000">
                <a:solidFill>
                  <a:schemeClr val="tx2"/>
                </a:solidFill>
              </a:rPr>
              <a:t>1</a:t>
            </a:r>
            <a:r>
              <a:rPr lang="it-IT" altLang="it-IT" sz="2000">
                <a:solidFill>
                  <a:schemeClr val="tx2"/>
                </a:solidFill>
              </a:rPr>
              <a:t>,…..,p</a:t>
            </a:r>
            <a:r>
              <a:rPr lang="it-IT" altLang="it-IT" sz="2000" baseline="-25000">
                <a:solidFill>
                  <a:schemeClr val="tx2"/>
                </a:solidFill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le probabilità di occorrenza (frequenza) dei rispettivi elementi di 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la lunghezza l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</a:rPr>
              <a:t> viene scelta in modo da minimizzare la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lunghezza media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del codice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		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= 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</a:t>
            </a:r>
            <a:r>
              <a:rPr lang="it-IT" altLang="it-IT" sz="2000" baseline="-25000">
                <a:solidFill>
                  <a:schemeClr val="tx2"/>
                </a:solidFill>
              </a:rPr>
              <a:t>i=1,n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 (</a:t>
            </a:r>
            <a:r>
              <a:rPr lang="it-IT" altLang="it-IT" sz="2000">
                <a:solidFill>
                  <a:schemeClr val="tx2"/>
                </a:solidFill>
              </a:rPr>
              <a:t>p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 * </a:t>
            </a:r>
            <a:r>
              <a:rPr lang="it-IT" altLang="it-IT" sz="2000">
                <a:solidFill>
                  <a:schemeClr val="tx2"/>
                </a:solidFill>
              </a:rPr>
              <a:t>l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0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Effettuata la ricerca della n-pla di valori l</a:t>
            </a:r>
            <a:r>
              <a:rPr lang="it-IT" altLang="it-IT" sz="2000" baseline="-25000">
                <a:solidFill>
                  <a:schemeClr val="tx2"/>
                </a:solidFill>
              </a:rPr>
              <a:t>i </a:t>
            </a:r>
            <a:r>
              <a:rPr lang="it-IT" altLang="it-IT" sz="2000">
                <a:solidFill>
                  <a:schemeClr val="tx2"/>
                </a:solidFill>
              </a:rPr>
              <a:t>che rende minima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si ottiene un codice a lunghezza variabile a minima ridondanza. Le medesime informazioni codificate con un codice a lunghezza fissa avrebbero richiesto un codice di lunghezza maggiore di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</a:p>
        </p:txBody>
      </p:sp>
      <p:sp>
        <p:nvSpPr>
          <p:cNvPr id="31747" name="Segnaposto numero diapositiva 3">
            <a:extLst>
              <a:ext uri="{FF2B5EF4-FFF2-40B4-BE49-F238E27FC236}">
                <a16:creationId xmlns:a16="http://schemas.microsoft.com/office/drawing/2014/main" id="{F925D12C-B80A-CEA1-D5EF-DF653AB7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2D9320-5043-41BD-A761-716C790EDFA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10CA2D0E-A8C8-DC51-020A-8B793BEAE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" y="142875"/>
            <a:ext cx="8750300" cy="6858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variabile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0E796FF-C607-47DC-9D7A-DAEC2F797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475" y="1163638"/>
            <a:ext cx="8667750" cy="2332037"/>
          </a:xfrm>
        </p:spPr>
        <p:txBody>
          <a:bodyPr/>
          <a:lstStyle/>
          <a:p>
            <a:pPr>
              <a:spcAft>
                <a:spcPct val="30000"/>
              </a:spcAft>
            </a:pP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Data la rappresentazione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c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D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R,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l</a:t>
            </a:r>
            <a:r>
              <a:rPr lang="ja-JP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insieme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R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 può essere costituito da stringhe di lunghezza differente</a:t>
            </a:r>
          </a:p>
          <a:p>
            <a:pPr>
              <a:spcAft>
                <a:spcPct val="30000"/>
              </a:spcAft>
            </a:pP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Esempio (stringhe di cifre da 0 a 3):</a:t>
            </a:r>
          </a:p>
        </p:txBody>
      </p:sp>
      <p:graphicFrame>
        <p:nvGraphicFramePr>
          <p:cNvPr id="32771" name="Object 2">
            <a:extLst>
              <a:ext uri="{FF2B5EF4-FFF2-40B4-BE49-F238E27FC236}">
                <a16:creationId xmlns:a16="http://schemas.microsoft.com/office/drawing/2014/main" id="{4D64480F-1C07-113D-35A7-C74AF3A45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63647"/>
              </p:ext>
            </p:extLst>
          </p:nvPr>
        </p:nvGraphicFramePr>
        <p:xfrm>
          <a:off x="577761" y="3634567"/>
          <a:ext cx="8732837" cy="232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0" imgH="0" progId="Word.Document.8">
                  <p:embed/>
                </p:oleObj>
              </mc:Choice>
              <mc:Fallback>
                <p:oleObj name="Document" r:id="rId3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761" y="3634567"/>
                        <a:ext cx="8732837" cy="232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Segnaposto numero diapositiva 4">
            <a:extLst>
              <a:ext uri="{FF2B5EF4-FFF2-40B4-BE49-F238E27FC236}">
                <a16:creationId xmlns:a16="http://schemas.microsoft.com/office/drawing/2014/main" id="{6208CB75-FBAD-BE4B-090F-0CB1B9FE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88F575-204C-4881-8CAE-87FF383B15E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it-IT" altLang="it-IT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05A293E7-6DC1-FC40-DE23-8356B9887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8997950" cy="6334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variabile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ED6B2587-FEFC-35F7-028C-60D13DCD3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2950" y="1447800"/>
            <a:ext cx="8915400" cy="37973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La corrispondenza viene decisa tenendo conto della frequenza con cui vengono usati i valori in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</a:p>
          <a:p>
            <a:endParaRPr lang="it-IT" altLang="it-IT" i="1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Vantaggi: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Risparmio di spazio nella memorizzazione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Risparmio di tempo nella trasmissione</a:t>
            </a:r>
          </a:p>
        </p:txBody>
      </p:sp>
      <p:sp>
        <p:nvSpPr>
          <p:cNvPr id="34819" name="Segnaposto numero diapositiva 3">
            <a:extLst>
              <a:ext uri="{FF2B5EF4-FFF2-40B4-BE49-F238E27FC236}">
                <a16:creationId xmlns:a16="http://schemas.microsoft.com/office/drawing/2014/main" id="{234D87D1-BF2A-B668-0055-5A1C73DC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540B38-46CD-4F95-8336-997EDE9CAA1E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it-IT" altLang="it-IT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BE69D88C-FDF2-63C0-BF93-01FC88870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50" y="115888"/>
            <a:ext cx="6521450" cy="52705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indiretta</a:t>
            </a:r>
          </a:p>
        </p:txBody>
      </p:sp>
      <p:sp>
        <p:nvSpPr>
          <p:cNvPr id="36866" name="Text Box 3">
            <a:extLst>
              <a:ext uri="{FF2B5EF4-FFF2-40B4-BE49-F238E27FC236}">
                <a16:creationId xmlns:a16="http://schemas.microsoft.com/office/drawing/2014/main" id="{F7D2FF2E-F5E9-9D5D-ACDA-25FD0E051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2254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u="sng">
                <a:solidFill>
                  <a:schemeClr val="tx2"/>
                </a:solidFill>
              </a:rPr>
              <a:t>Codifica diretta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18FD4D6E-F15B-5821-E78E-0A34174FE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2895600"/>
            <a:ext cx="2432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m={[log</a:t>
            </a:r>
            <a:r>
              <a:rPr lang="it-IT" altLang="it-IT" sz="3200" baseline="-25000">
                <a:solidFill>
                  <a:schemeClr val="tx2"/>
                </a:solidFill>
              </a:rPr>
              <a:t>k</a:t>
            </a:r>
            <a:r>
              <a:rPr lang="it-IT" altLang="it-IT" sz="3200">
                <a:solidFill>
                  <a:schemeClr val="tx2"/>
                </a:solidFill>
              </a:rPr>
              <a:t> N]}</a:t>
            </a:r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E3D2C2D8-F4D4-5D1D-DE0E-991C1E2A5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2286000"/>
            <a:ext cx="1154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E=(0,1)</a:t>
            </a:r>
          </a:p>
        </p:txBody>
      </p:sp>
      <p:sp>
        <p:nvSpPr>
          <p:cNvPr id="36869" name="Text Box 6">
            <a:extLst>
              <a:ext uri="{FF2B5EF4-FFF2-40B4-BE49-F238E27FC236}">
                <a16:creationId xmlns:a16="http://schemas.microsoft.com/office/drawing/2014/main" id="{1B47E49F-1E59-9A7A-3C68-5298854CE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905000"/>
            <a:ext cx="2179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T=(x</a:t>
            </a:r>
            <a:r>
              <a:rPr lang="it-IT" altLang="it-IT" sz="2400" baseline="-25000">
                <a:solidFill>
                  <a:schemeClr val="tx2"/>
                </a:solidFill>
              </a:rPr>
              <a:t>1</a:t>
            </a:r>
            <a:r>
              <a:rPr lang="it-IT" altLang="it-IT" sz="2400">
                <a:solidFill>
                  <a:schemeClr val="tx2"/>
                </a:solidFill>
              </a:rPr>
              <a:t>,x</a:t>
            </a:r>
            <a:r>
              <a:rPr lang="it-IT" altLang="it-IT" sz="2400" baseline="-25000">
                <a:solidFill>
                  <a:schemeClr val="tx2"/>
                </a:solidFill>
              </a:rPr>
              <a:t>2</a:t>
            </a:r>
            <a:r>
              <a:rPr lang="it-IT" altLang="it-IT" sz="2400">
                <a:solidFill>
                  <a:schemeClr val="tx2"/>
                </a:solidFill>
              </a:rPr>
              <a:t>,…,x</a:t>
            </a:r>
            <a:r>
              <a:rPr lang="it-IT" altLang="it-IT" sz="2400" baseline="-25000">
                <a:solidFill>
                  <a:schemeClr val="tx2"/>
                </a:solidFill>
              </a:rPr>
              <a:t>20</a:t>
            </a:r>
            <a:r>
              <a:rPr lang="it-IT" altLang="it-IT" sz="24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36870" name="Rectangle 7">
            <a:extLst>
              <a:ext uri="{FF2B5EF4-FFF2-40B4-BE49-F238E27FC236}">
                <a16:creationId xmlns:a16="http://schemas.microsoft.com/office/drawing/2014/main" id="{F4F74353-7F0B-C916-8F1D-ABCC88F81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6200"/>
            <a:ext cx="2511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u="sng">
                <a:solidFill>
                  <a:schemeClr val="tx2"/>
                </a:solidFill>
              </a:rPr>
              <a:t>Codifica indiretta</a:t>
            </a:r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DC8CA9E9-A299-CD38-65CF-AB1A607D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4267200"/>
            <a:ext cx="4479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T=(x</a:t>
            </a:r>
            <a:r>
              <a:rPr lang="it-IT" altLang="it-IT" sz="2400" baseline="-25000">
                <a:solidFill>
                  <a:schemeClr val="tx2"/>
                </a:solidFill>
              </a:rPr>
              <a:t>1</a:t>
            </a:r>
            <a:r>
              <a:rPr lang="it-IT" altLang="it-IT" sz="2400">
                <a:solidFill>
                  <a:schemeClr val="tx2"/>
                </a:solidFill>
              </a:rPr>
              <a:t>,x</a:t>
            </a:r>
            <a:r>
              <a:rPr lang="it-IT" altLang="it-IT" sz="2400" baseline="-25000">
                <a:solidFill>
                  <a:schemeClr val="tx2"/>
                </a:solidFill>
              </a:rPr>
              <a:t>2</a:t>
            </a:r>
            <a:r>
              <a:rPr lang="it-IT" altLang="it-IT" sz="2400">
                <a:solidFill>
                  <a:schemeClr val="tx2"/>
                </a:solidFill>
              </a:rPr>
              <a:t>,…,x</a:t>
            </a:r>
            <a:r>
              <a:rPr lang="it-IT" altLang="it-IT" sz="2400" baseline="-25000">
                <a:solidFill>
                  <a:schemeClr val="tx2"/>
                </a:solidFill>
              </a:rPr>
              <a:t>20</a:t>
            </a:r>
            <a:r>
              <a:rPr lang="it-IT" altLang="it-IT" sz="2400">
                <a:solidFill>
                  <a:schemeClr val="tx2"/>
                </a:solidFill>
              </a:rPr>
              <a:t>) alfabeto origine</a:t>
            </a:r>
          </a:p>
        </p:txBody>
      </p:sp>
      <p:sp>
        <p:nvSpPr>
          <p:cNvPr id="36872" name="Text Box 9">
            <a:extLst>
              <a:ext uri="{FF2B5EF4-FFF2-40B4-BE49-F238E27FC236}">
                <a16:creationId xmlns:a16="http://schemas.microsoft.com/office/drawing/2014/main" id="{BD252DF4-D082-80CD-6E4B-5DD3846D4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648200"/>
            <a:ext cx="8756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J=(a,b,c) alfabeto intermedio, di cardinalità k intermedia 2&lt;k&lt;20</a:t>
            </a:r>
          </a:p>
        </p:txBody>
      </p:sp>
      <p:sp>
        <p:nvSpPr>
          <p:cNvPr id="36873" name="Rectangle 10">
            <a:extLst>
              <a:ext uri="{FF2B5EF4-FFF2-40B4-BE49-F238E27FC236}">
                <a16:creationId xmlns:a16="http://schemas.microsoft.com/office/drawing/2014/main" id="{9C0524C3-CFB9-7912-9758-2441752A4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5029200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B=(0,1) alfabeto destinazione</a:t>
            </a:r>
          </a:p>
        </p:txBody>
      </p:sp>
      <p:sp>
        <p:nvSpPr>
          <p:cNvPr id="36874" name="Text Box 11">
            <a:extLst>
              <a:ext uri="{FF2B5EF4-FFF2-40B4-BE49-F238E27FC236}">
                <a16:creationId xmlns:a16="http://schemas.microsoft.com/office/drawing/2014/main" id="{E80D6A53-17DE-E11C-C1BD-E71B9E146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5638800"/>
            <a:ext cx="2900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X16 </a:t>
            </a:r>
            <a:r>
              <a:rPr lang="it-IT" altLang="it-IT" sz="2400">
                <a:solidFill>
                  <a:schemeClr val="tx2"/>
                </a:solidFill>
                <a:sym typeface="Wingdings" panose="05000000000000000000" pitchFamily="2" charset="2"/>
              </a:rPr>
              <a:t> abc 011100</a:t>
            </a:r>
            <a:endParaRPr lang="it-IT" altLang="it-IT" sz="2400">
              <a:solidFill>
                <a:schemeClr val="tx2"/>
              </a:solidFill>
            </a:endParaRPr>
          </a:p>
        </p:txBody>
      </p:sp>
      <p:sp>
        <p:nvSpPr>
          <p:cNvPr id="36875" name="Segnaposto numero diapositiva 11">
            <a:extLst>
              <a:ext uri="{FF2B5EF4-FFF2-40B4-BE49-F238E27FC236}">
                <a16:creationId xmlns:a16="http://schemas.microsoft.com/office/drawing/2014/main" id="{B6D15028-64BD-9EB7-E0AA-571F1B9F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1E262F-D37E-4350-B4D9-9476DE7F37C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097E1562-CD25-8392-206E-5082D8404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16827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8BCEEEA4-95C1-1FFA-5ED9-A15C9C2FD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6733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6B8CB00E-0DF6-24C1-E7E4-681FBB9C0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35877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A182E01F-EFD8-1BB1-43FD-82141DF1F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3" y="1814513"/>
            <a:ext cx="39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  <a:r>
              <a:rPr lang="it-IT" altLang="it-IT" sz="2000" baseline="-25000"/>
              <a:t>6</a:t>
            </a:r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937B9839-B4A4-9709-CDE2-DC84CEFA2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688" y="2667000"/>
            <a:ext cx="1587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Line 7">
            <a:extLst>
              <a:ext uri="{FF2B5EF4-FFF2-40B4-BE49-F238E27FC236}">
                <a16:creationId xmlns:a16="http://schemas.microsoft.com/office/drawing/2014/main" id="{5AA117BE-F8E4-272E-EE36-F95D47CA1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26670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Rectangle 8">
            <a:extLst>
              <a:ext uri="{FF2B5EF4-FFF2-40B4-BE49-F238E27FC236}">
                <a16:creationId xmlns:a16="http://schemas.microsoft.com/office/drawing/2014/main" id="{CE546BF2-E5F4-2B00-DF99-50840BCC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051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</a:t>
            </a:r>
          </a:p>
        </p:txBody>
      </p:sp>
      <p:sp>
        <p:nvSpPr>
          <p:cNvPr id="37896" name="Rectangle 9">
            <a:extLst>
              <a:ext uri="{FF2B5EF4-FFF2-40B4-BE49-F238E27FC236}">
                <a16:creationId xmlns:a16="http://schemas.microsoft.com/office/drawing/2014/main" id="{ACBA8E38-EB8C-02A8-4723-103284CA6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05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37897" name="Rectangle 10">
            <a:extLst>
              <a:ext uri="{FF2B5EF4-FFF2-40B4-BE49-F238E27FC236}">
                <a16:creationId xmlns:a16="http://schemas.microsoft.com/office/drawing/2014/main" id="{129222A8-B202-80FA-853D-A82487AF0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05113"/>
            <a:ext cx="295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c</a:t>
            </a:r>
          </a:p>
        </p:txBody>
      </p:sp>
      <p:sp>
        <p:nvSpPr>
          <p:cNvPr id="37898" name="Line 11">
            <a:extLst>
              <a:ext uri="{FF2B5EF4-FFF2-40B4-BE49-F238E27FC236}">
                <a16:creationId xmlns:a16="http://schemas.microsoft.com/office/drawing/2014/main" id="{0C8339F8-85BE-673F-3F8D-12F342B0A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00" y="35814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Line 12">
            <a:extLst>
              <a:ext uri="{FF2B5EF4-FFF2-40B4-BE49-F238E27FC236}">
                <a16:creationId xmlns:a16="http://schemas.microsoft.com/office/drawing/2014/main" id="{52DFCFE0-F7FA-6B60-4B38-80C635111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688" y="3581400"/>
            <a:ext cx="1587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0" name="Line 13">
            <a:extLst>
              <a:ext uri="{FF2B5EF4-FFF2-40B4-BE49-F238E27FC236}">
                <a16:creationId xmlns:a16="http://schemas.microsoft.com/office/drawing/2014/main" id="{F106FB30-FB47-74B6-AE93-553312C52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7488" y="3581400"/>
            <a:ext cx="1587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1" name="Line 14">
            <a:extLst>
              <a:ext uri="{FF2B5EF4-FFF2-40B4-BE49-F238E27FC236}">
                <a16:creationId xmlns:a16="http://schemas.microsoft.com/office/drawing/2014/main" id="{B565231F-0CC5-9D7D-CA93-5B05EB0F2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581400"/>
            <a:ext cx="1588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2" name="Line 15">
            <a:extLst>
              <a:ext uri="{FF2B5EF4-FFF2-40B4-BE49-F238E27FC236}">
                <a16:creationId xmlns:a16="http://schemas.microsoft.com/office/drawing/2014/main" id="{8A40623D-3E4D-5D4E-C2CA-0A0C52956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35814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Rectangle 16">
            <a:extLst>
              <a:ext uri="{FF2B5EF4-FFF2-40B4-BE49-F238E27FC236}">
                <a16:creationId xmlns:a16="http://schemas.microsoft.com/office/drawing/2014/main" id="{45A81E94-E0B8-B801-D83F-B74597E2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4" name="Rectangle 17">
            <a:extLst>
              <a:ext uri="{FF2B5EF4-FFF2-40B4-BE49-F238E27FC236}">
                <a16:creationId xmlns:a16="http://schemas.microsoft.com/office/drawing/2014/main" id="{3A47F64D-B9AD-010D-668C-0B612B2B8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5" name="Rectangle 18">
            <a:extLst>
              <a:ext uri="{FF2B5EF4-FFF2-40B4-BE49-F238E27FC236}">
                <a16:creationId xmlns:a16="http://schemas.microsoft.com/office/drawing/2014/main" id="{C986666C-FAC4-9C95-CFC1-DA7661EB0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6" name="Rectangle 19">
            <a:extLst>
              <a:ext uri="{FF2B5EF4-FFF2-40B4-BE49-F238E27FC236}">
                <a16:creationId xmlns:a16="http://schemas.microsoft.com/office/drawing/2014/main" id="{2305B41A-361D-8603-B66D-B0346063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7" name="Rectangle 20">
            <a:extLst>
              <a:ext uri="{FF2B5EF4-FFF2-40B4-BE49-F238E27FC236}">
                <a16:creationId xmlns:a16="http://schemas.microsoft.com/office/drawing/2014/main" id="{5BBD7B77-0417-5A42-EF45-5A95310CD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4B978DD9-EBE0-9062-58B1-BA49FB270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9502D824-7CF5-AE71-38FA-69E9DEC5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Indiretta</a:t>
            </a:r>
          </a:p>
        </p:txBody>
      </p:sp>
      <p:sp>
        <p:nvSpPr>
          <p:cNvPr id="37910" name="Rectangle 23">
            <a:extLst>
              <a:ext uri="{FF2B5EF4-FFF2-40B4-BE49-F238E27FC236}">
                <a16:creationId xmlns:a16="http://schemas.microsoft.com/office/drawing/2014/main" id="{BDD2DAE3-4F82-9002-C241-6D43322D7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1676400"/>
            <a:ext cx="3970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T=(x</a:t>
            </a:r>
            <a:r>
              <a:rPr lang="it-IT" altLang="it-IT" sz="2400" baseline="-25000"/>
              <a:t>1</a:t>
            </a:r>
            <a:r>
              <a:rPr lang="it-IT" altLang="it-IT" sz="2400"/>
              <a:t>,x</a:t>
            </a:r>
            <a:r>
              <a:rPr lang="it-IT" altLang="it-IT" sz="2400" baseline="-25000"/>
              <a:t>2</a:t>
            </a:r>
            <a:r>
              <a:rPr lang="it-IT" altLang="it-IT" sz="2400"/>
              <a:t>,…,x</a:t>
            </a:r>
            <a:r>
              <a:rPr lang="it-IT" altLang="it-IT" sz="2400" baseline="-25000"/>
              <a:t>20</a:t>
            </a:r>
            <a:r>
              <a:rPr lang="it-IT" altLang="it-IT" sz="2400"/>
              <a:t>) </a:t>
            </a:r>
            <a:r>
              <a:rPr lang="it-IT" altLang="it-IT" sz="2000"/>
              <a:t>alfabeto origine</a:t>
            </a:r>
          </a:p>
        </p:txBody>
      </p:sp>
      <p:sp>
        <p:nvSpPr>
          <p:cNvPr id="37911" name="Rectangle 24">
            <a:extLst>
              <a:ext uri="{FF2B5EF4-FFF2-40B4-BE49-F238E27FC236}">
                <a16:creationId xmlns:a16="http://schemas.microsoft.com/office/drawing/2014/main" id="{FA5FA1CD-97E2-C50A-0AFA-A166B08B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75" y="2743200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J=(a,b,c) alfabeto intermedio</a:t>
            </a:r>
          </a:p>
        </p:txBody>
      </p:sp>
      <p:sp>
        <p:nvSpPr>
          <p:cNvPr id="37912" name="Rectangle 25">
            <a:extLst>
              <a:ext uri="{FF2B5EF4-FFF2-40B4-BE49-F238E27FC236}">
                <a16:creationId xmlns:a16="http://schemas.microsoft.com/office/drawing/2014/main" id="{5036BB70-01DD-38C3-61A7-E9D7CA21B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657600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B=(0,1) alfabeto destinazione</a:t>
            </a:r>
          </a:p>
        </p:txBody>
      </p:sp>
      <p:sp>
        <p:nvSpPr>
          <p:cNvPr id="37913" name="Segnaposto numero diapositiva 25">
            <a:extLst>
              <a:ext uri="{FF2B5EF4-FFF2-40B4-BE49-F238E27FC236}">
                <a16:creationId xmlns:a16="http://schemas.microsoft.com/office/drawing/2014/main" id="{D6FCDE72-F621-FF34-DF42-8DE99A5B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4A6BB2-3AFF-4D05-B0BB-07E554FE2ADA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egnaposto numero diapositiva 3">
            <a:extLst>
              <a:ext uri="{FF2B5EF4-FFF2-40B4-BE49-F238E27FC236}">
                <a16:creationId xmlns:a16="http://schemas.microsoft.com/office/drawing/2014/main" id="{7495EF02-6848-FC7A-6356-22CF9157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32B0B77-3475-4A80-AC08-E66856C19663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B6CF3DDA-50C0-A28B-07FE-4E608935E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AA6D850-65FC-EF1A-96B3-1907ADE51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64093F43-F702-5A7D-5656-489DC233E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26908FEC-6153-6307-273B-6B1A479CF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Esempi di codici intermedi completi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Ottale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Esadecimale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Esempio di codice intermedio incompleto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8-4-2-1 (BCD)</a:t>
            </a:r>
          </a:p>
          <a:p>
            <a:pPr eaLnBrk="1" hangingPunct="1">
              <a:lnSpc>
                <a:spcPct val="80000"/>
              </a:lnSpc>
            </a:pPr>
            <a:endParaRPr lang="it-IT" altLang="it-IT" sz="20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1800">
              <a:ea typeface="ＭＳ Ｐゴシック" panose="020B0600070205080204" pitchFamily="34" charset="-128"/>
            </a:endParaRP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5BF81BAF-A989-F61F-EA0C-7003C278A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07A7BE82-0260-7861-05D6-EDD95356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-71438"/>
            <a:ext cx="8915400" cy="91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Il processo di codifica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1B765E57-97B2-1FD2-0974-21EB2909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21" name="Rectangle 10">
            <a:extLst>
              <a:ext uri="{FF2B5EF4-FFF2-40B4-BE49-F238E27FC236}">
                <a16:creationId xmlns:a16="http://schemas.microsoft.com/office/drawing/2014/main" id="{E4A14F74-28CF-E37F-993D-84819D79A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22" name="Rectangle 13">
            <a:extLst>
              <a:ext uri="{FF2B5EF4-FFF2-40B4-BE49-F238E27FC236}">
                <a16:creationId xmlns:a16="http://schemas.microsoft.com/office/drawing/2014/main" id="{C80F1AC4-24A2-0415-FDC7-DAA649F16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3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38923" name="Object 12">
            <a:extLst>
              <a:ext uri="{FF2B5EF4-FFF2-40B4-BE49-F238E27FC236}">
                <a16:creationId xmlns:a16="http://schemas.microsoft.com/office/drawing/2014/main" id="{69BEDF43-DE61-AF36-56CE-1A82AC040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5950" y="1143000"/>
          <a:ext cx="2940050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0" imgH="0" progId="Word.Picture.8">
                  <p:embed/>
                </p:oleObj>
              </mc:Choice>
              <mc:Fallback>
                <p:oleObj name="Immagine" r:id="rId2" imgW="0" imgH="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1143000"/>
                        <a:ext cx="2940050" cy="257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Rectangle 15">
            <a:extLst>
              <a:ext uri="{FF2B5EF4-FFF2-40B4-BE49-F238E27FC236}">
                <a16:creationId xmlns:a16="http://schemas.microsoft.com/office/drawing/2014/main" id="{BF281DDE-AF5A-3FBB-53C6-D7F75E6E9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3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38925" name="Object 14">
            <a:extLst>
              <a:ext uri="{FF2B5EF4-FFF2-40B4-BE49-F238E27FC236}">
                <a16:creationId xmlns:a16="http://schemas.microsoft.com/office/drawing/2014/main" id="{D3D83694-0E4E-3DB9-7B16-F787C73C1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48088"/>
          <a:ext cx="5070475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48088"/>
                        <a:ext cx="5070475" cy="228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Rectangle 17">
            <a:extLst>
              <a:ext uri="{FF2B5EF4-FFF2-40B4-BE49-F238E27FC236}">
                <a16:creationId xmlns:a16="http://schemas.microsoft.com/office/drawing/2014/main" id="{E0D7B1AA-C491-A630-B390-B04EB1B7A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pSp>
        <p:nvGrpSpPr>
          <p:cNvPr id="38927" name="Group 24">
            <a:extLst>
              <a:ext uri="{FF2B5EF4-FFF2-40B4-BE49-F238E27FC236}">
                <a16:creationId xmlns:a16="http://schemas.microsoft.com/office/drawing/2014/main" id="{998B0CD9-6F40-3FB8-1CE1-2FDE2E774636}"/>
              </a:ext>
            </a:extLst>
          </p:cNvPr>
          <p:cNvGrpSpPr>
            <a:grpSpLocks/>
          </p:cNvGrpSpPr>
          <p:nvPr/>
        </p:nvGrpSpPr>
        <p:grpSpPr bwMode="auto">
          <a:xfrm>
            <a:off x="1181100" y="3381375"/>
            <a:ext cx="2503488" cy="3190875"/>
            <a:chOff x="687" y="2130"/>
            <a:chExt cx="1455" cy="2010"/>
          </a:xfrm>
        </p:grpSpPr>
        <p:grpSp>
          <p:nvGrpSpPr>
            <p:cNvPr id="38929" name="Group 22">
              <a:extLst>
                <a:ext uri="{FF2B5EF4-FFF2-40B4-BE49-F238E27FC236}">
                  <a16:creationId xmlns:a16="http://schemas.microsoft.com/office/drawing/2014/main" id="{4E2558CB-9CED-0FA3-E6C6-865FA6512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" y="2162"/>
              <a:ext cx="1353" cy="1978"/>
              <a:chOff x="687" y="2162"/>
              <a:chExt cx="1353" cy="1978"/>
            </a:xfrm>
          </p:grpSpPr>
          <p:grpSp>
            <p:nvGrpSpPr>
              <p:cNvPr id="38931" name="Group 19">
                <a:extLst>
                  <a:ext uri="{FF2B5EF4-FFF2-40B4-BE49-F238E27FC236}">
                    <a16:creationId xmlns:a16="http://schemas.microsoft.com/office/drawing/2014/main" id="{98DD6C60-C3A7-E766-A19C-33368EFEB0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" y="2162"/>
                <a:ext cx="1353" cy="1978"/>
                <a:chOff x="687" y="2162"/>
                <a:chExt cx="1353" cy="1978"/>
              </a:xfrm>
            </p:grpSpPr>
            <p:graphicFrame>
              <p:nvGraphicFramePr>
                <p:cNvPr id="38933" name="Object 16">
                  <a:extLst>
                    <a:ext uri="{FF2B5EF4-FFF2-40B4-BE49-F238E27FC236}">
                      <a16:creationId xmlns:a16="http://schemas.microsoft.com/office/drawing/2014/main" id="{AA4C4DE5-E584-3502-8782-07EBF738C38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7" y="2162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Immagine" r:id="rId6" imgW="0" imgH="0" progId="Word.Picture.8">
                        <p:embed/>
                      </p:oleObj>
                    </mc:Choice>
                    <mc:Fallback>
                      <p:oleObj name="Immagine" r:id="rId6" imgW="0" imgH="0" progId="Word.Picture.8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7" y="2162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8934" name="Line 18">
                  <a:extLst>
                    <a:ext uri="{FF2B5EF4-FFF2-40B4-BE49-F238E27FC236}">
                      <a16:creationId xmlns:a16="http://schemas.microsoft.com/office/drawing/2014/main" id="{03605111-0FCA-5136-E32D-C61AD3D2B8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2" y="2168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8932" name="Line 21">
                <a:extLst>
                  <a:ext uri="{FF2B5EF4-FFF2-40B4-BE49-F238E27FC236}">
                    <a16:creationId xmlns:a16="http://schemas.microsoft.com/office/drawing/2014/main" id="{4D647AAB-4876-DE4B-F96C-BC4E808AA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930" name="Rectangle 23">
              <a:extLst>
                <a:ext uri="{FF2B5EF4-FFF2-40B4-BE49-F238E27FC236}">
                  <a16:creationId xmlns:a16="http://schemas.microsoft.com/office/drawing/2014/main" id="{2DF95721-E37F-95BF-6160-B505D22C8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38928" name="AutoShape 25">
            <a:extLst>
              <a:ext uri="{FF2B5EF4-FFF2-40B4-BE49-F238E27FC236}">
                <a16:creationId xmlns:a16="http://schemas.microsoft.com/office/drawing/2014/main" id="{03A8AF14-DAFF-9EF2-A5E3-8C1F995C4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2733675"/>
            <a:ext cx="3122613" cy="1012825"/>
          </a:xfrm>
          <a:prstGeom prst="wedgeEllipseCallout">
            <a:avLst>
              <a:gd name="adj1" fmla="val -57120"/>
              <a:gd name="adj2" fmla="val 56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chemeClr val="bg1"/>
                </a:solidFill>
              </a:rPr>
              <a:t>NON UNIVOCAMENTE DEFINITO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137D118C-C252-C7F5-0801-4086ACC8B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142875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Codici Ridondanti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9ED0A623-5595-CC12-A361-30E120E8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1146175"/>
            <a:ext cx="9007475" cy="557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chemeClr val="tx2"/>
                </a:solidFill>
              </a:rPr>
              <a:t>Un codice a lunghezza fissa l per la codifica di un dato di cardinalità N con un alfabeto codice di cardinalità k si dice ridondante se: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K</a:t>
            </a:r>
            <a:r>
              <a:rPr lang="it-IT" altLang="it-IT" sz="3200" baseline="30000">
                <a:solidFill>
                  <a:schemeClr val="tx2"/>
                </a:solidFill>
              </a:rPr>
              <a:t>l </a:t>
            </a:r>
            <a:r>
              <a:rPr lang="it-IT" altLang="it-IT" sz="3200">
                <a:solidFill>
                  <a:schemeClr val="tx2"/>
                </a:solidFill>
              </a:rPr>
              <a:t>&gt;N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(l &gt; m, con m : K</a:t>
            </a:r>
            <a:r>
              <a:rPr lang="it-IT" altLang="it-IT" sz="2400" baseline="30000">
                <a:solidFill>
                  <a:schemeClr val="tx2"/>
                </a:solidFill>
              </a:rPr>
              <a:t>m </a:t>
            </a:r>
            <a:r>
              <a:rPr lang="it-IT" altLang="it-IT" sz="2400">
                <a:solidFill>
                  <a:schemeClr val="tx2"/>
                </a:solidFill>
              </a:rPr>
              <a:t>= N)</a:t>
            </a:r>
            <a:r>
              <a:rPr lang="it-IT" altLang="it-IT" sz="3200">
                <a:solidFill>
                  <a:schemeClr val="tx2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320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chemeClr val="tx2"/>
                </a:solidFill>
              </a:rPr>
              <a:t>Una misura della ridondanza è:</a:t>
            </a:r>
            <a:r>
              <a:rPr lang="it-IT" altLang="it-IT" sz="2400">
                <a:solidFill>
                  <a:schemeClr val="tx2"/>
                </a:solidFill>
              </a:rPr>
              <a:t> </a:t>
            </a:r>
            <a:r>
              <a:rPr lang="it-IT" altLang="it-IT" sz="2200">
                <a:solidFill>
                  <a:schemeClr val="tx2"/>
                </a:solidFill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20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r = 1 – [(log</a:t>
            </a:r>
            <a:r>
              <a:rPr lang="it-IT" altLang="it-IT" sz="3200" baseline="-25000">
                <a:solidFill>
                  <a:schemeClr val="tx2"/>
                </a:solidFill>
              </a:rPr>
              <a:t>k</a:t>
            </a:r>
            <a:r>
              <a:rPr lang="it-IT" altLang="it-IT" sz="3200">
                <a:solidFill>
                  <a:schemeClr val="tx2"/>
                </a:solidFill>
              </a:rPr>
              <a:t> N)/l] </a:t>
            </a:r>
            <a:r>
              <a:rPr lang="it-IT" altLang="it-IT" sz="3200">
                <a:solidFill>
                  <a:schemeClr val="tx2"/>
                </a:solidFill>
                <a:sym typeface="Symbol" panose="05050102010706020507" pitchFamily="18" charset="2"/>
              </a:rPr>
              <a:t> [0,1]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40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r è uguale a 0 per log</a:t>
            </a:r>
            <a:r>
              <a:rPr lang="it-IT" altLang="it-IT" sz="2400" baseline="-25000">
                <a:solidFill>
                  <a:schemeClr val="tx2"/>
                </a:solidFill>
              </a:rPr>
              <a:t>k</a:t>
            </a:r>
            <a:r>
              <a:rPr lang="it-IT" altLang="it-IT" sz="2400">
                <a:solidFill>
                  <a:schemeClr val="tx2"/>
                </a:solidFill>
              </a:rPr>
              <a:t> N = l mentre tende ad 1 per l che tende ad infinito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3200">
              <a:solidFill>
                <a:schemeClr val="tx2"/>
              </a:solidFill>
            </a:endParaRPr>
          </a:p>
        </p:txBody>
      </p:sp>
      <p:sp>
        <p:nvSpPr>
          <p:cNvPr id="39939" name="Segnaposto numero diapositiva 3">
            <a:extLst>
              <a:ext uri="{FF2B5EF4-FFF2-40B4-BE49-F238E27FC236}">
                <a16:creationId xmlns:a16="http://schemas.microsoft.com/office/drawing/2014/main" id="{06612643-029E-01BF-8EE0-36CABB50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5B2249-4E32-4CF3-91E9-ABD3C7ACF53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it-IT" altLang="it-IT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0C5C82FF-79C6-71CC-AEDC-720EAC9F6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146050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Codici Ridondanti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2F547800-4741-ADAD-64D1-439864264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371600"/>
            <a:ext cx="830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8</a:t>
            </a:r>
          </a:p>
        </p:txBody>
      </p:sp>
      <p:sp>
        <p:nvSpPr>
          <p:cNvPr id="40963" name="Text Box 4">
            <a:extLst>
              <a:ext uri="{FF2B5EF4-FFF2-40B4-BE49-F238E27FC236}">
                <a16:creationId xmlns:a16="http://schemas.microsoft.com/office/drawing/2014/main" id="{AED3B3A7-237D-77C5-5F31-FC2A6DC3C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49625"/>
            <a:ext cx="1565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K</a:t>
            </a:r>
            <a:r>
              <a:rPr lang="it-IT" altLang="it-IT" sz="3200" baseline="30000">
                <a:solidFill>
                  <a:schemeClr val="tx2"/>
                </a:solidFill>
              </a:rPr>
              <a:t>m </a:t>
            </a:r>
            <a:r>
              <a:rPr lang="it-IT" altLang="it-IT" sz="3200">
                <a:solidFill>
                  <a:schemeClr val="tx2"/>
                </a:solidFill>
              </a:rPr>
              <a:t>&gt;=N</a:t>
            </a:r>
          </a:p>
        </p:txBody>
      </p:sp>
      <p:sp>
        <p:nvSpPr>
          <p:cNvPr id="40964" name="Text Box 5">
            <a:extLst>
              <a:ext uri="{FF2B5EF4-FFF2-40B4-BE49-F238E27FC236}">
                <a16:creationId xmlns:a16="http://schemas.microsoft.com/office/drawing/2014/main" id="{5A5134D6-75DA-3E70-0E4C-0C2C1DC72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713" y="5715000"/>
            <a:ext cx="1058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&gt; m)</a:t>
            </a:r>
          </a:p>
        </p:txBody>
      </p:sp>
      <p:sp>
        <p:nvSpPr>
          <p:cNvPr id="40965" name="Rectangle 6">
            <a:extLst>
              <a:ext uri="{FF2B5EF4-FFF2-40B4-BE49-F238E27FC236}">
                <a16:creationId xmlns:a16="http://schemas.microsoft.com/office/drawing/2014/main" id="{FABFC68E-EA5E-6EDF-3968-5220B245B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9351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66" name="Rectangle 7">
            <a:extLst>
              <a:ext uri="{FF2B5EF4-FFF2-40B4-BE49-F238E27FC236}">
                <a16:creationId xmlns:a16="http://schemas.microsoft.com/office/drawing/2014/main" id="{3A9D702A-CEA6-376B-E2C2-8C7CCFA21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1219200"/>
            <a:ext cx="8620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67" name="AutoShape 8">
            <a:extLst>
              <a:ext uri="{FF2B5EF4-FFF2-40B4-BE49-F238E27FC236}">
                <a16:creationId xmlns:a16="http://schemas.microsoft.com/office/drawing/2014/main" id="{B8E7D9A7-1E99-95B5-2AC2-B889EE1BF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16764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68" name="Rectangle 9">
            <a:extLst>
              <a:ext uri="{FF2B5EF4-FFF2-40B4-BE49-F238E27FC236}">
                <a16:creationId xmlns:a16="http://schemas.microsoft.com/office/drawing/2014/main" id="{03F4FAF2-9E48-D1B4-0016-89F68B510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5" y="1243013"/>
            <a:ext cx="2386013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Non Ridondante</a:t>
            </a:r>
          </a:p>
        </p:txBody>
      </p:sp>
      <p:sp>
        <p:nvSpPr>
          <p:cNvPr id="40969" name="AutoShape 10">
            <a:extLst>
              <a:ext uri="{FF2B5EF4-FFF2-40B4-BE49-F238E27FC236}">
                <a16:creationId xmlns:a16="http://schemas.microsoft.com/office/drawing/2014/main" id="{8208FEE9-17F9-6421-0D76-450E9173A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6764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0" name="Rectangle 11">
            <a:extLst>
              <a:ext uri="{FF2B5EF4-FFF2-40B4-BE49-F238E27FC236}">
                <a16:creationId xmlns:a16="http://schemas.microsoft.com/office/drawing/2014/main" id="{7625BCF2-296B-C6B1-1D78-2845BBF3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3200400"/>
            <a:ext cx="830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7</a:t>
            </a:r>
          </a:p>
        </p:txBody>
      </p:sp>
      <p:sp>
        <p:nvSpPr>
          <p:cNvPr id="40971" name="Rectangle 12">
            <a:extLst>
              <a:ext uri="{FF2B5EF4-FFF2-40B4-BE49-F238E27FC236}">
                <a16:creationId xmlns:a16="http://schemas.microsoft.com/office/drawing/2014/main" id="{077B48EF-6BBC-1C0B-FD7E-E989F04F5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37639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72" name="Rectangle 13">
            <a:extLst>
              <a:ext uri="{FF2B5EF4-FFF2-40B4-BE49-F238E27FC236}">
                <a16:creationId xmlns:a16="http://schemas.microsoft.com/office/drawing/2014/main" id="{70432C16-5273-7F0E-5C9D-2D789BBDF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3048000"/>
            <a:ext cx="8636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73" name="AutoShape 14">
            <a:extLst>
              <a:ext uri="{FF2B5EF4-FFF2-40B4-BE49-F238E27FC236}">
                <a16:creationId xmlns:a16="http://schemas.microsoft.com/office/drawing/2014/main" id="{683DA069-1E05-CDA1-43E8-3458080E9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35052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4" name="Rectangle 15">
            <a:extLst>
              <a:ext uri="{FF2B5EF4-FFF2-40B4-BE49-F238E27FC236}">
                <a16:creationId xmlns:a16="http://schemas.microsoft.com/office/drawing/2014/main" id="{236381E4-C8EE-B4CF-5A99-570ED595D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71813"/>
            <a:ext cx="26876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InCompleto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Non Ridondante</a:t>
            </a:r>
          </a:p>
        </p:txBody>
      </p:sp>
      <p:sp>
        <p:nvSpPr>
          <p:cNvPr id="40975" name="AutoShape 16">
            <a:extLst>
              <a:ext uri="{FF2B5EF4-FFF2-40B4-BE49-F238E27FC236}">
                <a16:creationId xmlns:a16="http://schemas.microsoft.com/office/drawing/2014/main" id="{D931C2D0-EC4B-1B49-4840-944C24F4D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5052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6" name="AutoShape 17">
            <a:extLst>
              <a:ext uri="{FF2B5EF4-FFF2-40B4-BE49-F238E27FC236}">
                <a16:creationId xmlns:a16="http://schemas.microsoft.com/office/drawing/2014/main" id="{FC0FDD9B-5C16-CF2F-F153-4985CE9D086A}"/>
              </a:ext>
            </a:extLst>
          </p:cNvPr>
          <p:cNvSpPr>
            <a:spLocks/>
          </p:cNvSpPr>
          <p:nvPr/>
        </p:nvSpPr>
        <p:spPr bwMode="auto">
          <a:xfrm>
            <a:off x="1816100" y="1524000"/>
            <a:ext cx="495300" cy="4267200"/>
          </a:xfrm>
          <a:prstGeom prst="leftBrace">
            <a:avLst>
              <a:gd name="adj1" fmla="val 7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7" name="Rectangle 18">
            <a:extLst>
              <a:ext uri="{FF2B5EF4-FFF2-40B4-BE49-F238E27FC236}">
                <a16:creationId xmlns:a16="http://schemas.microsoft.com/office/drawing/2014/main" id="{47C485D2-0B96-9F87-6C09-C7FF13387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953000"/>
            <a:ext cx="10429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7,8</a:t>
            </a:r>
          </a:p>
        </p:txBody>
      </p:sp>
      <p:sp>
        <p:nvSpPr>
          <p:cNvPr id="40978" name="Rectangle 19">
            <a:extLst>
              <a:ext uri="{FF2B5EF4-FFF2-40B4-BE49-F238E27FC236}">
                <a16:creationId xmlns:a16="http://schemas.microsoft.com/office/drawing/2014/main" id="{01610E54-1CFA-156D-B3F4-D16624ECD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55165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79" name="Rectangle 20">
            <a:extLst>
              <a:ext uri="{FF2B5EF4-FFF2-40B4-BE49-F238E27FC236}">
                <a16:creationId xmlns:a16="http://schemas.microsoft.com/office/drawing/2014/main" id="{5F4CD6AA-9DD0-FE92-7C04-5073AB4FF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5287963"/>
            <a:ext cx="7064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4</a:t>
            </a:r>
          </a:p>
        </p:txBody>
      </p:sp>
      <p:sp>
        <p:nvSpPr>
          <p:cNvPr id="40980" name="AutoShape 21">
            <a:extLst>
              <a:ext uri="{FF2B5EF4-FFF2-40B4-BE49-F238E27FC236}">
                <a16:creationId xmlns:a16="http://schemas.microsoft.com/office/drawing/2014/main" id="{6982CAFD-A03C-7406-4880-91FCB980D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52578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81" name="Rectangle 22">
            <a:extLst>
              <a:ext uri="{FF2B5EF4-FFF2-40B4-BE49-F238E27FC236}">
                <a16:creationId xmlns:a16="http://schemas.microsoft.com/office/drawing/2014/main" id="{71038A26-DE15-C8C2-6387-F75B4189F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824413"/>
            <a:ext cx="26876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InCompleto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Ridondante</a:t>
            </a:r>
          </a:p>
        </p:txBody>
      </p:sp>
      <p:sp>
        <p:nvSpPr>
          <p:cNvPr id="40982" name="AutoShape 23">
            <a:extLst>
              <a:ext uri="{FF2B5EF4-FFF2-40B4-BE49-F238E27FC236}">
                <a16:creationId xmlns:a16="http://schemas.microsoft.com/office/drawing/2014/main" id="{5BAAF39D-B499-CF84-5BC5-D41DBC55B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2578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83" name="Rectangle 24">
            <a:extLst>
              <a:ext uri="{FF2B5EF4-FFF2-40B4-BE49-F238E27FC236}">
                <a16:creationId xmlns:a16="http://schemas.microsoft.com/office/drawing/2014/main" id="{FD11535B-6A50-6BB7-2554-397935806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4830763"/>
            <a:ext cx="8620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84" name="Rectangle 25">
            <a:extLst>
              <a:ext uri="{FF2B5EF4-FFF2-40B4-BE49-F238E27FC236}">
                <a16:creationId xmlns:a16="http://schemas.microsoft.com/office/drawing/2014/main" id="{B1D62FEA-8983-4BA1-84B4-DFD20320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475038"/>
            <a:ext cx="7048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3</a:t>
            </a:r>
          </a:p>
        </p:txBody>
      </p:sp>
      <p:sp>
        <p:nvSpPr>
          <p:cNvPr id="40985" name="Text Box 26">
            <a:extLst>
              <a:ext uri="{FF2B5EF4-FFF2-40B4-BE49-F238E27FC236}">
                <a16:creationId xmlns:a16="http://schemas.microsoft.com/office/drawing/2014/main" id="{3D4A621C-7A32-0E93-13DF-2EECF82A5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2073275"/>
            <a:ext cx="106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= m)</a:t>
            </a:r>
          </a:p>
        </p:txBody>
      </p:sp>
      <p:sp>
        <p:nvSpPr>
          <p:cNvPr id="40986" name="Rectangle 27">
            <a:extLst>
              <a:ext uri="{FF2B5EF4-FFF2-40B4-BE49-F238E27FC236}">
                <a16:creationId xmlns:a16="http://schemas.microsoft.com/office/drawing/2014/main" id="{E6DDB33C-3296-E757-8CF2-2343B7F0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1646238"/>
            <a:ext cx="7064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3</a:t>
            </a:r>
          </a:p>
        </p:txBody>
      </p:sp>
      <p:sp>
        <p:nvSpPr>
          <p:cNvPr id="40987" name="Text Box 28">
            <a:extLst>
              <a:ext uri="{FF2B5EF4-FFF2-40B4-BE49-F238E27FC236}">
                <a16:creationId xmlns:a16="http://schemas.microsoft.com/office/drawing/2014/main" id="{9FDDF52C-7ED6-A80B-C07B-816D1DB3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3810000"/>
            <a:ext cx="106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= m)</a:t>
            </a:r>
          </a:p>
        </p:txBody>
      </p:sp>
      <p:sp>
        <p:nvSpPr>
          <p:cNvPr id="40988" name="Segnaposto numero diapositiva 28">
            <a:extLst>
              <a:ext uri="{FF2B5EF4-FFF2-40B4-BE49-F238E27FC236}">
                <a16:creationId xmlns:a16="http://schemas.microsoft.com/office/drawing/2014/main" id="{2CACF392-7C57-C913-5284-8B1584E9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EF1B54-F39C-4925-8773-8BD1B11B912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it-IT" altLang="it-IT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FE0700E5-68B7-15C8-5C79-4B47B254D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7155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Rappresentazione di Codici mediante tabelle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E4506465-A795-C58F-2A43-9F65C5225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550" y="1143000"/>
            <a:ext cx="8782050" cy="182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T = (x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400">
                <a:ea typeface="ＭＳ Ｐゴシック" panose="020B0600070205080204" pitchFamily="34" charset="-128"/>
              </a:rPr>
              <a:t>,x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400">
                <a:ea typeface="ＭＳ Ｐゴシック" panose="020B0600070205080204" pitchFamily="34" charset="-128"/>
              </a:rPr>
              <a:t>,…,x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ea typeface="ＭＳ Ｐゴシック" panose="020B0600070205080204" pitchFamily="34" charset="-128"/>
              </a:rPr>
              <a:t>)           alfabeto origine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E = (a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400">
                <a:ea typeface="ＭＳ Ｐゴシック" panose="020B0600070205080204" pitchFamily="34" charset="-128"/>
              </a:rPr>
              <a:t>,a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400">
                <a:ea typeface="ＭＳ Ｐゴシック" panose="020B0600070205080204" pitchFamily="34" charset="-128"/>
              </a:rPr>
              <a:t>,…,a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	  </a:t>
            </a:r>
            <a:r>
              <a:rPr lang="it-IT" altLang="it-IT" sz="2400">
                <a:ea typeface="ＭＳ Ｐゴシック" panose="020B0600070205080204" pitchFamily="34" charset="-128"/>
              </a:rPr>
              <a:t>alfabeto destinazione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Es. Codice BCD (Binary Coded Decimal)</a:t>
            </a:r>
          </a:p>
        </p:txBody>
      </p:sp>
      <p:graphicFrame>
        <p:nvGraphicFramePr>
          <p:cNvPr id="320516" name="Group 4">
            <a:extLst>
              <a:ext uri="{FF2B5EF4-FFF2-40B4-BE49-F238E27FC236}">
                <a16:creationId xmlns:a16="http://schemas.microsoft.com/office/drawing/2014/main" id="{EDEA1323-4D5E-4666-F84B-2722E625D326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276600"/>
          <a:ext cx="1485900" cy="2743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044" name="Text Box 61">
            <a:extLst>
              <a:ext uri="{FF2B5EF4-FFF2-40B4-BE49-F238E27FC236}">
                <a16:creationId xmlns:a16="http://schemas.microsoft.com/office/drawing/2014/main" id="{CE8A1366-0454-D5AD-A6DD-0DF1CCDC2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971800"/>
            <a:ext cx="148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/>
              <a:t>3     2    1     0</a:t>
            </a:r>
          </a:p>
        </p:txBody>
      </p:sp>
      <p:sp>
        <p:nvSpPr>
          <p:cNvPr id="42045" name="Text Box 62">
            <a:extLst>
              <a:ext uri="{FF2B5EF4-FFF2-40B4-BE49-F238E27FC236}">
                <a16:creationId xmlns:a16="http://schemas.microsoft.com/office/drawing/2014/main" id="{C7294AA1-686B-3D01-3052-36FF30BC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950" y="4114800"/>
            <a:ext cx="84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/>
              <a:t>Dato</a:t>
            </a:r>
          </a:p>
        </p:txBody>
      </p:sp>
      <p:sp>
        <p:nvSpPr>
          <p:cNvPr id="42046" name="Text Box 63">
            <a:extLst>
              <a:ext uri="{FF2B5EF4-FFF2-40B4-BE49-F238E27FC236}">
                <a16:creationId xmlns:a16="http://schemas.microsoft.com/office/drawing/2014/main" id="{B6658353-D44E-7212-7EC9-02444C2CC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3243263"/>
            <a:ext cx="300038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9</a:t>
            </a:r>
          </a:p>
        </p:txBody>
      </p:sp>
      <p:sp>
        <p:nvSpPr>
          <p:cNvPr id="42047" name="Rectangle 64">
            <a:extLst>
              <a:ext uri="{FF2B5EF4-FFF2-40B4-BE49-F238E27FC236}">
                <a16:creationId xmlns:a16="http://schemas.microsoft.com/office/drawing/2014/main" id="{FA62052C-2197-6992-A8FE-28EA5EBE1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4379913"/>
            <a:ext cx="1733550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2048" name="Text Box 65">
            <a:extLst>
              <a:ext uri="{FF2B5EF4-FFF2-40B4-BE49-F238E27FC236}">
                <a16:creationId xmlns:a16="http://schemas.microsoft.com/office/drawing/2014/main" id="{A1004B43-DE08-FEA0-FC96-996151F70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3962400"/>
            <a:ext cx="205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/>
              <a:t>Parola Codice</a:t>
            </a:r>
          </a:p>
        </p:txBody>
      </p:sp>
      <p:sp>
        <p:nvSpPr>
          <p:cNvPr id="42049" name="Line 66">
            <a:extLst>
              <a:ext uri="{FF2B5EF4-FFF2-40B4-BE49-F238E27FC236}">
                <a16:creationId xmlns:a16="http://schemas.microsoft.com/office/drawing/2014/main" id="{41DFD7BF-1F93-C194-6E04-BA45CBAA93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500" y="4267200"/>
            <a:ext cx="6604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0" name="Segnaposto numero diapositiva 10">
            <a:extLst>
              <a:ext uri="{FF2B5EF4-FFF2-40B4-BE49-F238E27FC236}">
                <a16:creationId xmlns:a16="http://schemas.microsoft.com/office/drawing/2014/main" id="{50581137-D6B2-5A43-A9E8-F46FCBA3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E4208D-F6F6-41BB-A021-CDED372843CE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it-IT" altLang="it-IT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22746044-8537-ECEE-262C-18B83D7A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87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Rappresentazione Decodificata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AD1EBCFA-B35A-B67D-14C2-FF5605685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insieme ha cardinalità N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Le parole codice hanno lunghezza m = N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Ad ogni parola codice è associato un solo bit 1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Motivazioni</a:t>
            </a:r>
            <a:endParaRPr lang="it-IT" altLang="it-IT" i="1">
              <a:effectLst>
                <a:outerShdw blurRad="38100" dist="38100" dir="2700000" algn="tl">
                  <a:srgbClr val="C0C0C0"/>
                </a:outerShdw>
              </a:effectLst>
              <a:ea typeface="ＭＳ Ｐゴシック" panose="020B0600070205080204" pitchFamily="34" charset="-128"/>
            </a:endParaRPr>
          </a:p>
        </p:txBody>
      </p:sp>
      <p:sp>
        <p:nvSpPr>
          <p:cNvPr id="43011" name="Segnaposto numero diapositiva 3">
            <a:extLst>
              <a:ext uri="{FF2B5EF4-FFF2-40B4-BE49-F238E27FC236}">
                <a16:creationId xmlns:a16="http://schemas.microsoft.com/office/drawing/2014/main" id="{96E6317E-2228-CDCE-1F5F-970E7C22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EE0712-D1D0-45FB-BAD3-60B8BF07DB6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it-IT" altLang="it-IT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611" name="Group 51">
            <a:extLst>
              <a:ext uri="{FF2B5EF4-FFF2-40B4-BE49-F238E27FC236}">
                <a16:creationId xmlns:a16="http://schemas.microsoft.com/office/drawing/2014/main" id="{7D1E6CA7-A612-597C-421E-4B8E38ED6C78}"/>
              </a:ext>
            </a:extLst>
          </p:cNvPr>
          <p:cNvGraphicFramePr>
            <a:graphicFrameLocks noGrp="1"/>
          </p:cNvGraphicFramePr>
          <p:nvPr/>
        </p:nvGraphicFramePr>
        <p:xfrm>
          <a:off x="1651000" y="1397000"/>
          <a:ext cx="6851650" cy="452120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Dato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Codice BDC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Codice Decodificato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1000000000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0100000000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0001000000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0000000001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079" name="Rectangle 49">
            <a:extLst>
              <a:ext uri="{FF2B5EF4-FFF2-40B4-BE49-F238E27FC236}">
                <a16:creationId xmlns:a16="http://schemas.microsoft.com/office/drawing/2014/main" id="{9C99F13B-21D4-E62A-B227-443917286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304800"/>
            <a:ext cx="97059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 b="0">
                <a:latin typeface="Book Antiqua" panose="02040602050305030304" pitchFamily="18" charset="0"/>
              </a:rPr>
              <a:t>Esempio di rappresentazione Decodificata</a:t>
            </a:r>
          </a:p>
        </p:txBody>
      </p:sp>
      <p:sp>
        <p:nvSpPr>
          <p:cNvPr id="44080" name="Segnaposto numero diapositiva 3">
            <a:extLst>
              <a:ext uri="{FF2B5EF4-FFF2-40B4-BE49-F238E27FC236}">
                <a16:creationId xmlns:a16="http://schemas.microsoft.com/office/drawing/2014/main" id="{FA2BFD01-7C23-A6E3-40E5-C05B89CF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2563FF-47E6-47BB-9F03-5937EE287F3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it-IT" altLang="it-IT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5098311F-6304-7041-0F9B-25CBB35CD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59B4B4B-F7F7-F94F-C0EB-731AB06EB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Transcodificatore</a:t>
            </a:r>
          </a:p>
        </p:txBody>
      </p:sp>
      <p:sp>
        <p:nvSpPr>
          <p:cNvPr id="45059" name="Segnaposto numero diapositiva 3">
            <a:extLst>
              <a:ext uri="{FF2B5EF4-FFF2-40B4-BE49-F238E27FC236}">
                <a16:creationId xmlns:a16="http://schemas.microsoft.com/office/drawing/2014/main" id="{898B35D3-3410-44E9-816D-C80EAC9F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32B99B-15BB-42BE-A817-5ABD86EA011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it-IT" altLang="it-IT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DB992EDA-C69E-0E90-9D0E-30470E94C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115888"/>
            <a:ext cx="8420100" cy="7620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Transcodificatore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3F042543-3E48-92E1-90A2-9FA9EBFDF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9448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In alcune circostanze si può verificare che lo stesso dato sia rappresentato mediante codici diversi.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Detti C1 e C2 due codici definiti sullo stesso insieme (cioè costituito dallo stesso numero di parole codice), si dice TRANSCODIFICATORE una macchina che consente di associare a ciascuna parola del codice C1 la corrispondente parola del codice C2.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Transcodificatore per visualizzatore a 7 segmenti.</a:t>
            </a:r>
          </a:p>
        </p:txBody>
      </p:sp>
      <p:grpSp>
        <p:nvGrpSpPr>
          <p:cNvPr id="46083" name="Group 4">
            <a:extLst>
              <a:ext uri="{FF2B5EF4-FFF2-40B4-BE49-F238E27FC236}">
                <a16:creationId xmlns:a16="http://schemas.microsoft.com/office/drawing/2014/main" id="{506F4810-398E-AC0B-0A74-7466CCFF0D6B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4581525"/>
            <a:ext cx="7140575" cy="1547813"/>
            <a:chOff x="960" y="2577"/>
            <a:chExt cx="4150" cy="975"/>
          </a:xfrm>
        </p:grpSpPr>
        <p:sp>
          <p:nvSpPr>
            <p:cNvPr id="46085" name="Text Box 5">
              <a:extLst>
                <a:ext uri="{FF2B5EF4-FFF2-40B4-BE49-F238E27FC236}">
                  <a16:creationId xmlns:a16="http://schemas.microsoft.com/office/drawing/2014/main" id="{0788F735-8449-01E1-A9A1-38EB80F3F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28"/>
              <a:ext cx="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C1</a:t>
              </a:r>
              <a:endParaRPr lang="it-IT" altLang="it-IT" sz="2400" b="0" baseline="-25000"/>
            </a:p>
          </p:txBody>
        </p:sp>
        <p:sp>
          <p:nvSpPr>
            <p:cNvPr id="46086" name="Rectangle 6">
              <a:extLst>
                <a:ext uri="{FF2B5EF4-FFF2-40B4-BE49-F238E27FC236}">
                  <a16:creationId xmlns:a16="http://schemas.microsoft.com/office/drawing/2014/main" id="{1EF968A2-6056-219D-9942-043F08535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77"/>
              <a:ext cx="1456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46087" name="AutoShape 7">
              <a:extLst>
                <a:ext uri="{FF2B5EF4-FFF2-40B4-BE49-F238E27FC236}">
                  <a16:creationId xmlns:a16="http://schemas.microsoft.com/office/drawing/2014/main" id="{B5E8A8DF-6FB9-9C68-6F9B-47F2A2720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3024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46088" name="Text Box 8">
              <a:extLst>
                <a:ext uri="{FF2B5EF4-FFF2-40B4-BE49-F238E27FC236}">
                  <a16:creationId xmlns:a16="http://schemas.microsoft.com/office/drawing/2014/main" id="{7E054B24-B436-E905-AA24-C4700EC71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" y="2913"/>
              <a:ext cx="13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Transcodificatore</a:t>
              </a:r>
            </a:p>
          </p:txBody>
        </p:sp>
        <p:sp>
          <p:nvSpPr>
            <p:cNvPr id="46089" name="Text Box 9">
              <a:extLst>
                <a:ext uri="{FF2B5EF4-FFF2-40B4-BE49-F238E27FC236}">
                  <a16:creationId xmlns:a16="http://schemas.microsoft.com/office/drawing/2014/main" id="{7BF93620-C102-7FB9-489C-FDFA94874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2913"/>
              <a:ext cx="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C2</a:t>
              </a:r>
              <a:endParaRPr lang="it-IT" altLang="it-IT" sz="2400" b="0" baseline="-25000"/>
            </a:p>
          </p:txBody>
        </p:sp>
        <p:sp>
          <p:nvSpPr>
            <p:cNvPr id="46090" name="AutoShape 10">
              <a:extLst>
                <a:ext uri="{FF2B5EF4-FFF2-40B4-BE49-F238E27FC236}">
                  <a16:creationId xmlns:a16="http://schemas.microsoft.com/office/drawing/2014/main" id="{A9DA1739-C439-7D0D-9C89-B4F7EAA97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3009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46084" name="Segnaposto numero diapositiva 10">
            <a:extLst>
              <a:ext uri="{FF2B5EF4-FFF2-40B4-BE49-F238E27FC236}">
                <a16:creationId xmlns:a16="http://schemas.microsoft.com/office/drawing/2014/main" id="{4AC0413A-EC92-D695-E302-B69E05F4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AAAB0D-2D62-4167-AADF-9D729ECA4A9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it-IT" altLang="it-IT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E820778C-65FD-8C68-9BBE-CA37AE727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875" y="76200"/>
            <a:ext cx="9921875" cy="762000"/>
          </a:xfrm>
          <a:noFill/>
        </p:spPr>
        <p:txBody>
          <a:bodyPr/>
          <a:lstStyle/>
          <a:p>
            <a:pPr eaLnBrk="1" hangingPunct="1"/>
            <a:r>
              <a:rPr lang="it-IT" altLang="it-IT" sz="3500">
                <a:ea typeface="ＭＳ Ｐゴシック" panose="020B0600070205080204" pitchFamily="34" charset="-128"/>
              </a:rPr>
              <a:t>Transcodificatore per visualizzatore a 7 segmenti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ED2DE12E-DAE7-2310-27AA-20222A540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" y="1196975"/>
            <a:ext cx="9677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Uno degli indicatori visivi più comuni è l</a:t>
            </a:r>
            <a:r>
              <a:rPr lang="ja-JP" altLang="it-IT" sz="2400">
                <a:latin typeface="BookAntiqua" charset="0"/>
                <a:ea typeface="ＭＳ Ｐゴシック" panose="020B0600070205080204" pitchFamily="34" charset="-128"/>
              </a:rPr>
              <a:t>’</a:t>
            </a:r>
            <a:r>
              <a:rPr lang="it-IT" altLang="ja-JP" sz="2400" b="1" i="1">
                <a:latin typeface="BookAntiqua,Italic" charset="0"/>
                <a:ea typeface="ＭＳ Ｐゴシック" panose="020B0600070205080204" pitchFamily="34" charset="-128"/>
              </a:rPr>
              <a:t>indicatore a 7 segmenti</a:t>
            </a:r>
            <a:r>
              <a:rPr lang="it-IT" altLang="ja-JP" sz="2400">
                <a:latin typeface="BookAntiqua" charset="0"/>
                <a:ea typeface="ＭＳ Ｐゴシック" panose="020B0600070205080204" pitchFamily="34" charset="-128"/>
              </a:rPr>
              <a:t>.</a:t>
            </a:r>
            <a:endParaRPr lang="it-IT" altLang="ja-JP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Ogni simbolo è formato da sette segmenti ognuno dei quali è un Led che può essere acceso da un segnale digitale.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Un </a:t>
            </a:r>
            <a:r>
              <a:rPr lang="it-IT" altLang="it-IT" sz="2400" b="1" i="1">
                <a:latin typeface="BookAntiqua" charset="0"/>
                <a:ea typeface="ＭＳ Ｐゴシック" panose="020B0600070205080204" pitchFamily="34" charset="-128"/>
              </a:rPr>
              <a:t>BCD-To-Seven-Segment-Decoder</a:t>
            </a: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 riceve in ingresso un simbolo decimale in BCD e genera l</a:t>
            </a:r>
            <a:r>
              <a:rPr lang="ja-JP" altLang="it-IT" sz="2400">
                <a:latin typeface="BookAntiqua" charset="0"/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latin typeface="BookAntiqua" charset="0"/>
                <a:ea typeface="ＭＳ Ｐゴシック" panose="020B0600070205080204" pitchFamily="34" charset="-128"/>
              </a:rPr>
              <a:t>appropriata uscita selezionando i segmenti che devono essere accesi per mostrare su display il simbolo decimale.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1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73C72113-73D2-0C91-10C6-1D33D0D2D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2"/>
          <a:stretch>
            <a:fillRect/>
          </a:stretch>
        </p:blipFill>
        <p:spPr bwMode="auto">
          <a:xfrm>
            <a:off x="990600" y="4491038"/>
            <a:ext cx="7696200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Segnaposto numero diapositiva 4">
            <a:extLst>
              <a:ext uri="{FF2B5EF4-FFF2-40B4-BE49-F238E27FC236}">
                <a16:creationId xmlns:a16="http://schemas.microsoft.com/office/drawing/2014/main" id="{FD0CD0D3-7B44-71F2-D938-7D7127B3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83C295-0ACC-43D7-8BEE-A1950B48862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it-IT" altLang="it-IT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1046D65D-BF05-0C73-9E66-24A43720E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906000" cy="762000"/>
          </a:xfrm>
          <a:noFill/>
        </p:spPr>
        <p:txBody>
          <a:bodyPr/>
          <a:lstStyle/>
          <a:p>
            <a:pPr eaLnBrk="1" hangingPunct="1"/>
            <a:r>
              <a:rPr lang="it-IT" altLang="it-IT" sz="3500">
                <a:ea typeface="ＭＳ Ｐゴシック" panose="020B0600070205080204" pitchFamily="34" charset="-128"/>
              </a:rPr>
              <a:t>Transcodificatore per visualizzatore a 7 segmenti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9CDA82A3-D554-BD4E-87DB-9E8157878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25563"/>
            <a:ext cx="35814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Le 7 uscite le indichiamo con (a,b,c,d,e,f,g) selezionando i corrispondenti segmenti. Si hanno: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 i="1">
                <a:latin typeface="BookAntiqua,Italic" charset="0"/>
                <a:ea typeface="ＭＳ Ｐゴシック" panose="020B0600070205080204" pitchFamily="34" charset="-128"/>
              </a:rPr>
              <a:t>4 input</a:t>
            </a:r>
            <a:r>
              <a:rPr lang="it-IT" altLang="it-IT" sz="2000">
                <a:latin typeface="BookAntiqua" charset="0"/>
                <a:ea typeface="ＭＳ Ｐゴシック" panose="020B0600070205080204" pitchFamily="34" charset="-128"/>
              </a:rPr>
              <a:t>: A B C D.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 i="1">
                <a:latin typeface="BookAntiqua,Italic" charset="0"/>
                <a:ea typeface="ＭＳ Ｐゴシック" panose="020B0600070205080204" pitchFamily="34" charset="-128"/>
              </a:rPr>
              <a:t>7 output</a:t>
            </a:r>
            <a:r>
              <a:rPr lang="it-IT" altLang="it-IT" sz="2000">
                <a:latin typeface="BookAntiqua" charset="0"/>
                <a:ea typeface="ＭＳ Ｐゴシック" panose="020B0600070205080204" pitchFamily="34" charset="-128"/>
              </a:rPr>
              <a:t>:  a b c d e f g.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La tabella di verità sarà pertanto  </a:t>
            </a:r>
            <a:r>
              <a:rPr lang="it-IT" altLang="it-IT" sz="2400">
                <a:latin typeface="BookAntiqua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</a:t>
            </a: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A46D3A0F-E242-8146-2F59-25787B4D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1143000"/>
            <a:ext cx="5287963" cy="47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132" name="Group 6">
            <a:extLst>
              <a:ext uri="{FF2B5EF4-FFF2-40B4-BE49-F238E27FC236}">
                <a16:creationId xmlns:a16="http://schemas.microsoft.com/office/drawing/2014/main" id="{62D17FBF-901C-9588-5C54-C8DAA17211AA}"/>
              </a:ext>
            </a:extLst>
          </p:cNvPr>
          <p:cNvGrpSpPr>
            <a:grpSpLocks/>
          </p:cNvGrpSpPr>
          <p:nvPr/>
        </p:nvGrpSpPr>
        <p:grpSpPr bwMode="auto">
          <a:xfrm>
            <a:off x="881063" y="5164138"/>
            <a:ext cx="2571750" cy="1550987"/>
            <a:chOff x="2265" y="2268"/>
            <a:chExt cx="2856" cy="1416"/>
          </a:xfrm>
        </p:grpSpPr>
        <p:pic>
          <p:nvPicPr>
            <p:cNvPr id="48134" name="Picture 4">
              <a:extLst>
                <a:ext uri="{FF2B5EF4-FFF2-40B4-BE49-F238E27FC236}">
                  <a16:creationId xmlns:a16="http://schemas.microsoft.com/office/drawing/2014/main" id="{5F82707B-5D69-D214-BFE3-C8432CB9D9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17"/>
            <a:stretch>
              <a:fillRect/>
            </a:stretch>
          </p:blipFill>
          <p:spPr bwMode="auto">
            <a:xfrm>
              <a:off x="2265" y="2268"/>
              <a:ext cx="2856" cy="1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5" name="Rectangle 5">
              <a:extLst>
                <a:ext uri="{FF2B5EF4-FFF2-40B4-BE49-F238E27FC236}">
                  <a16:creationId xmlns:a16="http://schemas.microsoft.com/office/drawing/2014/main" id="{36598BF0-9985-72B0-6923-7C1F31933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74"/>
              <a:ext cx="25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48133" name="Segnaposto numero diapositiva 7">
            <a:extLst>
              <a:ext uri="{FF2B5EF4-FFF2-40B4-BE49-F238E27FC236}">
                <a16:creationId xmlns:a16="http://schemas.microsoft.com/office/drawing/2014/main" id="{90A2EE64-1F01-16C4-4C5E-5E813868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CF211F-EC84-4D4D-8436-EC39345147C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it-IT" altLang="it-IT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1A1E99E-D76B-C79A-7ADD-03458C49C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C9395C60-EB08-DAF3-277B-49BEEBBEF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Decoder ed Encoder</a:t>
            </a:r>
          </a:p>
        </p:txBody>
      </p:sp>
      <p:sp>
        <p:nvSpPr>
          <p:cNvPr id="49155" name="Segnaposto numero diapositiva 3">
            <a:extLst>
              <a:ext uri="{FF2B5EF4-FFF2-40B4-BE49-F238E27FC236}">
                <a16:creationId xmlns:a16="http://schemas.microsoft.com/office/drawing/2014/main" id="{5CFB6899-1B8F-B3FB-D446-967417D3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C6CC46-127A-4856-BA67-2911142B49E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it-IT" altLang="it-IT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317CC5BA-E142-6594-3C4B-5BC7AFEDE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04800"/>
            <a:ext cx="842010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Decodificatore (decoder)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00A9245F-3B4F-BFD0-48DA-EC8BC481B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400" y="1219200"/>
            <a:ext cx="8420100" cy="2209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 decodificatore è una macchina che riceve in ingresso una parola codice (C) e presenta in uscita la sua rappresentazione decodificata (linee U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 … U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</a:t>
            </a:r>
          </a:p>
        </p:txBody>
      </p:sp>
      <p:grpSp>
        <p:nvGrpSpPr>
          <p:cNvPr id="50179" name="Group 4">
            <a:extLst>
              <a:ext uri="{FF2B5EF4-FFF2-40B4-BE49-F238E27FC236}">
                <a16:creationId xmlns:a16="http://schemas.microsoft.com/office/drawing/2014/main" id="{A34B594F-E70B-49C6-56D1-AF906250497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048000"/>
            <a:ext cx="4930775" cy="2895600"/>
            <a:chOff x="1488" y="2208"/>
            <a:chExt cx="2867" cy="1824"/>
          </a:xfrm>
        </p:grpSpPr>
        <p:sp>
          <p:nvSpPr>
            <p:cNvPr id="50181" name="AutoShape 5">
              <a:extLst>
                <a:ext uri="{FF2B5EF4-FFF2-40B4-BE49-F238E27FC236}">
                  <a16:creationId xmlns:a16="http://schemas.microsoft.com/office/drawing/2014/main" id="{5EF6DAF9-D74F-F0B2-8CBB-FC135CB420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92" y="2760"/>
              <a:ext cx="168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Line 6">
              <a:extLst>
                <a:ext uri="{FF2B5EF4-FFF2-40B4-BE49-F238E27FC236}">
                  <a16:creationId xmlns:a16="http://schemas.microsoft.com/office/drawing/2014/main" id="{2B8FC906-AB7E-BB79-1F54-CB384185F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68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3" name="Line 7">
              <a:extLst>
                <a:ext uri="{FF2B5EF4-FFF2-40B4-BE49-F238E27FC236}">
                  <a16:creationId xmlns:a16="http://schemas.microsoft.com/office/drawing/2014/main" id="{090832AC-17BF-45F4-1212-9004CAE8D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312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4" name="Line 8">
              <a:extLst>
                <a:ext uri="{FF2B5EF4-FFF2-40B4-BE49-F238E27FC236}">
                  <a16:creationId xmlns:a16="http://schemas.microsoft.com/office/drawing/2014/main" id="{6384176F-6341-386E-644D-C3D3745A4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0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5" name="Line 9">
              <a:extLst>
                <a:ext uri="{FF2B5EF4-FFF2-40B4-BE49-F238E27FC236}">
                  <a16:creationId xmlns:a16="http://schemas.microsoft.com/office/drawing/2014/main" id="{37832B59-2D6C-7AF8-07B7-9CBE97CFD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60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6" name="Text Box 10">
              <a:extLst>
                <a:ext uri="{FF2B5EF4-FFF2-40B4-BE49-F238E27FC236}">
                  <a16:creationId xmlns:a16="http://schemas.microsoft.com/office/drawing/2014/main" id="{DE5C3EDE-0D0A-D24A-20CF-94429A332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2426"/>
              <a:ext cx="2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o</a:t>
              </a:r>
            </a:p>
          </p:txBody>
        </p:sp>
        <p:sp>
          <p:nvSpPr>
            <p:cNvPr id="50187" name="Text Box 11">
              <a:extLst>
                <a:ext uri="{FF2B5EF4-FFF2-40B4-BE49-F238E27FC236}">
                  <a16:creationId xmlns:a16="http://schemas.microsoft.com/office/drawing/2014/main" id="{045364A7-9CF9-4BA2-D601-E861D4129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120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m-1</a:t>
              </a:r>
            </a:p>
          </p:txBody>
        </p:sp>
        <p:sp>
          <p:nvSpPr>
            <p:cNvPr id="50188" name="Text Box 12">
              <a:extLst>
                <a:ext uri="{FF2B5EF4-FFF2-40B4-BE49-F238E27FC236}">
                  <a16:creationId xmlns:a16="http://schemas.microsoft.com/office/drawing/2014/main" id="{42357DF4-9C17-BB35-61A4-6BCEF7DC1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25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50189" name="Text Box 13">
              <a:extLst>
                <a:ext uri="{FF2B5EF4-FFF2-40B4-BE49-F238E27FC236}">
                  <a16:creationId xmlns:a16="http://schemas.microsoft.com/office/drawing/2014/main" id="{D6FA6A23-7707-DBEB-2DDF-324514EC9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456"/>
              <a:ext cx="4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50190" name="Line 14">
              <a:extLst>
                <a:ext uri="{FF2B5EF4-FFF2-40B4-BE49-F238E27FC236}">
                  <a16:creationId xmlns:a16="http://schemas.microsoft.com/office/drawing/2014/main" id="{DDE7E80D-6EC5-9469-F385-CF9D9DEA59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36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1" name="Text Box 15">
              <a:extLst>
                <a:ext uri="{FF2B5EF4-FFF2-40B4-BE49-F238E27FC236}">
                  <a16:creationId xmlns:a16="http://schemas.microsoft.com/office/drawing/2014/main" id="{14397518-9401-A32E-46CA-25F68B1FC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4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endParaRPr lang="it-IT" altLang="it-IT" sz="2400" b="0"/>
            </a:p>
          </p:txBody>
        </p:sp>
      </p:grpSp>
      <p:sp>
        <p:nvSpPr>
          <p:cNvPr id="50180" name="Segnaposto numero diapositiva 15">
            <a:extLst>
              <a:ext uri="{FF2B5EF4-FFF2-40B4-BE49-F238E27FC236}">
                <a16:creationId xmlns:a16="http://schemas.microsoft.com/office/drawing/2014/main" id="{5FD50B56-CC1E-D535-4275-7E9D73A3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CDF509-5EF5-4FDC-8BA2-46E09FEA11D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it-IT" altLang="it-IT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8626018A-15AE-8FC5-347C-F284DE10F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69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Sintesi della trascodifica da binario a 1 su N </a:t>
            </a:r>
          </a:p>
        </p:txBody>
      </p:sp>
      <p:sp>
        <p:nvSpPr>
          <p:cNvPr id="51202" name="Text Box 3">
            <a:extLst>
              <a:ext uri="{FF2B5EF4-FFF2-40B4-BE49-F238E27FC236}">
                <a16:creationId xmlns:a16="http://schemas.microsoft.com/office/drawing/2014/main" id="{B329F81F-166A-EBB3-59A6-A1C3AB16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3040063"/>
            <a:ext cx="9123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 i="1"/>
              <a:t>Esempio: Transcodifica 2:4      </a:t>
            </a:r>
            <a:endParaRPr lang="it-IT" altLang="it-IT" sz="2400"/>
          </a:p>
        </p:txBody>
      </p:sp>
      <p:grpSp>
        <p:nvGrpSpPr>
          <p:cNvPr id="51203" name="Group 68">
            <a:extLst>
              <a:ext uri="{FF2B5EF4-FFF2-40B4-BE49-F238E27FC236}">
                <a16:creationId xmlns:a16="http://schemas.microsoft.com/office/drawing/2014/main" id="{35231404-CC94-F488-85A6-60C03311A87F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3690938"/>
            <a:ext cx="2601912" cy="2185987"/>
            <a:chOff x="405" y="1344"/>
            <a:chExt cx="1639" cy="1377"/>
          </a:xfrm>
        </p:grpSpPr>
        <p:sp>
          <p:nvSpPr>
            <p:cNvPr id="51267" name="Text Box 5">
              <a:extLst>
                <a:ext uri="{FF2B5EF4-FFF2-40B4-BE49-F238E27FC236}">
                  <a16:creationId xmlns:a16="http://schemas.microsoft.com/office/drawing/2014/main" id="{1D2AE133-6C82-CF10-FA2A-33A1E5D5F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1344"/>
              <a:ext cx="1639" cy="13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defTabSz="37465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3746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37465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37465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37465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B	A	U</a:t>
              </a:r>
              <a:r>
                <a:rPr lang="it-IT" altLang="it-IT" sz="2400" baseline="-25000"/>
                <a:t>0	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1 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2  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 baseline="-2500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0	0	1	 0	  0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0	1	0	 1	  0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1	0	0	 0	  1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1	1	0	 0	  0    1</a:t>
              </a:r>
              <a:endParaRPr lang="it-IT" altLang="it-IT" sz="2400" baseline="-25000"/>
            </a:p>
          </p:txBody>
        </p:sp>
        <p:sp>
          <p:nvSpPr>
            <p:cNvPr id="51268" name="Line 6">
              <a:extLst>
                <a:ext uri="{FF2B5EF4-FFF2-40B4-BE49-F238E27FC236}">
                  <a16:creationId xmlns:a16="http://schemas.microsoft.com/office/drawing/2014/main" id="{9BA0A4AC-1D44-29AA-EFD4-37ACAF8FA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" y="1723"/>
              <a:ext cx="1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9" name="Line 7">
              <a:extLst>
                <a:ext uri="{FF2B5EF4-FFF2-40B4-BE49-F238E27FC236}">
                  <a16:creationId xmlns:a16="http://schemas.microsoft.com/office/drawing/2014/main" id="{BF8B48D5-9815-D21E-5C31-94C54767F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344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0" name="Line 8">
              <a:extLst>
                <a:ext uri="{FF2B5EF4-FFF2-40B4-BE49-F238E27FC236}">
                  <a16:creationId xmlns:a16="http://schemas.microsoft.com/office/drawing/2014/main" id="{E12773F5-1E80-FEA6-77B9-45A306D94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3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1" name="Line 9">
              <a:extLst>
                <a:ext uri="{FF2B5EF4-FFF2-40B4-BE49-F238E27FC236}">
                  <a16:creationId xmlns:a16="http://schemas.microsoft.com/office/drawing/2014/main" id="{E4A569FD-648E-0A6B-2B13-0E35DDD1C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52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2" name="Line 10">
              <a:extLst>
                <a:ext uri="{FF2B5EF4-FFF2-40B4-BE49-F238E27FC236}">
                  <a16:creationId xmlns:a16="http://schemas.microsoft.com/office/drawing/2014/main" id="{3F5E224C-B6E5-D073-04D9-01EA67E96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344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04" name="Group 73">
            <a:extLst>
              <a:ext uri="{FF2B5EF4-FFF2-40B4-BE49-F238E27FC236}">
                <a16:creationId xmlns:a16="http://schemas.microsoft.com/office/drawing/2014/main" id="{C43CBD78-4C0E-7F05-2749-698CF355C5C9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43138"/>
            <a:ext cx="5353050" cy="4225925"/>
            <a:chOff x="2868" y="1248"/>
            <a:chExt cx="3372" cy="2662"/>
          </a:xfrm>
        </p:grpSpPr>
        <p:grpSp>
          <p:nvGrpSpPr>
            <p:cNvPr id="51210" name="Group 13">
              <a:extLst>
                <a:ext uri="{FF2B5EF4-FFF2-40B4-BE49-F238E27FC236}">
                  <a16:creationId xmlns:a16="http://schemas.microsoft.com/office/drawing/2014/main" id="{07692643-E3F0-1330-53C4-03673F169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8" y="1391"/>
              <a:ext cx="2436" cy="2519"/>
              <a:chOff x="55" y="1609"/>
              <a:chExt cx="2249" cy="2519"/>
            </a:xfrm>
          </p:grpSpPr>
          <p:grpSp>
            <p:nvGrpSpPr>
              <p:cNvPr id="51224" name="Group 14">
                <a:extLst>
                  <a:ext uri="{FF2B5EF4-FFF2-40B4-BE49-F238E27FC236}">
                    <a16:creationId xmlns:a16="http://schemas.microsoft.com/office/drawing/2014/main" id="{9FD0DCA6-F8F0-B7EA-D37B-725D27CFD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" y="3641"/>
                <a:ext cx="876" cy="202"/>
                <a:chOff x="276" y="3641"/>
                <a:chExt cx="876" cy="202"/>
              </a:xfrm>
            </p:grpSpPr>
            <p:sp>
              <p:nvSpPr>
                <p:cNvPr id="51259" name="Freeform 15">
                  <a:extLst>
                    <a:ext uri="{FF2B5EF4-FFF2-40B4-BE49-F238E27FC236}">
                      <a16:creationId xmlns:a16="http://schemas.microsoft.com/office/drawing/2014/main" id="{6B3FB45B-BAD5-AC37-CFA4-DF1AC8F68D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7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60" name="Line 16">
                  <a:extLst>
                    <a:ext uri="{FF2B5EF4-FFF2-40B4-BE49-F238E27FC236}">
                      <a16:creationId xmlns:a16="http://schemas.microsoft.com/office/drawing/2014/main" id="{EAFC130D-9D8B-52CD-642B-D54E105A56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" y="3741"/>
                  <a:ext cx="1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1" name="Oval 17">
                  <a:extLst>
                    <a:ext uri="{FF2B5EF4-FFF2-40B4-BE49-F238E27FC236}">
                      <a16:creationId xmlns:a16="http://schemas.microsoft.com/office/drawing/2014/main" id="{2CDD7300-DBD0-452F-7DDD-B247CE088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3716"/>
                  <a:ext cx="49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62" name="Line 18">
                  <a:extLst>
                    <a:ext uri="{FF2B5EF4-FFF2-40B4-BE49-F238E27FC236}">
                      <a16:creationId xmlns:a16="http://schemas.microsoft.com/office/drawing/2014/main" id="{A7824380-0ECA-0AF7-AFBD-FEC9AEEC5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2" y="3741"/>
                  <a:ext cx="12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3" name="Freeform 19">
                  <a:extLst>
                    <a:ext uri="{FF2B5EF4-FFF2-40B4-BE49-F238E27FC236}">
                      <a16:creationId xmlns:a16="http://schemas.microsoft.com/office/drawing/2014/main" id="{96CF1992-AC88-7EFE-D300-098B0EDD17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64" name="Line 20">
                  <a:extLst>
                    <a:ext uri="{FF2B5EF4-FFF2-40B4-BE49-F238E27FC236}">
                      <a16:creationId xmlns:a16="http://schemas.microsoft.com/office/drawing/2014/main" id="{73EE54D2-0C7E-0F3B-9FD9-CCB93452C1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1" y="3741"/>
                  <a:ext cx="21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5" name="Line 21">
                  <a:extLst>
                    <a:ext uri="{FF2B5EF4-FFF2-40B4-BE49-F238E27FC236}">
                      <a16:creationId xmlns:a16="http://schemas.microsoft.com/office/drawing/2014/main" id="{48AE8703-65D1-79B7-EE4F-0EAAF6AC03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1" y="3741"/>
                  <a:ext cx="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6" name="Oval 22">
                  <a:extLst>
                    <a:ext uri="{FF2B5EF4-FFF2-40B4-BE49-F238E27FC236}">
                      <a16:creationId xmlns:a16="http://schemas.microsoft.com/office/drawing/2014/main" id="{48951166-7961-DA88-0B25-90844616C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1" y="3716"/>
                  <a:ext cx="50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</p:grpSp>
          <p:grpSp>
            <p:nvGrpSpPr>
              <p:cNvPr id="51225" name="Group 23">
                <a:extLst>
                  <a:ext uri="{FF2B5EF4-FFF2-40B4-BE49-F238E27FC236}">
                    <a16:creationId xmlns:a16="http://schemas.microsoft.com/office/drawing/2014/main" id="{2503A444-81F9-1A10-1986-F54DBC36CC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1609"/>
                <a:ext cx="385" cy="333"/>
                <a:chOff x="2245" y="1306"/>
                <a:chExt cx="532" cy="494"/>
              </a:xfrm>
            </p:grpSpPr>
            <p:sp>
              <p:nvSpPr>
                <p:cNvPr id="51257" name="Freeform 24">
                  <a:extLst>
                    <a:ext uri="{FF2B5EF4-FFF2-40B4-BE49-F238E27FC236}">
                      <a16:creationId xmlns:a16="http://schemas.microsoft.com/office/drawing/2014/main" id="{6B753A3C-2B5A-74F2-6F9D-66B62E061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8" name="Freeform 25">
                  <a:extLst>
                    <a:ext uri="{FF2B5EF4-FFF2-40B4-BE49-F238E27FC236}">
                      <a16:creationId xmlns:a16="http://schemas.microsoft.com/office/drawing/2014/main" id="{6B7B152C-A57C-CA29-4E02-C66CF1FDFB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6" name="Group 26">
                <a:extLst>
                  <a:ext uri="{FF2B5EF4-FFF2-40B4-BE49-F238E27FC236}">
                    <a16:creationId xmlns:a16="http://schemas.microsoft.com/office/drawing/2014/main" id="{B23EB087-DFE0-072D-080C-CB85437414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2089"/>
                <a:ext cx="385" cy="333"/>
                <a:chOff x="2245" y="1306"/>
                <a:chExt cx="532" cy="494"/>
              </a:xfrm>
            </p:grpSpPr>
            <p:sp>
              <p:nvSpPr>
                <p:cNvPr id="51255" name="Freeform 27">
                  <a:extLst>
                    <a:ext uri="{FF2B5EF4-FFF2-40B4-BE49-F238E27FC236}">
                      <a16:creationId xmlns:a16="http://schemas.microsoft.com/office/drawing/2014/main" id="{25513A52-D3C6-57E6-3E6D-59BA6B390F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6" name="Freeform 28">
                  <a:extLst>
                    <a:ext uri="{FF2B5EF4-FFF2-40B4-BE49-F238E27FC236}">
                      <a16:creationId xmlns:a16="http://schemas.microsoft.com/office/drawing/2014/main" id="{7B486D83-7640-BEBE-433A-BDF496B0D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7" name="Group 29">
                <a:extLst>
                  <a:ext uri="{FF2B5EF4-FFF2-40B4-BE49-F238E27FC236}">
                    <a16:creationId xmlns:a16="http://schemas.microsoft.com/office/drawing/2014/main" id="{EF93FA52-8BB7-1946-FBFB-84CDD2A24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2607"/>
                <a:ext cx="385" cy="332"/>
                <a:chOff x="2245" y="1306"/>
                <a:chExt cx="532" cy="494"/>
              </a:xfrm>
            </p:grpSpPr>
            <p:sp>
              <p:nvSpPr>
                <p:cNvPr id="51253" name="Freeform 30">
                  <a:extLst>
                    <a:ext uri="{FF2B5EF4-FFF2-40B4-BE49-F238E27FC236}">
                      <a16:creationId xmlns:a16="http://schemas.microsoft.com/office/drawing/2014/main" id="{20590A5B-CC79-1E18-470D-AD4AB38CE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4" name="Freeform 31">
                  <a:extLst>
                    <a:ext uri="{FF2B5EF4-FFF2-40B4-BE49-F238E27FC236}">
                      <a16:creationId xmlns:a16="http://schemas.microsoft.com/office/drawing/2014/main" id="{82162AF1-4B27-29B7-A4CA-068BC6769C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8" name="Group 32">
                <a:extLst>
                  <a:ext uri="{FF2B5EF4-FFF2-40B4-BE49-F238E27FC236}">
                    <a16:creationId xmlns:a16="http://schemas.microsoft.com/office/drawing/2014/main" id="{AE5378CC-8A91-B771-24A4-5C29EBBF37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3087"/>
                <a:ext cx="385" cy="332"/>
                <a:chOff x="2245" y="1306"/>
                <a:chExt cx="532" cy="494"/>
              </a:xfrm>
            </p:grpSpPr>
            <p:sp>
              <p:nvSpPr>
                <p:cNvPr id="51251" name="Freeform 33">
                  <a:extLst>
                    <a:ext uri="{FF2B5EF4-FFF2-40B4-BE49-F238E27FC236}">
                      <a16:creationId xmlns:a16="http://schemas.microsoft.com/office/drawing/2014/main" id="{23ADF756-9E97-D530-42C1-488D5F1F11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2" name="Freeform 34">
                  <a:extLst>
                    <a:ext uri="{FF2B5EF4-FFF2-40B4-BE49-F238E27FC236}">
                      <a16:creationId xmlns:a16="http://schemas.microsoft.com/office/drawing/2014/main" id="{2833C7E7-23F2-BC76-2599-6CF412898A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1229" name="Text Box 35">
                <a:extLst>
                  <a:ext uri="{FF2B5EF4-FFF2-40B4-BE49-F238E27FC236}">
                    <a16:creationId xmlns:a16="http://schemas.microsoft.com/office/drawing/2014/main" id="{F2DE58AE-B210-FD72-30EC-1F311BBD1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" y="3610"/>
                <a:ext cx="270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A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B </a:t>
                </a:r>
              </a:p>
            </p:txBody>
          </p:sp>
          <p:sp>
            <p:nvSpPr>
              <p:cNvPr id="51230" name="Line 36">
                <a:extLst>
                  <a:ext uri="{FF2B5EF4-FFF2-40B4-BE49-F238E27FC236}">
                    <a16:creationId xmlns:a16="http://schemas.microsoft.com/office/drawing/2014/main" id="{BFE8C898-8E21-E70C-29C1-1595B15B9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77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1" name="Line 37">
                <a:extLst>
                  <a:ext uri="{FF2B5EF4-FFF2-40B4-BE49-F238E27FC236}">
                    <a16:creationId xmlns:a16="http://schemas.microsoft.com/office/drawing/2014/main" id="{67412737-67A2-268F-4BA1-5763AC116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5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2" name="Line 38">
                <a:extLst>
                  <a:ext uri="{FF2B5EF4-FFF2-40B4-BE49-F238E27FC236}">
                    <a16:creationId xmlns:a16="http://schemas.microsoft.com/office/drawing/2014/main" id="{00196768-08B0-DC8D-ADED-969762745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784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3" name="Line 39">
                <a:extLst>
                  <a:ext uri="{FF2B5EF4-FFF2-40B4-BE49-F238E27FC236}">
                    <a16:creationId xmlns:a16="http://schemas.microsoft.com/office/drawing/2014/main" id="{F00AD289-A172-3C06-3DA7-752929ED4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264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34" name="Group 40">
                <a:extLst>
                  <a:ext uri="{FF2B5EF4-FFF2-40B4-BE49-F238E27FC236}">
                    <a16:creationId xmlns:a16="http://schemas.microsoft.com/office/drawing/2014/main" id="{D43E681B-69CB-3C3B-0257-0A2AEE132F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" y="3888"/>
                <a:ext cx="876" cy="202"/>
                <a:chOff x="276" y="3641"/>
                <a:chExt cx="876" cy="202"/>
              </a:xfrm>
            </p:grpSpPr>
            <p:sp>
              <p:nvSpPr>
                <p:cNvPr id="51243" name="Freeform 41">
                  <a:extLst>
                    <a:ext uri="{FF2B5EF4-FFF2-40B4-BE49-F238E27FC236}">
                      <a16:creationId xmlns:a16="http://schemas.microsoft.com/office/drawing/2014/main" id="{BB707097-2921-7191-0815-3F3B069F8B1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7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44" name="Line 42">
                  <a:extLst>
                    <a:ext uri="{FF2B5EF4-FFF2-40B4-BE49-F238E27FC236}">
                      <a16:creationId xmlns:a16="http://schemas.microsoft.com/office/drawing/2014/main" id="{49132C39-A9DF-E941-6245-056E36751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" y="3741"/>
                  <a:ext cx="1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5" name="Oval 43">
                  <a:extLst>
                    <a:ext uri="{FF2B5EF4-FFF2-40B4-BE49-F238E27FC236}">
                      <a16:creationId xmlns:a16="http://schemas.microsoft.com/office/drawing/2014/main" id="{13A7A59F-C11F-BAA9-0CD7-DB9B3ED219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3716"/>
                  <a:ext cx="49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46" name="Line 44">
                  <a:extLst>
                    <a:ext uri="{FF2B5EF4-FFF2-40B4-BE49-F238E27FC236}">
                      <a16:creationId xmlns:a16="http://schemas.microsoft.com/office/drawing/2014/main" id="{8BB76D3D-5A83-662A-0E18-6E13F4C20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2" y="3741"/>
                  <a:ext cx="12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7" name="Freeform 45">
                  <a:extLst>
                    <a:ext uri="{FF2B5EF4-FFF2-40B4-BE49-F238E27FC236}">
                      <a16:creationId xmlns:a16="http://schemas.microsoft.com/office/drawing/2014/main" id="{2E27333A-96D2-3057-95FA-96CE5C2FAD1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48" name="Line 46">
                  <a:extLst>
                    <a:ext uri="{FF2B5EF4-FFF2-40B4-BE49-F238E27FC236}">
                      <a16:creationId xmlns:a16="http://schemas.microsoft.com/office/drawing/2014/main" id="{07116936-0AAD-AC2B-9FB5-0FB026C74C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1" y="3741"/>
                  <a:ext cx="21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9" name="Line 47">
                  <a:extLst>
                    <a:ext uri="{FF2B5EF4-FFF2-40B4-BE49-F238E27FC236}">
                      <a16:creationId xmlns:a16="http://schemas.microsoft.com/office/drawing/2014/main" id="{3C3F3365-BA8C-6104-BE45-C19DD4BC6F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1" y="3741"/>
                  <a:ext cx="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50" name="Oval 48">
                  <a:extLst>
                    <a:ext uri="{FF2B5EF4-FFF2-40B4-BE49-F238E27FC236}">
                      <a16:creationId xmlns:a16="http://schemas.microsoft.com/office/drawing/2014/main" id="{FE1D49D6-4469-9472-7060-1F795D910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1" y="3716"/>
                  <a:ext cx="50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</p:grpSp>
          <p:sp>
            <p:nvSpPr>
              <p:cNvPr id="51235" name="Freeform 49">
                <a:extLst>
                  <a:ext uri="{FF2B5EF4-FFF2-40B4-BE49-F238E27FC236}">
                    <a16:creationId xmlns:a16="http://schemas.microsoft.com/office/drawing/2014/main" id="{5A128930-F341-4AF3-D4FC-1F864D659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1680"/>
                <a:ext cx="720" cy="2064"/>
              </a:xfrm>
              <a:custGeom>
                <a:avLst/>
                <a:gdLst>
                  <a:gd name="T0" fmla="*/ 0 w 720"/>
                  <a:gd name="T1" fmla="*/ 2064 h 2064"/>
                  <a:gd name="T2" fmla="*/ 0 w 720"/>
                  <a:gd name="T3" fmla="*/ 0 h 2064"/>
                  <a:gd name="T4" fmla="*/ 720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6" name="Line 50">
                <a:extLst>
                  <a:ext uri="{FF2B5EF4-FFF2-40B4-BE49-F238E27FC236}">
                    <a16:creationId xmlns:a16="http://schemas.microsoft.com/office/drawing/2014/main" id="{D0ADF0B2-4D15-04B7-210D-1C7C002CD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88"/>
                <a:ext cx="71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7" name="Freeform 51">
                <a:extLst>
                  <a:ext uri="{FF2B5EF4-FFF2-40B4-BE49-F238E27FC236}">
                    <a16:creationId xmlns:a16="http://schemas.microsoft.com/office/drawing/2014/main" id="{0F99F068-6DD8-EC0E-F2FC-8D5B129BD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" y="1872"/>
                <a:ext cx="623" cy="2112"/>
              </a:xfrm>
              <a:custGeom>
                <a:avLst/>
                <a:gdLst>
                  <a:gd name="T0" fmla="*/ 0 w 720"/>
                  <a:gd name="T1" fmla="*/ 2913 h 2064"/>
                  <a:gd name="T2" fmla="*/ 0 w 720"/>
                  <a:gd name="T3" fmla="*/ 0 h 2064"/>
                  <a:gd name="T4" fmla="*/ 82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8" name="Freeform 52">
                <a:extLst>
                  <a:ext uri="{FF2B5EF4-FFF2-40B4-BE49-F238E27FC236}">
                    <a16:creationId xmlns:a16="http://schemas.microsoft.com/office/drawing/2014/main" id="{CE444F1C-2820-1321-F699-7536DAC45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60"/>
                <a:ext cx="240" cy="1584"/>
              </a:xfrm>
              <a:custGeom>
                <a:avLst/>
                <a:gdLst>
                  <a:gd name="T0" fmla="*/ 0 w 720"/>
                  <a:gd name="T1" fmla="*/ 39 h 2064"/>
                  <a:gd name="T2" fmla="*/ 0 w 720"/>
                  <a:gd name="T3" fmla="*/ 0 h 2064"/>
                  <a:gd name="T4" fmla="*/ 0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9" name="Freeform 53">
                <a:extLst>
                  <a:ext uri="{FF2B5EF4-FFF2-40B4-BE49-F238E27FC236}">
                    <a16:creationId xmlns:a16="http://schemas.microsoft.com/office/drawing/2014/main" id="{14E39F65-1474-93E4-3E4B-4845E1322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880"/>
                <a:ext cx="240" cy="1104"/>
              </a:xfrm>
              <a:custGeom>
                <a:avLst/>
                <a:gdLst>
                  <a:gd name="T0" fmla="*/ 0 w 240"/>
                  <a:gd name="T1" fmla="*/ 1104 h 1104"/>
                  <a:gd name="T2" fmla="*/ 96 w 240"/>
                  <a:gd name="T3" fmla="*/ 1104 h 1104"/>
                  <a:gd name="T4" fmla="*/ 96 w 240"/>
                  <a:gd name="T5" fmla="*/ 0 h 1104"/>
                  <a:gd name="T6" fmla="*/ 240 w 240"/>
                  <a:gd name="T7" fmla="*/ 0 h 1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1104"/>
                  <a:gd name="T14" fmla="*/ 240 w 240"/>
                  <a:gd name="T15" fmla="*/ 1104 h 1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1104">
                    <a:moveTo>
                      <a:pt x="0" y="1104"/>
                    </a:moveTo>
                    <a:lnTo>
                      <a:pt x="96" y="1104"/>
                    </a:lnTo>
                    <a:lnTo>
                      <a:pt x="96" y="0"/>
                    </a:lnTo>
                    <a:lnTo>
                      <a:pt x="2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0" name="Line 54">
                <a:extLst>
                  <a:ext uri="{FF2B5EF4-FFF2-40B4-BE49-F238E27FC236}">
                    <a16:creationId xmlns:a16="http://schemas.microsoft.com/office/drawing/2014/main" id="{D21BF07E-01B3-E15F-00C6-AC1832E2F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1" name="Line 55">
                <a:extLst>
                  <a:ext uri="{FF2B5EF4-FFF2-40B4-BE49-F238E27FC236}">
                    <a16:creationId xmlns:a16="http://schemas.microsoft.com/office/drawing/2014/main" id="{D9C13DC3-3CD9-2FB9-04AF-834283828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2" name="Line 56">
                <a:extLst>
                  <a:ext uri="{FF2B5EF4-FFF2-40B4-BE49-F238E27FC236}">
                    <a16:creationId xmlns:a16="http://schemas.microsoft.com/office/drawing/2014/main" id="{42169D26-F95F-6DF2-C03E-17579B03A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312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11" name="Group 72">
              <a:extLst>
                <a:ext uri="{FF2B5EF4-FFF2-40B4-BE49-F238E27FC236}">
                  <a16:creationId xmlns:a16="http://schemas.microsoft.com/office/drawing/2014/main" id="{C2CE7541-E9C2-FC11-ED0B-CD71C93345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7" y="1248"/>
              <a:ext cx="2743" cy="2544"/>
              <a:chOff x="3497" y="1248"/>
              <a:chExt cx="2743" cy="2544"/>
            </a:xfrm>
          </p:grpSpPr>
          <p:sp>
            <p:nvSpPr>
              <p:cNvPr id="51212" name="Text Box 57">
                <a:extLst>
                  <a:ext uri="{FF2B5EF4-FFF2-40B4-BE49-F238E27FC236}">
                    <a16:creationId xmlns:a16="http://schemas.microsoft.com/office/drawing/2014/main" id="{01C4E92F-AD21-C7EA-5B66-65C14CFF0B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2" y="1248"/>
                <a:ext cx="1398" cy="2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0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1</a:t>
                </a:r>
                <a:r>
                  <a:rPr lang="it-IT" altLang="it-IT" sz="2400"/>
                  <a:t> = B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2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3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2400"/>
              </a:p>
            </p:txBody>
          </p:sp>
          <p:grpSp>
            <p:nvGrpSpPr>
              <p:cNvPr id="51213" name="Group 71">
                <a:extLst>
                  <a:ext uri="{FF2B5EF4-FFF2-40B4-BE49-F238E27FC236}">
                    <a16:creationId xmlns:a16="http://schemas.microsoft.com/office/drawing/2014/main" id="{2CA885F8-2C80-8C05-2116-D7D4E60C0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7" y="1296"/>
                <a:ext cx="2227" cy="2496"/>
                <a:chOff x="3497" y="1296"/>
                <a:chExt cx="2227" cy="2496"/>
              </a:xfrm>
            </p:grpSpPr>
            <p:sp>
              <p:nvSpPr>
                <p:cNvPr id="51214" name="Oval 58">
                  <a:extLst>
                    <a:ext uri="{FF2B5EF4-FFF2-40B4-BE49-F238E27FC236}">
                      <a16:creationId xmlns:a16="http://schemas.microsoft.com/office/drawing/2014/main" id="{5486A281-3E78-CBD4-E04B-CE364A72D59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15" y="2928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5" name="Oval 59">
                  <a:extLst>
                    <a:ext uri="{FF2B5EF4-FFF2-40B4-BE49-F238E27FC236}">
                      <a16:creationId xmlns:a16="http://schemas.microsoft.com/office/drawing/2014/main" id="{E5CDC280-E6F2-3EBE-5048-3113AA0535E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131" y="3072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6" name="Oval 60">
                  <a:extLst>
                    <a:ext uri="{FF2B5EF4-FFF2-40B4-BE49-F238E27FC236}">
                      <a16:creationId xmlns:a16="http://schemas.microsoft.com/office/drawing/2014/main" id="{07A44E88-8272-076C-E2CD-7A400F397F0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515" y="3495"/>
                  <a:ext cx="61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7" name="Oval 61">
                  <a:extLst>
                    <a:ext uri="{FF2B5EF4-FFF2-40B4-BE49-F238E27FC236}">
                      <a16:creationId xmlns:a16="http://schemas.microsoft.com/office/drawing/2014/main" id="{2A2EB5D9-1E1A-74E8-298D-A949889CA4C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10" y="3735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8" name="Oval 62">
                  <a:extLst>
                    <a:ext uri="{FF2B5EF4-FFF2-40B4-BE49-F238E27FC236}">
                      <a16:creationId xmlns:a16="http://schemas.microsoft.com/office/drawing/2014/main" id="{37C8F764-44AB-1DEE-DEC0-2A0F0C6B2E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18" y="2064"/>
                  <a:ext cx="61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9" name="Oval 63">
                  <a:extLst>
                    <a:ext uri="{FF2B5EF4-FFF2-40B4-BE49-F238E27FC236}">
                      <a16:creationId xmlns:a16="http://schemas.microsoft.com/office/drawing/2014/main" id="{C95BE684-8808-821C-C0DC-3204A935F6F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497" y="2439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20" name="Line 64">
                  <a:extLst>
                    <a:ext uri="{FF2B5EF4-FFF2-40B4-BE49-F238E27FC236}">
                      <a16:creationId xmlns:a16="http://schemas.microsoft.com/office/drawing/2014/main" id="{4FBC64AE-C4A3-5F9D-5786-EAD23056E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4" y="129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1" name="Line 65">
                  <a:extLst>
                    <a:ext uri="{FF2B5EF4-FFF2-40B4-BE49-F238E27FC236}">
                      <a16:creationId xmlns:a16="http://schemas.microsoft.com/office/drawing/2014/main" id="{5E896A50-033D-0F95-9B69-AB5C164992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8" y="129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2" name="Line 66">
                  <a:extLst>
                    <a:ext uri="{FF2B5EF4-FFF2-40B4-BE49-F238E27FC236}">
                      <a16:creationId xmlns:a16="http://schemas.microsoft.com/office/drawing/2014/main" id="{B7BF2C4A-4486-8530-1F91-3E00ED62FD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4" y="177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3" name="Line 67">
                  <a:extLst>
                    <a:ext uri="{FF2B5EF4-FFF2-40B4-BE49-F238E27FC236}">
                      <a16:creationId xmlns:a16="http://schemas.microsoft.com/office/drawing/2014/main" id="{C9B0CAB6-15AC-E955-FE25-0AD9BFD310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8" y="2304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1205" name="Text Box 74">
            <a:extLst>
              <a:ext uri="{FF2B5EF4-FFF2-40B4-BE49-F238E27FC236}">
                <a16:creationId xmlns:a16="http://schemas.microsoft.com/office/drawing/2014/main" id="{CEC0A765-8AC3-2A4B-9C60-EE20809EA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1975"/>
            <a:ext cx="642938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1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2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3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4</a:t>
            </a:r>
          </a:p>
        </p:txBody>
      </p:sp>
      <p:sp>
        <p:nvSpPr>
          <p:cNvPr id="51206" name="Rectangle 75">
            <a:extLst>
              <a:ext uri="{FF2B5EF4-FFF2-40B4-BE49-F238E27FC236}">
                <a16:creationId xmlns:a16="http://schemas.microsoft.com/office/drawing/2014/main" id="{F834C3D2-582E-2588-3E2B-53EEF7ACD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014538"/>
            <a:ext cx="2670175" cy="4454525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51207" name="Text Box 76">
            <a:extLst>
              <a:ext uri="{FF2B5EF4-FFF2-40B4-BE49-F238E27FC236}">
                <a16:creationId xmlns:a16="http://schemas.microsoft.com/office/drawing/2014/main" id="{8EE76EEF-7F39-5E6D-F3F0-89D0723A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1143000"/>
            <a:ext cx="94091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Abbiamo un insieme sorgente di 4 elementi. Sono necessari 2 bit (A,B) per codificarlo. Nella rappresentazione decodificata servono invece 4 bit (U</a:t>
            </a:r>
            <a:r>
              <a:rPr lang="it-IT" altLang="it-IT" sz="2400" b="0" baseline="-25000">
                <a:latin typeface="Arial" panose="020B0604020202020204" pitchFamily="34" charset="0"/>
              </a:rPr>
              <a:t>0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3</a:t>
            </a:r>
            <a:r>
              <a:rPr lang="it-IT" altLang="it-IT" sz="2400" b="0">
                <a:latin typeface="Arial" panose="020B0604020202020204" pitchFamily="34" charset="0"/>
              </a:rPr>
              <a:t>).</a:t>
            </a:r>
          </a:p>
        </p:txBody>
      </p:sp>
      <p:sp>
        <p:nvSpPr>
          <p:cNvPr id="324685" name="Rectangle 77">
            <a:extLst>
              <a:ext uri="{FF2B5EF4-FFF2-40B4-BE49-F238E27FC236}">
                <a16:creationId xmlns:a16="http://schemas.microsoft.com/office/drawing/2014/main" id="{1716A8B7-65B1-E302-4E00-E4B6E677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014538"/>
            <a:ext cx="1517650" cy="445452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51209" name="Segnaposto numero diapositiva 72">
            <a:extLst>
              <a:ext uri="{FF2B5EF4-FFF2-40B4-BE49-F238E27FC236}">
                <a16:creationId xmlns:a16="http://schemas.microsoft.com/office/drawing/2014/main" id="{63AABD15-C4F0-A3BB-94F4-48C592D5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1E1F2F-96D0-4BF2-9A7F-0CDA0B67ECF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8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5F8B2928-161B-A55D-2E1E-45FA19E7A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28600"/>
            <a:ext cx="842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Il circuito integrato DECODER </a:t>
            </a:r>
          </a:p>
        </p:txBody>
      </p:sp>
      <p:grpSp>
        <p:nvGrpSpPr>
          <p:cNvPr id="53250" name="Group 4">
            <a:extLst>
              <a:ext uri="{FF2B5EF4-FFF2-40B4-BE49-F238E27FC236}">
                <a16:creationId xmlns:a16="http://schemas.microsoft.com/office/drawing/2014/main" id="{24630A62-E76E-D326-7181-DAE80994C5E0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1752600"/>
            <a:ext cx="2943225" cy="2886075"/>
            <a:chOff x="531" y="1104"/>
            <a:chExt cx="1711" cy="1818"/>
          </a:xfrm>
        </p:grpSpPr>
        <p:sp>
          <p:nvSpPr>
            <p:cNvPr id="53261" name="Rectangle 5">
              <a:extLst>
                <a:ext uri="{FF2B5EF4-FFF2-40B4-BE49-F238E27FC236}">
                  <a16:creationId xmlns:a16="http://schemas.microsoft.com/office/drawing/2014/main" id="{ABA39108-3329-0B15-CCD3-1079DF8A6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" y="1204"/>
              <a:ext cx="1711" cy="16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grpSp>
          <p:nvGrpSpPr>
            <p:cNvPr id="53262" name="Group 6">
              <a:extLst>
                <a:ext uri="{FF2B5EF4-FFF2-40B4-BE49-F238E27FC236}">
                  <a16:creationId xmlns:a16="http://schemas.microsoft.com/office/drawing/2014/main" id="{4A04DB56-DEF8-1F73-7BC7-7AD05E5E1D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3" y="2578"/>
              <a:ext cx="557" cy="129"/>
              <a:chOff x="276" y="3641"/>
              <a:chExt cx="876" cy="202"/>
            </a:xfrm>
          </p:grpSpPr>
          <p:sp>
            <p:nvSpPr>
              <p:cNvPr id="53298" name="Freeform 7">
                <a:extLst>
                  <a:ext uri="{FF2B5EF4-FFF2-40B4-BE49-F238E27FC236}">
                    <a16:creationId xmlns:a16="http://schemas.microsoft.com/office/drawing/2014/main" id="{B8DB7045-9FF1-A69E-D75B-C88305FF2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9" name="Line 8">
                <a:extLst>
                  <a:ext uri="{FF2B5EF4-FFF2-40B4-BE49-F238E27FC236}">
                    <a16:creationId xmlns:a16="http://schemas.microsoft.com/office/drawing/2014/main" id="{18CDDB52-B8EE-82EA-7D3B-0121848B3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" y="3741"/>
                <a:ext cx="10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0" name="Oval 9">
                <a:extLst>
                  <a:ext uri="{FF2B5EF4-FFF2-40B4-BE49-F238E27FC236}">
                    <a16:creationId xmlns:a16="http://schemas.microsoft.com/office/drawing/2014/main" id="{2B7707B4-D2DA-473D-17D9-AF486F0C6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3716"/>
                <a:ext cx="49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53301" name="Line 10">
                <a:extLst>
                  <a:ext uri="{FF2B5EF4-FFF2-40B4-BE49-F238E27FC236}">
                    <a16:creationId xmlns:a16="http://schemas.microsoft.com/office/drawing/2014/main" id="{5E452986-DE2E-9551-0118-DA74FCA98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3741"/>
                <a:ext cx="1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2" name="Freeform 11">
                <a:extLst>
                  <a:ext uri="{FF2B5EF4-FFF2-40B4-BE49-F238E27FC236}">
                    <a16:creationId xmlns:a16="http://schemas.microsoft.com/office/drawing/2014/main" id="{8783DC90-F88E-AAC7-40DA-64E2F49FFC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03" name="Line 12">
                <a:extLst>
                  <a:ext uri="{FF2B5EF4-FFF2-40B4-BE49-F238E27FC236}">
                    <a16:creationId xmlns:a16="http://schemas.microsoft.com/office/drawing/2014/main" id="{7852CF9E-7D46-6980-FB99-8A51DE74E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" y="3741"/>
                <a:ext cx="2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4" name="Line 13">
                <a:extLst>
                  <a:ext uri="{FF2B5EF4-FFF2-40B4-BE49-F238E27FC236}">
                    <a16:creationId xmlns:a16="http://schemas.microsoft.com/office/drawing/2014/main" id="{A53EA52A-9EB8-95D9-6021-BBE615FDC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1" y="3741"/>
                <a:ext cx="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5" name="Oval 14">
                <a:extLst>
                  <a:ext uri="{FF2B5EF4-FFF2-40B4-BE49-F238E27FC236}">
                    <a16:creationId xmlns:a16="http://schemas.microsoft.com/office/drawing/2014/main" id="{054ED2F5-A226-E38F-E57B-75BB0CD91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3716"/>
                <a:ext cx="50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grpSp>
          <p:nvGrpSpPr>
            <p:cNvPr id="53263" name="Group 15">
              <a:extLst>
                <a:ext uri="{FF2B5EF4-FFF2-40B4-BE49-F238E27FC236}">
                  <a16:creationId xmlns:a16="http://schemas.microsoft.com/office/drawing/2014/main" id="{E552A62E-4A49-B40B-0473-74DF490BC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287"/>
              <a:ext cx="244" cy="212"/>
              <a:chOff x="2245" y="1306"/>
              <a:chExt cx="532" cy="494"/>
            </a:xfrm>
          </p:grpSpPr>
          <p:sp>
            <p:nvSpPr>
              <p:cNvPr id="53296" name="Freeform 16">
                <a:extLst>
                  <a:ext uri="{FF2B5EF4-FFF2-40B4-BE49-F238E27FC236}">
                    <a16:creationId xmlns:a16="http://schemas.microsoft.com/office/drawing/2014/main" id="{2363C1E3-69E4-90BA-6288-6CDC873E1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7" name="Freeform 17">
                <a:extLst>
                  <a:ext uri="{FF2B5EF4-FFF2-40B4-BE49-F238E27FC236}">
                    <a16:creationId xmlns:a16="http://schemas.microsoft.com/office/drawing/2014/main" id="{60B1F23B-B98F-C133-86BA-9803A6EE2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4" name="Group 18">
              <a:extLst>
                <a:ext uri="{FF2B5EF4-FFF2-40B4-BE49-F238E27FC236}">
                  <a16:creationId xmlns:a16="http://schemas.microsoft.com/office/drawing/2014/main" id="{45964F82-E3DF-D079-5E43-7A57ED0F4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592"/>
              <a:ext cx="244" cy="212"/>
              <a:chOff x="2245" y="1306"/>
              <a:chExt cx="532" cy="494"/>
            </a:xfrm>
          </p:grpSpPr>
          <p:sp>
            <p:nvSpPr>
              <p:cNvPr id="53294" name="Freeform 19">
                <a:extLst>
                  <a:ext uri="{FF2B5EF4-FFF2-40B4-BE49-F238E27FC236}">
                    <a16:creationId xmlns:a16="http://schemas.microsoft.com/office/drawing/2014/main" id="{26A015F4-19D9-BF9F-1ACA-5E7C70C94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5" name="Freeform 20">
                <a:extLst>
                  <a:ext uri="{FF2B5EF4-FFF2-40B4-BE49-F238E27FC236}">
                    <a16:creationId xmlns:a16="http://schemas.microsoft.com/office/drawing/2014/main" id="{5E9EC2DF-53AE-3AA6-DA43-C86754A52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5" name="Group 21">
              <a:extLst>
                <a:ext uri="{FF2B5EF4-FFF2-40B4-BE49-F238E27FC236}">
                  <a16:creationId xmlns:a16="http://schemas.microsoft.com/office/drawing/2014/main" id="{5C1FD50C-CB25-B1BE-8268-61201E795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921"/>
              <a:ext cx="244" cy="211"/>
              <a:chOff x="2245" y="1306"/>
              <a:chExt cx="532" cy="494"/>
            </a:xfrm>
          </p:grpSpPr>
          <p:sp>
            <p:nvSpPr>
              <p:cNvPr id="53292" name="Freeform 22">
                <a:extLst>
                  <a:ext uri="{FF2B5EF4-FFF2-40B4-BE49-F238E27FC236}">
                    <a16:creationId xmlns:a16="http://schemas.microsoft.com/office/drawing/2014/main" id="{7F8ABDC0-0CA0-8261-531E-3D5813095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3" name="Freeform 23">
                <a:extLst>
                  <a:ext uri="{FF2B5EF4-FFF2-40B4-BE49-F238E27FC236}">
                    <a16:creationId xmlns:a16="http://schemas.microsoft.com/office/drawing/2014/main" id="{7342B331-DCB8-A560-C353-9DA309F34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6" name="Group 24">
              <a:extLst>
                <a:ext uri="{FF2B5EF4-FFF2-40B4-BE49-F238E27FC236}">
                  <a16:creationId xmlns:a16="http://schemas.microsoft.com/office/drawing/2014/main" id="{C62EA135-4993-4DF4-DC29-20700CF9C7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2226"/>
              <a:ext cx="244" cy="211"/>
              <a:chOff x="2245" y="1306"/>
              <a:chExt cx="532" cy="494"/>
            </a:xfrm>
          </p:grpSpPr>
          <p:sp>
            <p:nvSpPr>
              <p:cNvPr id="53290" name="Freeform 25">
                <a:extLst>
                  <a:ext uri="{FF2B5EF4-FFF2-40B4-BE49-F238E27FC236}">
                    <a16:creationId xmlns:a16="http://schemas.microsoft.com/office/drawing/2014/main" id="{BD772C77-44C2-693B-8E51-9A5382DD9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1" name="Freeform 26">
                <a:extLst>
                  <a:ext uri="{FF2B5EF4-FFF2-40B4-BE49-F238E27FC236}">
                    <a16:creationId xmlns:a16="http://schemas.microsoft.com/office/drawing/2014/main" id="{CDC6179F-8243-00EA-531E-C4994AEAD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267" name="Text Box 27">
              <a:extLst>
                <a:ext uri="{FF2B5EF4-FFF2-40B4-BE49-F238E27FC236}">
                  <a16:creationId xmlns:a16="http://schemas.microsoft.com/office/drawing/2014/main" id="{C48C1BF3-62F3-1C6A-4B43-B8D2D4BAE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" y="2505"/>
              <a:ext cx="271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A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B</a:t>
              </a:r>
              <a:r>
                <a:rPr lang="it-IT" altLang="it-IT" sz="2400"/>
                <a:t> </a:t>
              </a:r>
            </a:p>
          </p:txBody>
        </p:sp>
        <p:sp>
          <p:nvSpPr>
            <p:cNvPr id="53268" name="Line 28">
              <a:extLst>
                <a:ext uri="{FF2B5EF4-FFF2-40B4-BE49-F238E27FC236}">
                  <a16:creationId xmlns:a16="http://schemas.microsoft.com/office/drawing/2014/main" id="{970E3F92-7F1B-A1E3-4FCA-CB9D5A323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1393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9" name="Line 29">
              <a:extLst>
                <a:ext uri="{FF2B5EF4-FFF2-40B4-BE49-F238E27FC236}">
                  <a16:creationId xmlns:a16="http://schemas.microsoft.com/office/drawing/2014/main" id="{3BB18403-6C15-1676-C459-EDB223A44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1698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Line 30">
              <a:extLst>
                <a:ext uri="{FF2B5EF4-FFF2-40B4-BE49-F238E27FC236}">
                  <a16:creationId xmlns:a16="http://schemas.microsoft.com/office/drawing/2014/main" id="{0C7ECDD1-48F6-258A-3123-EC0B39605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2034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1" name="Line 31">
              <a:extLst>
                <a:ext uri="{FF2B5EF4-FFF2-40B4-BE49-F238E27FC236}">
                  <a16:creationId xmlns:a16="http://schemas.microsoft.com/office/drawing/2014/main" id="{FFA6838B-941F-1EBE-F205-56C5FDD86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2339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272" name="Group 32">
              <a:extLst>
                <a:ext uri="{FF2B5EF4-FFF2-40B4-BE49-F238E27FC236}">
                  <a16:creationId xmlns:a16="http://schemas.microsoft.com/office/drawing/2014/main" id="{81BA0830-74AF-9A0E-5110-F850C21515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2735"/>
              <a:ext cx="557" cy="129"/>
              <a:chOff x="276" y="3641"/>
              <a:chExt cx="876" cy="202"/>
            </a:xfrm>
          </p:grpSpPr>
          <p:sp>
            <p:nvSpPr>
              <p:cNvPr id="53282" name="Freeform 33">
                <a:extLst>
                  <a:ext uri="{FF2B5EF4-FFF2-40B4-BE49-F238E27FC236}">
                    <a16:creationId xmlns:a16="http://schemas.microsoft.com/office/drawing/2014/main" id="{9AB09364-2FB5-ED95-32C6-B0CCD64A8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3" name="Line 34">
                <a:extLst>
                  <a:ext uri="{FF2B5EF4-FFF2-40B4-BE49-F238E27FC236}">
                    <a16:creationId xmlns:a16="http://schemas.microsoft.com/office/drawing/2014/main" id="{CA7E8974-024B-F994-8CEC-BEDF6760D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" y="3741"/>
                <a:ext cx="10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4" name="Oval 35">
                <a:extLst>
                  <a:ext uri="{FF2B5EF4-FFF2-40B4-BE49-F238E27FC236}">
                    <a16:creationId xmlns:a16="http://schemas.microsoft.com/office/drawing/2014/main" id="{1D017E48-D8AC-9D24-CCCB-FAF08F784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3716"/>
                <a:ext cx="49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53285" name="Line 36">
                <a:extLst>
                  <a:ext uri="{FF2B5EF4-FFF2-40B4-BE49-F238E27FC236}">
                    <a16:creationId xmlns:a16="http://schemas.microsoft.com/office/drawing/2014/main" id="{C429BD17-2581-F2D8-1A2C-8246936FC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3741"/>
                <a:ext cx="1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6" name="Freeform 37">
                <a:extLst>
                  <a:ext uri="{FF2B5EF4-FFF2-40B4-BE49-F238E27FC236}">
                    <a16:creationId xmlns:a16="http://schemas.microsoft.com/office/drawing/2014/main" id="{E5A4B350-F2A0-84DF-0A15-B1764093CC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7" name="Line 38">
                <a:extLst>
                  <a:ext uri="{FF2B5EF4-FFF2-40B4-BE49-F238E27FC236}">
                    <a16:creationId xmlns:a16="http://schemas.microsoft.com/office/drawing/2014/main" id="{768D4652-C3BB-9580-556F-24AADE55E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" y="3741"/>
                <a:ext cx="2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8" name="Line 39">
                <a:extLst>
                  <a:ext uri="{FF2B5EF4-FFF2-40B4-BE49-F238E27FC236}">
                    <a16:creationId xmlns:a16="http://schemas.microsoft.com/office/drawing/2014/main" id="{235C603B-0748-AFD8-AE4A-3F0A3A9C9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1" y="3741"/>
                <a:ext cx="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9" name="Oval 40">
                <a:extLst>
                  <a:ext uri="{FF2B5EF4-FFF2-40B4-BE49-F238E27FC236}">
                    <a16:creationId xmlns:a16="http://schemas.microsoft.com/office/drawing/2014/main" id="{B1948AAE-AC51-4DA5-396D-E1A0E9082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3716"/>
                <a:ext cx="50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53273" name="Freeform 41">
              <a:extLst>
                <a:ext uri="{FF2B5EF4-FFF2-40B4-BE49-F238E27FC236}">
                  <a16:creationId xmlns:a16="http://schemas.microsoft.com/office/drawing/2014/main" id="{C104C5DD-E9D2-C43D-2A24-36A5EE1A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1332"/>
              <a:ext cx="457" cy="1312"/>
            </a:xfrm>
            <a:custGeom>
              <a:avLst/>
              <a:gdLst>
                <a:gd name="T0" fmla="*/ 0 w 720"/>
                <a:gd name="T1" fmla="*/ 3 h 2064"/>
                <a:gd name="T2" fmla="*/ 0 w 720"/>
                <a:gd name="T3" fmla="*/ 0 h 2064"/>
                <a:gd name="T4" fmla="*/ 1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4" name="Line 42">
              <a:extLst>
                <a:ext uri="{FF2B5EF4-FFF2-40B4-BE49-F238E27FC236}">
                  <a16:creationId xmlns:a16="http://schemas.microsoft.com/office/drawing/2014/main" id="{0A62D27A-2D76-4D97-47AC-53E4CA7F5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1973"/>
              <a:ext cx="4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5" name="Freeform 43">
              <a:extLst>
                <a:ext uri="{FF2B5EF4-FFF2-40B4-BE49-F238E27FC236}">
                  <a16:creationId xmlns:a16="http://schemas.microsoft.com/office/drawing/2014/main" id="{0ABA6C5E-0588-1128-3CDD-77B59739C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" y="1454"/>
              <a:ext cx="396" cy="1342"/>
            </a:xfrm>
            <a:custGeom>
              <a:avLst/>
              <a:gdLst>
                <a:gd name="T0" fmla="*/ 0 w 720"/>
                <a:gd name="T1" fmla="*/ 3 h 2064"/>
                <a:gd name="T2" fmla="*/ 0 w 720"/>
                <a:gd name="T3" fmla="*/ 0 h 2064"/>
                <a:gd name="T4" fmla="*/ 1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6" name="Freeform 44">
              <a:extLst>
                <a:ext uri="{FF2B5EF4-FFF2-40B4-BE49-F238E27FC236}">
                  <a16:creationId xmlns:a16="http://schemas.microsoft.com/office/drawing/2014/main" id="{E2661B0A-070E-C4E5-C5B0-2C3E0A577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637"/>
              <a:ext cx="152" cy="1007"/>
            </a:xfrm>
            <a:custGeom>
              <a:avLst/>
              <a:gdLst>
                <a:gd name="T0" fmla="*/ 0 w 720"/>
                <a:gd name="T1" fmla="*/ 0 h 2064"/>
                <a:gd name="T2" fmla="*/ 0 w 720"/>
                <a:gd name="T3" fmla="*/ 0 h 2064"/>
                <a:gd name="T4" fmla="*/ 0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7" name="Freeform 45">
              <a:extLst>
                <a:ext uri="{FF2B5EF4-FFF2-40B4-BE49-F238E27FC236}">
                  <a16:creationId xmlns:a16="http://schemas.microsoft.com/office/drawing/2014/main" id="{D520C1A0-BE3E-2A32-EFB5-9A1B3B655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095"/>
              <a:ext cx="152" cy="701"/>
            </a:xfrm>
            <a:custGeom>
              <a:avLst/>
              <a:gdLst>
                <a:gd name="T0" fmla="*/ 0 w 240"/>
                <a:gd name="T1" fmla="*/ 1 h 1104"/>
                <a:gd name="T2" fmla="*/ 1 w 240"/>
                <a:gd name="T3" fmla="*/ 1 h 1104"/>
                <a:gd name="T4" fmla="*/ 1 w 240"/>
                <a:gd name="T5" fmla="*/ 0 h 1104"/>
                <a:gd name="T6" fmla="*/ 1 w 240"/>
                <a:gd name="T7" fmla="*/ 0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1104"/>
                <a:gd name="T14" fmla="*/ 240 w 2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1104">
                  <a:moveTo>
                    <a:pt x="0" y="1104"/>
                  </a:moveTo>
                  <a:lnTo>
                    <a:pt x="96" y="1104"/>
                  </a:lnTo>
                  <a:lnTo>
                    <a:pt x="96" y="0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8" name="Line 46">
              <a:extLst>
                <a:ext uri="{FF2B5EF4-FFF2-40B4-BE49-F238E27FC236}">
                  <a16:creationId xmlns:a16="http://schemas.microsoft.com/office/drawing/2014/main" id="{DAB03156-8576-CB68-1C28-626FE90F4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" y="1729"/>
              <a:ext cx="3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9" name="Line 47">
              <a:extLst>
                <a:ext uri="{FF2B5EF4-FFF2-40B4-BE49-F238E27FC236}">
                  <a16:creationId xmlns:a16="http://schemas.microsoft.com/office/drawing/2014/main" id="{7A6A0742-6DBF-07CB-CEA6-39AEE8F20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2278"/>
              <a:ext cx="1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0" name="Line 48">
              <a:extLst>
                <a:ext uri="{FF2B5EF4-FFF2-40B4-BE49-F238E27FC236}">
                  <a16:creationId xmlns:a16="http://schemas.microsoft.com/office/drawing/2014/main" id="{6A8EE3A0-1F97-0591-B509-EB182F8E7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2369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1" name="Text Box 49">
              <a:extLst>
                <a:ext uri="{FF2B5EF4-FFF2-40B4-BE49-F238E27FC236}">
                  <a16:creationId xmlns:a16="http://schemas.microsoft.com/office/drawing/2014/main" id="{EEE2286C-C633-9250-C02E-54A1B6F9B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1104"/>
              <a:ext cx="284" cy="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0</a:t>
              </a:r>
              <a:endParaRPr lang="it-IT" altLang="it-IT" sz="2000"/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1</a:t>
              </a:r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2</a:t>
              </a:r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3</a:t>
              </a:r>
            </a:p>
          </p:txBody>
        </p:sp>
      </p:grpSp>
      <p:grpSp>
        <p:nvGrpSpPr>
          <p:cNvPr id="53251" name="Group 51">
            <a:extLst>
              <a:ext uri="{FF2B5EF4-FFF2-40B4-BE49-F238E27FC236}">
                <a16:creationId xmlns:a16="http://schemas.microsoft.com/office/drawing/2014/main" id="{A4D4748D-7880-6B15-5CCE-8CF5F072E5BB}"/>
              </a:ext>
            </a:extLst>
          </p:cNvPr>
          <p:cNvGrpSpPr>
            <a:grpSpLocks/>
          </p:cNvGrpSpPr>
          <p:nvPr/>
        </p:nvGrpSpPr>
        <p:grpSpPr bwMode="auto">
          <a:xfrm>
            <a:off x="908050" y="2211388"/>
            <a:ext cx="1709738" cy="1714500"/>
            <a:chOff x="528" y="1393"/>
            <a:chExt cx="994" cy="1080"/>
          </a:xfrm>
        </p:grpSpPr>
        <p:sp>
          <p:nvSpPr>
            <p:cNvPr id="53255" name="Line 52">
              <a:extLst>
                <a:ext uri="{FF2B5EF4-FFF2-40B4-BE49-F238E27FC236}">
                  <a16:creationId xmlns:a16="http://schemas.microsoft.com/office/drawing/2014/main" id="{230BA711-83AB-BBF2-3996-62D2A169D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1393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6" name="Line 53">
              <a:extLst>
                <a:ext uri="{FF2B5EF4-FFF2-40B4-BE49-F238E27FC236}">
                  <a16:creationId xmlns:a16="http://schemas.microsoft.com/office/drawing/2014/main" id="{43C52F6F-90CC-DB4F-0278-A7F5C7A07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1692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7" name="Line 54">
              <a:extLst>
                <a:ext uri="{FF2B5EF4-FFF2-40B4-BE49-F238E27FC236}">
                  <a16:creationId xmlns:a16="http://schemas.microsoft.com/office/drawing/2014/main" id="{438E49DF-2557-1CDA-AFBA-E76C53AE2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2034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8" name="Line 55">
              <a:extLst>
                <a:ext uri="{FF2B5EF4-FFF2-40B4-BE49-F238E27FC236}">
                  <a16:creationId xmlns:a16="http://schemas.microsoft.com/office/drawing/2014/main" id="{662ACE08-A58D-30B4-C1FA-6825EB744D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0" y="2333"/>
              <a:ext cx="7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Line 56">
              <a:extLst>
                <a:ext uri="{FF2B5EF4-FFF2-40B4-BE49-F238E27FC236}">
                  <a16:creationId xmlns:a16="http://schemas.microsoft.com/office/drawing/2014/main" id="{B9628E80-AE73-5170-5174-269E8B7CC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393"/>
              <a:ext cx="0" cy="9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0" name="Text Box 57">
              <a:extLst>
                <a:ext uri="{FF2B5EF4-FFF2-40B4-BE49-F238E27FC236}">
                  <a16:creationId xmlns:a16="http://schemas.microsoft.com/office/drawing/2014/main" id="{D6C70DAA-25FB-CD3B-5524-27F56E5A3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23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EN</a:t>
              </a:r>
              <a:endParaRPr lang="it-IT" altLang="it-IT" sz="2400"/>
            </a:p>
          </p:txBody>
        </p:sp>
      </p:grpSp>
      <p:sp>
        <p:nvSpPr>
          <p:cNvPr id="53252" name="Text Box 58">
            <a:extLst>
              <a:ext uri="{FF2B5EF4-FFF2-40B4-BE49-F238E27FC236}">
                <a16:creationId xmlns:a16="http://schemas.microsoft.com/office/drawing/2014/main" id="{71570422-B59B-EE3B-82A8-A5BC42267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5127625"/>
            <a:ext cx="97774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Quando EN=1 (segnale di abilitazione), vale 1 l</a:t>
            </a:r>
            <a:r>
              <a:rPr lang="ja-JP" altLang="it-IT" sz="2400"/>
              <a:t>’</a:t>
            </a:r>
            <a:r>
              <a:rPr lang="it-IT" altLang="ja-JP" sz="2400"/>
              <a:t>uscita il cui pedice, in decimale, corrisponde al numero binario in ingresso (</a:t>
            </a:r>
            <a:r>
              <a:rPr lang="it-IT" altLang="ja-JP" sz="2400" b="0"/>
              <a:t>A bit di minor peso</a:t>
            </a:r>
            <a:r>
              <a:rPr lang="it-IT" altLang="ja-JP" sz="2400"/>
              <a:t>).</a:t>
            </a:r>
            <a:endParaRPr lang="it-IT" altLang="it-IT" sz="3600"/>
          </a:p>
        </p:txBody>
      </p:sp>
      <p:sp>
        <p:nvSpPr>
          <p:cNvPr id="326715" name="Text Box 59">
            <a:extLst>
              <a:ext uri="{FF2B5EF4-FFF2-40B4-BE49-F238E27FC236}">
                <a16:creationId xmlns:a16="http://schemas.microsoft.com/office/drawing/2014/main" id="{7A54EEAF-9AE4-B529-3CE8-1018C1A64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2211388"/>
            <a:ext cx="1593850" cy="2244725"/>
          </a:xfrm>
          <a:prstGeom prst="rect">
            <a:avLst/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SN74139 (MSI) 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	     U</a:t>
            </a:r>
            <a:r>
              <a:rPr lang="it-IT" altLang="it-IT" sz="2000" baseline="-25000"/>
              <a:t>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            U</a:t>
            </a:r>
            <a:r>
              <a:rPr lang="it-IT" altLang="it-IT" sz="2000" baseline="-25000"/>
              <a:t>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EN	     U</a:t>
            </a:r>
            <a:r>
              <a:rPr lang="it-IT" altLang="it-IT" sz="2000" baseline="-25000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 	     U</a:t>
            </a:r>
            <a:r>
              <a:rPr lang="it-IT" altLang="it-IT" sz="2000" baseline="-25000"/>
              <a:t>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53254" name="Segnaposto numero diapositiva 57">
            <a:extLst>
              <a:ext uri="{FF2B5EF4-FFF2-40B4-BE49-F238E27FC236}">
                <a16:creationId xmlns:a16="http://schemas.microsoft.com/office/drawing/2014/main" id="{03FC172B-CC9D-D18C-878A-3D4A0B43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AA1309-9A88-4697-AD29-DB816FCCDF2E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o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71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8B8EC5D-1EB6-8D68-C8D3-4080B0F35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3" y="214313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binario (1/2)	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0522FF33-E3E4-03B6-7A79-BEFDC055B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13" y="1431925"/>
            <a:ext cx="9191625" cy="4816475"/>
          </a:xfrm>
        </p:spPr>
        <p:txBody>
          <a:bodyPr/>
          <a:lstStyle/>
          <a:p>
            <a:pPr algn="just" eaLnBrk="1" hangingPunct="1"/>
            <a:r>
              <a:rPr lang="it-IT" altLang="it-IT" b="1">
                <a:ea typeface="ＭＳ Ｐゴシック" panose="020B0600070205080204" pitchFamily="34" charset="-128"/>
              </a:rPr>
              <a:t>Decoder Binario</a:t>
            </a:r>
          </a:p>
          <a:p>
            <a:pPr lvl="1" algn="just" eaLnBrk="1" hangingPunct="1"/>
            <a:r>
              <a:rPr lang="it-IT" altLang="it-IT" i="1">
                <a:ea typeface="ＭＳ Ｐゴシック" panose="020B0600070205080204" pitchFamily="34" charset="-128"/>
              </a:rPr>
              <a:t>m </a:t>
            </a:r>
            <a:r>
              <a:rPr lang="it-IT" altLang="it-IT">
                <a:ea typeface="ＭＳ Ｐゴシック" panose="020B0600070205080204" pitchFamily="34" charset="-128"/>
              </a:rPr>
              <a:t>ingressi binari su cui è inviata la parola codice,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ingresso di abilitazione </a:t>
            </a:r>
            <a:r>
              <a:rPr lang="it-IT" altLang="it-IT">
                <a:latin typeface="Symbol" panose="05050102010706020507" pitchFamily="18" charset="2"/>
                <a:ea typeface="ＭＳ Ｐゴシック" panose="020B0600070205080204" pitchFamily="34" charset="-128"/>
              </a:rPr>
              <a:t>a</a:t>
            </a:r>
            <a:r>
              <a:rPr lang="it-IT" altLang="it-IT" i="1">
                <a:ea typeface="ＭＳ Ｐゴシック" panose="020B0600070205080204" pitchFamily="34" charset="-128"/>
              </a:rPr>
              <a:t> (opzionale)</a:t>
            </a:r>
          </a:p>
          <a:p>
            <a:pPr lvl="1" algn="just" eaLnBrk="1" hangingPunct="1"/>
            <a:r>
              <a:rPr lang="it-IT" altLang="it-IT" i="1">
                <a:ea typeface="ＭＳ Ｐゴシック" panose="020B0600070205080204" pitchFamily="34" charset="-128"/>
              </a:rPr>
              <a:t>n </a:t>
            </a:r>
            <a:r>
              <a:rPr lang="it-IT" altLang="it-IT">
                <a:ea typeface="ＭＳ Ｐゴシック" panose="020B0600070205080204" pitchFamily="34" charset="-128"/>
              </a:rPr>
              <a:t>uscite (n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≤2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/>
            <a:endParaRPr lang="it-IT" altLang="it-IT" sz="36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94F9FAF7-3083-8C5D-80A2-09D9DC2B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pic>
        <p:nvPicPr>
          <p:cNvPr id="55300" name="Picture 8">
            <a:extLst>
              <a:ext uri="{FF2B5EF4-FFF2-40B4-BE49-F238E27FC236}">
                <a16:creationId xmlns:a16="http://schemas.microsoft.com/office/drawing/2014/main" id="{9936B589-BFB8-F57B-3AB4-7DF373952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7" r="56761" b="25014"/>
          <a:stretch>
            <a:fillRect/>
          </a:stretch>
        </p:blipFill>
        <p:spPr bwMode="auto">
          <a:xfrm>
            <a:off x="4343400" y="3505200"/>
            <a:ext cx="322738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Segnaposto numero diapositiva 5">
            <a:extLst>
              <a:ext uri="{FF2B5EF4-FFF2-40B4-BE49-F238E27FC236}">
                <a16:creationId xmlns:a16="http://schemas.microsoft.com/office/drawing/2014/main" id="{4828ADC3-D3A8-0690-6054-5E9DEBAD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D78D18-CE31-450C-9E72-35A7C8918137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it-IT" altLang="it-IT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egnaposto numero diapositiva 3">
            <a:extLst>
              <a:ext uri="{FF2B5EF4-FFF2-40B4-BE49-F238E27FC236}">
                <a16:creationId xmlns:a16="http://schemas.microsoft.com/office/drawing/2014/main" id="{C34E2B28-62C2-D382-B84B-F7405908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DF917C2-E837-404F-A528-354203DA54BE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3ACD3517-0E67-38CA-B7BE-E617B87D3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binario (2/2)	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65B9F0D-9979-648B-5182-F5DC2B51B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1301750"/>
            <a:ext cx="9190038" cy="481647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it-IT" altLang="it-IT" b="1">
                <a:solidFill>
                  <a:srgbClr val="FF3300"/>
                </a:solidFill>
                <a:ea typeface="ＭＳ Ｐゴシック" panose="020B0600070205080204" pitchFamily="34" charset="-128"/>
              </a:rPr>
              <a:t>Decoder Binario Completo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=2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i="1">
                <a:ea typeface="ＭＳ Ｐゴシック" panose="020B0600070205080204" pitchFamily="34" charset="-128"/>
              </a:rPr>
              <a:t>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i="1">
                <a:ea typeface="ＭＳ Ｐゴシック" panose="020B0600070205080204" pitchFamily="34" charset="-128"/>
              </a:rPr>
              <a:t>;   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; . . .; 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n-1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b="1">
                <a:ea typeface="ＭＳ Ｐゴシック" panose="020B0600070205080204" pitchFamily="34" charset="-128"/>
              </a:rPr>
              <a:t>Equazione</a:t>
            </a:r>
            <a:r>
              <a:rPr lang="it-IT" altLang="it-IT" i="1">
                <a:ea typeface="ＭＳ Ｐゴシック" panose="020B0600070205080204" pitchFamily="34" charset="-128"/>
              </a:rPr>
              <a:t> 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i="1">
                <a:ea typeface="ＭＳ Ｐゴシック" panose="020B0600070205080204" pitchFamily="34" charset="-128"/>
              </a:rPr>
              <a:t>= a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•</a:t>
            </a:r>
            <a:r>
              <a:rPr lang="it-IT" altLang="it-IT" i="1">
                <a:ea typeface="ＭＳ Ｐゴシック" panose="020B0600070205080204" pitchFamily="34" charset="-128"/>
              </a:rPr>
              <a:t>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i="1">
                <a:ea typeface="ＭＳ Ｐゴシック" panose="020B0600070205080204" pitchFamily="34" charset="-128"/>
              </a:rPr>
              <a:t>   i Є [0, 2</a:t>
            </a:r>
            <a:r>
              <a:rPr lang="it-IT" altLang="it-IT" i="1" baseline="30000">
                <a:ea typeface="ＭＳ Ｐゴシック" panose="020B0600070205080204" pitchFamily="34" charset="-128"/>
              </a:rPr>
              <a:t>n</a:t>
            </a:r>
            <a:r>
              <a:rPr lang="it-IT" altLang="it-IT" i="1">
                <a:ea typeface="ＭＳ Ｐゴシック" panose="020B0600070205080204" pitchFamily="34" charset="-128"/>
              </a:rPr>
              <a:t>-1]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 sz="2800" i="1">
                <a:ea typeface="ＭＳ Ｐゴシック" panose="020B0600070205080204" pitchFamily="34" charset="-128"/>
              </a:rPr>
              <a:t>  </a:t>
            </a:r>
            <a:r>
              <a:rPr lang="it-IT" altLang="it-IT" sz="2000" i="1">
                <a:ea typeface="ＭＳ Ｐゴシック" panose="020B0600070205080204" pitchFamily="34" charset="-128"/>
              </a:rPr>
              <a:t> (1-att)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è indipendente dal particolare codice da decodificare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b="1">
                <a:solidFill>
                  <a:srgbClr val="FF3300"/>
                </a:solidFill>
                <a:ea typeface="ＭＳ Ｐゴシック" panose="020B0600070205080204" pitchFamily="34" charset="-128"/>
              </a:rPr>
              <a:t>Decoder Binario Incompleto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&lt;2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pone 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=</a:t>
            </a:r>
            <a:r>
              <a:rPr lang="it-IT" altLang="ja-JP"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it-IT" altLang="ja-JP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 </a:t>
            </a:r>
            <a:r>
              <a:rPr lang="it-IT" altLang="ja-JP">
                <a:ea typeface="ＭＳ Ｐゴシック" panose="020B0600070205080204" pitchFamily="34" charset="-128"/>
                <a:cs typeface="Arial" panose="020B0604020202020204" pitchFamily="34" charset="0"/>
              </a:rPr>
              <a:t>e si realizza la rete come sottorete della rete completa</a:t>
            </a:r>
            <a:endParaRPr lang="it-IT" altLang="ja-JP" b="1">
              <a:solidFill>
                <a:schemeClr val="accent1"/>
              </a:solidFill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è dipendente dal particolare codice da decodificare</a:t>
            </a:r>
            <a:endParaRPr lang="it-IT" altLang="it-IT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it-IT" altLang="it-IT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it-IT" altLang="it-IT" sz="40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5E34F51C-BD90-F540-D323-0C1399FBD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egnaposto numero diapositiva 3">
            <a:extLst>
              <a:ext uri="{FF2B5EF4-FFF2-40B4-BE49-F238E27FC236}">
                <a16:creationId xmlns:a16="http://schemas.microsoft.com/office/drawing/2014/main" id="{6489F077-30E4-7679-0D89-D0B49095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AE122F1-E1E5-40DA-AC25-A06C246D081D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A848030-E8EB-1E70-985D-94578FD35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incompleto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5B403D6-2BEB-FB17-9D92-A3AAF4076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Decoder ad hoc per il codice 8-4-2-1 (per cifre decimali)</a:t>
            </a: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F8616B56-AE5A-FA15-ECD9-3C01CF042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7ED504CF-6F63-1AF0-8283-E4AC79F68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490788"/>
          <a:ext cx="58039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0788"/>
                        <a:ext cx="5803900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Rectangle 9">
            <a:extLst>
              <a:ext uri="{FF2B5EF4-FFF2-40B4-BE49-F238E27FC236}">
                <a16:creationId xmlns:a16="http://schemas.microsoft.com/office/drawing/2014/main" id="{A7D8EF92-C5E1-F6A6-65C3-3D05F3513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4711700"/>
            <a:ext cx="95964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</a:rPr>
              <a:t>La rete così ottenuta ha un numero di porte </a:t>
            </a:r>
            <a:r>
              <a:rPr lang="it-IT" altLang="it-IT" b="0" i="1">
                <a:solidFill>
                  <a:schemeClr val="tx2"/>
                </a:solidFill>
              </a:rPr>
              <a:t>and </a:t>
            </a:r>
            <a:r>
              <a:rPr lang="it-IT" altLang="it-IT" b="0">
                <a:solidFill>
                  <a:schemeClr val="tx2"/>
                </a:solidFill>
              </a:rPr>
              <a:t>uguale alla rete realizzata come sottorete di rete completa, ma non tutte le sue porte sono a 4 ingressi e quindi è di costo </a:t>
            </a:r>
            <a:r>
              <a:rPr lang="it-IT" altLang="it-IT" b="0" i="1">
                <a:solidFill>
                  <a:schemeClr val="tx2"/>
                </a:solidFill>
              </a:rPr>
              <a:t>Ci </a:t>
            </a:r>
            <a:r>
              <a:rPr lang="it-IT" altLang="it-IT" b="0">
                <a:solidFill>
                  <a:schemeClr val="tx2"/>
                </a:solidFill>
              </a:rPr>
              <a:t>inferiore</a:t>
            </a:r>
            <a:r>
              <a:rPr lang="it-IT" altLang="it-IT" b="0"/>
              <a:t>.</a:t>
            </a:r>
            <a:r>
              <a:rPr lang="it-IT" altLang="it-IT"/>
              <a:t> </a:t>
            </a:r>
          </a:p>
        </p:txBody>
      </p:sp>
      <p:graphicFrame>
        <p:nvGraphicFramePr>
          <p:cNvPr id="263244" name="Group 76">
            <a:extLst>
              <a:ext uri="{FF2B5EF4-FFF2-40B4-BE49-F238E27FC236}">
                <a16:creationId xmlns:a16="http://schemas.microsoft.com/office/drawing/2014/main" id="{5FC762AB-A1AE-1571-2C5A-D4F78F4D032A}"/>
              </a:ext>
            </a:extLst>
          </p:cNvPr>
          <p:cNvGraphicFramePr>
            <a:graphicFrameLocks noGrp="1"/>
          </p:cNvGraphicFramePr>
          <p:nvPr/>
        </p:nvGraphicFramePr>
        <p:xfrm>
          <a:off x="7183438" y="2493963"/>
          <a:ext cx="1647825" cy="1760538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7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6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402" name="Line 67">
            <a:extLst>
              <a:ext uri="{FF2B5EF4-FFF2-40B4-BE49-F238E27FC236}">
                <a16:creationId xmlns:a16="http://schemas.microsoft.com/office/drawing/2014/main" id="{7808D5D8-01B1-7245-868E-75441EFA22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11975" y="2309813"/>
            <a:ext cx="271463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3" name="Text Box 68">
            <a:extLst>
              <a:ext uri="{FF2B5EF4-FFF2-40B4-BE49-F238E27FC236}">
                <a16:creationId xmlns:a16="http://schemas.microsoft.com/office/drawing/2014/main" id="{AF644131-27E6-7D16-8C70-9859B4A9B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246313"/>
            <a:ext cx="16557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400"/>
              <a:t>00    01     11     10</a:t>
            </a:r>
          </a:p>
        </p:txBody>
      </p:sp>
      <p:sp>
        <p:nvSpPr>
          <p:cNvPr id="58404" name="Text Box 69">
            <a:extLst>
              <a:ext uri="{FF2B5EF4-FFF2-40B4-BE49-F238E27FC236}">
                <a16:creationId xmlns:a16="http://schemas.microsoft.com/office/drawing/2014/main" id="{768CB150-0DCB-7361-C64E-7294AFBC3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2584450"/>
            <a:ext cx="434975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00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10</a:t>
            </a:r>
          </a:p>
        </p:txBody>
      </p:sp>
      <p:sp>
        <p:nvSpPr>
          <p:cNvPr id="58405" name="Text Box 70">
            <a:extLst>
              <a:ext uri="{FF2B5EF4-FFF2-40B4-BE49-F238E27FC236}">
                <a16:creationId xmlns:a16="http://schemas.microsoft.com/office/drawing/2014/main" id="{841E633E-C0B9-B597-08C0-CA2C1CF4E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788" y="1939925"/>
            <a:ext cx="1358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C</a:t>
            </a:r>
            <a:r>
              <a:rPr lang="it-IT" altLang="it-IT" sz="1800" baseline="-25000"/>
              <a:t>3</a:t>
            </a:r>
            <a:r>
              <a:rPr lang="it-IT" altLang="it-IT" sz="1800"/>
              <a:t>C</a:t>
            </a:r>
            <a:r>
              <a:rPr lang="it-IT" altLang="it-IT" sz="1800" baseline="-25000"/>
              <a:t>2</a:t>
            </a:r>
          </a:p>
        </p:txBody>
      </p:sp>
      <p:sp>
        <p:nvSpPr>
          <p:cNvPr id="58406" name="Text Box 71">
            <a:extLst>
              <a:ext uri="{FF2B5EF4-FFF2-40B4-BE49-F238E27FC236}">
                <a16:creationId xmlns:a16="http://schemas.microsoft.com/office/drawing/2014/main" id="{A9097792-EDF3-BF00-DD3D-40A2153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2306638"/>
            <a:ext cx="909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C</a:t>
            </a:r>
            <a:r>
              <a:rPr lang="it-IT" altLang="it-IT" sz="1800" baseline="-25000"/>
              <a:t>1</a:t>
            </a:r>
            <a:r>
              <a:rPr lang="it-IT" altLang="it-IT" sz="1800"/>
              <a:t>C</a:t>
            </a:r>
            <a:r>
              <a:rPr lang="it-IT" altLang="it-IT" sz="1800" baseline="-25000"/>
              <a:t>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egnaposto numero diapositiva 3">
            <a:extLst>
              <a:ext uri="{FF2B5EF4-FFF2-40B4-BE49-F238E27FC236}">
                <a16:creationId xmlns:a16="http://schemas.microsoft.com/office/drawing/2014/main" id="{389E6414-6F77-8188-1B6A-ED213D89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67C2C5E-7C91-4ABD-AC32-3BF102A6CF7E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60418" name="Rectangle 7">
            <a:extLst>
              <a:ext uri="{FF2B5EF4-FFF2-40B4-BE49-F238E27FC236}">
                <a16:creationId xmlns:a16="http://schemas.microsoft.com/office/drawing/2014/main" id="{41C2C663-4228-7922-7B69-4E9D726E5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8915400" cy="481647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Più decoder possono essere composti…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Semiselezione (4/16)</a:t>
            </a: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EA19471-6E7E-6DFB-B331-198D80544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Decodificatori composti</a:t>
            </a:r>
          </a:p>
        </p:txBody>
      </p:sp>
      <p:sp>
        <p:nvSpPr>
          <p:cNvPr id="60420" name="Text Box 10">
            <a:extLst>
              <a:ext uri="{FF2B5EF4-FFF2-40B4-BE49-F238E27FC236}">
                <a16:creationId xmlns:a16="http://schemas.microsoft.com/office/drawing/2014/main" id="{2480088D-F5CD-F375-FCF1-2284A0343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775" y="2476500"/>
            <a:ext cx="338455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rgbClr val="FF0000"/>
                </a:solidFill>
              </a:rPr>
              <a:t>Es: 2 decodificatori di metà ampiezza (4 uscite)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rgbClr val="FF0000"/>
                </a:solidFill>
              </a:rPr>
              <a:t>1 porta AND per ciascuna delle uscite </a:t>
            </a:r>
          </a:p>
        </p:txBody>
      </p:sp>
      <p:pic>
        <p:nvPicPr>
          <p:cNvPr id="60421" name="Picture 11">
            <a:extLst>
              <a:ext uri="{FF2B5EF4-FFF2-40B4-BE49-F238E27FC236}">
                <a16:creationId xmlns:a16="http://schemas.microsoft.com/office/drawing/2014/main" id="{6F13A160-2D0C-3A58-E558-48EA633D5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347913"/>
            <a:ext cx="4483100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CasellaDiTesto 6">
            <a:extLst>
              <a:ext uri="{FF2B5EF4-FFF2-40B4-BE49-F238E27FC236}">
                <a16:creationId xmlns:a16="http://schemas.microsoft.com/office/drawing/2014/main" id="{1AEAA760-D770-E7EB-B3C9-73286C01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861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0</a:t>
            </a:r>
          </a:p>
        </p:txBody>
      </p:sp>
      <p:sp>
        <p:nvSpPr>
          <p:cNvPr id="60423" name="CasellaDiTesto 7">
            <a:extLst>
              <a:ext uri="{FF2B5EF4-FFF2-40B4-BE49-F238E27FC236}">
                <a16:creationId xmlns:a16="http://schemas.microsoft.com/office/drawing/2014/main" id="{216181E8-3852-CEB8-0006-8F7EF0A28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083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1</a:t>
            </a:r>
          </a:p>
        </p:txBody>
      </p:sp>
      <p:sp>
        <p:nvSpPr>
          <p:cNvPr id="60424" name="CasellaDiTesto 8">
            <a:extLst>
              <a:ext uri="{FF2B5EF4-FFF2-40B4-BE49-F238E27FC236}">
                <a16:creationId xmlns:a16="http://schemas.microsoft.com/office/drawing/2014/main" id="{8B63B4E9-D283-72CB-0D81-7CE2C0F5E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957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2</a:t>
            </a:r>
          </a:p>
        </p:txBody>
      </p:sp>
      <p:sp>
        <p:nvSpPr>
          <p:cNvPr id="60425" name="CasellaDiTesto 9">
            <a:extLst>
              <a:ext uri="{FF2B5EF4-FFF2-40B4-BE49-F238E27FC236}">
                <a16:creationId xmlns:a16="http://schemas.microsoft.com/office/drawing/2014/main" id="{EEAAC810-168F-1CDB-7EA2-212E43DBF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179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3</a:t>
            </a:r>
          </a:p>
        </p:txBody>
      </p:sp>
      <p:sp>
        <p:nvSpPr>
          <p:cNvPr id="60426" name="CasellaDiTesto 10">
            <a:extLst>
              <a:ext uri="{FF2B5EF4-FFF2-40B4-BE49-F238E27FC236}">
                <a16:creationId xmlns:a16="http://schemas.microsoft.com/office/drawing/2014/main" id="{5EA81522-CC3A-A26D-884D-F6B8225B1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8007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4</a:t>
            </a:r>
          </a:p>
        </p:txBody>
      </p:sp>
      <p:sp>
        <p:nvSpPr>
          <p:cNvPr id="60427" name="CasellaDiTesto 11">
            <a:extLst>
              <a:ext uri="{FF2B5EF4-FFF2-40B4-BE49-F238E27FC236}">
                <a16:creationId xmlns:a16="http://schemas.microsoft.com/office/drawing/2014/main" id="{916FA2B9-4C49-5000-77DB-DA0F73615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58181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5</a:t>
            </a:r>
          </a:p>
        </p:txBody>
      </p:sp>
      <p:sp>
        <p:nvSpPr>
          <p:cNvPr id="60428" name="CasellaDiTesto 12">
            <a:extLst>
              <a:ext uri="{FF2B5EF4-FFF2-40B4-BE49-F238E27FC236}">
                <a16:creationId xmlns:a16="http://schemas.microsoft.com/office/drawing/2014/main" id="{9E076ACE-8EF5-16F0-7A80-5CACB5FC7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91200"/>
            <a:ext cx="4191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6</a:t>
            </a:r>
          </a:p>
        </p:txBody>
      </p:sp>
      <p:sp>
        <p:nvSpPr>
          <p:cNvPr id="60429" name="CasellaDiTesto 13">
            <a:extLst>
              <a:ext uri="{FF2B5EF4-FFF2-40B4-BE49-F238E27FC236}">
                <a16:creationId xmlns:a16="http://schemas.microsoft.com/office/drawing/2014/main" id="{02840D20-8229-879B-A323-C7693F50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80707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egnaposto numero diapositiva 3">
            <a:extLst>
              <a:ext uri="{FF2B5EF4-FFF2-40B4-BE49-F238E27FC236}">
                <a16:creationId xmlns:a16="http://schemas.microsoft.com/office/drawing/2014/main" id="{98BF7552-CFAD-6B3F-87AA-315E416F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BF494E7-37AC-4334-8FD1-7608EBBAC252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50B2463-19C9-78A7-7224-A51B2F2C1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8915400" cy="4816475"/>
          </a:xfrm>
        </p:spPr>
        <p:txBody>
          <a:bodyPr/>
          <a:lstStyle/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Schema ad albero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753266D-2605-EBE6-01D2-ABE9E9C44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Decodificatori composti</a:t>
            </a:r>
          </a:p>
        </p:txBody>
      </p:sp>
      <p:pic>
        <p:nvPicPr>
          <p:cNvPr id="61444" name="Picture 6">
            <a:extLst>
              <a:ext uri="{FF2B5EF4-FFF2-40B4-BE49-F238E27FC236}">
                <a16:creationId xmlns:a16="http://schemas.microsoft.com/office/drawing/2014/main" id="{BF0C1441-90D2-F042-A27B-F44C8DDCC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12968" r="50586" b="12968"/>
          <a:stretch>
            <a:fillRect/>
          </a:stretch>
        </p:blipFill>
        <p:spPr bwMode="auto">
          <a:xfrm>
            <a:off x="709613" y="1985963"/>
            <a:ext cx="4235450" cy="443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Text Box 8">
            <a:extLst>
              <a:ext uri="{FF2B5EF4-FFF2-40B4-BE49-F238E27FC236}">
                <a16:creationId xmlns:a16="http://schemas.microsoft.com/office/drawing/2014/main" id="{F765D670-071D-AAE4-A924-C1C5EEDD9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1816100"/>
            <a:ext cx="3903662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1688" indent="-344488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>
                <a:solidFill>
                  <a:schemeClr val="tx2"/>
                </a:solidFill>
              </a:rPr>
              <a:t>E</a:t>
            </a:r>
            <a:r>
              <a:rPr lang="ja-JP" altLang="it-IT" sz="2000" b="0">
                <a:solidFill>
                  <a:schemeClr val="tx2"/>
                </a:solidFill>
              </a:rPr>
              <a:t>’</a:t>
            </a:r>
            <a:r>
              <a:rPr lang="it-IT" altLang="ja-JP" sz="2000" b="0">
                <a:solidFill>
                  <a:schemeClr val="tx2"/>
                </a:solidFill>
              </a:rPr>
              <a:t> possibile realizzare un decoder di 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n uscite (Es. 16)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log</a:t>
            </a:r>
            <a:r>
              <a:rPr lang="it-IT" altLang="it-IT" sz="2000" b="0" baseline="-25000">
                <a:solidFill>
                  <a:schemeClr val="tx2"/>
                </a:solidFill>
              </a:rPr>
              <a:t>2</a:t>
            </a:r>
            <a:r>
              <a:rPr lang="it-IT" altLang="it-IT" sz="2000" b="0">
                <a:solidFill>
                  <a:schemeClr val="tx2"/>
                </a:solidFill>
              </a:rPr>
              <a:t>n ingressi (Es. 4)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it-IT" altLang="it-IT" sz="2000" b="0">
              <a:solidFill>
                <a:schemeClr val="tx2"/>
              </a:solidFill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>
                <a:solidFill>
                  <a:schemeClr val="tx2"/>
                </a:solidFill>
              </a:rPr>
              <a:t>attraverso decoder a </a:t>
            </a:r>
          </a:p>
          <a:p>
            <a:pPr lvl="1" eaLnBrk="1" hangingPunct="1">
              <a:spcBef>
                <a:spcPct val="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m uscite (Es. 4)</a:t>
            </a:r>
          </a:p>
          <a:p>
            <a:pPr lvl="1" eaLnBrk="1" hangingPunct="1">
              <a:spcBef>
                <a:spcPct val="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log</a:t>
            </a:r>
            <a:r>
              <a:rPr lang="it-IT" altLang="it-IT" sz="2000" b="0" baseline="-25000">
                <a:solidFill>
                  <a:schemeClr val="tx2"/>
                </a:solidFill>
              </a:rPr>
              <a:t>2</a:t>
            </a:r>
            <a:r>
              <a:rPr lang="it-IT" altLang="it-IT" sz="2000" b="0">
                <a:solidFill>
                  <a:schemeClr val="tx2"/>
                </a:solidFill>
              </a:rPr>
              <a:t>m ingressi (Es. 2)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000" b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it-IT" altLang="it-IT" sz="2000" b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 sz="2000" b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3A9ED5B-A21E-12A8-642B-B235AB9E5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575800" cy="6858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Composizione modulare di Decoder 4:16</a:t>
            </a:r>
          </a:p>
        </p:txBody>
      </p:sp>
      <p:grpSp>
        <p:nvGrpSpPr>
          <p:cNvPr id="62466" name="Group 88">
            <a:extLst>
              <a:ext uri="{FF2B5EF4-FFF2-40B4-BE49-F238E27FC236}">
                <a16:creationId xmlns:a16="http://schemas.microsoft.com/office/drawing/2014/main" id="{A3972C0E-A643-602F-1FFD-9B6A1F85176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227138"/>
            <a:ext cx="6224588" cy="5154612"/>
            <a:chOff x="1308" y="672"/>
            <a:chExt cx="3973" cy="3489"/>
          </a:xfrm>
        </p:grpSpPr>
        <p:grpSp>
          <p:nvGrpSpPr>
            <p:cNvPr id="62468" name="Group 3">
              <a:extLst>
                <a:ext uri="{FF2B5EF4-FFF2-40B4-BE49-F238E27FC236}">
                  <a16:creationId xmlns:a16="http://schemas.microsoft.com/office/drawing/2014/main" id="{A9426B05-B247-A566-A1B7-C24896658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085"/>
              <a:ext cx="572" cy="2544"/>
              <a:chOff x="2304" y="1085"/>
              <a:chExt cx="528" cy="2544"/>
            </a:xfrm>
          </p:grpSpPr>
          <p:sp>
            <p:nvSpPr>
              <p:cNvPr id="62549" name="Freeform 4">
                <a:extLst>
                  <a:ext uri="{FF2B5EF4-FFF2-40B4-BE49-F238E27FC236}">
                    <a16:creationId xmlns:a16="http://schemas.microsoft.com/office/drawing/2014/main" id="{08E73BE8-DFD3-B1DD-78E0-FB18E367F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2621"/>
                <a:ext cx="528" cy="1008"/>
              </a:xfrm>
              <a:custGeom>
                <a:avLst/>
                <a:gdLst>
                  <a:gd name="T0" fmla="*/ 0 w 528"/>
                  <a:gd name="T1" fmla="*/ 0 h 1008"/>
                  <a:gd name="T2" fmla="*/ 0 w 528"/>
                  <a:gd name="T3" fmla="*/ 1008 h 1008"/>
                  <a:gd name="T4" fmla="*/ 528 w 528"/>
                  <a:gd name="T5" fmla="*/ 1008 h 1008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1008"/>
                  <a:gd name="T11" fmla="*/ 528 w 528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1008">
                    <a:moveTo>
                      <a:pt x="0" y="0"/>
                    </a:moveTo>
                    <a:lnTo>
                      <a:pt x="0" y="1008"/>
                    </a:lnTo>
                    <a:lnTo>
                      <a:pt x="528" y="1008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0" name="Freeform 5">
                <a:extLst>
                  <a:ext uri="{FF2B5EF4-FFF2-40B4-BE49-F238E27FC236}">
                    <a16:creationId xmlns:a16="http://schemas.microsoft.com/office/drawing/2014/main" id="{0FA4ADD8-4EC9-E460-48DB-76075FD6B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2442"/>
                <a:ext cx="528" cy="384"/>
              </a:xfrm>
              <a:custGeom>
                <a:avLst/>
                <a:gdLst>
                  <a:gd name="T0" fmla="*/ 0 w 528"/>
                  <a:gd name="T1" fmla="*/ 0 h 384"/>
                  <a:gd name="T2" fmla="*/ 96 w 528"/>
                  <a:gd name="T3" fmla="*/ 0 h 384"/>
                  <a:gd name="T4" fmla="*/ 96 w 528"/>
                  <a:gd name="T5" fmla="*/ 384 h 384"/>
                  <a:gd name="T6" fmla="*/ 528 w 528"/>
                  <a:gd name="T7" fmla="*/ 384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384"/>
                  <a:gd name="T14" fmla="*/ 528 w 528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384">
                    <a:moveTo>
                      <a:pt x="0" y="0"/>
                    </a:moveTo>
                    <a:lnTo>
                      <a:pt x="96" y="0"/>
                    </a:lnTo>
                    <a:lnTo>
                      <a:pt x="96" y="384"/>
                    </a:lnTo>
                    <a:lnTo>
                      <a:pt x="528" y="384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1" name="Freeform 6">
                <a:extLst>
                  <a:ext uri="{FF2B5EF4-FFF2-40B4-BE49-F238E27FC236}">
                    <a16:creationId xmlns:a16="http://schemas.microsoft.com/office/drawing/2014/main" id="{EB011DCA-C921-05A2-27EC-1857D5BA0E1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304" y="1944"/>
                <a:ext cx="528" cy="293"/>
              </a:xfrm>
              <a:custGeom>
                <a:avLst/>
                <a:gdLst>
                  <a:gd name="T0" fmla="*/ 0 w 528"/>
                  <a:gd name="T1" fmla="*/ 0 h 384"/>
                  <a:gd name="T2" fmla="*/ 96 w 528"/>
                  <a:gd name="T3" fmla="*/ 0 h 384"/>
                  <a:gd name="T4" fmla="*/ 96 w 528"/>
                  <a:gd name="T5" fmla="*/ 6 h 384"/>
                  <a:gd name="T6" fmla="*/ 528 w 528"/>
                  <a:gd name="T7" fmla="*/ 6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384"/>
                  <a:gd name="T14" fmla="*/ 528 w 528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384">
                    <a:moveTo>
                      <a:pt x="0" y="0"/>
                    </a:moveTo>
                    <a:lnTo>
                      <a:pt x="96" y="0"/>
                    </a:lnTo>
                    <a:lnTo>
                      <a:pt x="96" y="384"/>
                    </a:lnTo>
                    <a:lnTo>
                      <a:pt x="528" y="384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2" name="Freeform 7">
                <a:extLst>
                  <a:ext uri="{FF2B5EF4-FFF2-40B4-BE49-F238E27FC236}">
                    <a16:creationId xmlns:a16="http://schemas.microsoft.com/office/drawing/2014/main" id="{F7CFD143-8ABF-C669-C500-E9630FCC957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304" y="1085"/>
                <a:ext cx="528" cy="982"/>
              </a:xfrm>
              <a:custGeom>
                <a:avLst/>
                <a:gdLst>
                  <a:gd name="T0" fmla="*/ 0 w 528"/>
                  <a:gd name="T1" fmla="*/ 0 h 1008"/>
                  <a:gd name="T2" fmla="*/ 0 w 528"/>
                  <a:gd name="T3" fmla="*/ 681 h 1008"/>
                  <a:gd name="T4" fmla="*/ 528 w 528"/>
                  <a:gd name="T5" fmla="*/ 681 h 1008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1008"/>
                  <a:gd name="T11" fmla="*/ 528 w 528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1008">
                    <a:moveTo>
                      <a:pt x="0" y="0"/>
                    </a:moveTo>
                    <a:lnTo>
                      <a:pt x="0" y="1008"/>
                    </a:lnTo>
                    <a:lnTo>
                      <a:pt x="528" y="1008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469" name="Group 8">
              <a:extLst>
                <a:ext uri="{FF2B5EF4-FFF2-40B4-BE49-F238E27FC236}">
                  <a16:creationId xmlns:a16="http://schemas.microsoft.com/office/drawing/2014/main" id="{A0E162B2-E276-0302-B48B-D3CB5E0E4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2" y="1824"/>
              <a:ext cx="1177" cy="958"/>
              <a:chOff x="1248" y="1824"/>
              <a:chExt cx="1086" cy="958"/>
            </a:xfrm>
          </p:grpSpPr>
          <p:grpSp>
            <p:nvGrpSpPr>
              <p:cNvPr id="62536" name="Group 9">
                <a:extLst>
                  <a:ext uri="{FF2B5EF4-FFF2-40B4-BE49-F238E27FC236}">
                    <a16:creationId xmlns:a16="http://schemas.microsoft.com/office/drawing/2014/main" id="{CBC3F069-F66F-343E-9C61-4CCD44F7D4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962"/>
                <a:ext cx="1056" cy="820"/>
                <a:chOff x="1248" y="1962"/>
                <a:chExt cx="1056" cy="820"/>
              </a:xfrm>
            </p:grpSpPr>
            <p:grpSp>
              <p:nvGrpSpPr>
                <p:cNvPr id="62538" name="Group 10">
                  <a:extLst>
                    <a:ext uri="{FF2B5EF4-FFF2-40B4-BE49-F238E27FC236}">
                      <a16:creationId xmlns:a16="http://schemas.microsoft.com/office/drawing/2014/main" id="{B6320C44-24A0-CF91-418F-CBBA46A206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0" y="1962"/>
                  <a:ext cx="864" cy="755"/>
                  <a:chOff x="3168" y="1981"/>
                  <a:chExt cx="864" cy="755"/>
                </a:xfrm>
              </p:grpSpPr>
              <p:grpSp>
                <p:nvGrpSpPr>
                  <p:cNvPr id="62540" name="Group 11">
                    <a:extLst>
                      <a:ext uri="{FF2B5EF4-FFF2-40B4-BE49-F238E27FC236}">
                        <a16:creationId xmlns:a16="http://schemas.microsoft.com/office/drawing/2014/main" id="{3C9058CF-3B75-1E0E-1EF9-C443407CA0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0" y="1981"/>
                    <a:ext cx="672" cy="755"/>
                    <a:chOff x="4464" y="816"/>
                    <a:chExt cx="672" cy="755"/>
                  </a:xfrm>
                </p:grpSpPr>
                <p:sp>
                  <p:nvSpPr>
                    <p:cNvPr id="62544" name="Rectangle 12">
                      <a:extLst>
                        <a:ext uri="{FF2B5EF4-FFF2-40B4-BE49-F238E27FC236}">
                          <a16:creationId xmlns:a16="http://schemas.microsoft.com/office/drawing/2014/main" id="{D76C943E-7BEC-DB83-E642-2B4B379631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816"/>
                      <a:ext cx="480" cy="755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Ø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rgbClr val="E5405D"/>
                        </a:buClr>
                        <a:buChar char="»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anose="05050102010706020507" pitchFamily="18" charset="2"/>
                        <a:buChar char="¨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76200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76200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it-IT" altLang="it-IT" sz="2000"/>
                        <a:t>DEC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it-IT" altLang="it-IT" sz="2000"/>
                        <a:t>2:4</a:t>
                      </a:r>
                    </a:p>
                  </p:txBody>
                </p:sp>
                <p:sp>
                  <p:nvSpPr>
                    <p:cNvPr id="62545" name="Line 13">
                      <a:extLst>
                        <a:ext uri="{FF2B5EF4-FFF2-40B4-BE49-F238E27FC236}">
                          <a16:creationId xmlns:a16="http://schemas.microsoft.com/office/drawing/2014/main" id="{8578E68C-41F1-D707-B676-6B55116D22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9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6" name="Line 14">
                      <a:extLst>
                        <a:ext uri="{FF2B5EF4-FFF2-40B4-BE49-F238E27FC236}">
                          <a16:creationId xmlns:a16="http://schemas.microsoft.com/office/drawing/2014/main" id="{34D2734E-3449-7B47-061E-3D43044CFD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083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7" name="Line 15">
                      <a:extLst>
                        <a:ext uri="{FF2B5EF4-FFF2-40B4-BE49-F238E27FC236}">
                          <a16:creationId xmlns:a16="http://schemas.microsoft.com/office/drawing/2014/main" id="{01E8E18E-F992-77FB-113A-D102004FF95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296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8" name="Line 16">
                      <a:extLst>
                        <a:ext uri="{FF2B5EF4-FFF2-40B4-BE49-F238E27FC236}">
                          <a16:creationId xmlns:a16="http://schemas.microsoft.com/office/drawing/2014/main" id="{619C5E24-500B-E01D-180B-E93BCBB61D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488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2541" name="Line 17">
                    <a:extLst>
                      <a:ext uri="{FF2B5EF4-FFF2-40B4-BE49-F238E27FC236}">
                        <a16:creationId xmlns:a16="http://schemas.microsoft.com/office/drawing/2014/main" id="{A96CD127-74EC-AAA6-BDC8-2B00F7AB9E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304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2542" name="Line 18">
                    <a:extLst>
                      <a:ext uri="{FF2B5EF4-FFF2-40B4-BE49-F238E27FC236}">
                        <a16:creationId xmlns:a16="http://schemas.microsoft.com/office/drawing/2014/main" id="{5A848105-8538-AFD2-8A01-7E83A28983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461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2543" name="Line 19">
                    <a:extLst>
                      <a:ext uri="{FF2B5EF4-FFF2-40B4-BE49-F238E27FC236}">
                        <a16:creationId xmlns:a16="http://schemas.microsoft.com/office/drawing/2014/main" id="{B9F177FC-8C1A-741B-5F9C-FA7E28E439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590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539" name="Text Box 20">
                  <a:extLst>
                    <a:ext uri="{FF2B5EF4-FFF2-40B4-BE49-F238E27FC236}">
                      <a16:creationId xmlns:a16="http://schemas.microsoft.com/office/drawing/2014/main" id="{0428135E-CF20-CCD9-E592-47471A33FB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48" y="2101"/>
                  <a:ext cx="217" cy="6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1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C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D</a:t>
                  </a:r>
                </a:p>
              </p:txBody>
            </p:sp>
          </p:grpSp>
          <p:sp>
            <p:nvSpPr>
              <p:cNvPr id="62537" name="Text Box 21">
                <a:extLst>
                  <a:ext uri="{FF2B5EF4-FFF2-40B4-BE49-F238E27FC236}">
                    <a16:creationId xmlns:a16="http://schemas.microsoft.com/office/drawing/2014/main" id="{154C37C1-6FE5-6EDE-EC58-E20CCAF932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8" y="1824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</p:grpSp>
        <p:grpSp>
          <p:nvGrpSpPr>
            <p:cNvPr id="62470" name="Group 22">
              <a:extLst>
                <a:ext uri="{FF2B5EF4-FFF2-40B4-BE49-F238E27FC236}">
                  <a16:creationId xmlns:a16="http://schemas.microsoft.com/office/drawing/2014/main" id="{09B1094D-2BB3-6954-81FB-749F023BD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" y="672"/>
              <a:ext cx="2521" cy="3489"/>
              <a:chOff x="1207" y="672"/>
              <a:chExt cx="2327" cy="3489"/>
            </a:xfrm>
          </p:grpSpPr>
          <p:grpSp>
            <p:nvGrpSpPr>
              <p:cNvPr id="62495" name="Group 23">
                <a:extLst>
                  <a:ext uri="{FF2B5EF4-FFF2-40B4-BE49-F238E27FC236}">
                    <a16:creationId xmlns:a16="http://schemas.microsoft.com/office/drawing/2014/main" id="{78C8E7B5-728B-4B38-19CD-9D298C139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7" y="816"/>
                <a:ext cx="2289" cy="3345"/>
                <a:chOff x="1207" y="816"/>
                <a:chExt cx="2289" cy="3345"/>
              </a:xfrm>
            </p:grpSpPr>
            <p:sp>
              <p:nvSpPr>
                <p:cNvPr id="62500" name="Line 24">
                  <a:extLst>
                    <a:ext uri="{FF2B5EF4-FFF2-40B4-BE49-F238E27FC236}">
                      <a16:creationId xmlns:a16="http://schemas.microsoft.com/office/drawing/2014/main" id="{D14CA9F6-F1A9-EB0A-B4EE-ABFD6B696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4013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01" name="Line 25">
                  <a:extLst>
                    <a:ext uri="{FF2B5EF4-FFF2-40B4-BE49-F238E27FC236}">
                      <a16:creationId xmlns:a16="http://schemas.microsoft.com/office/drawing/2014/main" id="{7B603F55-EB41-CC3A-7EAB-A0E85D7999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3869"/>
                  <a:ext cx="4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62502" name="Group 26">
                  <a:extLst>
                    <a:ext uri="{FF2B5EF4-FFF2-40B4-BE49-F238E27FC236}">
                      <a16:creationId xmlns:a16="http://schemas.microsoft.com/office/drawing/2014/main" id="{57B38288-A020-F134-5AEA-1B0D42E614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07" y="816"/>
                  <a:ext cx="2289" cy="3345"/>
                  <a:chOff x="1263" y="816"/>
                  <a:chExt cx="2289" cy="3345"/>
                </a:xfrm>
              </p:grpSpPr>
              <p:grpSp>
                <p:nvGrpSpPr>
                  <p:cNvPr id="62503" name="Group 27">
                    <a:extLst>
                      <a:ext uri="{FF2B5EF4-FFF2-40B4-BE49-F238E27FC236}">
                        <a16:creationId xmlns:a16="http://schemas.microsoft.com/office/drawing/2014/main" id="{BA6DA0BF-AB84-EECC-F674-21F9F0AD16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0" y="816"/>
                    <a:ext cx="672" cy="3264"/>
                    <a:chOff x="4464" y="816"/>
                    <a:chExt cx="672" cy="3264"/>
                  </a:xfrm>
                </p:grpSpPr>
                <p:grpSp>
                  <p:nvGrpSpPr>
                    <p:cNvPr id="62512" name="Group 28">
                      <a:extLst>
                        <a:ext uri="{FF2B5EF4-FFF2-40B4-BE49-F238E27FC236}">
                          <a16:creationId xmlns:a16="http://schemas.microsoft.com/office/drawing/2014/main" id="{0FD69872-DC3E-2E39-9D49-C75E0D7A643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816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31" name="Rectangle 29">
                        <a:extLst>
                          <a:ext uri="{FF2B5EF4-FFF2-40B4-BE49-F238E27FC236}">
                            <a16:creationId xmlns:a16="http://schemas.microsoft.com/office/drawing/2014/main" id="{307518A3-EA89-2334-CC27-B867950420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32" name="Line 30">
                        <a:extLst>
                          <a:ext uri="{FF2B5EF4-FFF2-40B4-BE49-F238E27FC236}">
                            <a16:creationId xmlns:a16="http://schemas.microsoft.com/office/drawing/2014/main" id="{B604A5C7-C94C-8BD2-5B52-FEA26966B2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3" name="Line 31">
                        <a:extLst>
                          <a:ext uri="{FF2B5EF4-FFF2-40B4-BE49-F238E27FC236}">
                            <a16:creationId xmlns:a16="http://schemas.microsoft.com/office/drawing/2014/main" id="{B1D65E0C-0577-3487-7995-F1BE8E60FB7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4" name="Line 32">
                        <a:extLst>
                          <a:ext uri="{FF2B5EF4-FFF2-40B4-BE49-F238E27FC236}">
                            <a16:creationId xmlns:a16="http://schemas.microsoft.com/office/drawing/2014/main" id="{58F30154-9C67-F8B5-7574-0EB94BAD4AF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5" name="Line 33">
                        <a:extLst>
                          <a:ext uri="{FF2B5EF4-FFF2-40B4-BE49-F238E27FC236}">
                            <a16:creationId xmlns:a16="http://schemas.microsoft.com/office/drawing/2014/main" id="{AC51C95A-DAAD-EF50-4164-E9C07E02FF4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3" name="Group 34">
                      <a:extLst>
                        <a:ext uri="{FF2B5EF4-FFF2-40B4-BE49-F238E27FC236}">
                          <a16:creationId xmlns:a16="http://schemas.microsoft.com/office/drawing/2014/main" id="{4BCFC41C-0450-0AC3-C91F-A6D10748619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1667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26" name="Rectangle 35">
                        <a:extLst>
                          <a:ext uri="{FF2B5EF4-FFF2-40B4-BE49-F238E27FC236}">
                            <a16:creationId xmlns:a16="http://schemas.microsoft.com/office/drawing/2014/main" id="{B9182BF5-75C2-56F0-58BC-8722CCA67AD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27" name="Line 36">
                        <a:extLst>
                          <a:ext uri="{FF2B5EF4-FFF2-40B4-BE49-F238E27FC236}">
                            <a16:creationId xmlns:a16="http://schemas.microsoft.com/office/drawing/2014/main" id="{3D75B8BE-0AFA-97D5-6A83-A47A30B68CC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8" name="Line 37">
                        <a:extLst>
                          <a:ext uri="{FF2B5EF4-FFF2-40B4-BE49-F238E27FC236}">
                            <a16:creationId xmlns:a16="http://schemas.microsoft.com/office/drawing/2014/main" id="{FB26AFBB-C7B6-CB97-3C1C-04E91A1E5C4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9" name="Line 38">
                        <a:extLst>
                          <a:ext uri="{FF2B5EF4-FFF2-40B4-BE49-F238E27FC236}">
                            <a16:creationId xmlns:a16="http://schemas.microsoft.com/office/drawing/2014/main" id="{F27E4DC7-AF65-2D39-38B2-C3F2FB1BBB2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0" name="Line 39">
                        <a:extLst>
                          <a:ext uri="{FF2B5EF4-FFF2-40B4-BE49-F238E27FC236}">
                            <a16:creationId xmlns:a16="http://schemas.microsoft.com/office/drawing/2014/main" id="{D3A5B8D0-F46F-C8F5-81D6-B7F8857D4A7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4" name="Group 40">
                      <a:extLst>
                        <a:ext uri="{FF2B5EF4-FFF2-40B4-BE49-F238E27FC236}">
                          <a16:creationId xmlns:a16="http://schemas.microsoft.com/office/drawing/2014/main" id="{A2CA9F47-782C-8CBB-7883-CF76DBCAFC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2494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21" name="Rectangle 41">
                        <a:extLst>
                          <a:ext uri="{FF2B5EF4-FFF2-40B4-BE49-F238E27FC236}">
                            <a16:creationId xmlns:a16="http://schemas.microsoft.com/office/drawing/2014/main" id="{242E621D-EF9A-DB28-41B7-C02B7BDFE47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22" name="Line 42">
                        <a:extLst>
                          <a:ext uri="{FF2B5EF4-FFF2-40B4-BE49-F238E27FC236}">
                            <a16:creationId xmlns:a16="http://schemas.microsoft.com/office/drawing/2014/main" id="{8A6722BE-48D0-3A68-4833-639D9260F8C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3" name="Line 43">
                        <a:extLst>
                          <a:ext uri="{FF2B5EF4-FFF2-40B4-BE49-F238E27FC236}">
                            <a16:creationId xmlns:a16="http://schemas.microsoft.com/office/drawing/2014/main" id="{8264D04E-042E-CFED-5512-EE1B1D7B6F3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4" name="Line 44">
                        <a:extLst>
                          <a:ext uri="{FF2B5EF4-FFF2-40B4-BE49-F238E27FC236}">
                            <a16:creationId xmlns:a16="http://schemas.microsoft.com/office/drawing/2014/main" id="{4A1F3B05-9AB4-D0CF-21F4-8D83D7536B3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5" name="Line 45">
                        <a:extLst>
                          <a:ext uri="{FF2B5EF4-FFF2-40B4-BE49-F238E27FC236}">
                            <a16:creationId xmlns:a16="http://schemas.microsoft.com/office/drawing/2014/main" id="{F5A1B2B3-0106-0A9B-4BD3-78C18DFD965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5" name="Group 46">
                      <a:extLst>
                        <a:ext uri="{FF2B5EF4-FFF2-40B4-BE49-F238E27FC236}">
                          <a16:creationId xmlns:a16="http://schemas.microsoft.com/office/drawing/2014/main" id="{2E872E4B-9B0B-6302-7E25-9E442E22B9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3325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16" name="Rectangle 47">
                        <a:extLst>
                          <a:ext uri="{FF2B5EF4-FFF2-40B4-BE49-F238E27FC236}">
                            <a16:creationId xmlns:a16="http://schemas.microsoft.com/office/drawing/2014/main" id="{83D896DA-BAB1-EF9F-4D50-4640F58F31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17" name="Line 48">
                        <a:extLst>
                          <a:ext uri="{FF2B5EF4-FFF2-40B4-BE49-F238E27FC236}">
                            <a16:creationId xmlns:a16="http://schemas.microsoft.com/office/drawing/2014/main" id="{84B86E64-ED1D-A5C7-F4CB-80A86ACEB21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18" name="Line 49">
                        <a:extLst>
                          <a:ext uri="{FF2B5EF4-FFF2-40B4-BE49-F238E27FC236}">
                            <a16:creationId xmlns:a16="http://schemas.microsoft.com/office/drawing/2014/main" id="{4124C327-84DB-FF8A-5046-95C45F1043F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19" name="Line 50">
                        <a:extLst>
                          <a:ext uri="{FF2B5EF4-FFF2-40B4-BE49-F238E27FC236}">
                            <a16:creationId xmlns:a16="http://schemas.microsoft.com/office/drawing/2014/main" id="{D9CA3747-CFC8-9C24-C403-3AB5A6E3646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0" name="Line 51">
                        <a:extLst>
                          <a:ext uri="{FF2B5EF4-FFF2-40B4-BE49-F238E27FC236}">
                            <a16:creationId xmlns:a16="http://schemas.microsoft.com/office/drawing/2014/main" id="{477307F1-62E9-FA55-9505-9B00EAADA8A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2504" name="Group 52">
                    <a:extLst>
                      <a:ext uri="{FF2B5EF4-FFF2-40B4-BE49-F238E27FC236}">
                        <a16:creationId xmlns:a16="http://schemas.microsoft.com/office/drawing/2014/main" id="{D99CC610-EA2C-1F3C-183E-600BBF2EC5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84" y="1325"/>
                    <a:ext cx="1296" cy="2688"/>
                    <a:chOff x="1536" y="1325"/>
                    <a:chExt cx="1296" cy="2688"/>
                  </a:xfrm>
                </p:grpSpPr>
                <p:sp>
                  <p:nvSpPr>
                    <p:cNvPr id="62506" name="Freeform 53">
                      <a:extLst>
                        <a:ext uri="{FF2B5EF4-FFF2-40B4-BE49-F238E27FC236}">
                          <a16:creationId xmlns:a16="http://schemas.microsoft.com/office/drawing/2014/main" id="{864A6B4C-1C95-B044-683B-D6B586A422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36" y="1325"/>
                      <a:ext cx="1296" cy="2544"/>
                    </a:xfrm>
                    <a:custGeom>
                      <a:avLst/>
                      <a:gdLst>
                        <a:gd name="T0" fmla="*/ 1296 w 1296"/>
                        <a:gd name="T1" fmla="*/ 0 h 2544"/>
                        <a:gd name="T2" fmla="*/ 912 w 1296"/>
                        <a:gd name="T3" fmla="*/ 0 h 2544"/>
                        <a:gd name="T4" fmla="*/ 912 w 1296"/>
                        <a:gd name="T5" fmla="*/ 2544 h 2544"/>
                        <a:gd name="T6" fmla="*/ 0 w 1296"/>
                        <a:gd name="T7" fmla="*/ 2544 h 254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296"/>
                        <a:gd name="T13" fmla="*/ 0 h 2544"/>
                        <a:gd name="T14" fmla="*/ 1296 w 1296"/>
                        <a:gd name="T15" fmla="*/ 2544 h 254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296" h="2544">
                          <a:moveTo>
                            <a:pt x="1296" y="0"/>
                          </a:moveTo>
                          <a:lnTo>
                            <a:pt x="912" y="0"/>
                          </a:lnTo>
                          <a:lnTo>
                            <a:pt x="912" y="2544"/>
                          </a:lnTo>
                          <a:lnTo>
                            <a:pt x="0" y="25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7" name="Freeform 54">
                      <a:extLst>
                        <a:ext uri="{FF2B5EF4-FFF2-40B4-BE49-F238E27FC236}">
                          <a16:creationId xmlns:a16="http://schemas.microsoft.com/office/drawing/2014/main" id="{BED7F5AC-DFE0-0ACC-9FE2-2A2CCC8C5A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36" y="1469"/>
                      <a:ext cx="1296" cy="2544"/>
                    </a:xfrm>
                    <a:custGeom>
                      <a:avLst/>
                      <a:gdLst>
                        <a:gd name="T0" fmla="*/ 1296 w 1296"/>
                        <a:gd name="T1" fmla="*/ 0 h 2544"/>
                        <a:gd name="T2" fmla="*/ 1008 w 1296"/>
                        <a:gd name="T3" fmla="*/ 0 h 2544"/>
                        <a:gd name="T4" fmla="*/ 1008 w 1296"/>
                        <a:gd name="T5" fmla="*/ 2544 h 2544"/>
                        <a:gd name="T6" fmla="*/ 144 w 1296"/>
                        <a:gd name="T7" fmla="*/ 2544 h 2544"/>
                        <a:gd name="T8" fmla="*/ 0 w 1296"/>
                        <a:gd name="T9" fmla="*/ 2544 h 254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296"/>
                        <a:gd name="T16" fmla="*/ 0 h 2544"/>
                        <a:gd name="T17" fmla="*/ 1296 w 1296"/>
                        <a:gd name="T18" fmla="*/ 2544 h 254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296" h="2544">
                          <a:moveTo>
                            <a:pt x="1296" y="0"/>
                          </a:moveTo>
                          <a:lnTo>
                            <a:pt x="1008" y="0"/>
                          </a:lnTo>
                          <a:lnTo>
                            <a:pt x="1008" y="2544"/>
                          </a:lnTo>
                          <a:lnTo>
                            <a:pt x="144" y="2544"/>
                          </a:lnTo>
                          <a:lnTo>
                            <a:pt x="0" y="25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8" name="Line 55">
                      <a:extLst>
                        <a:ext uri="{FF2B5EF4-FFF2-40B4-BE49-F238E27FC236}">
                          <a16:creationId xmlns:a16="http://schemas.microsoft.com/office/drawing/2014/main" id="{4C916E5F-098D-019D-17E8-0102940266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44" y="3149"/>
                      <a:ext cx="28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9" name="Line 56">
                      <a:extLst>
                        <a:ext uri="{FF2B5EF4-FFF2-40B4-BE49-F238E27FC236}">
                          <a16:creationId xmlns:a16="http://schemas.microsoft.com/office/drawing/2014/main" id="{0E98C81B-8449-6F69-CB5D-2C1D9CFCDCE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48" y="3053"/>
                      <a:ext cx="38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10" name="Line 57">
                      <a:extLst>
                        <a:ext uri="{FF2B5EF4-FFF2-40B4-BE49-F238E27FC236}">
                          <a16:creationId xmlns:a16="http://schemas.microsoft.com/office/drawing/2014/main" id="{6FEA60E0-6946-CEB8-2748-57BF69C170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48" y="2189"/>
                      <a:ext cx="38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11" name="Line 58">
                      <a:extLst>
                        <a:ext uri="{FF2B5EF4-FFF2-40B4-BE49-F238E27FC236}">
                          <a16:creationId xmlns:a16="http://schemas.microsoft.com/office/drawing/2014/main" id="{8926BDC6-C57C-8924-C3C3-9A1BCBD8B5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44" y="2320"/>
                      <a:ext cx="28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2505" name="Text Box 59">
                    <a:extLst>
                      <a:ext uri="{FF2B5EF4-FFF2-40B4-BE49-F238E27FC236}">
                        <a16:creationId xmlns:a16="http://schemas.microsoft.com/office/drawing/2014/main" id="{C70B51B5-58A9-F4E4-83CE-058712E2CAF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" y="3686"/>
                    <a:ext cx="217" cy="4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/>
                      <a:t>A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/>
                      <a:t>B</a:t>
                    </a:r>
                    <a:endParaRPr lang="it-IT" altLang="it-IT" sz="2400"/>
                  </a:p>
                </p:txBody>
              </p:sp>
            </p:grpSp>
          </p:grpSp>
          <p:sp>
            <p:nvSpPr>
              <p:cNvPr id="62496" name="Text Box 60">
                <a:extLst>
                  <a:ext uri="{FF2B5EF4-FFF2-40B4-BE49-F238E27FC236}">
                    <a16:creationId xmlns:a16="http://schemas.microsoft.com/office/drawing/2014/main" id="{205504C6-2F90-AD5A-78AE-B88C26808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672"/>
                <a:ext cx="266" cy="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7" name="Text Box 61">
                <a:extLst>
                  <a:ext uri="{FF2B5EF4-FFF2-40B4-BE49-F238E27FC236}">
                    <a16:creationId xmlns:a16="http://schemas.microsoft.com/office/drawing/2014/main" id="{CB593D2E-BB8E-11E7-2150-F0F3510E8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1536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8" name="Text Box 62">
                <a:extLst>
                  <a:ext uri="{FF2B5EF4-FFF2-40B4-BE49-F238E27FC236}">
                    <a16:creationId xmlns:a16="http://schemas.microsoft.com/office/drawing/2014/main" id="{4D8F8811-9660-4FBB-0DF8-D097F73DC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351"/>
                <a:ext cx="266" cy="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9" name="Text Box 63">
                <a:extLst>
                  <a:ext uri="{FF2B5EF4-FFF2-40B4-BE49-F238E27FC236}">
                    <a16:creationId xmlns:a16="http://schemas.microsoft.com/office/drawing/2014/main" id="{D1800267-2691-12A3-97EA-BCE0B0212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3206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</p:grpSp>
        <p:grpSp>
          <p:nvGrpSpPr>
            <p:cNvPr id="62471" name="Group 64">
              <a:extLst>
                <a:ext uri="{FF2B5EF4-FFF2-40B4-BE49-F238E27FC236}">
                  <a16:creationId xmlns:a16="http://schemas.microsoft.com/office/drawing/2014/main" id="{7E76492E-C030-F187-37D5-16195DC281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7" y="672"/>
              <a:ext cx="3574" cy="3489"/>
              <a:chOff x="1576" y="672"/>
              <a:chExt cx="3299" cy="3489"/>
            </a:xfrm>
          </p:grpSpPr>
          <p:grpSp>
            <p:nvGrpSpPr>
              <p:cNvPr id="62472" name="Group 65">
                <a:extLst>
                  <a:ext uri="{FF2B5EF4-FFF2-40B4-BE49-F238E27FC236}">
                    <a16:creationId xmlns:a16="http://schemas.microsoft.com/office/drawing/2014/main" id="{FEAEEDC6-9E5F-5D86-2861-1C210F7CA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6" y="729"/>
                <a:ext cx="1379" cy="3432"/>
                <a:chOff x="3496" y="729"/>
                <a:chExt cx="1379" cy="3432"/>
              </a:xfrm>
            </p:grpSpPr>
            <p:grpSp>
              <p:nvGrpSpPr>
                <p:cNvPr id="62474" name="Group 66">
                  <a:extLst>
                    <a:ext uri="{FF2B5EF4-FFF2-40B4-BE49-F238E27FC236}">
                      <a16:creationId xmlns:a16="http://schemas.microsoft.com/office/drawing/2014/main" id="{EDC5D0E4-50F7-A37B-C699-AA99BAB7E0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60" y="729"/>
                  <a:ext cx="315" cy="3432"/>
                  <a:chOff x="3556" y="729"/>
                  <a:chExt cx="315" cy="3432"/>
                </a:xfrm>
              </p:grpSpPr>
              <p:sp>
                <p:nvSpPr>
                  <p:cNvPr id="62491" name="Text Box 67">
                    <a:extLst>
                      <a:ext uri="{FF2B5EF4-FFF2-40B4-BE49-F238E27FC236}">
                        <a16:creationId xmlns:a16="http://schemas.microsoft.com/office/drawing/2014/main" id="{6CB0F8E9-B89A-DDAF-5F94-D477E7D809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729"/>
                    <a:ext cx="26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0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2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3</a:t>
                    </a:r>
                    <a:endParaRPr lang="it-IT" altLang="it-IT" sz="2000" baseline="-25000"/>
                  </a:p>
                </p:txBody>
              </p:sp>
              <p:sp>
                <p:nvSpPr>
                  <p:cNvPr id="62492" name="Text Box 68">
                    <a:extLst>
                      <a:ext uri="{FF2B5EF4-FFF2-40B4-BE49-F238E27FC236}">
                        <a16:creationId xmlns:a16="http://schemas.microsoft.com/office/drawing/2014/main" id="{E4ACA885-8656-F2B1-D766-251E447E2C8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1615"/>
                    <a:ext cx="26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4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5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6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62493" name="Text Box 69">
                    <a:extLst>
                      <a:ext uri="{FF2B5EF4-FFF2-40B4-BE49-F238E27FC236}">
                        <a16:creationId xmlns:a16="http://schemas.microsoft.com/office/drawing/2014/main" id="{73EFDC4B-6A33-26DA-C91E-673CFA4EB02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2448"/>
                    <a:ext cx="31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8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9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10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11</a:t>
                    </a:r>
                    <a:endParaRPr lang="it-IT" altLang="it-IT" sz="2000" baseline="-25000"/>
                  </a:p>
                </p:txBody>
              </p:sp>
              <p:sp>
                <p:nvSpPr>
                  <p:cNvPr id="62494" name="Text Box 70">
                    <a:extLst>
                      <a:ext uri="{FF2B5EF4-FFF2-40B4-BE49-F238E27FC236}">
                        <a16:creationId xmlns:a16="http://schemas.microsoft.com/office/drawing/2014/main" id="{C58D5C7E-C9BA-14C8-2BCB-C43BCB7FCCC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3274"/>
                    <a:ext cx="315" cy="8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12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13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14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15</a:t>
                    </a:r>
                    <a:endParaRPr lang="it-IT" altLang="it-IT" sz="2000" baseline="-25000"/>
                  </a:p>
                </p:txBody>
              </p:sp>
            </p:grpSp>
            <p:sp>
              <p:nvSpPr>
                <p:cNvPr id="62475" name="Line 71">
                  <a:extLst>
                    <a:ext uri="{FF2B5EF4-FFF2-40B4-BE49-F238E27FC236}">
                      <a16:creationId xmlns:a16="http://schemas.microsoft.com/office/drawing/2014/main" id="{046A158F-6D21-9381-ED85-7ACFA74BF0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6" y="91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6" name="Line 72">
                  <a:extLst>
                    <a:ext uri="{FF2B5EF4-FFF2-40B4-BE49-F238E27FC236}">
                      <a16:creationId xmlns:a16="http://schemas.microsoft.com/office/drawing/2014/main" id="{73795122-1909-DC72-3FAC-0B1B63822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079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7" name="Line 73">
                  <a:extLst>
                    <a:ext uri="{FF2B5EF4-FFF2-40B4-BE49-F238E27FC236}">
                      <a16:creationId xmlns:a16="http://schemas.microsoft.com/office/drawing/2014/main" id="{5445B157-CC6C-1937-CD49-8FC2BD1A7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29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8" name="Line 74">
                  <a:extLst>
                    <a:ext uri="{FF2B5EF4-FFF2-40B4-BE49-F238E27FC236}">
                      <a16:creationId xmlns:a16="http://schemas.microsoft.com/office/drawing/2014/main" id="{D007FFA3-6704-612B-55DC-C5053A7AB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6" y="148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9" name="Line 75">
                  <a:extLst>
                    <a:ext uri="{FF2B5EF4-FFF2-40B4-BE49-F238E27FC236}">
                      <a16:creationId xmlns:a16="http://schemas.microsoft.com/office/drawing/2014/main" id="{66BC029A-A10E-C427-6EEF-DB7A80D7C6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77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0" name="Line 76">
                  <a:extLst>
                    <a:ext uri="{FF2B5EF4-FFF2-40B4-BE49-F238E27FC236}">
                      <a16:creationId xmlns:a16="http://schemas.microsoft.com/office/drawing/2014/main" id="{CC32257A-D363-E02C-C4E1-17D32E5BC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94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1" name="Line 77">
                  <a:extLst>
                    <a:ext uri="{FF2B5EF4-FFF2-40B4-BE49-F238E27FC236}">
                      <a16:creationId xmlns:a16="http://schemas.microsoft.com/office/drawing/2014/main" id="{18526250-5B56-DD5D-3A3A-E466BF6F5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160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2" name="Line 78">
                  <a:extLst>
                    <a:ext uri="{FF2B5EF4-FFF2-40B4-BE49-F238E27FC236}">
                      <a16:creationId xmlns:a16="http://schemas.microsoft.com/office/drawing/2014/main" id="{B3659120-3133-5924-F139-A1235AB45F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35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3" name="Line 79">
                  <a:extLst>
                    <a:ext uri="{FF2B5EF4-FFF2-40B4-BE49-F238E27FC236}">
                      <a16:creationId xmlns:a16="http://schemas.microsoft.com/office/drawing/2014/main" id="{B15F655D-87AF-8252-4EEE-120160DFC5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59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4" name="Line 80">
                  <a:extLst>
                    <a:ext uri="{FF2B5EF4-FFF2-40B4-BE49-F238E27FC236}">
                      <a16:creationId xmlns:a16="http://schemas.microsoft.com/office/drawing/2014/main" id="{8A357467-F7A9-037F-396C-8AE232A32B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75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5" name="Line 81">
                  <a:extLst>
                    <a:ext uri="{FF2B5EF4-FFF2-40B4-BE49-F238E27FC236}">
                      <a16:creationId xmlns:a16="http://schemas.microsoft.com/office/drawing/2014/main" id="{71DD8351-681C-B265-DCDE-FC8F9445F2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97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6" name="Line 82">
                  <a:extLst>
                    <a:ext uri="{FF2B5EF4-FFF2-40B4-BE49-F238E27FC236}">
                      <a16:creationId xmlns:a16="http://schemas.microsoft.com/office/drawing/2014/main" id="{1B8BFACA-A37F-2B6C-2B14-8C2193FB80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16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7" name="Line 83">
                  <a:extLst>
                    <a:ext uri="{FF2B5EF4-FFF2-40B4-BE49-F238E27FC236}">
                      <a16:creationId xmlns:a16="http://schemas.microsoft.com/office/drawing/2014/main" id="{34DB3D74-A980-F06B-461B-173A65655A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40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8" name="Line 84">
                  <a:extLst>
                    <a:ext uri="{FF2B5EF4-FFF2-40B4-BE49-F238E27FC236}">
                      <a16:creationId xmlns:a16="http://schemas.microsoft.com/office/drawing/2014/main" id="{2075A746-0262-1939-C09D-EA82868F2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600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9" name="Line 85">
                  <a:extLst>
                    <a:ext uri="{FF2B5EF4-FFF2-40B4-BE49-F238E27FC236}">
                      <a16:creationId xmlns:a16="http://schemas.microsoft.com/office/drawing/2014/main" id="{6D11EFE0-0FAA-A8A6-2F45-5CF9AAF24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804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90" name="Line 86">
                  <a:extLst>
                    <a:ext uri="{FF2B5EF4-FFF2-40B4-BE49-F238E27FC236}">
                      <a16:creationId xmlns:a16="http://schemas.microsoft.com/office/drawing/2014/main" id="{3F79CC66-555F-E518-963D-DD120A415B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984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2473" name="Rectangle 87">
                <a:extLst>
                  <a:ext uri="{FF2B5EF4-FFF2-40B4-BE49-F238E27FC236}">
                    <a16:creationId xmlns:a16="http://schemas.microsoft.com/office/drawing/2014/main" id="{1FB69C82-66C4-3D2F-1D33-1FD20AF35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672"/>
                <a:ext cx="2840" cy="3456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</p:grpSp>
      <p:sp>
        <p:nvSpPr>
          <p:cNvPr id="62467" name="Segnaposto numero diapositiva 88">
            <a:extLst>
              <a:ext uri="{FF2B5EF4-FFF2-40B4-BE49-F238E27FC236}">
                <a16:creationId xmlns:a16="http://schemas.microsoft.com/office/drawing/2014/main" id="{B3714DED-0F93-CDEE-5D2B-754DCD37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D01725-2624-446E-8703-8242740CE7E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it-IT" altLang="it-IT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FE05754C-F242-2772-752A-1FC98B306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79375"/>
            <a:ext cx="9740900" cy="685800"/>
          </a:xfrm>
        </p:spPr>
        <p:txBody>
          <a:bodyPr/>
          <a:lstStyle/>
          <a:p>
            <a:pPr algn="ctr" eaLnBrk="1" hangingPunct="1"/>
            <a:r>
              <a:rPr lang="it-IT" altLang="it-IT">
                <a:ea typeface="ＭＳ Ｐゴシック" panose="020B0600070205080204" pitchFamily="34" charset="-128"/>
              </a:rPr>
              <a:t>Esempio (semplificato) di utilizzo di Decoder (1/2)</a:t>
            </a:r>
          </a:p>
        </p:txBody>
      </p:sp>
      <p:sp>
        <p:nvSpPr>
          <p:cNvPr id="64514" name="Rectangle 4">
            <a:extLst>
              <a:ext uri="{FF2B5EF4-FFF2-40B4-BE49-F238E27FC236}">
                <a16:creationId xmlns:a16="http://schemas.microsoft.com/office/drawing/2014/main" id="{14627D70-B34A-91C8-3FB2-45FE4A73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77938"/>
            <a:ext cx="974090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I decoder sono utilizzati in moltissime applicazioni.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Un esempio è la selezione dell'input/output da parte del processore.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Ogni porta di I/O possiede un indirizzo (univoco).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Quando il processore vuole comunicare con una determinata periferica esso produce il codice dell'indirizzo della porta di I/O al quale la periferica è connessa.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L'indirizzo (binario) della porta è fornito in input al decoder il quale attraverso il suo output abilita la corrispondente porta di I/O.</a:t>
            </a:r>
          </a:p>
        </p:txBody>
      </p:sp>
      <p:sp>
        <p:nvSpPr>
          <p:cNvPr id="64515" name="Segnaposto numero diapositiva 3">
            <a:extLst>
              <a:ext uri="{FF2B5EF4-FFF2-40B4-BE49-F238E27FC236}">
                <a16:creationId xmlns:a16="http://schemas.microsoft.com/office/drawing/2014/main" id="{A377890A-B9DE-E18E-4CF6-A655E59A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0A895E-3B7A-4051-A69D-0D52BA27DAC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it-IT" altLang="it-IT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2">
            <a:extLst>
              <a:ext uri="{FF2B5EF4-FFF2-40B4-BE49-F238E27FC236}">
                <a16:creationId xmlns:a16="http://schemas.microsoft.com/office/drawing/2014/main" id="{F827C1F6-DCA2-1242-7DEB-9ED744D0E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2550"/>
            <a:ext cx="99060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3">
            <a:extLst>
              <a:ext uri="{FF2B5EF4-FFF2-40B4-BE49-F238E27FC236}">
                <a16:creationId xmlns:a16="http://schemas.microsoft.com/office/drawing/2014/main" id="{DE8E461A-2015-1641-602C-DAD7463A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" y="188913"/>
            <a:ext cx="9740900" cy="685800"/>
          </a:xfrm>
          <a:noFill/>
        </p:spPr>
        <p:txBody>
          <a:bodyPr anchor="ctr"/>
          <a:lstStyle/>
          <a:p>
            <a:pPr algn="ctr" eaLnBrk="1" hangingPunct="1"/>
            <a:r>
              <a:rPr lang="it-IT" altLang="it-IT">
                <a:ea typeface="ＭＳ Ｐゴシック" panose="020B0600070205080204" pitchFamily="34" charset="-128"/>
              </a:rPr>
              <a:t>Esempio (semplificato) di utilizzo di Decoder (2/2)</a:t>
            </a:r>
          </a:p>
        </p:txBody>
      </p:sp>
      <p:sp>
        <p:nvSpPr>
          <p:cNvPr id="66563" name="Segnaposto numero diapositiva 3">
            <a:extLst>
              <a:ext uri="{FF2B5EF4-FFF2-40B4-BE49-F238E27FC236}">
                <a16:creationId xmlns:a16="http://schemas.microsoft.com/office/drawing/2014/main" id="{C1C10FB3-8E21-08BA-0065-297D9D58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5C18A2-FF6C-4509-B537-0350B0D85E1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it-IT" altLang="it-IT"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99D4F792-4544-B700-B102-E4630E78B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142875"/>
            <a:ext cx="842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Codificatore (Encoder)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E4511D70-10A0-2511-02A8-4C824CB61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7850" y="1219200"/>
            <a:ext cx="8420100" cy="411480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 codificatore è una macchina che riceve in ingresso una rappresentazione decodificata (linee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400">
                <a:ea typeface="ＭＳ Ｐゴシック" panose="020B0600070205080204" pitchFamily="34" charset="-128"/>
              </a:rPr>
              <a:t>, …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400">
                <a:ea typeface="ＭＳ Ｐゴシック" panose="020B0600070205080204" pitchFamily="34" charset="-128"/>
              </a:rPr>
              <a:t>) e fornisce in uscita la parola codice associata a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 se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=1 (più in generale se è attivo).</a:t>
            </a:r>
          </a:p>
        </p:txBody>
      </p:sp>
      <p:grpSp>
        <p:nvGrpSpPr>
          <p:cNvPr id="68611" name="Group 15">
            <a:extLst>
              <a:ext uri="{FF2B5EF4-FFF2-40B4-BE49-F238E27FC236}">
                <a16:creationId xmlns:a16="http://schemas.microsoft.com/office/drawing/2014/main" id="{DE36FD12-F112-BA9F-5A5B-32ECC5748FDC}"/>
              </a:ext>
            </a:extLst>
          </p:cNvPr>
          <p:cNvGrpSpPr>
            <a:grpSpLocks/>
          </p:cNvGrpSpPr>
          <p:nvPr/>
        </p:nvGrpSpPr>
        <p:grpSpPr bwMode="auto">
          <a:xfrm>
            <a:off x="2547938" y="3048000"/>
            <a:ext cx="4843462" cy="3048000"/>
            <a:chOff x="1560" y="2208"/>
            <a:chExt cx="3051" cy="1920"/>
          </a:xfrm>
        </p:grpSpPr>
        <p:sp>
          <p:nvSpPr>
            <p:cNvPr id="68613" name="AutoShape 4">
              <a:extLst>
                <a:ext uri="{FF2B5EF4-FFF2-40B4-BE49-F238E27FC236}">
                  <a16:creationId xmlns:a16="http://schemas.microsoft.com/office/drawing/2014/main" id="{DB3CDE93-BB02-B824-239F-2EC2A4EDB1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228" y="2736"/>
              <a:ext cx="168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4" name="Line 5">
              <a:extLst>
                <a:ext uri="{FF2B5EF4-FFF2-40B4-BE49-F238E27FC236}">
                  <a16:creationId xmlns:a16="http://schemas.microsoft.com/office/drawing/2014/main" id="{7A225C07-F1D0-9BA1-0BB6-D22510887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0" y="2352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5" name="Line 6">
              <a:extLst>
                <a:ext uri="{FF2B5EF4-FFF2-40B4-BE49-F238E27FC236}">
                  <a16:creationId xmlns:a16="http://schemas.microsoft.com/office/drawing/2014/main" id="{A324529E-FE9E-DD29-454E-D5EC542BC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0" y="3648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6" name="Line 7">
              <a:extLst>
                <a:ext uri="{FF2B5EF4-FFF2-40B4-BE49-F238E27FC236}">
                  <a16:creationId xmlns:a16="http://schemas.microsoft.com/office/drawing/2014/main" id="{B3872C54-68F9-3E48-C580-E2EABFB83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2736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7" name="Line 8">
              <a:extLst>
                <a:ext uri="{FF2B5EF4-FFF2-40B4-BE49-F238E27FC236}">
                  <a16:creationId xmlns:a16="http://schemas.microsoft.com/office/drawing/2014/main" id="{6543DA4C-6C43-F2F6-8540-4179840C4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360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8" name="Text Box 9">
              <a:extLst>
                <a:ext uri="{FF2B5EF4-FFF2-40B4-BE49-F238E27FC236}">
                  <a16:creationId xmlns:a16="http://schemas.microsoft.com/office/drawing/2014/main" id="{262749A1-EB1F-1D63-0EAD-369AF0C1A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49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o</a:t>
              </a:r>
            </a:p>
          </p:txBody>
        </p:sp>
        <p:sp>
          <p:nvSpPr>
            <p:cNvPr id="68619" name="Text Box 10">
              <a:extLst>
                <a:ext uri="{FF2B5EF4-FFF2-40B4-BE49-F238E27FC236}">
                  <a16:creationId xmlns:a16="http://schemas.microsoft.com/office/drawing/2014/main" id="{03D62971-ECEA-52DA-CB91-0985CBB10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216"/>
              <a:ext cx="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m-1</a:t>
              </a:r>
            </a:p>
          </p:txBody>
        </p:sp>
        <p:sp>
          <p:nvSpPr>
            <p:cNvPr id="68620" name="Text Box 11">
              <a:extLst>
                <a:ext uri="{FF2B5EF4-FFF2-40B4-BE49-F238E27FC236}">
                  <a16:creationId xmlns:a16="http://schemas.microsoft.com/office/drawing/2014/main" id="{B2B0FEB3-8768-DE37-0397-32D50F566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" y="220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68621" name="Text Box 12">
              <a:extLst>
                <a:ext uri="{FF2B5EF4-FFF2-40B4-BE49-F238E27FC236}">
                  <a16:creationId xmlns:a16="http://schemas.microsoft.com/office/drawing/2014/main" id="{9BD75C72-FE5A-0E3B-7AFD-F4FD389F7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504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68622" name="Line 13">
              <a:extLst>
                <a:ext uri="{FF2B5EF4-FFF2-40B4-BE49-F238E27FC236}">
                  <a16:creationId xmlns:a16="http://schemas.microsoft.com/office/drawing/2014/main" id="{C7B424EB-19CC-3CE6-2BC9-BAB872CD9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6" y="379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3" name="Text Box 14">
              <a:extLst>
                <a:ext uri="{FF2B5EF4-FFF2-40B4-BE49-F238E27FC236}">
                  <a16:creationId xmlns:a16="http://schemas.microsoft.com/office/drawing/2014/main" id="{F33B1049-DA7B-A5C8-69F6-2DF260850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9" y="384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endParaRPr lang="it-IT" altLang="it-IT" sz="2400" b="0"/>
            </a:p>
          </p:txBody>
        </p:sp>
      </p:grpSp>
      <p:sp>
        <p:nvSpPr>
          <p:cNvPr id="68612" name="Segnaposto numero diapositiva 15">
            <a:extLst>
              <a:ext uri="{FF2B5EF4-FFF2-40B4-BE49-F238E27FC236}">
                <a16:creationId xmlns:a16="http://schemas.microsoft.com/office/drawing/2014/main" id="{2F6DF8E3-EF48-D9AF-31C9-72EC3D19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680B79-ADD6-44A0-932B-6EB4F08BE67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it-IT" altLang="it-IT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4B96D4D8-6C0A-AAD8-57A5-055B0A473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D878FD9C-8293-2BAD-7B67-1AD60625E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7AD03F40-7494-C10F-B313-BBE7F2F1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6" name="Rectangle 5">
            <a:extLst>
              <a:ext uri="{FF2B5EF4-FFF2-40B4-BE49-F238E27FC236}">
                <a16:creationId xmlns:a16="http://schemas.microsoft.com/office/drawing/2014/main" id="{F78B152B-FCCD-B422-DD63-A1C4EEFC8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166813"/>
            <a:ext cx="8915400" cy="5045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Rete di codifica binaria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i="1">
                <a:ea typeface="ＭＳ Ｐゴシック" panose="020B0600070205080204" pitchFamily="34" charset="-128"/>
              </a:rPr>
              <a:t>n </a:t>
            </a:r>
            <a:r>
              <a:rPr lang="it-IT" altLang="it-IT" sz="1800">
                <a:ea typeface="ＭＳ Ｐゴシック" panose="020B0600070205080204" pitchFamily="34" charset="-128"/>
              </a:rPr>
              <a:t>ingressi (ciascuno associato ad uno degli oggetti da codificare),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i="1">
                <a:ea typeface="ＭＳ Ｐゴシック" panose="020B0600070205080204" pitchFamily="34" charset="-128"/>
              </a:rPr>
              <a:t>m </a:t>
            </a:r>
            <a:r>
              <a:rPr lang="it-IT" altLang="it-IT" sz="1800">
                <a:ea typeface="ＭＳ Ｐゴシック" panose="020B0600070205080204" pitchFamily="34" charset="-128"/>
              </a:rPr>
              <a:t>uscite binarie (sulle quali è rappresentata la parola codice)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un ingresso di abilitazione </a:t>
            </a:r>
            <a:r>
              <a:rPr lang="it-IT" altLang="it-IT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a </a:t>
            </a:r>
            <a:r>
              <a:rPr lang="it-IT" altLang="it-IT" sz="1800">
                <a:ea typeface="ＭＳ Ｐゴシック" panose="020B0600070205080204" pitchFamily="34" charset="-128"/>
              </a:rPr>
              <a:t>(opzionale). 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un'uscita ausiliaria </a:t>
            </a:r>
            <a:r>
              <a:rPr lang="it-IT" altLang="it-IT" sz="1800" i="1">
                <a:ea typeface="ＭＳ Ｐゴシック" panose="020B0600070205080204" pitchFamily="34" charset="-128"/>
              </a:rPr>
              <a:t>p </a:t>
            </a:r>
            <a:r>
              <a:rPr lang="it-IT" altLang="it-IT" sz="1800">
                <a:ea typeface="ＭＳ Ｐゴシック" panose="020B0600070205080204" pitchFamily="34" charset="-128"/>
              </a:rPr>
              <a:t>che segnala la condizione "assenza di informazione da codificatore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(opzionale).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400">
              <a:solidFill>
                <a:schemeClr val="accent1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Il comportamento di una rete è descritto da una tabella in cui ad ogni ingresso si associa la parola codice che lo rappresenta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1800">
              <a:ea typeface="ＭＳ Ｐゴシック" panose="020B0600070205080204" pitchFamily="34" charset="-128"/>
            </a:endParaRPr>
          </a:p>
        </p:txBody>
      </p:sp>
      <p:sp>
        <p:nvSpPr>
          <p:cNvPr id="69637" name="Rectangle 6">
            <a:extLst>
              <a:ext uri="{FF2B5EF4-FFF2-40B4-BE49-F238E27FC236}">
                <a16:creationId xmlns:a16="http://schemas.microsoft.com/office/drawing/2014/main" id="{EDC373FC-C2B9-A74B-C3CE-3D3ECEA6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8" name="Rectangle 7">
            <a:extLst>
              <a:ext uri="{FF2B5EF4-FFF2-40B4-BE49-F238E27FC236}">
                <a16:creationId xmlns:a16="http://schemas.microsoft.com/office/drawing/2014/main" id="{3E79461D-AF48-EB30-A46F-47B5118CF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06363"/>
            <a:ext cx="8915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Reti di codifica (codificatori) (1/3)</a:t>
            </a:r>
          </a:p>
        </p:txBody>
      </p:sp>
      <p:sp>
        <p:nvSpPr>
          <p:cNvPr id="69639" name="Rectangle 8">
            <a:extLst>
              <a:ext uri="{FF2B5EF4-FFF2-40B4-BE49-F238E27FC236}">
                <a16:creationId xmlns:a16="http://schemas.microsoft.com/office/drawing/2014/main" id="{9A10F194-5489-96A8-0268-4CC2CD1AA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40" name="Rectangle 55">
            <a:extLst>
              <a:ext uri="{FF2B5EF4-FFF2-40B4-BE49-F238E27FC236}">
                <a16:creationId xmlns:a16="http://schemas.microsoft.com/office/drawing/2014/main" id="{9D126D33-7FBF-3ACF-7F70-FC3A14EB1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41" name="Segnaposto numero diapositiva 9">
            <a:extLst>
              <a:ext uri="{FF2B5EF4-FFF2-40B4-BE49-F238E27FC236}">
                <a16:creationId xmlns:a16="http://schemas.microsoft.com/office/drawing/2014/main" id="{6A928D10-A31F-1E30-A496-2DE65D39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7A4A14-65EA-4F6D-9689-AA5348A32FB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egnaposto numero diapositiva 3">
            <a:extLst>
              <a:ext uri="{FF2B5EF4-FFF2-40B4-BE49-F238E27FC236}">
                <a16:creationId xmlns:a16="http://schemas.microsoft.com/office/drawing/2014/main" id="{E33B8521-F604-4AE1-805D-132A7CFC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17D07C3-D58E-4A0D-9680-60D9DF662897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407C0AE2-4DAD-5C79-F357-2ED72EBDC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di codifica (codificatori) (2/3)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92C4D20-5320-A273-D83A-56E0A5E4E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it-IT" altLang="it-IT" sz="2800">
                <a:ea typeface="ＭＳ Ｐゴシック" panose="020B0600070205080204" pitchFamily="34" charset="-128"/>
              </a:rPr>
              <a:t>Condizione di vincolo sugli ingressi</a:t>
            </a:r>
          </a:p>
          <a:p>
            <a:pPr lvl="1" eaLnBrk="1" hangingPunct="1"/>
            <a:endParaRPr lang="it-IT" altLang="it-IT" sz="28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it-IT" altLang="it-IT" sz="2800">
                <a:ea typeface="ＭＳ Ｐゴシック" panose="020B0600070205080204" pitchFamily="34" charset="-128"/>
              </a:rPr>
              <a:t>Uscita p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graphicFrame>
        <p:nvGraphicFramePr>
          <p:cNvPr id="70660" name="Object 5">
            <a:extLst>
              <a:ext uri="{FF2B5EF4-FFF2-40B4-BE49-F238E27FC236}">
                <a16:creationId xmlns:a16="http://schemas.microsoft.com/office/drawing/2014/main" id="{EA826EB0-999B-58A4-8879-8A361B8C8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2489200"/>
          <a:ext cx="195738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2489200"/>
                        <a:ext cx="195738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6">
            <a:extLst>
              <a:ext uri="{FF2B5EF4-FFF2-40B4-BE49-F238E27FC236}">
                <a16:creationId xmlns:a16="http://schemas.microsoft.com/office/drawing/2014/main" id="{7C45DECD-B36E-6488-5428-7A722C633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7088" y="1905000"/>
          <a:ext cx="27765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1905000"/>
                        <a:ext cx="27765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2" name="Picture 7">
            <a:extLst>
              <a:ext uri="{FF2B5EF4-FFF2-40B4-BE49-F238E27FC236}">
                <a16:creationId xmlns:a16="http://schemas.microsoft.com/office/drawing/2014/main" id="{E6F54E7F-7EF2-8D2C-8BE7-4376D09C2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11" b="21938"/>
          <a:stretch>
            <a:fillRect/>
          </a:stretch>
        </p:blipFill>
        <p:spPr bwMode="auto">
          <a:xfrm>
            <a:off x="550863" y="3397250"/>
            <a:ext cx="3865562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46">
            <a:extLst>
              <a:ext uri="{FF2B5EF4-FFF2-40B4-BE49-F238E27FC236}">
                <a16:creationId xmlns:a16="http://schemas.microsoft.com/office/drawing/2014/main" id="{76EC55A9-8949-1343-D704-4654F3E2F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4" b="20091"/>
          <a:stretch>
            <a:fillRect/>
          </a:stretch>
        </p:blipFill>
        <p:spPr bwMode="auto">
          <a:xfrm>
            <a:off x="4365625" y="3490913"/>
            <a:ext cx="4137025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4" name="AutoShape 47">
            <a:extLst>
              <a:ext uri="{FF2B5EF4-FFF2-40B4-BE49-F238E27FC236}">
                <a16:creationId xmlns:a16="http://schemas.microsoft.com/office/drawing/2014/main" id="{66A0182D-8E03-04AF-C801-067764AB5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2349500"/>
            <a:ext cx="3452812" cy="1054100"/>
          </a:xfrm>
          <a:prstGeom prst="wedgeEllipseCallout">
            <a:avLst>
              <a:gd name="adj1" fmla="val -44370"/>
              <a:gd name="adj2" fmla="val 1073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bg1"/>
                </a:solidFill>
              </a:rPr>
              <a:t>Ingressi 0-attivi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chemeClr val="bg1"/>
              </a:solidFill>
            </a:endParaRPr>
          </a:p>
        </p:txBody>
      </p:sp>
      <p:sp>
        <p:nvSpPr>
          <p:cNvPr id="70665" name="Rectangle 49">
            <a:extLst>
              <a:ext uri="{FF2B5EF4-FFF2-40B4-BE49-F238E27FC236}">
                <a16:creationId xmlns:a16="http://schemas.microsoft.com/office/drawing/2014/main" id="{A4718642-38FC-E3DB-D463-8E4DDB2C5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70666" name="Object 48">
            <a:extLst>
              <a:ext uri="{FF2B5EF4-FFF2-40B4-BE49-F238E27FC236}">
                <a16:creationId xmlns:a16="http://schemas.microsoft.com/office/drawing/2014/main" id="{35674296-6B25-76EA-2BD3-32D21B417B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0750" y="2806700"/>
          <a:ext cx="17859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DSMT4">
                  <p:embed/>
                </p:oleObj>
              </mc:Choice>
              <mc:Fallback>
                <p:oleObj name="Equation" r:id="rId7" imgW="0" imgH="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2806700"/>
                        <a:ext cx="17859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3">
            <a:extLst>
              <a:ext uri="{FF2B5EF4-FFF2-40B4-BE49-F238E27FC236}">
                <a16:creationId xmlns:a16="http://schemas.microsoft.com/office/drawing/2014/main" id="{4898EA8C-9127-7205-6015-619D3C0B6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70025"/>
            <a:ext cx="8899525" cy="46482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Codificatore 8-4-2-1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1682" name="Rectangle 4">
            <a:extLst>
              <a:ext uri="{FF2B5EF4-FFF2-40B4-BE49-F238E27FC236}">
                <a16:creationId xmlns:a16="http://schemas.microsoft.com/office/drawing/2014/main" id="{11363533-AF0A-2263-1463-86C3C8831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152400"/>
            <a:ext cx="8915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Reti di codifica (codificatori) (3/3)</a:t>
            </a: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CA0E6B95-BCBF-1C7D-0490-4807E8ECE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71684" name="Object 6">
            <a:extLst>
              <a:ext uri="{FF2B5EF4-FFF2-40B4-BE49-F238E27FC236}">
                <a16:creationId xmlns:a16="http://schemas.microsoft.com/office/drawing/2014/main" id="{13014750-3784-4081-7B08-ED066AAA4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038" y="2227263"/>
          <a:ext cx="43815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2227263"/>
                        <a:ext cx="4381500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685" name="Group 9">
            <a:extLst>
              <a:ext uri="{FF2B5EF4-FFF2-40B4-BE49-F238E27FC236}">
                <a16:creationId xmlns:a16="http://schemas.microsoft.com/office/drawing/2014/main" id="{611C3D7A-AD01-8CC3-111D-C946CC77EBAC}"/>
              </a:ext>
            </a:extLst>
          </p:cNvPr>
          <p:cNvGrpSpPr>
            <a:grpSpLocks/>
          </p:cNvGrpSpPr>
          <p:nvPr/>
        </p:nvGrpSpPr>
        <p:grpSpPr bwMode="auto">
          <a:xfrm>
            <a:off x="5738813" y="1470025"/>
            <a:ext cx="2997200" cy="3673475"/>
            <a:chOff x="687" y="2130"/>
            <a:chExt cx="1455" cy="2010"/>
          </a:xfrm>
        </p:grpSpPr>
        <p:grpSp>
          <p:nvGrpSpPr>
            <p:cNvPr id="71687" name="Group 10">
              <a:extLst>
                <a:ext uri="{FF2B5EF4-FFF2-40B4-BE49-F238E27FC236}">
                  <a16:creationId xmlns:a16="http://schemas.microsoft.com/office/drawing/2014/main" id="{8EE326A7-1E79-3E4E-FDC3-E357AA15E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" y="2162"/>
              <a:ext cx="1353" cy="1978"/>
              <a:chOff x="687" y="2162"/>
              <a:chExt cx="1353" cy="1978"/>
            </a:xfrm>
          </p:grpSpPr>
          <p:grpSp>
            <p:nvGrpSpPr>
              <p:cNvPr id="71689" name="Group 11">
                <a:extLst>
                  <a:ext uri="{FF2B5EF4-FFF2-40B4-BE49-F238E27FC236}">
                    <a16:creationId xmlns:a16="http://schemas.microsoft.com/office/drawing/2014/main" id="{E7768E1E-FCF9-2640-2D47-414D0B7D87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" y="2162"/>
                <a:ext cx="1353" cy="1978"/>
                <a:chOff x="687" y="2162"/>
                <a:chExt cx="1353" cy="1978"/>
              </a:xfrm>
            </p:grpSpPr>
            <p:graphicFrame>
              <p:nvGraphicFramePr>
                <p:cNvPr id="71691" name="Object 12">
                  <a:extLst>
                    <a:ext uri="{FF2B5EF4-FFF2-40B4-BE49-F238E27FC236}">
                      <a16:creationId xmlns:a16="http://schemas.microsoft.com/office/drawing/2014/main" id="{7887E89A-904D-B340-BFD6-9263FBC10E8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7" y="2162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Picture" r:id="rId5" imgW="0" imgH="0" progId="Word.Picture.8">
                        <p:embed/>
                      </p:oleObj>
                    </mc:Choice>
                    <mc:Fallback>
                      <p:oleObj name="Picture" r:id="rId5" imgW="0" imgH="0" progId="Word.Picture.8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7" y="2162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692" name="Line 13">
                  <a:extLst>
                    <a:ext uri="{FF2B5EF4-FFF2-40B4-BE49-F238E27FC236}">
                      <a16:creationId xmlns:a16="http://schemas.microsoft.com/office/drawing/2014/main" id="{3848818F-E7E6-B9C0-4D97-078ADF6627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2" y="2168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690" name="Line 14">
                <a:extLst>
                  <a:ext uri="{FF2B5EF4-FFF2-40B4-BE49-F238E27FC236}">
                    <a16:creationId xmlns:a16="http://schemas.microsoft.com/office/drawing/2014/main" id="{41B68861-9FFB-DF07-D1B9-C0745CF23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688" name="Rectangle 15">
              <a:extLst>
                <a:ext uri="{FF2B5EF4-FFF2-40B4-BE49-F238E27FC236}">
                  <a16:creationId xmlns:a16="http://schemas.microsoft.com/office/drawing/2014/main" id="{23725BEE-DFA2-C6EA-D291-10AC0F5B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71686" name="Segnaposto numero diapositiva 12">
            <a:extLst>
              <a:ext uri="{FF2B5EF4-FFF2-40B4-BE49-F238E27FC236}">
                <a16:creationId xmlns:a16="http://schemas.microsoft.com/office/drawing/2014/main" id="{279F9915-183C-0701-B086-DBF6F6BC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F8A097-6EC3-441F-9F55-C30CFAA103E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egnaposto numero diapositiva 5">
            <a:extLst>
              <a:ext uri="{FF2B5EF4-FFF2-40B4-BE49-F238E27FC236}">
                <a16:creationId xmlns:a16="http://schemas.microsoft.com/office/drawing/2014/main" id="{B243708B-FC38-ED88-782B-8377B7134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98340C-C61E-4C3B-93E7-EE94152DAEA7}" type="slidenum">
              <a:rPr lang="it-IT" altLang="it-IT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1D1751F2-2892-0A39-CE30-00A6ABF48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563" y="361950"/>
            <a:ext cx="8915400" cy="3524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di codifica a priorità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B02C3E7-F9EF-A28C-DB17-E7690154C2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2586038"/>
            <a:ext cx="5653088" cy="3300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Rete a priorità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n </a:t>
            </a:r>
            <a:r>
              <a:rPr lang="it-IT" altLang="it-IT" sz="2000">
                <a:ea typeface="ＭＳ Ｐゴシック" panose="020B0600070205080204" pitchFamily="34" charset="-128"/>
              </a:rPr>
              <a:t>ingressi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n </a:t>
            </a:r>
            <a:r>
              <a:rPr lang="it-IT" altLang="it-IT" sz="2000">
                <a:ea typeface="ＭＳ Ｐゴシック" panose="020B0600070205080204" pitchFamily="34" charset="-128"/>
              </a:rPr>
              <a:t>uscite corrispondenti </a:t>
            </a:r>
            <a:r>
              <a:rPr lang="it-IT" altLang="it-IT" sz="2000" i="1">
                <a:ea typeface="ＭＳ Ｐゴシック" panose="020B0600070205080204" pitchFamily="34" charset="-128"/>
              </a:rPr>
              <a:t>F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, che rappresentano gli ingressi del codificatore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fra gli ingressi è definita una priorità, ad esempio: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 per fissare le idee </a:t>
            </a:r>
            <a:br>
              <a:rPr lang="it-IT" altLang="it-IT" sz="1800">
                <a:ea typeface="ＭＳ Ｐゴシック" panose="020B0600070205080204" pitchFamily="34" charset="-128"/>
              </a:rPr>
            </a:br>
            <a:r>
              <a:rPr lang="it-IT" altLang="it-IT" sz="1800" i="1">
                <a:ea typeface="ＭＳ Ｐゴシック" panose="020B0600070205080204" pitchFamily="34" charset="-128"/>
              </a:rPr>
              <a:t>«X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è prioritario su </a:t>
            </a:r>
            <a:r>
              <a:rPr lang="it-IT" altLang="it-IT" sz="1800" i="1"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i </a:t>
            </a:r>
            <a:r>
              <a:rPr lang="it-IT" altLang="it-IT" sz="1800">
                <a:ea typeface="ＭＳ Ｐゴシック" panose="020B0600070205080204" pitchFamily="34" charset="-128"/>
              </a:rPr>
              <a:t>&lt; </a:t>
            </a:r>
            <a:r>
              <a:rPr lang="it-IT" altLang="it-IT" sz="1800" i="1">
                <a:ea typeface="ＭＳ Ｐゴシック" panose="020B0600070205080204" pitchFamily="34" charset="-128"/>
              </a:rPr>
              <a:t>j»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L'uscita </a:t>
            </a:r>
            <a:r>
              <a:rPr lang="it-IT" altLang="it-IT" sz="2000" i="1">
                <a:ea typeface="ＭＳ Ｐゴシック" panose="020B0600070205080204" pitchFamily="34" charset="-128"/>
              </a:rPr>
              <a:t>Y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sz="2000">
                <a:ea typeface="ＭＳ Ｐゴシック" panose="020B0600070205080204" pitchFamily="34" charset="-128"/>
              </a:rPr>
              <a:t>è alta se e solo se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è alto e tutti gli altri ingressi prioritari su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sono bassi.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  <p:graphicFrame>
        <p:nvGraphicFramePr>
          <p:cNvPr id="73732" name="Rectangle 9">
            <a:extLst>
              <a:ext uri="{FF2B5EF4-FFF2-40B4-BE49-F238E27FC236}">
                <a16:creationId xmlns:a16="http://schemas.microsoft.com/office/drawing/2014/main" id="{D5B54940-9039-6F03-BC96-19BC568BFEEE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327650" y="1314450"/>
          <a:ext cx="3789363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Rectangle 9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1314450"/>
                        <a:ext cx="3789363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Rectangle 5">
            <a:extLst>
              <a:ext uri="{FF2B5EF4-FFF2-40B4-BE49-F238E27FC236}">
                <a16:creationId xmlns:a16="http://schemas.microsoft.com/office/drawing/2014/main" id="{2DB029B0-9401-526A-EE91-2E166EF84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73734" name="Rectangle 8">
            <a:extLst>
              <a:ext uri="{FF2B5EF4-FFF2-40B4-BE49-F238E27FC236}">
                <a16:creationId xmlns:a16="http://schemas.microsoft.com/office/drawing/2014/main" id="{61EC077A-B212-E8AE-D171-2073FFC1B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422400"/>
            <a:ext cx="89154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sz="2000" b="0"/>
              <a:t>Un codificatore può essere preceduto da una </a:t>
            </a:r>
            <a:r>
              <a:rPr lang="ja-JP" altLang="it-IT" sz="2000" b="0"/>
              <a:t>“</a:t>
            </a:r>
            <a:r>
              <a:rPr lang="it-IT" altLang="ja-JP" sz="2000" b="0"/>
              <a:t>rete a priorità</a:t>
            </a:r>
            <a:r>
              <a:rPr lang="ja-JP" altLang="it-IT" sz="2000" b="0"/>
              <a:t>”</a:t>
            </a:r>
            <a:r>
              <a:rPr lang="it-IT" altLang="ja-JP" sz="2000" b="0"/>
              <a:t> che, in caso di più ingressi contemporaneamente alti, filtra quello con priorità assegnata maggiore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endParaRPr lang="it-IT" altLang="it-IT" sz="2000" b="0"/>
          </a:p>
        </p:txBody>
      </p:sp>
      <p:graphicFrame>
        <p:nvGraphicFramePr>
          <p:cNvPr id="73735" name="Object 11">
            <a:extLst>
              <a:ext uri="{FF2B5EF4-FFF2-40B4-BE49-F238E27FC236}">
                <a16:creationId xmlns:a16="http://schemas.microsoft.com/office/drawing/2014/main" id="{88627AA4-F600-7ED0-FE24-28E1B4E89C6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30963" y="2470150"/>
          <a:ext cx="2992437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2470150"/>
                        <a:ext cx="2992437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AB1D59A2-1BB5-09F3-8348-E5668B3B1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67A165AB-7B47-AED2-F818-D4C765F09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Multiplexer e Demultiplexer</a:t>
            </a:r>
          </a:p>
        </p:txBody>
      </p:sp>
      <p:sp>
        <p:nvSpPr>
          <p:cNvPr id="74755" name="Segnaposto numero diapositiva 3">
            <a:extLst>
              <a:ext uri="{FF2B5EF4-FFF2-40B4-BE49-F238E27FC236}">
                <a16:creationId xmlns:a16="http://schemas.microsoft.com/office/drawing/2014/main" id="{7BE4F2D6-65A1-945A-4F7F-E1EA6E48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9CF438-8BCD-42B5-A0E6-155CA7CC9B3D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it-IT" altLang="it-IT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C1E31823-00AB-641D-0BF7-5ACAA9B86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60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lineare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7A6C8D07-36A0-6B57-F8DF-B21762ABF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50" y="1000125"/>
            <a:ext cx="5295900" cy="5181600"/>
          </a:xfrm>
        </p:spPr>
        <p:txBody>
          <a:bodyPr/>
          <a:lstStyle/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 </a:t>
            </a:r>
            <a:r>
              <a:rPr lang="it-IT" altLang="it-IT" sz="2400" i="1">
                <a:ea typeface="ＭＳ Ｐゴシック" panose="020B0600070205080204" pitchFamily="34" charset="-128"/>
              </a:rPr>
              <a:t>Multiplexer lineare (</a:t>
            </a:r>
            <a:r>
              <a:rPr lang="it-IT" altLang="it-IT" sz="2400">
                <a:ea typeface="ＭＳ Ｐゴシック" panose="020B0600070205080204" pitchFamily="34" charset="-128"/>
              </a:rPr>
              <a:t>ML) è una macchina con: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 ingressi-dati (A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,…,A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00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 segnali binari di selezione (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,…, 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000">
                <a:ea typeface="ＭＳ Ｐゴシック" panose="020B0600070205080204" pitchFamily="34" charset="-128"/>
              </a:rPr>
              <a:t>), </a:t>
            </a:r>
            <a:r>
              <a:rPr lang="it-IT" altLang="it-IT" sz="2000" b="1">
                <a:ea typeface="ＭＳ Ｐゴシック" panose="020B0600070205080204" pitchFamily="34" charset="-128"/>
              </a:rPr>
              <a:t>dei quali al più uno è attivo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una uscita-dati B, che assume </a:t>
            </a:r>
          </a:p>
          <a:p>
            <a:pPr lvl="2" eaLnBrk="1" hangingPunct="1"/>
            <a:r>
              <a:rPr lang="it-IT" altLang="it-IT" sz="2000">
                <a:ea typeface="ＭＳ Ｐゴシック" panose="020B0600070205080204" pitchFamily="34" charset="-128"/>
              </a:rPr>
              <a:t> valore 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se è attivo 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</a:p>
          <a:p>
            <a:pPr lvl="2" eaLnBrk="1" hangingPunct="1"/>
            <a:r>
              <a:rPr lang="it-IT" altLang="it-IT" sz="2000">
                <a:ea typeface="ＭＳ Ｐゴシック" panose="020B0600070205080204" pitchFamily="34" charset="-128"/>
              </a:rPr>
              <a:t> neutro se nessuna delle selezioni è attiva 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una macchina che viene utilizzata quando più linee devono essere convogliate verso un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unica linea di uscita (bus)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75779" name="Group 4">
            <a:extLst>
              <a:ext uri="{FF2B5EF4-FFF2-40B4-BE49-F238E27FC236}">
                <a16:creationId xmlns:a16="http://schemas.microsoft.com/office/drawing/2014/main" id="{37591F1F-3B22-64F6-EED6-154FA90EBEFB}"/>
              </a:ext>
            </a:extLst>
          </p:cNvPr>
          <p:cNvGrpSpPr>
            <a:grpSpLocks/>
          </p:cNvGrpSpPr>
          <p:nvPr/>
        </p:nvGrpSpPr>
        <p:grpSpPr bwMode="auto">
          <a:xfrm>
            <a:off x="4881563" y="1285875"/>
            <a:ext cx="4594225" cy="3810000"/>
            <a:chOff x="3024" y="1152"/>
            <a:chExt cx="2894" cy="2400"/>
          </a:xfrm>
        </p:grpSpPr>
        <p:sp>
          <p:nvSpPr>
            <p:cNvPr id="75781" name="Rectangle 5">
              <a:extLst>
                <a:ext uri="{FF2B5EF4-FFF2-40B4-BE49-F238E27FC236}">
                  <a16:creationId xmlns:a16="http://schemas.microsoft.com/office/drawing/2014/main" id="{D443858C-A91B-2E0C-4E82-4B44702B2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152"/>
              <a:ext cx="1004" cy="158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2" name="AutoShape 6">
              <a:extLst>
                <a:ext uri="{FF2B5EF4-FFF2-40B4-BE49-F238E27FC236}">
                  <a16:creationId xmlns:a16="http://schemas.microsoft.com/office/drawing/2014/main" id="{7A7BAAB9-CE24-B18F-841B-77F8238A6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1394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3" name="AutoShape 7">
              <a:extLst>
                <a:ext uri="{FF2B5EF4-FFF2-40B4-BE49-F238E27FC236}">
                  <a16:creationId xmlns:a16="http://schemas.microsoft.com/office/drawing/2014/main" id="{326D11DD-3901-1139-0704-3A6CD4C1B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2265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4" name="AutoShape 8">
              <a:extLst>
                <a:ext uri="{FF2B5EF4-FFF2-40B4-BE49-F238E27FC236}">
                  <a16:creationId xmlns:a16="http://schemas.microsoft.com/office/drawing/2014/main" id="{FAE08012-FF73-E3CD-E261-2CE6B989A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804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5" name="Line 9">
              <a:extLst>
                <a:ext uri="{FF2B5EF4-FFF2-40B4-BE49-F238E27FC236}">
                  <a16:creationId xmlns:a16="http://schemas.microsoft.com/office/drawing/2014/main" id="{3209F254-10AF-E36F-9E8A-5B4F726C5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7" y="2749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6" name="Line 10">
              <a:extLst>
                <a:ext uri="{FF2B5EF4-FFF2-40B4-BE49-F238E27FC236}">
                  <a16:creationId xmlns:a16="http://schemas.microsoft.com/office/drawing/2014/main" id="{F86B3AF0-FB68-1ADF-7318-4538F1A48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2770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7" name="Text Box 11">
              <a:extLst>
                <a:ext uri="{FF2B5EF4-FFF2-40B4-BE49-F238E27FC236}">
                  <a16:creationId xmlns:a16="http://schemas.microsoft.com/office/drawing/2014/main" id="{A9B41FE3-498E-1955-7EB1-0BA9FCC9E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" y="1735"/>
              <a:ext cx="94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MUXL</a:t>
              </a:r>
            </a:p>
          </p:txBody>
        </p:sp>
        <p:sp>
          <p:nvSpPr>
            <p:cNvPr id="75788" name="Text Box 12">
              <a:extLst>
                <a:ext uri="{FF2B5EF4-FFF2-40B4-BE49-F238E27FC236}">
                  <a16:creationId xmlns:a16="http://schemas.microsoft.com/office/drawing/2014/main" id="{3D34A733-3978-F354-F14D-3B441BBE4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317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89" name="Text Box 13">
              <a:extLst>
                <a:ext uri="{FF2B5EF4-FFF2-40B4-BE49-F238E27FC236}">
                  <a16:creationId xmlns:a16="http://schemas.microsoft.com/office/drawing/2014/main" id="{8B50D97E-5A5C-84B2-50E1-C024B87E9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247"/>
              <a:ext cx="699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90" name="Text Box 14">
              <a:extLst>
                <a:ext uri="{FF2B5EF4-FFF2-40B4-BE49-F238E27FC236}">
                  <a16:creationId xmlns:a16="http://schemas.microsoft.com/office/drawing/2014/main" id="{557A2077-87A7-EE38-EAD0-6BDF13DDE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1440"/>
              <a:ext cx="49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5791" name="Text Box 15">
              <a:extLst>
                <a:ext uri="{FF2B5EF4-FFF2-40B4-BE49-F238E27FC236}">
                  <a16:creationId xmlns:a16="http://schemas.microsoft.com/office/drawing/2014/main" id="{5EEDDEF5-1776-045B-F052-0978FC651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3101"/>
              <a:ext cx="492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92" name="Text Box 16">
              <a:extLst>
                <a:ext uri="{FF2B5EF4-FFF2-40B4-BE49-F238E27FC236}">
                  <a16:creationId xmlns:a16="http://schemas.microsoft.com/office/drawing/2014/main" id="{5FD061DF-41C8-9161-B3F3-C76941D87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" y="3111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</p:grpSp>
      <p:sp>
        <p:nvSpPr>
          <p:cNvPr id="75780" name="Segnaposto numero diapositiva 16">
            <a:extLst>
              <a:ext uri="{FF2B5EF4-FFF2-40B4-BE49-F238E27FC236}">
                <a16:creationId xmlns:a16="http://schemas.microsoft.com/office/drawing/2014/main" id="{5A20CD2D-8CD9-C00A-01CE-661FD5B4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1E6B57-908B-4FEE-93C6-76EB1C08FDCA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it-IT" altLang="it-IT"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392B9285-35E5-5537-95ED-687FBBFB6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60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binario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42CBB792-B137-885E-1F88-E17951771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025" y="1219200"/>
            <a:ext cx="4456113" cy="5181600"/>
          </a:xfrm>
        </p:spPr>
        <p:txBody>
          <a:bodyPr/>
          <a:lstStyle/>
          <a:p>
            <a:pPr algn="just" eaLnBrk="1" hangingPunct="1"/>
            <a:r>
              <a:rPr lang="it-IT" altLang="it-IT">
                <a:ea typeface="ＭＳ Ｐゴシック" panose="020B0600070205080204" pitchFamily="34" charset="-128"/>
              </a:rPr>
              <a:t>Se i dati A</a:t>
            </a:r>
            <a:r>
              <a:rPr lang="it-IT" altLang="it-IT" baseline="-30000">
                <a:ea typeface="ＭＳ Ｐゴシック" panose="020B0600070205080204" pitchFamily="34" charset="-128"/>
              </a:rPr>
              <a:t>i </a:t>
            </a:r>
            <a:r>
              <a:rPr lang="it-IT" altLang="it-IT">
                <a:ea typeface="ＭＳ Ｐゴシック" panose="020B0600070205080204" pitchFamily="34" charset="-128"/>
              </a:rPr>
              <a:t> e B sono quelli che viaggiano su un bus …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si parla di multiplexer o demultiplexer </a:t>
            </a:r>
          </a:p>
          <a:p>
            <a:pPr algn="just" eaLnBrk="1" hangingPunct="1"/>
            <a:r>
              <a:rPr lang="it-IT" altLang="it-IT">
                <a:ea typeface="ＭＳ Ｐゴシック" panose="020B0600070205080204" pitchFamily="34" charset="-128"/>
              </a:rPr>
              <a:t>Se i dati A</a:t>
            </a:r>
            <a:r>
              <a:rPr lang="it-IT" altLang="it-IT" baseline="-30000">
                <a:ea typeface="ＭＳ Ｐゴシック" panose="020B0600070205080204" pitchFamily="34" charset="-128"/>
              </a:rPr>
              <a:t>i </a:t>
            </a:r>
            <a:r>
              <a:rPr lang="it-IT" altLang="it-IT">
                <a:ea typeface="ＭＳ Ｐゴシック" panose="020B0600070205080204" pitchFamily="34" charset="-128"/>
              </a:rPr>
              <a:t> e B sono semplici bit …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si parla di multiplexer o demultiplexer binario</a:t>
            </a:r>
          </a:p>
        </p:txBody>
      </p:sp>
      <p:grpSp>
        <p:nvGrpSpPr>
          <p:cNvPr id="76803" name="Group 4">
            <a:extLst>
              <a:ext uri="{FF2B5EF4-FFF2-40B4-BE49-F238E27FC236}">
                <a16:creationId xmlns:a16="http://schemas.microsoft.com/office/drawing/2014/main" id="{D13AED86-3FBC-1FB2-07E5-E2556E0F094C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1428750"/>
            <a:ext cx="4648200" cy="3810000"/>
            <a:chOff x="3024" y="1200"/>
            <a:chExt cx="2928" cy="2400"/>
          </a:xfrm>
        </p:grpSpPr>
        <p:sp>
          <p:nvSpPr>
            <p:cNvPr id="76806" name="Rectangle 5">
              <a:extLst>
                <a:ext uri="{FF2B5EF4-FFF2-40B4-BE49-F238E27FC236}">
                  <a16:creationId xmlns:a16="http://schemas.microsoft.com/office/drawing/2014/main" id="{BA422389-CA45-288B-9702-8B0BED29D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200"/>
              <a:ext cx="1004" cy="158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6807" name="Line 6">
              <a:extLst>
                <a:ext uri="{FF2B5EF4-FFF2-40B4-BE49-F238E27FC236}">
                  <a16:creationId xmlns:a16="http://schemas.microsoft.com/office/drawing/2014/main" id="{24501C4C-F3D9-0468-EA0E-20FBC20B9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7" y="2797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8" name="Line 7">
              <a:extLst>
                <a:ext uri="{FF2B5EF4-FFF2-40B4-BE49-F238E27FC236}">
                  <a16:creationId xmlns:a16="http://schemas.microsoft.com/office/drawing/2014/main" id="{167ACC6A-CC3B-C805-AA44-39492D959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2818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9" name="Text Box 8">
              <a:extLst>
                <a:ext uri="{FF2B5EF4-FFF2-40B4-BE49-F238E27FC236}">
                  <a16:creationId xmlns:a16="http://schemas.microsoft.com/office/drawing/2014/main" id="{D89C4182-9D57-3789-93C8-6428048A5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" y="1783"/>
              <a:ext cx="94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MUXL</a:t>
              </a:r>
            </a:p>
          </p:txBody>
        </p:sp>
        <p:sp>
          <p:nvSpPr>
            <p:cNvPr id="76810" name="Text Box 9">
              <a:extLst>
                <a:ext uri="{FF2B5EF4-FFF2-40B4-BE49-F238E27FC236}">
                  <a16:creationId xmlns:a16="http://schemas.microsoft.com/office/drawing/2014/main" id="{C55A58AF-B199-C970-0268-7B6505928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365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1" name="Text Box 10">
              <a:extLst>
                <a:ext uri="{FF2B5EF4-FFF2-40B4-BE49-F238E27FC236}">
                  <a16:creationId xmlns:a16="http://schemas.microsoft.com/office/drawing/2014/main" id="{B31A6250-2D44-597A-09FC-EBE0D4177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295"/>
              <a:ext cx="699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2" name="Text Box 11">
              <a:extLst>
                <a:ext uri="{FF2B5EF4-FFF2-40B4-BE49-F238E27FC236}">
                  <a16:creationId xmlns:a16="http://schemas.microsoft.com/office/drawing/2014/main" id="{09C81809-7099-4F03-0DCA-59DA7E69F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1488"/>
              <a:ext cx="49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6813" name="Text Box 12">
              <a:extLst>
                <a:ext uri="{FF2B5EF4-FFF2-40B4-BE49-F238E27FC236}">
                  <a16:creationId xmlns:a16="http://schemas.microsoft.com/office/drawing/2014/main" id="{12E00C2A-64F0-7ED0-1F4D-C07B31D51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3149"/>
              <a:ext cx="492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4" name="Text Box 13">
              <a:extLst>
                <a:ext uri="{FF2B5EF4-FFF2-40B4-BE49-F238E27FC236}">
                  <a16:creationId xmlns:a16="http://schemas.microsoft.com/office/drawing/2014/main" id="{B6E909DD-D7E4-214E-191A-3350ABBF8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" y="3159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5" name="Line 14">
              <a:extLst>
                <a:ext uri="{FF2B5EF4-FFF2-40B4-BE49-F238E27FC236}">
                  <a16:creationId xmlns:a16="http://schemas.microsoft.com/office/drawing/2014/main" id="{23A0BE52-CCB7-6956-8ED8-10402ECA5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584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6" name="Line 15">
              <a:extLst>
                <a:ext uri="{FF2B5EF4-FFF2-40B4-BE49-F238E27FC236}">
                  <a16:creationId xmlns:a16="http://schemas.microsoft.com/office/drawing/2014/main" id="{8D8182B1-AD1D-4EB4-A7C3-F33092FBC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48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7" name="Line 16">
              <a:extLst>
                <a:ext uri="{FF2B5EF4-FFF2-40B4-BE49-F238E27FC236}">
                  <a16:creationId xmlns:a16="http://schemas.microsoft.com/office/drawing/2014/main" id="{54339F6C-B0C9-DA3A-42E5-CE63FAD20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2016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76804" name="Picture 8">
            <a:extLst>
              <a:ext uri="{FF2B5EF4-FFF2-40B4-BE49-F238E27FC236}">
                <a16:creationId xmlns:a16="http://schemas.microsoft.com/office/drawing/2014/main" id="{E0E38B0C-3876-0F16-6848-4BAA0882B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5000625"/>
            <a:ext cx="20732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Segnaposto numero diapositiva 17">
            <a:extLst>
              <a:ext uri="{FF2B5EF4-FFF2-40B4-BE49-F238E27FC236}">
                <a16:creationId xmlns:a16="http://schemas.microsoft.com/office/drawing/2014/main" id="{9FCEDE5D-96B0-5F76-DAE4-CC741DD8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D70EBB-6733-4003-A35A-63037DC6F7CB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A19A4796-8A8D-B053-BB54-CA2D9D1BC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28600"/>
            <a:ext cx="842010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Indirizzabile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A0BCC529-A6E2-95D8-C92B-F6FEDD12E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7850" y="1219200"/>
            <a:ext cx="8420100" cy="16002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un Multiplexer Lineare i cui segnali di abilitazione sono collegati con le uscite di un decodificatore 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grpSp>
        <p:nvGrpSpPr>
          <p:cNvPr id="77827" name="Group 20">
            <a:extLst>
              <a:ext uri="{FF2B5EF4-FFF2-40B4-BE49-F238E27FC236}">
                <a16:creationId xmlns:a16="http://schemas.microsoft.com/office/drawing/2014/main" id="{E40A042E-75D1-984E-4A65-43D4F577F2F4}"/>
              </a:ext>
            </a:extLst>
          </p:cNvPr>
          <p:cNvGrpSpPr>
            <a:grpSpLocks/>
          </p:cNvGrpSpPr>
          <p:nvPr/>
        </p:nvGrpSpPr>
        <p:grpSpPr bwMode="auto">
          <a:xfrm>
            <a:off x="1733550" y="2286000"/>
            <a:ext cx="6165850" cy="3670300"/>
            <a:chOff x="1092" y="1776"/>
            <a:chExt cx="3884" cy="2312"/>
          </a:xfrm>
        </p:grpSpPr>
        <p:sp>
          <p:nvSpPr>
            <p:cNvPr id="77830" name="Text Box 4">
              <a:extLst>
                <a:ext uri="{FF2B5EF4-FFF2-40B4-BE49-F238E27FC236}">
                  <a16:creationId xmlns:a16="http://schemas.microsoft.com/office/drawing/2014/main" id="{4C643E31-0EA1-993D-74DF-C8D56FE6E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" y="192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77831" name="Text Box 5">
              <a:extLst>
                <a:ext uri="{FF2B5EF4-FFF2-40B4-BE49-F238E27FC236}">
                  <a16:creationId xmlns:a16="http://schemas.microsoft.com/office/drawing/2014/main" id="{845DE858-2554-9CE2-07CC-C648A74CE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49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77832" name="Text Box 6">
              <a:extLst>
                <a:ext uri="{FF2B5EF4-FFF2-40B4-BE49-F238E27FC236}">
                  <a16:creationId xmlns:a16="http://schemas.microsoft.com/office/drawing/2014/main" id="{3C017606-BDFC-4F4D-BB4A-9C0216B78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2" y="240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77833" name="Rectangle 7">
              <a:extLst>
                <a:ext uri="{FF2B5EF4-FFF2-40B4-BE49-F238E27FC236}">
                  <a16:creationId xmlns:a16="http://schemas.microsoft.com/office/drawing/2014/main" id="{58CE2214-87E3-0C1F-139D-6C2E4439F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968"/>
              <a:ext cx="1008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4" name="AutoShape 8">
              <a:extLst>
                <a:ext uri="{FF2B5EF4-FFF2-40B4-BE49-F238E27FC236}">
                  <a16:creationId xmlns:a16="http://schemas.microsoft.com/office/drawing/2014/main" id="{DC3B2C85-BA38-9992-DCD4-131F62AAF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11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5" name="AutoShape 9">
              <a:extLst>
                <a:ext uri="{FF2B5EF4-FFF2-40B4-BE49-F238E27FC236}">
                  <a16:creationId xmlns:a16="http://schemas.microsoft.com/office/drawing/2014/main" id="{FEDCC81E-F92C-1F6C-A939-260D7217B7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550" y="3292"/>
              <a:ext cx="1106" cy="27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2 w 21600"/>
                <a:gd name="T13" fmla="*/ 4490 h 21600"/>
                <a:gd name="T14" fmla="*/ 17108 w 21600"/>
                <a:gd name="T15" fmla="*/ 171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6" name="Line 10">
              <a:extLst>
                <a:ext uri="{FF2B5EF4-FFF2-40B4-BE49-F238E27FC236}">
                  <a16:creationId xmlns:a16="http://schemas.microsoft.com/office/drawing/2014/main" id="{309F0CB6-1D25-D052-0778-99C5FA122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7" name="Line 11">
              <a:extLst>
                <a:ext uri="{FF2B5EF4-FFF2-40B4-BE49-F238E27FC236}">
                  <a16:creationId xmlns:a16="http://schemas.microsoft.com/office/drawing/2014/main" id="{A1DD18CC-89B2-56F7-276B-D028FD180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8" name="AutoShape 12">
              <a:extLst>
                <a:ext uri="{FF2B5EF4-FFF2-40B4-BE49-F238E27FC236}">
                  <a16:creationId xmlns:a16="http://schemas.microsoft.com/office/drawing/2014/main" id="{7D7E5055-FF0B-72F3-69BF-221B8EB792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876" y="3777"/>
              <a:ext cx="488" cy="134"/>
            </a:xfrm>
            <a:prstGeom prst="rightArrow">
              <a:avLst>
                <a:gd name="adj1" fmla="val 50000"/>
                <a:gd name="adj2" fmla="val 9104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9" name="Text Box 13">
              <a:extLst>
                <a:ext uri="{FF2B5EF4-FFF2-40B4-BE49-F238E27FC236}">
                  <a16:creationId xmlns:a16="http://schemas.microsoft.com/office/drawing/2014/main" id="{58C77EC1-2F5D-E579-FB95-051C1614D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2976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0</a:t>
              </a:r>
              <a:endParaRPr lang="it-IT" altLang="it-IT" sz="2400" b="0" baseline="-25000"/>
            </a:p>
          </p:txBody>
        </p:sp>
        <p:sp>
          <p:nvSpPr>
            <p:cNvPr id="77840" name="Text Box 14">
              <a:extLst>
                <a:ext uri="{FF2B5EF4-FFF2-40B4-BE49-F238E27FC236}">
                  <a16:creationId xmlns:a16="http://schemas.microsoft.com/office/drawing/2014/main" id="{ABB2EE76-C625-DB98-CE32-F9BB459D6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97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N-1</a:t>
              </a:r>
              <a:endParaRPr lang="it-IT" altLang="it-IT" sz="2400" b="0" baseline="-25000"/>
            </a:p>
          </p:txBody>
        </p:sp>
        <p:sp>
          <p:nvSpPr>
            <p:cNvPr id="77841" name="Text Box 15">
              <a:extLst>
                <a:ext uri="{FF2B5EF4-FFF2-40B4-BE49-F238E27FC236}">
                  <a16:creationId xmlns:a16="http://schemas.microsoft.com/office/drawing/2014/main" id="{D9D4FBFC-5879-7164-7315-B3AABC9B6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" y="2256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MUX</a:t>
              </a:r>
            </a:p>
          </p:txBody>
        </p:sp>
        <p:sp>
          <p:nvSpPr>
            <p:cNvPr id="77842" name="Rectangle 16">
              <a:extLst>
                <a:ext uri="{FF2B5EF4-FFF2-40B4-BE49-F238E27FC236}">
                  <a16:creationId xmlns:a16="http://schemas.microsoft.com/office/drawing/2014/main" id="{8DF6FB4C-E278-65B0-302D-8CD4BF8C6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776"/>
              <a:ext cx="2444" cy="1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3" name="AutoShape 17">
              <a:extLst>
                <a:ext uri="{FF2B5EF4-FFF2-40B4-BE49-F238E27FC236}">
                  <a16:creationId xmlns:a16="http://schemas.microsoft.com/office/drawing/2014/main" id="{1B487886-D729-B7B2-B009-639112857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640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4" name="AutoShape 18">
              <a:extLst>
                <a:ext uri="{FF2B5EF4-FFF2-40B4-BE49-F238E27FC236}">
                  <a16:creationId xmlns:a16="http://schemas.microsoft.com/office/drawing/2014/main" id="{CE721A34-742A-C544-00BF-CC61C9506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35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5" name="Text Box 19">
              <a:extLst>
                <a:ext uri="{FF2B5EF4-FFF2-40B4-BE49-F238E27FC236}">
                  <a16:creationId xmlns:a16="http://schemas.microsoft.com/office/drawing/2014/main" id="{0934BB79-0929-3EEE-9DC8-BA671F386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37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</a:p>
          </p:txBody>
        </p:sp>
      </p:grpSp>
      <p:pic>
        <p:nvPicPr>
          <p:cNvPr id="77828" name="Picture 10">
            <a:extLst>
              <a:ext uri="{FF2B5EF4-FFF2-40B4-BE49-F238E27FC236}">
                <a16:creationId xmlns:a16="http://schemas.microsoft.com/office/drawing/2014/main" id="{14FE30DA-D5F6-8EF6-8132-433D3AA5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5470525"/>
            <a:ext cx="38354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Segnaposto numero diapositiva 21">
            <a:extLst>
              <a:ext uri="{FF2B5EF4-FFF2-40B4-BE49-F238E27FC236}">
                <a16:creationId xmlns:a16="http://schemas.microsoft.com/office/drawing/2014/main" id="{0ABF25D5-D075-418B-D123-9C5687EF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C44FBE-E177-46E1-BFB1-72757059292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it-IT" altLang="it-IT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egnaposto numero diapositiva 3">
            <a:extLst>
              <a:ext uri="{FF2B5EF4-FFF2-40B4-BE49-F238E27FC236}">
                <a16:creationId xmlns:a16="http://schemas.microsoft.com/office/drawing/2014/main" id="{265BA065-50DF-3D11-230F-D96238CD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6B69573-F916-4A79-BE2C-CB9B151608C3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7C7A92BC-7081-E44A-DCFC-A149321A8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Multiplexer composti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DF013991-B84A-6FEE-5599-26C0147ED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638" y="1314450"/>
            <a:ext cx="9466262" cy="481647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Realizzazione di un MUX16 attraverso MUX4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8852" name="Rectangle 7">
            <a:extLst>
              <a:ext uri="{FF2B5EF4-FFF2-40B4-BE49-F238E27FC236}">
                <a16:creationId xmlns:a16="http://schemas.microsoft.com/office/drawing/2014/main" id="{63C70F06-698A-C74C-DBA7-EB4AED4BC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pic>
        <p:nvPicPr>
          <p:cNvPr id="78853" name="Picture 13">
            <a:extLst>
              <a:ext uri="{FF2B5EF4-FFF2-40B4-BE49-F238E27FC236}">
                <a16:creationId xmlns:a16="http://schemas.microsoft.com/office/drawing/2014/main" id="{558F5602-72F4-FA77-7B8B-F81C327FF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4" r="38313"/>
          <a:stretch>
            <a:fillRect/>
          </a:stretch>
        </p:blipFill>
        <p:spPr bwMode="auto">
          <a:xfrm>
            <a:off x="439738" y="1855788"/>
            <a:ext cx="5383212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4" name="Text Box 15">
            <a:extLst>
              <a:ext uri="{FF2B5EF4-FFF2-40B4-BE49-F238E27FC236}">
                <a16:creationId xmlns:a16="http://schemas.microsoft.com/office/drawing/2014/main" id="{6088E6F9-7852-1071-F28C-AA1F3FBB5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2276475"/>
            <a:ext cx="28067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>
                <a:solidFill>
                  <a:schemeClr val="tx2"/>
                </a:solidFill>
              </a:rPr>
              <a:t>Un MUX16 può essere realizzato attraverso 5 MUX4.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>
                <a:solidFill>
                  <a:schemeClr val="tx2"/>
                </a:solidFill>
              </a:rPr>
              <a:t>Due degli ingressi di selezione consentono di scegliere il mux da leggere mentre gli altri 2 consentono di selezionare l</a:t>
            </a:r>
            <a:r>
              <a:rPr lang="ja-JP" altLang="it-IT" sz="1800" b="0">
                <a:solidFill>
                  <a:schemeClr val="tx2"/>
                </a:solidFill>
              </a:rPr>
              <a:t>’</a:t>
            </a:r>
            <a:r>
              <a:rPr lang="it-IT" altLang="ja-JP" sz="1800" b="0">
                <a:solidFill>
                  <a:schemeClr val="tx2"/>
                </a:solidFill>
              </a:rPr>
              <a:t>ingresso per ciascun mux.</a:t>
            </a:r>
            <a:endParaRPr lang="it-IT" altLang="it-IT" sz="1800" b="0">
              <a:solidFill>
                <a:schemeClr val="tx2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F4D887-BBEA-4F85-BB8A-D3FC2968321F}"/>
              </a:ext>
            </a:extLst>
          </p:cNvPr>
          <p:cNvSpPr/>
          <p:nvPr/>
        </p:nvSpPr>
        <p:spPr bwMode="auto">
          <a:xfrm>
            <a:off x="914400" y="1643063"/>
            <a:ext cx="681038" cy="1214437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A8A98D11-F6DE-DB87-0EE0-DBF36D080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8" y="3238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Demultiplexer lineare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2E031430-016C-58C3-0C8B-57F63A980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" y="1343025"/>
            <a:ext cx="6013450" cy="5181600"/>
          </a:xfrm>
        </p:spPr>
        <p:txBody>
          <a:bodyPr/>
          <a:lstStyle/>
          <a:p>
            <a:pPr eaLnBrk="1" hangingPunct="1"/>
            <a:r>
              <a:rPr lang="it-IT" altLang="it-IT" i="1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</a:rPr>
              <a:t>Un </a:t>
            </a:r>
            <a:r>
              <a:rPr lang="it-IT" altLang="it-IT" i="1">
                <a:ea typeface="ＭＳ Ｐゴシック" panose="020B0600070205080204" pitchFamily="34" charset="-128"/>
              </a:rPr>
              <a:t>Demultiplexer Lineare</a:t>
            </a:r>
            <a:r>
              <a:rPr lang="it-IT" altLang="it-IT">
                <a:ea typeface="ＭＳ Ｐゴシック" panose="020B0600070205080204" pitchFamily="34" charset="-128"/>
              </a:rPr>
              <a:t> (DL) è una macchina con: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1 ingresso-dati 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n segnali binari di selezione (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,…, 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), dei quali al più uno è attivo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n uscite-dati (A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,…,A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), con </a:t>
            </a:r>
          </a:p>
          <a:p>
            <a:pPr lvl="2" eaLnBrk="1" hangingPunct="1"/>
            <a:r>
              <a:rPr lang="it-IT" altLang="it-IT">
                <a:ea typeface="ＭＳ Ｐゴシック" panose="020B0600070205080204" pitchFamily="34" charset="-128"/>
              </a:rPr>
              <a:t> A</a:t>
            </a:r>
            <a:r>
              <a:rPr lang="it-IT" altLang="it-IT" baseline="-25000">
                <a:ea typeface="ＭＳ Ｐゴシック" panose="020B0600070205080204" pitchFamily="34" charset="-128"/>
              </a:rPr>
              <a:t>i</a:t>
            </a:r>
            <a:r>
              <a:rPr lang="it-IT" altLang="it-IT">
                <a:ea typeface="ＭＳ Ｐゴシック" panose="020B0600070205080204" pitchFamily="34" charset="-128"/>
              </a:rPr>
              <a:t>=B se è attivo 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i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lvl="2" eaLnBrk="1" hangingPunct="1"/>
            <a:r>
              <a:rPr lang="it-IT" altLang="it-IT">
                <a:ea typeface="ＭＳ Ｐゴシック" panose="020B0600070205080204" pitchFamily="34" charset="-128"/>
              </a:rPr>
              <a:t> neutro se nessuna delle selezioni è attiva </a:t>
            </a:r>
          </a:p>
        </p:txBody>
      </p:sp>
      <p:grpSp>
        <p:nvGrpSpPr>
          <p:cNvPr id="79875" name="Group 4">
            <a:extLst>
              <a:ext uri="{FF2B5EF4-FFF2-40B4-BE49-F238E27FC236}">
                <a16:creationId xmlns:a16="http://schemas.microsoft.com/office/drawing/2014/main" id="{4D0BD604-C98F-F366-18EB-90EDBDE2432A}"/>
              </a:ext>
            </a:extLst>
          </p:cNvPr>
          <p:cNvGrpSpPr>
            <a:grpSpLocks/>
          </p:cNvGrpSpPr>
          <p:nvPr/>
        </p:nvGrpSpPr>
        <p:grpSpPr bwMode="auto">
          <a:xfrm>
            <a:off x="5357813" y="2724150"/>
            <a:ext cx="4419600" cy="3513138"/>
            <a:chOff x="2832" y="1291"/>
            <a:chExt cx="2784" cy="2213"/>
          </a:xfrm>
        </p:grpSpPr>
        <p:sp>
          <p:nvSpPr>
            <p:cNvPr id="79877" name="Text Box 5">
              <a:extLst>
                <a:ext uri="{FF2B5EF4-FFF2-40B4-BE49-F238E27FC236}">
                  <a16:creationId xmlns:a16="http://schemas.microsoft.com/office/drawing/2014/main" id="{A852FAD6-C0F2-3ECD-6D83-320D4067C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01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n-1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78" name="AutoShape 6">
              <a:extLst>
                <a:ext uri="{FF2B5EF4-FFF2-40B4-BE49-F238E27FC236}">
                  <a16:creationId xmlns:a16="http://schemas.microsoft.com/office/drawing/2014/main" id="{87BE6A10-4C1E-1339-6272-0C9BEA9A5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3" y="2365"/>
              <a:ext cx="723" cy="277"/>
            </a:xfrm>
            <a:prstGeom prst="rightArrow">
              <a:avLst>
                <a:gd name="adj1" fmla="val 50000"/>
                <a:gd name="adj2" fmla="val 65253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79" name="Rectangle 7">
              <a:extLst>
                <a:ext uri="{FF2B5EF4-FFF2-40B4-BE49-F238E27FC236}">
                  <a16:creationId xmlns:a16="http://schemas.microsoft.com/office/drawing/2014/main" id="{9D3B57EF-AF97-B099-8A29-6ED14C4E6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1384"/>
              <a:ext cx="1229" cy="139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0" name="AutoShape 8">
              <a:extLst>
                <a:ext uri="{FF2B5EF4-FFF2-40B4-BE49-F238E27FC236}">
                  <a16:creationId xmlns:a16="http://schemas.microsoft.com/office/drawing/2014/main" id="{B2F9C169-B751-0D39-59BF-23DD55D99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597"/>
              <a:ext cx="722" cy="277"/>
            </a:xfrm>
            <a:prstGeom prst="rightArrow">
              <a:avLst>
                <a:gd name="adj1" fmla="val 50000"/>
                <a:gd name="adj2" fmla="val 65162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1" name="AutoShape 9">
              <a:extLst>
                <a:ext uri="{FF2B5EF4-FFF2-40B4-BE49-F238E27FC236}">
                  <a16:creationId xmlns:a16="http://schemas.microsoft.com/office/drawing/2014/main" id="{4C6A2E55-DCE6-74FB-D967-262E6095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959"/>
              <a:ext cx="722" cy="276"/>
            </a:xfrm>
            <a:prstGeom prst="rightArrow">
              <a:avLst>
                <a:gd name="adj1" fmla="val 50000"/>
                <a:gd name="adj2" fmla="val 65399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2" name="Line 10">
              <a:extLst>
                <a:ext uri="{FF2B5EF4-FFF2-40B4-BE49-F238E27FC236}">
                  <a16:creationId xmlns:a16="http://schemas.microsoft.com/office/drawing/2014/main" id="{30D221EB-70BE-5F51-0EB7-DB6BD7576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2791"/>
              <a:ext cx="0" cy="4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3" name="Line 11">
              <a:extLst>
                <a:ext uri="{FF2B5EF4-FFF2-40B4-BE49-F238E27FC236}">
                  <a16:creationId xmlns:a16="http://schemas.microsoft.com/office/drawing/2014/main" id="{8705C98A-50D4-A66F-B37A-16EA8AABE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0" y="2810"/>
              <a:ext cx="0" cy="4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4" name="Text Box 12">
              <a:extLst>
                <a:ext uri="{FF2B5EF4-FFF2-40B4-BE49-F238E27FC236}">
                  <a16:creationId xmlns:a16="http://schemas.microsoft.com/office/drawing/2014/main" id="{3184CCB9-EE83-F8B5-E6B7-5DC7A62F4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1904"/>
              <a:ext cx="1156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600">
                  <a:latin typeface="Arial" panose="020B0604020202020204" pitchFamily="34" charset="0"/>
                </a:rPr>
                <a:t>DMUXL</a:t>
              </a:r>
            </a:p>
          </p:txBody>
        </p:sp>
        <p:sp>
          <p:nvSpPr>
            <p:cNvPr id="79885" name="Text Box 13">
              <a:extLst>
                <a:ext uri="{FF2B5EF4-FFF2-40B4-BE49-F238E27FC236}">
                  <a16:creationId xmlns:a16="http://schemas.microsoft.com/office/drawing/2014/main" id="{35D197B6-61D1-58B3-5249-AB6E097A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1291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0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86" name="Text Box 14">
              <a:extLst>
                <a:ext uri="{FF2B5EF4-FFF2-40B4-BE49-F238E27FC236}">
                  <a16:creationId xmlns:a16="http://schemas.microsoft.com/office/drawing/2014/main" id="{316AAD88-38FC-758C-F833-727D39EBA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70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9887" name="Text Box 15">
              <a:extLst>
                <a:ext uri="{FF2B5EF4-FFF2-40B4-BE49-F238E27FC236}">
                  <a16:creationId xmlns:a16="http://schemas.microsoft.com/office/drawing/2014/main" id="{AB786BC4-C8AD-50DF-2037-48C0B6B7A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310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Symbol" panose="05050102010706020507" pitchFamily="18" charset="2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0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88" name="Text Box 16">
              <a:extLst>
                <a:ext uri="{FF2B5EF4-FFF2-40B4-BE49-F238E27FC236}">
                  <a16:creationId xmlns:a16="http://schemas.microsoft.com/office/drawing/2014/main" id="{A2CC924B-5139-4E88-0961-569F6FBEF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3115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Symbol" panose="05050102010706020507" pitchFamily="18" charset="2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n-1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</p:grpSp>
      <p:sp>
        <p:nvSpPr>
          <p:cNvPr id="79876" name="Segnaposto numero diapositiva 16">
            <a:extLst>
              <a:ext uri="{FF2B5EF4-FFF2-40B4-BE49-F238E27FC236}">
                <a16:creationId xmlns:a16="http://schemas.microsoft.com/office/drawing/2014/main" id="{9EAEBE33-EC08-ACE9-B912-2C79234C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6BDF13-6E55-4F63-8447-51A17B521C7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it-IT" altLang="it-IT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7A018463-C100-68B9-C67D-A641967C3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28600"/>
            <a:ext cx="8420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800" b="0">
                <a:latin typeface="Book Antiqua" panose="02040602050305030304" pitchFamily="18" charset="0"/>
              </a:rPr>
              <a:t>Demultiplexer Indirizzabile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17ACB0BC-7B9F-5292-B347-E070B1133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1219200"/>
            <a:ext cx="858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it-IT" altLang="it-IT" b="0"/>
              <a:t>E</a:t>
            </a:r>
            <a:r>
              <a:rPr lang="ja-JP" altLang="it-IT" b="0"/>
              <a:t>’</a:t>
            </a:r>
            <a:r>
              <a:rPr lang="it-IT" altLang="ja-JP" b="0"/>
              <a:t> un Demultiplexer Lineare i cui segnali di abilitazione sono collegati con le uscite di un decodificatore</a:t>
            </a:r>
            <a:r>
              <a:rPr lang="it-IT" altLang="ja-JP" sz="3200" b="0"/>
              <a:t> </a:t>
            </a:r>
            <a:endParaRPr lang="it-IT" altLang="it-IT" sz="3200" b="0"/>
          </a:p>
        </p:txBody>
      </p:sp>
      <p:grpSp>
        <p:nvGrpSpPr>
          <p:cNvPr id="80899" name="Group 20">
            <a:extLst>
              <a:ext uri="{FF2B5EF4-FFF2-40B4-BE49-F238E27FC236}">
                <a16:creationId xmlns:a16="http://schemas.microsoft.com/office/drawing/2014/main" id="{06D4DB0F-937C-53A4-5F80-6A129B7548B5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2357438"/>
            <a:ext cx="6169025" cy="3670300"/>
            <a:chOff x="1248" y="1776"/>
            <a:chExt cx="3886" cy="2312"/>
          </a:xfrm>
        </p:grpSpPr>
        <p:sp>
          <p:nvSpPr>
            <p:cNvPr id="80902" name="Text Box 4">
              <a:extLst>
                <a:ext uri="{FF2B5EF4-FFF2-40B4-BE49-F238E27FC236}">
                  <a16:creationId xmlns:a16="http://schemas.microsoft.com/office/drawing/2014/main" id="{61EC7083-2C58-1F23-19D0-00F49F27B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" y="1824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80903" name="Text Box 5">
              <a:extLst>
                <a:ext uri="{FF2B5EF4-FFF2-40B4-BE49-F238E27FC236}">
                  <a16:creationId xmlns:a16="http://schemas.microsoft.com/office/drawing/2014/main" id="{9218EB68-125C-DFB3-3750-3280644BF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" y="2688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80904" name="Text Box 6">
              <a:extLst>
                <a:ext uri="{FF2B5EF4-FFF2-40B4-BE49-F238E27FC236}">
                  <a16:creationId xmlns:a16="http://schemas.microsoft.com/office/drawing/2014/main" id="{3E18079A-F121-53B7-3F3C-6487902EC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5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80905" name="Rectangle 7">
              <a:extLst>
                <a:ext uri="{FF2B5EF4-FFF2-40B4-BE49-F238E27FC236}">
                  <a16:creationId xmlns:a16="http://schemas.microsoft.com/office/drawing/2014/main" id="{0F75FCAE-F244-40B2-38B9-F9478B1C2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968"/>
              <a:ext cx="1008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06" name="AutoShape 8">
              <a:extLst>
                <a:ext uri="{FF2B5EF4-FFF2-40B4-BE49-F238E27FC236}">
                  <a16:creationId xmlns:a16="http://schemas.microsoft.com/office/drawing/2014/main" id="{3CD0EB11-1349-8BFE-51F9-05D4512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688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07" name="AutoShape 9">
              <a:extLst>
                <a:ext uri="{FF2B5EF4-FFF2-40B4-BE49-F238E27FC236}">
                  <a16:creationId xmlns:a16="http://schemas.microsoft.com/office/drawing/2014/main" id="{1505C4FA-681E-A496-EB06-BD031E16AC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550" y="3292"/>
              <a:ext cx="1106" cy="27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2 w 21600"/>
                <a:gd name="T13" fmla="*/ 4490 h 21600"/>
                <a:gd name="T14" fmla="*/ 17108 w 21600"/>
                <a:gd name="T15" fmla="*/ 171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8" name="Line 10">
              <a:extLst>
                <a:ext uri="{FF2B5EF4-FFF2-40B4-BE49-F238E27FC236}">
                  <a16:creationId xmlns:a16="http://schemas.microsoft.com/office/drawing/2014/main" id="{B8FD10DD-E84E-1EB7-C162-8E6A55919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09" name="Line 11">
              <a:extLst>
                <a:ext uri="{FF2B5EF4-FFF2-40B4-BE49-F238E27FC236}">
                  <a16:creationId xmlns:a16="http://schemas.microsoft.com/office/drawing/2014/main" id="{AE0666EC-0043-D4AC-FBAD-768B3588C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10" name="AutoShape 12">
              <a:extLst>
                <a:ext uri="{FF2B5EF4-FFF2-40B4-BE49-F238E27FC236}">
                  <a16:creationId xmlns:a16="http://schemas.microsoft.com/office/drawing/2014/main" id="{AC903AD1-43BE-397F-F692-0356D4E24E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876" y="3777"/>
              <a:ext cx="488" cy="134"/>
            </a:xfrm>
            <a:prstGeom prst="rightArrow">
              <a:avLst>
                <a:gd name="adj1" fmla="val 50000"/>
                <a:gd name="adj2" fmla="val 9104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1" name="Text Box 13">
              <a:extLst>
                <a:ext uri="{FF2B5EF4-FFF2-40B4-BE49-F238E27FC236}">
                  <a16:creationId xmlns:a16="http://schemas.microsoft.com/office/drawing/2014/main" id="{851414F9-580F-36DA-C64E-4E63B51D5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2976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0</a:t>
              </a:r>
              <a:endParaRPr lang="it-IT" altLang="it-IT" sz="2400" b="0" baseline="-25000"/>
            </a:p>
          </p:txBody>
        </p:sp>
        <p:sp>
          <p:nvSpPr>
            <p:cNvPr id="80912" name="Text Box 14">
              <a:extLst>
                <a:ext uri="{FF2B5EF4-FFF2-40B4-BE49-F238E27FC236}">
                  <a16:creationId xmlns:a16="http://schemas.microsoft.com/office/drawing/2014/main" id="{BD4E77FC-08E4-1C27-D284-0ED5C102B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97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N-1</a:t>
              </a:r>
              <a:endParaRPr lang="it-IT" altLang="it-IT" sz="2400" b="0" baseline="-25000"/>
            </a:p>
          </p:txBody>
        </p:sp>
        <p:sp>
          <p:nvSpPr>
            <p:cNvPr id="80913" name="Text Box 15">
              <a:extLst>
                <a:ext uri="{FF2B5EF4-FFF2-40B4-BE49-F238E27FC236}">
                  <a16:creationId xmlns:a16="http://schemas.microsoft.com/office/drawing/2014/main" id="{3994F7EA-0A0B-B33F-EF79-30521571B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" y="2256"/>
              <a:ext cx="8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DEMUX</a:t>
              </a:r>
            </a:p>
          </p:txBody>
        </p:sp>
        <p:sp>
          <p:nvSpPr>
            <p:cNvPr id="80914" name="Rectangle 16">
              <a:extLst>
                <a:ext uri="{FF2B5EF4-FFF2-40B4-BE49-F238E27FC236}">
                  <a16:creationId xmlns:a16="http://schemas.microsoft.com/office/drawing/2014/main" id="{8894BBF5-2B14-D03D-634F-BF7534B83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776"/>
              <a:ext cx="2444" cy="1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5" name="AutoShape 17">
              <a:extLst>
                <a:ext uri="{FF2B5EF4-FFF2-40B4-BE49-F238E27FC236}">
                  <a16:creationId xmlns:a16="http://schemas.microsoft.com/office/drawing/2014/main" id="{AA34CA7F-29F5-E42D-41AB-66F108F3E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35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6" name="AutoShape 18">
              <a:extLst>
                <a:ext uri="{FF2B5EF4-FFF2-40B4-BE49-F238E27FC236}">
                  <a16:creationId xmlns:a16="http://schemas.microsoft.com/office/drawing/2014/main" id="{AF0366C2-CBC9-2AD8-BB6C-908CBD2A4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064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7" name="Text Box 19">
              <a:extLst>
                <a:ext uri="{FF2B5EF4-FFF2-40B4-BE49-F238E27FC236}">
                  <a16:creationId xmlns:a16="http://schemas.microsoft.com/office/drawing/2014/main" id="{143D59B9-D9A9-3919-3AE4-36421206B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37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</a:p>
          </p:txBody>
        </p:sp>
      </p:grpSp>
      <p:pic>
        <p:nvPicPr>
          <p:cNvPr id="80900" name="Picture 9">
            <a:extLst>
              <a:ext uri="{FF2B5EF4-FFF2-40B4-BE49-F238E27FC236}">
                <a16:creationId xmlns:a16="http://schemas.microsoft.com/office/drawing/2014/main" id="{DF718456-D405-382E-DBF3-64C41252C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5572125"/>
            <a:ext cx="4657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Segnaposto numero diapositiva 21">
            <a:extLst>
              <a:ext uri="{FF2B5EF4-FFF2-40B4-BE49-F238E27FC236}">
                <a16:creationId xmlns:a16="http://schemas.microsoft.com/office/drawing/2014/main" id="{DE188B35-D6C8-D071-C21E-F22F3517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9A9E94-06C3-4A74-8C62-4B129ED9D61E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it-IT" altLang="it-IT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olo 1">
            <a:extLst>
              <a:ext uri="{FF2B5EF4-FFF2-40B4-BE49-F238E27FC236}">
                <a16:creationId xmlns:a16="http://schemas.microsoft.com/office/drawing/2014/main" id="{72800C0E-0E80-5DC3-08DB-09FF7D2AB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altLang="it-IT" cap="none">
                <a:ea typeface="ＭＳ Ｐゴシック" panose="020B0600070205080204" pitchFamily="34" charset="-128"/>
              </a:rPr>
              <a:t>XOR ED EQ</a:t>
            </a:r>
          </a:p>
        </p:txBody>
      </p:sp>
      <p:sp>
        <p:nvSpPr>
          <p:cNvPr id="81922" name="Segnaposto testo 2">
            <a:extLst>
              <a:ext uri="{FF2B5EF4-FFF2-40B4-BE49-F238E27FC236}">
                <a16:creationId xmlns:a16="http://schemas.microsoft.com/office/drawing/2014/main" id="{6A3919B7-7137-4B92-F43D-210240AEC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81923" name="Segnaposto numero diapositiva 3">
            <a:extLst>
              <a:ext uri="{FF2B5EF4-FFF2-40B4-BE49-F238E27FC236}">
                <a16:creationId xmlns:a16="http://schemas.microsoft.com/office/drawing/2014/main" id="{6EA84C9B-F68E-A703-A66E-99DFEAEE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CDEE149-9B54-4AEA-8536-6F32D2A4FE0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7DCEC321-ABF7-3946-5D41-4967542D7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Funzioni XOR ed EQ (1/3)</a:t>
            </a:r>
            <a:endParaRPr lang="it-IT" altLang="it-IT" sz="2500" b="1">
              <a:ea typeface="ＭＳ Ｐゴシック" panose="020B0600070205080204" pitchFamily="34" charset="-128"/>
            </a:endParaRPr>
          </a:p>
        </p:txBody>
      </p:sp>
      <p:sp>
        <p:nvSpPr>
          <p:cNvPr id="82946" name="Rectangle 102">
            <a:extLst>
              <a:ext uri="{FF2B5EF4-FFF2-40B4-BE49-F238E27FC236}">
                <a16:creationId xmlns:a16="http://schemas.microsoft.com/office/drawing/2014/main" id="{3F191140-BB3B-F143-6244-A725FA0EB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6DA9BE24-3BB4-C9A7-3FCA-EA70F990B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4379913"/>
          <a:ext cx="8728075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4379913"/>
                        <a:ext cx="8728075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Rectangle 103">
            <a:extLst>
              <a:ext uri="{FF2B5EF4-FFF2-40B4-BE49-F238E27FC236}">
                <a16:creationId xmlns:a16="http://schemas.microsoft.com/office/drawing/2014/main" id="{9CD5A9DD-2162-F697-C10F-7A78496C3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13" tIns="47306" rIns="94613" bIns="47306"/>
          <a:lstStyle>
            <a:lvl1pPr marL="354013" indent="-354013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68350" indent="-295275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81100" indent="-23495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r>
              <a:rPr lang="it-IT" altLang="it-IT" sz="2200"/>
              <a:t>Le funzioni XOR (    ) ed EQ (</a:t>
            </a:r>
            <a:r>
              <a:rPr lang="it-IT" altLang="it-IT" sz="2200">
                <a:cs typeface="Arial" panose="020B0604020202020204" pitchFamily="34" charset="0"/>
              </a:rPr>
              <a:t>≡) assumono una notevole rilevanza dal punto di vista pratico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it-IT" altLang="it-IT" sz="2200">
                <a:cs typeface="Arial" panose="020B0604020202020204" pitchFamily="34" charset="0"/>
              </a:rPr>
              <a:t>XOR: rappresenta la cifra-somma delle cifre-addendi x ed y, </a:t>
            </a:r>
            <a:r>
              <a:rPr lang="it-IT" altLang="it-IT" sz="2200" i="1">
                <a:cs typeface="Arial" panose="020B0604020202020204" pitchFamily="34" charset="0"/>
              </a:rPr>
              <a:t>somma modulo 2.</a:t>
            </a:r>
          </a:p>
          <a:p>
            <a:pPr lvl="2"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</a:pPr>
            <a:r>
              <a:rPr lang="it-IT" altLang="it-IT" sz="2200">
                <a:cs typeface="Arial" panose="020B0604020202020204" pitchFamily="34" charset="0"/>
              </a:rPr>
              <a:t>Assume particolare importanza in aritmetica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it-IT" altLang="it-IT" sz="2200">
                <a:cs typeface="Arial" panose="020B0604020202020204" pitchFamily="34" charset="0"/>
              </a:rPr>
              <a:t>EQ: consente di generare una variabile che indica se due bit sono uguali o diversi.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200">
              <a:cs typeface="Arial" panose="020B0604020202020204" pitchFamily="34" charset="0"/>
            </a:endParaRP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</p:txBody>
      </p:sp>
      <p:graphicFrame>
        <p:nvGraphicFramePr>
          <p:cNvPr id="82949" name="Object 4">
            <a:extLst>
              <a:ext uri="{FF2B5EF4-FFF2-40B4-BE49-F238E27FC236}">
                <a16:creationId xmlns:a16="http://schemas.microsoft.com/office/drawing/2014/main" id="{3843A9C4-D8FE-108A-D42E-5D9FB45101D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0" y="1381125"/>
          <a:ext cx="4476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81125"/>
                        <a:ext cx="4476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Segnaposto numero diapositiva 6">
            <a:extLst>
              <a:ext uri="{FF2B5EF4-FFF2-40B4-BE49-F238E27FC236}">
                <a16:creationId xmlns:a16="http://schemas.microsoft.com/office/drawing/2014/main" id="{051999C1-5B72-5B36-49B5-9F56F5DA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7D596A-A305-4D15-B14A-2041CE91829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egnaposto numero diapositiva 3">
            <a:extLst>
              <a:ext uri="{FF2B5EF4-FFF2-40B4-BE49-F238E27FC236}">
                <a16:creationId xmlns:a16="http://schemas.microsoft.com/office/drawing/2014/main" id="{814A16EC-1A58-AB1A-F4F6-9503DF8D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0BD0AB7-A7A9-4145-897E-9195B362CB4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it-IT" altLang="it-IT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764E8E1-D501-21FD-F864-674FA8AF9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Funzioni Xor e Eq</a:t>
            </a:r>
          </a:p>
        </p:txBody>
      </p:sp>
      <p:sp>
        <p:nvSpPr>
          <p:cNvPr id="83971" name="Rectangle 5">
            <a:extLst>
              <a:ext uri="{FF2B5EF4-FFF2-40B4-BE49-F238E27FC236}">
                <a16:creationId xmlns:a16="http://schemas.microsoft.com/office/drawing/2014/main" id="{2AD2369F-C9C0-2E82-BFB8-8E61EF249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770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A4C8B383-DCD1-873F-4805-CF455AF67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1263" y="2667000"/>
          <a:ext cx="62372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2667000"/>
                        <a:ext cx="6237287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Text Box 6">
            <a:extLst>
              <a:ext uri="{FF2B5EF4-FFF2-40B4-BE49-F238E27FC236}">
                <a16:creationId xmlns:a16="http://schemas.microsoft.com/office/drawing/2014/main" id="{F5B683EA-EE14-9F99-658E-31AACD150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1827213"/>
            <a:ext cx="3449637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somma modulo 2</a:t>
            </a:r>
          </a:p>
        </p:txBody>
      </p:sp>
      <p:sp>
        <p:nvSpPr>
          <p:cNvPr id="83974" name="Text Box 7">
            <a:extLst>
              <a:ext uri="{FF2B5EF4-FFF2-40B4-BE49-F238E27FC236}">
                <a16:creationId xmlns:a16="http://schemas.microsoft.com/office/drawing/2014/main" id="{DF47CDBE-80CA-B8A5-4440-FFC650587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4572000"/>
            <a:ext cx="344805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eguaglianza</a:t>
            </a:r>
          </a:p>
        </p:txBody>
      </p:sp>
      <p:sp>
        <p:nvSpPr>
          <p:cNvPr id="83975" name="Line 8">
            <a:extLst>
              <a:ext uri="{FF2B5EF4-FFF2-40B4-BE49-F238E27FC236}">
                <a16:creationId xmlns:a16="http://schemas.microsoft.com/office/drawing/2014/main" id="{CD744C58-AE9E-957F-553B-8B88772D12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2325" y="2286000"/>
            <a:ext cx="1393825" cy="3048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3123" tIns="48424" rIns="93123" bIns="48424">
            <a:spAutoFit/>
          </a:bodyPr>
          <a:lstStyle/>
          <a:p>
            <a:endParaRPr lang="en-US"/>
          </a:p>
        </p:txBody>
      </p:sp>
      <p:sp>
        <p:nvSpPr>
          <p:cNvPr id="83976" name="Line 9">
            <a:extLst>
              <a:ext uri="{FF2B5EF4-FFF2-40B4-BE49-F238E27FC236}">
                <a16:creationId xmlns:a16="http://schemas.microsoft.com/office/drawing/2014/main" id="{9145F16D-E9E7-72C0-931D-B0521C0B54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6938" y="3963988"/>
            <a:ext cx="365125" cy="5318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3123" tIns="48424" rIns="93123" bIns="48424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42">
            <a:extLst>
              <a:ext uri="{FF2B5EF4-FFF2-40B4-BE49-F238E27FC236}">
                <a16:creationId xmlns:a16="http://schemas.microsoft.com/office/drawing/2014/main" id="{A6CDA6CD-2AC4-CC24-2A61-AF2D1D191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13" tIns="47306" rIns="94613" bIns="47306"/>
          <a:lstStyle>
            <a:lvl1pPr marL="354013" indent="-354013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68350" indent="-295275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r>
              <a:rPr lang="it-IT" altLang="it-IT" sz="2900">
                <a:solidFill>
                  <a:schemeClr val="tx2"/>
                </a:solidFill>
              </a:rPr>
              <a:t>Applicando le regole generali di trasformazione in forma NAND e NOR, si ha:</a:t>
            </a:r>
          </a:p>
          <a:p>
            <a:pPr lvl="1" algn="ctr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800">
              <a:solidFill>
                <a:schemeClr val="tx2"/>
              </a:solidFill>
            </a:endParaRPr>
          </a:p>
          <a:p>
            <a:pPr lvl="1" algn="ctr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800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AAC5656-F4DF-F91B-01D0-0938B5BFE005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74613" y="26988"/>
            <a:ext cx="8915400" cy="91122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Funzioni Xor e Eq</a:t>
            </a:r>
          </a:p>
        </p:txBody>
      </p:sp>
      <p:graphicFrame>
        <p:nvGraphicFramePr>
          <p:cNvPr id="105570" name="Group 98">
            <a:extLst>
              <a:ext uri="{FF2B5EF4-FFF2-40B4-BE49-F238E27FC236}">
                <a16:creationId xmlns:a16="http://schemas.microsoft.com/office/drawing/2014/main" id="{6DD12A94-6742-C4A7-C55A-8873B2706F44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495300" y="2584450"/>
          <a:ext cx="8832850" cy="3302001"/>
        </p:xfrm>
        <a:graphic>
          <a:graphicData uri="http://schemas.openxmlformats.org/drawingml/2006/table">
            <a:tbl>
              <a:tblPr/>
              <a:tblGrid>
                <a:gridCol w="474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NAND (2 liv)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NAND (3 liv)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NOR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EQ IN FORMA NAND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EQ IN FORMA NOR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015" name="Object 2">
            <a:extLst>
              <a:ext uri="{FF2B5EF4-FFF2-40B4-BE49-F238E27FC236}">
                <a16:creationId xmlns:a16="http://schemas.microsoft.com/office/drawing/2014/main" id="{245E94F4-E7D6-83D0-CD39-BF2E291904BF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53088" y="4010025"/>
          <a:ext cx="3275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4010025"/>
                        <a:ext cx="32750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6" name="Object 3">
            <a:extLst>
              <a:ext uri="{FF2B5EF4-FFF2-40B4-BE49-F238E27FC236}">
                <a16:creationId xmlns:a16="http://schemas.microsoft.com/office/drawing/2014/main" id="{64B1547F-E8EC-B82F-EC2A-F9BDFD6A4DA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11863" y="5300663"/>
          <a:ext cx="26701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300663"/>
                        <a:ext cx="26701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7" name="Rectangle 44">
            <a:extLst>
              <a:ext uri="{FF2B5EF4-FFF2-40B4-BE49-F238E27FC236}">
                <a16:creationId xmlns:a16="http://schemas.microsoft.com/office/drawing/2014/main" id="{FF445518-056D-4EDB-248D-B9F36EF06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85018" name="Rectangle 65">
            <a:extLst>
              <a:ext uri="{FF2B5EF4-FFF2-40B4-BE49-F238E27FC236}">
                <a16:creationId xmlns:a16="http://schemas.microsoft.com/office/drawing/2014/main" id="{E597F4FE-D770-B31D-00B2-CE2ED096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5019" name="Object 4">
            <a:extLst>
              <a:ext uri="{FF2B5EF4-FFF2-40B4-BE49-F238E27FC236}">
                <a16:creationId xmlns:a16="http://schemas.microsoft.com/office/drawing/2014/main" id="{D62284B5-BFDB-E493-C171-2D4B6E32A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1663" y="2736850"/>
          <a:ext cx="30797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DSMT4">
                  <p:embed/>
                </p:oleObj>
              </mc:Choice>
              <mc:Fallback>
                <p:oleObj name="Equation" r:id="rId6" imgW="0" imgH="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663" y="2736850"/>
                        <a:ext cx="30797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0" name="Rectangle 75">
            <a:extLst>
              <a:ext uri="{FF2B5EF4-FFF2-40B4-BE49-F238E27FC236}">
                <a16:creationId xmlns:a16="http://schemas.microsoft.com/office/drawing/2014/main" id="{75D68EDD-9FDA-197C-4EC6-64581D904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5021" name="Object 5">
            <a:extLst>
              <a:ext uri="{FF2B5EF4-FFF2-40B4-BE49-F238E27FC236}">
                <a16:creationId xmlns:a16="http://schemas.microsoft.com/office/drawing/2014/main" id="{D3F77972-97B8-F884-0E28-4BB9DAC167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75" y="3238500"/>
          <a:ext cx="307816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DSMT4">
                  <p:embed/>
                </p:oleObj>
              </mc:Choice>
              <mc:Fallback>
                <p:oleObj name="Equation" r:id="rId8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238500"/>
                        <a:ext cx="307816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2" name="Object 6">
            <a:extLst>
              <a:ext uri="{FF2B5EF4-FFF2-40B4-BE49-F238E27FC236}">
                <a16:creationId xmlns:a16="http://schemas.microsoft.com/office/drawing/2014/main" id="{0BE8443C-23FA-719E-D509-73544F90ED45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5873750" y="4621213"/>
          <a:ext cx="26431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DSMT4">
                  <p:embed/>
                </p:oleObj>
              </mc:Choice>
              <mc:Fallback>
                <p:oleObj name="Equation" r:id="rId10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4621213"/>
                        <a:ext cx="26431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3" name="Segnaposto numero diapositiva 12">
            <a:extLst>
              <a:ext uri="{FF2B5EF4-FFF2-40B4-BE49-F238E27FC236}">
                <a16:creationId xmlns:a16="http://schemas.microsoft.com/office/drawing/2014/main" id="{4A2EFA62-24DC-3B69-E32B-F574C857CA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403C15-C899-4D32-A788-E58E87997CC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egnaposto numero diapositiva 3">
            <a:extLst>
              <a:ext uri="{FF2B5EF4-FFF2-40B4-BE49-F238E27FC236}">
                <a16:creationId xmlns:a16="http://schemas.microsoft.com/office/drawing/2014/main" id="{7D3F508E-1361-83C7-86E4-769F09B8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4E6FE9C-C6F2-4BDB-8A67-D1CF704FFBB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it-IT" altLang="it-IT" sz="14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96EB90D-B870-C1DC-64EC-FD35CDEA9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Funzione XOR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732979A4-0E0C-28FC-2E57-FAB73F372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Forme alternative:</a:t>
            </a:r>
          </a:p>
        </p:txBody>
      </p:sp>
      <p:sp>
        <p:nvSpPr>
          <p:cNvPr id="86020" name="Rectangle 5">
            <a:extLst>
              <a:ext uri="{FF2B5EF4-FFF2-40B4-BE49-F238E27FC236}">
                <a16:creationId xmlns:a16="http://schemas.microsoft.com/office/drawing/2014/main" id="{0EDFCC8F-3B1C-2C50-0929-4AD9B2D78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835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6021" name="Object 4">
            <a:extLst>
              <a:ext uri="{FF2B5EF4-FFF2-40B4-BE49-F238E27FC236}">
                <a16:creationId xmlns:a16="http://schemas.microsoft.com/office/drawing/2014/main" id="{ED3F744E-5532-8937-42B7-36D6B414C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3625" y="2716213"/>
          <a:ext cx="436245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2716213"/>
                        <a:ext cx="4362450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Rectangle 7">
            <a:extLst>
              <a:ext uri="{FF2B5EF4-FFF2-40B4-BE49-F238E27FC236}">
                <a16:creationId xmlns:a16="http://schemas.microsoft.com/office/drawing/2014/main" id="{C8E3BFD2-0887-9195-28D2-B31C4C938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7175" y="318770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6023" name="Object 6">
            <a:extLst>
              <a:ext uri="{FF2B5EF4-FFF2-40B4-BE49-F238E27FC236}">
                <a16:creationId xmlns:a16="http://schemas.microsoft.com/office/drawing/2014/main" id="{7531AEC0-36C5-49A5-8DE4-86D297B32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4213225"/>
          <a:ext cx="5062538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4213225"/>
                        <a:ext cx="5062538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 Box 8">
            <a:extLst>
              <a:ext uri="{FF2B5EF4-FFF2-40B4-BE49-F238E27FC236}">
                <a16:creationId xmlns:a16="http://schemas.microsoft.com/office/drawing/2014/main" id="{17C9BA44-ECDB-E79C-C704-6BE7BFDD5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8" y="2325688"/>
            <a:ext cx="3449637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forma a 2 livelli (costo di porte 5 includendo anche la NOT)</a:t>
            </a:r>
          </a:p>
        </p:txBody>
      </p:sp>
      <p:sp>
        <p:nvSpPr>
          <p:cNvPr id="86025" name="Text Box 10">
            <a:extLst>
              <a:ext uri="{FF2B5EF4-FFF2-40B4-BE49-F238E27FC236}">
                <a16:creationId xmlns:a16="http://schemas.microsoft.com/office/drawing/2014/main" id="{A27B2C4B-4B92-80EA-4229-6F8B3774A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4230688"/>
            <a:ext cx="3449638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forma a 3 livelli (costo di porte 4 riutilizzando un fattore comune)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egnaposto numero diapositiva 3">
            <a:extLst>
              <a:ext uri="{FF2B5EF4-FFF2-40B4-BE49-F238E27FC236}">
                <a16:creationId xmlns:a16="http://schemas.microsoft.com/office/drawing/2014/main" id="{739F19A5-C9BE-3D2F-E656-63EF9E8B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AE2FC3D-A8B4-4850-A923-FDCE8351D43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it-IT" altLang="it-IT" sz="14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3D096533-7E82-E6FE-831B-0B22D858B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Proprietà della XOR e di Eq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1802C34-7C60-34D1-DD27-91772A20D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 differenza di NAND e NOR, la XOR e la Eq non costituiscono un insieme funzionalmente completo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Permettono però di ottenere una NOT</a:t>
            </a:r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4198A806-C65D-CB4A-D18D-B690D363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1988"/>
            <a:ext cx="187325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7045" name="Object 4">
            <a:extLst>
              <a:ext uri="{FF2B5EF4-FFF2-40B4-BE49-F238E27FC236}">
                <a16:creationId xmlns:a16="http://schemas.microsoft.com/office/drawing/2014/main" id="{A3A33147-C921-E19D-EE22-917BB58B34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191000"/>
          <a:ext cx="3684588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191000"/>
                        <a:ext cx="3684588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DFF7F317-BF69-E6D0-E6B5-42422C7E8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53C7554B-9888-3272-088F-99F452E07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000">
                <a:ea typeface="ＭＳ Ｐゴシック" panose="020B0600070205080204" pitchFamily="34" charset="-128"/>
              </a:rPr>
              <a:t>COMPARATORI</a:t>
            </a:r>
          </a:p>
        </p:txBody>
      </p:sp>
      <p:sp>
        <p:nvSpPr>
          <p:cNvPr id="88067" name="Segnaposto numero diapositiva 3">
            <a:extLst>
              <a:ext uri="{FF2B5EF4-FFF2-40B4-BE49-F238E27FC236}">
                <a16:creationId xmlns:a16="http://schemas.microsoft.com/office/drawing/2014/main" id="{61004272-9A26-B952-EB38-9E963F59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CCB7B3-76E5-4693-89AC-2A3390772C8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it-IT" altLang="it-IT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D9B37784-3E82-E8F0-32C3-B0D1AFD98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484188"/>
            <a:ext cx="8193088" cy="207962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Comparatore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37234EF7-5DBA-BD17-177E-848BAA06F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9372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Spesso accade che occorra confrontare due dati A e B in quanto l'unità di controllo dell'architettura deve proseguire con algoritmi differenti a seconda che i due dati siano eguali o diversi. </a:t>
            </a: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i="1">
                <a:ea typeface="ＭＳ Ｐゴシック" panose="020B0600070205080204" pitchFamily="34" charset="-128"/>
              </a:rPr>
              <a:t>Il comparatore è una macchina che ha in ingresso due dati (A, B) ed in uscita un segnale booleano </a:t>
            </a:r>
            <a:r>
              <a:rPr lang="it-IT" altLang="it-IT" b="1" i="1">
                <a:ea typeface="ＭＳ Ｐゴシック" panose="020B0600070205080204" pitchFamily="34" charset="-128"/>
              </a:rPr>
              <a:t>eq </a:t>
            </a:r>
            <a:r>
              <a:rPr lang="it-IT" altLang="it-IT" i="1">
                <a:ea typeface="ＭＳ Ｐゴシック" panose="020B0600070205080204" pitchFamily="34" charset="-128"/>
              </a:rPr>
              <a:t>che è 1 se è A=B.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grpSp>
        <p:nvGrpSpPr>
          <p:cNvPr id="89091" name="Group 4">
            <a:extLst>
              <a:ext uri="{FF2B5EF4-FFF2-40B4-BE49-F238E27FC236}">
                <a16:creationId xmlns:a16="http://schemas.microsoft.com/office/drawing/2014/main" id="{AA7910CF-94E2-87D9-2ADF-47E1721A0A1B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581525"/>
            <a:ext cx="4421188" cy="1624013"/>
            <a:chOff x="1664" y="2337"/>
            <a:chExt cx="2785" cy="1023"/>
          </a:xfrm>
        </p:grpSpPr>
        <p:sp>
          <p:nvSpPr>
            <p:cNvPr id="89093" name="Text Box 5">
              <a:extLst>
                <a:ext uri="{FF2B5EF4-FFF2-40B4-BE49-F238E27FC236}">
                  <a16:creationId xmlns:a16="http://schemas.microsoft.com/office/drawing/2014/main" id="{88AC5C03-DF5D-A7F5-B4D1-DEFBA3F13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33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endParaRPr lang="it-IT" altLang="it-IT" sz="2400" b="0" baseline="-25000"/>
            </a:p>
          </p:txBody>
        </p:sp>
        <p:sp>
          <p:nvSpPr>
            <p:cNvPr id="89094" name="Text Box 6">
              <a:extLst>
                <a:ext uri="{FF2B5EF4-FFF2-40B4-BE49-F238E27FC236}">
                  <a16:creationId xmlns:a16="http://schemas.microsoft.com/office/drawing/2014/main" id="{AF45E37E-5264-6786-6529-114A0FAA1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865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89095" name="Text Box 7">
              <a:extLst>
                <a:ext uri="{FF2B5EF4-FFF2-40B4-BE49-F238E27FC236}">
                  <a16:creationId xmlns:a16="http://schemas.microsoft.com/office/drawing/2014/main" id="{644F735C-C633-986A-884D-A5BA551C5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" y="2577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eq</a:t>
              </a:r>
              <a:endParaRPr lang="it-IT" altLang="it-IT" sz="2400" b="0" baseline="-25000"/>
            </a:p>
          </p:txBody>
        </p:sp>
        <p:sp>
          <p:nvSpPr>
            <p:cNvPr id="89096" name="Rectangle 8">
              <a:extLst>
                <a:ext uri="{FF2B5EF4-FFF2-40B4-BE49-F238E27FC236}">
                  <a16:creationId xmlns:a16="http://schemas.microsoft.com/office/drawing/2014/main" id="{F7A448FB-9C83-6A12-8D6B-E91B314B4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385"/>
              <a:ext cx="1272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097" name="AutoShape 9">
              <a:extLst>
                <a:ext uri="{FF2B5EF4-FFF2-40B4-BE49-F238E27FC236}">
                  <a16:creationId xmlns:a16="http://schemas.microsoft.com/office/drawing/2014/main" id="{021AF203-0CF7-F325-46AE-B10D93CDA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529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098" name="Text Box 10">
              <a:extLst>
                <a:ext uri="{FF2B5EF4-FFF2-40B4-BE49-F238E27FC236}">
                  <a16:creationId xmlns:a16="http://schemas.microsoft.com/office/drawing/2014/main" id="{AA121FBD-E21B-6443-B22D-59F711B3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721"/>
              <a:ext cx="11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Comparatore</a:t>
              </a:r>
            </a:p>
          </p:txBody>
        </p:sp>
        <p:sp>
          <p:nvSpPr>
            <p:cNvPr id="89099" name="AutoShape 11">
              <a:extLst>
                <a:ext uri="{FF2B5EF4-FFF2-40B4-BE49-F238E27FC236}">
                  <a16:creationId xmlns:a16="http://schemas.microsoft.com/office/drawing/2014/main" id="{768E1F8F-283F-B985-02D3-01CF0AB83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3057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100" name="Line 12">
              <a:extLst>
                <a:ext uri="{FF2B5EF4-FFF2-40B4-BE49-F238E27FC236}">
                  <a16:creationId xmlns:a16="http://schemas.microsoft.com/office/drawing/2014/main" id="{C000FED9-4705-C160-0950-FA3B8F547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865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2" name="Segnaposto numero diapositiva 12">
            <a:extLst>
              <a:ext uri="{FF2B5EF4-FFF2-40B4-BE49-F238E27FC236}">
                <a16:creationId xmlns:a16="http://schemas.microsoft.com/office/drawing/2014/main" id="{4658241E-FF56-A5C6-70C2-C97BD506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139745-1B7C-4442-A07A-BC36D9D81C2E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it-IT" altLang="it-IT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egnaposto numero diapositiva 4">
            <a:extLst>
              <a:ext uri="{FF2B5EF4-FFF2-40B4-BE49-F238E27FC236}">
                <a16:creationId xmlns:a16="http://schemas.microsoft.com/office/drawing/2014/main" id="{812BEE21-FA05-ED5F-4377-FF43B562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41CD312-9CEE-485C-8E67-3E846733A3F8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it-IT" altLang="it-IT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6D2208BC-D9B5-1760-AA3B-938C80E98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0" y="214313"/>
            <a:ext cx="8674100" cy="444500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Comparatori 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E253259-998F-7D2F-A0B3-90EE53E71B9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4988" y="1285875"/>
            <a:ext cx="8704262" cy="822325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Eguaglianza bit a bit in parallelo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Confronto tra due stringhe di bit (parole-codice o numeri)</a:t>
            </a:r>
          </a:p>
        </p:txBody>
      </p:sp>
      <p:pic>
        <p:nvPicPr>
          <p:cNvPr id="90116" name="Picture 5">
            <a:extLst>
              <a:ext uri="{FF2B5EF4-FFF2-40B4-BE49-F238E27FC236}">
                <a16:creationId xmlns:a16="http://schemas.microsoft.com/office/drawing/2014/main" id="{0E8DF47E-1316-5A88-E272-7ADBED61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571750"/>
            <a:ext cx="1758950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6299" name="Rectangle 11">
            <a:extLst>
              <a:ext uri="{FF2B5EF4-FFF2-40B4-BE49-F238E27FC236}">
                <a16:creationId xmlns:a16="http://schemas.microsoft.com/office/drawing/2014/main" id="{406A49AD-AC1F-84FB-1C4C-96283F315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5033963"/>
            <a:ext cx="8299450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Soluzione parallela:</a:t>
            </a:r>
            <a:r>
              <a:rPr lang="it-IT" b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 per n bit, n porte EQ ed una AND ad n ingressi</a:t>
            </a:r>
          </a:p>
        </p:txBody>
      </p:sp>
      <p:pic>
        <p:nvPicPr>
          <p:cNvPr id="90118" name="Picture 13">
            <a:extLst>
              <a:ext uri="{FF2B5EF4-FFF2-40B4-BE49-F238E27FC236}">
                <a16:creationId xmlns:a16="http://schemas.microsoft.com/office/drawing/2014/main" id="{3375D27B-09D3-6639-F952-EA6BD8199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38" y="3429000"/>
            <a:ext cx="22796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6303" name="Oval 15">
            <a:extLst>
              <a:ext uri="{FF2B5EF4-FFF2-40B4-BE49-F238E27FC236}">
                <a16:creationId xmlns:a16="http://schemas.microsoft.com/office/drawing/2014/main" id="{7BA2275A-5C70-587A-0B76-D3FFE4D69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4076700"/>
            <a:ext cx="293687" cy="2508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advTm="5100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8ECC0A14-314F-1F60-088A-CC5DAF506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63" y="260350"/>
            <a:ext cx="9777412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300">
                <a:ea typeface="ＭＳ Ｐゴシック" panose="020B0600070205080204" pitchFamily="34" charset="-128"/>
              </a:rPr>
              <a:t>COMPARATORI BIT-SERIALE (per un singolo bit)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C5371CAE-02F0-6C05-0621-91A29B072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753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Per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=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la tabella della verità è: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 i="1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Con il pedice n si vuole distinguere l'n-esimo bit in una parola o numero presentato con più bit in serie nel tempo. Da cui:  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Cioè E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 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è alto quando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e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 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sono uguali.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 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è minore di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se                             ,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è maggiore di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se                          .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92163" name="Picture 4" descr="rb_ta1a">
            <a:extLst>
              <a:ext uri="{FF2B5EF4-FFF2-40B4-BE49-F238E27FC236}">
                <a16:creationId xmlns:a16="http://schemas.microsoft.com/office/drawing/2014/main" id="{BBE13089-9BF1-C15E-38C3-E951B9D57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25" y="1412875"/>
            <a:ext cx="1401763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5" descr="rb_ta1b">
            <a:extLst>
              <a:ext uri="{FF2B5EF4-FFF2-40B4-BE49-F238E27FC236}">
                <a16:creationId xmlns:a16="http://schemas.microsoft.com/office/drawing/2014/main" id="{9859BB88-DA04-7CB7-1EA1-C02020D2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4624388"/>
            <a:ext cx="4206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6" descr="rb_ta1c">
            <a:extLst>
              <a:ext uri="{FF2B5EF4-FFF2-40B4-BE49-F238E27FC236}">
                <a16:creationId xmlns:a16="http://schemas.microsoft.com/office/drawing/2014/main" id="{34DDC3BB-5AB0-32B3-3E4E-B9608B55F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969000"/>
            <a:ext cx="1752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7" descr="rb_ta1d">
            <a:extLst>
              <a:ext uri="{FF2B5EF4-FFF2-40B4-BE49-F238E27FC236}">
                <a16:creationId xmlns:a16="http://schemas.microsoft.com/office/drawing/2014/main" id="{3510E708-2E5A-8B7B-8805-7D82DD3E9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646738"/>
            <a:ext cx="1752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7" name="Segnaposto numero diapositiva 7">
            <a:extLst>
              <a:ext uri="{FF2B5EF4-FFF2-40B4-BE49-F238E27FC236}">
                <a16:creationId xmlns:a16="http://schemas.microsoft.com/office/drawing/2014/main" id="{5494B994-C8B7-5864-0CD4-5EA0409B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CF5DA5-7D02-4552-B0B1-C79A9AB706BB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it-IT" altLang="it-IT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1DD108A5-DFA2-3DCE-1088-5B17891F6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84885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300">
                <a:ea typeface="ＭＳ Ｐゴシック" panose="020B0600070205080204" pitchFamily="34" charset="-128"/>
              </a:rPr>
              <a:t>COMPARATORI BIT-SERIALE (per un singolo bit)</a:t>
            </a:r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D1CF5EDD-3684-37C4-3179-EDB715CFD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9372600" cy="1600200"/>
          </a:xfrm>
        </p:spPr>
        <p:txBody>
          <a:bodyPr/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Il circuito comparatore per il singolo bit-serie nel suo insieme ha tre uscite ed è schematizzato come in figura (NON OTTIMIZZATO):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93187" name="Picture 4" descr="rb_a01">
            <a:extLst>
              <a:ext uri="{FF2B5EF4-FFF2-40B4-BE49-F238E27FC236}">
                <a16:creationId xmlns:a16="http://schemas.microsoft.com/office/drawing/2014/main" id="{0528FB82-6BA8-568A-3D26-133293A23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2205038"/>
            <a:ext cx="74295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Segnaposto numero diapositiva 4">
            <a:extLst>
              <a:ext uri="{FF2B5EF4-FFF2-40B4-BE49-F238E27FC236}">
                <a16:creationId xmlns:a16="http://schemas.microsoft.com/office/drawing/2014/main" id="{7E2D8552-DD1C-E00A-347D-D060B708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3D17C0-A587-4262-9EBE-461F5AE8535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it-IT" altLang="it-IT" sz="1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egnaposto numero diapositiva 3">
            <a:extLst>
              <a:ext uri="{FF2B5EF4-FFF2-40B4-BE49-F238E27FC236}">
                <a16:creationId xmlns:a16="http://schemas.microsoft.com/office/drawing/2014/main" id="{942DC109-4DB3-A22E-F7F6-7A04EF81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FB1A31F-5B17-4081-A92A-AA70E1122F71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it-IT" altLang="it-IT" sz="1400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48382948-0D7A-1606-303D-28136BC8B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87350"/>
            <a:ext cx="8674100" cy="4445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7072D3E-11D0-4C9C-4901-764A04745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8600" y="1263650"/>
            <a:ext cx="7340600" cy="26860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it-IT" sz="2400" b="1">
                <a:ea typeface="ＭＳ Ｐゴシック" panose="020B0600070205080204" pitchFamily="34" charset="-128"/>
              </a:rPr>
              <a:t>begin </a:t>
            </a:r>
            <a:endParaRPr lang="en-GB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egout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egin </a:t>
            </a:r>
            <a:r>
              <a:rPr lang="en-GB" altLang="it-IT" sz="2400">
                <a:ea typeface="ＭＳ Ｐゴシック" panose="020B0600070205080204" pitchFamily="34" charset="-128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magout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&gt;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OR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magin </a:t>
            </a:r>
            <a:r>
              <a:rPr lang="en-GB" altLang="it-IT" sz="2400">
                <a:ea typeface="ＭＳ Ｐゴシック" panose="020B0600070205080204" pitchFamily="34" charset="-128"/>
              </a:rPr>
              <a:t>; </a:t>
            </a:r>
            <a:endParaRPr lang="en-GB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minout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&lt;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OR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minin </a:t>
            </a:r>
            <a:endParaRPr lang="it-IT" altLang="it-IT" sz="2400" b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end</a:t>
            </a:r>
            <a:r>
              <a:rPr lang="it-IT" altLang="it-IT" sz="2400">
                <a:ea typeface="ＭＳ Ｐゴシック" panose="020B0600070205080204" pitchFamily="34" charset="-128"/>
              </a:rPr>
              <a:t>; </a:t>
            </a:r>
          </a:p>
        </p:txBody>
      </p:sp>
      <p:pic>
        <p:nvPicPr>
          <p:cNvPr id="94212" name="Picture 7">
            <a:extLst>
              <a:ext uri="{FF2B5EF4-FFF2-40B4-BE49-F238E27FC236}">
                <a16:creationId xmlns:a16="http://schemas.microsoft.com/office/drawing/2014/main" id="{1A49512B-8587-E9E9-B842-C8A56CF46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5" t="43771" r="27226" b="22855"/>
          <a:stretch>
            <a:fillRect/>
          </a:stretch>
        </p:blipFill>
        <p:spPr bwMode="auto">
          <a:xfrm>
            <a:off x="1631950" y="3529013"/>
            <a:ext cx="5607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egnaposto numero diapositiva 3">
            <a:extLst>
              <a:ext uri="{FF2B5EF4-FFF2-40B4-BE49-F238E27FC236}">
                <a16:creationId xmlns:a16="http://schemas.microsoft.com/office/drawing/2014/main" id="{9651FAE0-EBC4-A77A-1C32-48D262CF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27A20D4-0797-4317-BD9E-9C1668357D9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it-IT" altLang="it-IT" sz="14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A5BAFD0-509C-4CBC-F57C-0D3771B96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D550B98-F16C-A545-28FA-71D288956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1842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Deriviamo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di </a:t>
            </a:r>
            <a:r>
              <a:rPr lang="it-IT" altLang="ja-JP" i="1">
                <a:ea typeface="ＭＳ Ｐゴシック" panose="020B0600070205080204" pitchFamily="34" charset="-128"/>
              </a:rPr>
              <a:t>egout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partiamo dall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eguaglianza X=Y: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95236" name="Rectangle 5">
            <a:extLst>
              <a:ext uri="{FF2B5EF4-FFF2-40B4-BE49-F238E27FC236}">
                <a16:creationId xmlns:a16="http://schemas.microsoft.com/office/drawing/2014/main" id="{377CD748-D037-1EE7-606A-6A380D4F9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5237" name="Object 2">
            <a:extLst>
              <a:ext uri="{FF2B5EF4-FFF2-40B4-BE49-F238E27FC236}">
                <a16:creationId xmlns:a16="http://schemas.microsoft.com/office/drawing/2014/main" id="{A75A1BC9-DD02-B18A-7583-4B18987100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3013" y="2262188"/>
          <a:ext cx="33210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2262188"/>
                        <a:ext cx="33210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Rectangle 7">
            <a:extLst>
              <a:ext uri="{FF2B5EF4-FFF2-40B4-BE49-F238E27FC236}">
                <a16:creationId xmlns:a16="http://schemas.microsoft.com/office/drawing/2014/main" id="{F6F6B8C7-8BB8-769A-C18B-5E2AA465A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358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5239" name="Object 3">
            <a:extLst>
              <a:ext uri="{FF2B5EF4-FFF2-40B4-BE49-F238E27FC236}">
                <a16:creationId xmlns:a16="http://schemas.microsoft.com/office/drawing/2014/main" id="{A76DD805-1387-008D-E0F0-52C7DA9D1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3" y="2206625"/>
          <a:ext cx="41671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2206625"/>
                        <a:ext cx="41671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4">
            <a:extLst>
              <a:ext uri="{FF2B5EF4-FFF2-40B4-BE49-F238E27FC236}">
                <a16:creationId xmlns:a16="http://schemas.microsoft.com/office/drawing/2014/main" id="{00D0E782-7E7F-20F4-9BEE-946FA0D08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1775" y="4513263"/>
          <a:ext cx="429260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4513263"/>
                        <a:ext cx="429260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1" name="Object 5">
            <a:extLst>
              <a:ext uri="{FF2B5EF4-FFF2-40B4-BE49-F238E27FC236}">
                <a16:creationId xmlns:a16="http://schemas.microsoft.com/office/drawing/2014/main" id="{7D0E75A6-1DB8-A908-273C-A33EBA7221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4752975"/>
          <a:ext cx="42656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4752975"/>
                        <a:ext cx="426561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2" name="Rectangle 10">
            <a:extLst>
              <a:ext uri="{FF2B5EF4-FFF2-40B4-BE49-F238E27FC236}">
                <a16:creationId xmlns:a16="http://schemas.microsoft.com/office/drawing/2014/main" id="{13D4BBEC-EB09-3598-680B-5EDC84BC0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163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5243" name="Rectangle 11">
            <a:extLst>
              <a:ext uri="{FF2B5EF4-FFF2-40B4-BE49-F238E27FC236}">
                <a16:creationId xmlns:a16="http://schemas.microsoft.com/office/drawing/2014/main" id="{A4B808C3-7730-1FC5-C344-DA5816DCE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44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b="0"/>
          </a:p>
        </p:txBody>
      </p:sp>
      <p:sp>
        <p:nvSpPr>
          <p:cNvPr id="95244" name="Text Box 12">
            <a:extLst>
              <a:ext uri="{FF2B5EF4-FFF2-40B4-BE49-F238E27FC236}">
                <a16:creationId xmlns:a16="http://schemas.microsoft.com/office/drawing/2014/main" id="{CFCD5B09-57C6-21CB-038C-95FE45917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513" y="3308350"/>
            <a:ext cx="581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/>
              <a:t>ricordiamo che la XOR è il complemento della EQ</a:t>
            </a:r>
          </a:p>
        </p:txBody>
      </p:sp>
      <p:sp>
        <p:nvSpPr>
          <p:cNvPr id="95245" name="Line 13">
            <a:extLst>
              <a:ext uri="{FF2B5EF4-FFF2-40B4-BE49-F238E27FC236}">
                <a16:creationId xmlns:a16="http://schemas.microsoft.com/office/drawing/2014/main" id="{3127B8CF-8269-36DA-2E21-BF2351A16C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35413" y="3048000"/>
            <a:ext cx="204787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6" name="Line 14">
            <a:extLst>
              <a:ext uri="{FF2B5EF4-FFF2-40B4-BE49-F238E27FC236}">
                <a16:creationId xmlns:a16="http://schemas.microsoft.com/office/drawing/2014/main" id="{987C7C18-9E90-5D1B-D070-D3835F9AB5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5613" y="3071813"/>
            <a:ext cx="188912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7" name="Rectangle 15">
            <a:extLst>
              <a:ext uri="{FF2B5EF4-FFF2-40B4-BE49-F238E27FC236}">
                <a16:creationId xmlns:a16="http://schemas.microsoft.com/office/drawing/2014/main" id="{30218DEB-D831-CB0E-C742-D7DAB3ED9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3816350"/>
            <a:ext cx="891540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>
              <a:buFont typeface="Wingdings" panose="05000000000000000000" pitchFamily="2" charset="2"/>
              <a:buChar char="»"/>
            </a:pPr>
            <a:r>
              <a:rPr lang="it-IT" altLang="it-IT" b="0"/>
              <a:t> applicando De Morgan si ricavano due possibili espressioni: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egnaposto numero diapositiva 4">
            <a:extLst>
              <a:ext uri="{FF2B5EF4-FFF2-40B4-BE49-F238E27FC236}">
                <a16:creationId xmlns:a16="http://schemas.microsoft.com/office/drawing/2014/main" id="{35ABABD8-FDB7-8F14-A158-22A14516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50" y="6329363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9AF6608C-0A2F-4E6C-B388-5A20E17BD76F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it-IT" altLang="it-IT" sz="14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44E9C57E-5F5F-ADE5-2FA5-4CE2BC92E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43D1B34-9CF6-6C9A-DBA1-879ECD6D17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936038" cy="2836863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La realizzazione in logica a due livelli </a:t>
            </a:r>
            <a:r>
              <a:rPr lang="it-IT" altLang="it-IT" sz="2400" i="1">
                <a:ea typeface="ＭＳ Ｐゴシック" panose="020B0600070205080204" pitchFamily="34" charset="-128"/>
              </a:rPr>
              <a:t>and-or (nand) </a:t>
            </a:r>
            <a:r>
              <a:rPr lang="it-IT" altLang="it-IT" sz="2400">
                <a:ea typeface="ＭＳ Ｐゴシック" panose="020B0600070205080204" pitchFamily="34" charset="-128"/>
              </a:rPr>
              <a:t>non è conveniente 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La funzione (</a:t>
            </a:r>
            <a:r>
              <a:rPr lang="it-IT" altLang="it-IT" sz="2400" i="1">
                <a:ea typeface="ＭＳ Ｐゴシック" panose="020B0600070205080204" pitchFamily="34" charset="-128"/>
              </a:rPr>
              <a:t>X=Y</a:t>
            </a:r>
            <a:r>
              <a:rPr lang="it-IT" altLang="it-IT" sz="2400">
                <a:ea typeface="ＭＳ Ｐゴシック" panose="020B0600070205080204" pitchFamily="34" charset="-128"/>
              </a:rPr>
              <a:t>) non presenta mintermini adiacenti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Es.:</a:t>
            </a:r>
          </a:p>
        </p:txBody>
      </p:sp>
      <p:graphicFrame>
        <p:nvGraphicFramePr>
          <p:cNvPr id="276520" name="Group 40">
            <a:extLst>
              <a:ext uri="{FF2B5EF4-FFF2-40B4-BE49-F238E27FC236}">
                <a16:creationId xmlns:a16="http://schemas.microsoft.com/office/drawing/2014/main" id="{E18832D6-F287-37EF-1CBD-3926A05A6C0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865438" y="3503613"/>
          <a:ext cx="1647825" cy="1760538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287" name="Line 34">
            <a:extLst>
              <a:ext uri="{FF2B5EF4-FFF2-40B4-BE49-F238E27FC236}">
                <a16:creationId xmlns:a16="http://schemas.microsoft.com/office/drawing/2014/main" id="{1489947D-4C6E-4147-915D-66B9A6157D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3975" y="3319463"/>
            <a:ext cx="271463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88" name="Text Box 35">
            <a:extLst>
              <a:ext uri="{FF2B5EF4-FFF2-40B4-BE49-F238E27FC236}">
                <a16:creationId xmlns:a16="http://schemas.microsoft.com/office/drawing/2014/main" id="{CFAD34A2-18E3-292B-CC1F-5A2C38FFC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3225800"/>
            <a:ext cx="16557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400"/>
              <a:t>00    01     11     10</a:t>
            </a:r>
          </a:p>
        </p:txBody>
      </p:sp>
      <p:sp>
        <p:nvSpPr>
          <p:cNvPr id="96289" name="Text Box 36">
            <a:extLst>
              <a:ext uri="{FF2B5EF4-FFF2-40B4-BE49-F238E27FC236}">
                <a16:creationId xmlns:a16="http://schemas.microsoft.com/office/drawing/2014/main" id="{2BC1E916-2975-FA37-E46F-C8520F330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38" y="3594100"/>
            <a:ext cx="436562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00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10</a:t>
            </a:r>
          </a:p>
        </p:txBody>
      </p:sp>
      <p:sp>
        <p:nvSpPr>
          <p:cNvPr id="96290" name="Text Box 37">
            <a:extLst>
              <a:ext uri="{FF2B5EF4-FFF2-40B4-BE49-F238E27FC236}">
                <a16:creationId xmlns:a16="http://schemas.microsoft.com/office/drawing/2014/main" id="{62F632E9-1EAE-C857-B6A3-C847DBF0D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3071813"/>
            <a:ext cx="341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X</a:t>
            </a:r>
          </a:p>
        </p:txBody>
      </p:sp>
      <p:sp>
        <p:nvSpPr>
          <p:cNvPr id="96291" name="Text Box 38">
            <a:extLst>
              <a:ext uri="{FF2B5EF4-FFF2-40B4-BE49-F238E27FC236}">
                <a16:creationId xmlns:a16="http://schemas.microsoft.com/office/drawing/2014/main" id="{252DF7ED-A002-3728-423F-3BEFCD33C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3224213"/>
            <a:ext cx="341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Y</a:t>
            </a:r>
          </a:p>
        </p:txBody>
      </p:sp>
      <p:sp>
        <p:nvSpPr>
          <p:cNvPr id="96292" name="Text Box 39">
            <a:extLst>
              <a:ext uri="{FF2B5EF4-FFF2-40B4-BE49-F238E27FC236}">
                <a16:creationId xmlns:a16="http://schemas.microsoft.com/office/drawing/2014/main" id="{56347EB7-10B0-06FD-186D-4FF921A71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3419475"/>
            <a:ext cx="48625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Mappa di Karnaugh per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i="1"/>
              <a:t>f = (X=Y)</a:t>
            </a:r>
            <a:r>
              <a:rPr lang="it-IT" altLang="it-IT" sz="2000"/>
              <a:t> con </a:t>
            </a:r>
            <a:r>
              <a:rPr lang="it-IT" altLang="it-IT" sz="2000" i="1"/>
              <a:t>X</a:t>
            </a:r>
            <a:r>
              <a:rPr lang="it-IT" altLang="it-IT" sz="2000"/>
              <a:t> e </a:t>
            </a:r>
            <a:r>
              <a:rPr lang="it-IT" altLang="it-IT" sz="2000" i="1"/>
              <a:t>Y</a:t>
            </a:r>
            <a:r>
              <a:rPr lang="it-IT" altLang="it-IT" sz="2000"/>
              <a:t> ingressi di due variabili ciascuno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egnaposto numero diapositiva 4">
            <a:extLst>
              <a:ext uri="{FF2B5EF4-FFF2-40B4-BE49-F238E27FC236}">
                <a16:creationId xmlns:a16="http://schemas.microsoft.com/office/drawing/2014/main" id="{9C230863-7B5D-5016-78D0-DAED5330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BA7ED97-AD60-4E1D-9482-2E362CF4774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it-IT" altLang="it-IT" sz="140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53E55596-45F1-9553-41CA-12E4B8D6E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2DB3937-6D85-678D-1A01-C60655E117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34413" cy="2486025"/>
          </a:xfrm>
        </p:spPr>
        <p:txBody>
          <a:bodyPr/>
          <a:lstStyle/>
          <a:p>
            <a:r>
              <a:rPr lang="it-IT" altLang="it-IT" sz="2000">
                <a:ea typeface="ＭＳ Ｐゴシック" panose="020B0600070205080204" pitchFamily="34" charset="-128"/>
              </a:rPr>
              <a:t>Deriviamo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espressione di </a:t>
            </a:r>
            <a:r>
              <a:rPr lang="it-IT" altLang="ja-JP" sz="2000" i="1">
                <a:ea typeface="ＭＳ Ｐゴシック" panose="020B0600070205080204" pitchFamily="34" charset="-128"/>
              </a:rPr>
              <a:t>magout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Osserviamo che, per le singole cifre binarie, si ha</a:t>
            </a:r>
          </a:p>
          <a:p>
            <a:endParaRPr lang="it-IT" altLang="it-IT" sz="2000">
              <a:ea typeface="ＭＳ Ｐゴシック" panose="020B0600070205080204" pitchFamily="34" charset="-128"/>
            </a:endParaRPr>
          </a:p>
          <a:p>
            <a:endParaRPr lang="it-IT" altLang="it-IT" sz="2000">
              <a:ea typeface="ＭＳ Ｐゴシック" panose="020B0600070205080204" pitchFamily="34" charset="-128"/>
            </a:endParaRPr>
          </a:p>
          <a:p>
            <a:r>
              <a:rPr lang="it-IT" altLang="it-IT" sz="2000">
                <a:ea typeface="ＭＳ Ｐゴシック" panose="020B0600070205080204" pitchFamily="34" charset="-128"/>
              </a:rPr>
              <a:t>Quindi, per ottenere il confronto tra ingressi a più cifre è possibile </a:t>
            </a:r>
            <a:r>
              <a:rPr lang="ja-JP" altLang="it-IT" sz="2000">
                <a:ea typeface="ＭＳ Ｐゴシック" panose="020B0600070205080204" pitchFamily="34" charset="-128"/>
              </a:rPr>
              <a:t>“</a:t>
            </a:r>
            <a:r>
              <a:rPr lang="it-IT" altLang="ja-JP" sz="2000">
                <a:ea typeface="ＭＳ Ｐゴシック" panose="020B0600070205080204" pitchFamily="34" charset="-128"/>
              </a:rPr>
              <a:t>partire</a:t>
            </a:r>
            <a:r>
              <a:rPr lang="ja-JP" altLang="it-IT" sz="2000">
                <a:ea typeface="ＭＳ Ｐゴシック" panose="020B0600070205080204" pitchFamily="34" charset="-128"/>
              </a:rPr>
              <a:t>”</a:t>
            </a:r>
            <a:r>
              <a:rPr lang="it-IT" altLang="ja-JP" sz="2000">
                <a:ea typeface="ＭＳ Ｐゴシック" panose="020B0600070205080204" pitchFamily="34" charset="-128"/>
              </a:rPr>
              <a:t> confrontando le cifre da sinistra e procedendo via via verso destra fino a trovare eventuali differenze</a:t>
            </a:r>
          </a:p>
          <a:p>
            <a:endParaRPr lang="it-IT" altLang="it-IT" sz="2000" i="1">
              <a:ea typeface="ＭＳ Ｐゴシック" panose="020B0600070205080204" pitchFamily="34" charset="-128"/>
            </a:endParaRPr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746229D7-786F-ACE6-4D64-DDF182D71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46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7285" name="Object 2">
            <a:extLst>
              <a:ext uri="{FF2B5EF4-FFF2-40B4-BE49-F238E27FC236}">
                <a16:creationId xmlns:a16="http://schemas.microsoft.com/office/drawing/2014/main" id="{7D75BCFA-0AF2-8C4F-1471-06EA239A9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3808413"/>
          <a:ext cx="8243887" cy="204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3808413"/>
                        <a:ext cx="8243887" cy="204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3">
            <a:extLst>
              <a:ext uri="{FF2B5EF4-FFF2-40B4-BE49-F238E27FC236}">
                <a16:creationId xmlns:a16="http://schemas.microsoft.com/office/drawing/2014/main" id="{E90A3C8B-E162-D206-0B07-9375C1AD131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54300" y="2147888"/>
          <a:ext cx="37496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147888"/>
                        <a:ext cx="37496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egnaposto numero diapositiva 3">
            <a:extLst>
              <a:ext uri="{FF2B5EF4-FFF2-40B4-BE49-F238E27FC236}">
                <a16:creationId xmlns:a16="http://schemas.microsoft.com/office/drawing/2014/main" id="{23775349-4F10-25EB-99DB-C3212E9A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D0548A2-F22D-46F4-95B6-2629D40251A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it-IT" altLang="it-IT" sz="14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615E8632-B7A7-D485-DD17-94CEDCA5B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AADD0B5-58FB-5499-C246-3EE2A07BB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ottenere la terza uscita </a:t>
            </a:r>
            <a:r>
              <a:rPr lang="it-IT" altLang="it-IT" i="1">
                <a:ea typeface="ＭＳ Ｐゴシック" panose="020B0600070205080204" pitchFamily="34" charset="-128"/>
              </a:rPr>
              <a:t>minout</a:t>
            </a:r>
            <a:r>
              <a:rPr lang="it-IT" altLang="it-IT">
                <a:ea typeface="ＭＳ Ｐゴシック" panose="020B0600070205080204" pitchFamily="34" charset="-128"/>
              </a:rPr>
              <a:t>, se necessaria, si può procedere analogamente a </a:t>
            </a:r>
            <a:r>
              <a:rPr lang="it-IT" altLang="it-IT" i="1">
                <a:ea typeface="ＭＳ Ｐゴシック" panose="020B0600070205080204" pitchFamily="34" charset="-128"/>
              </a:rPr>
              <a:t>magout</a:t>
            </a:r>
            <a:r>
              <a:rPr lang="it-IT" altLang="it-IT">
                <a:ea typeface="ＭＳ Ｐゴシック" panose="020B0600070205080204" pitchFamily="34" charset="-128"/>
              </a:rPr>
              <a:t> oppure semplicemente osservare che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Si noti che la componente </a:t>
            </a:r>
            <a:r>
              <a:rPr lang="it-IT" altLang="it-IT" i="1"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i="1">
                <a:ea typeface="ＭＳ Ｐゴシック" panose="020B0600070205080204" pitchFamily="34" charset="-128"/>
              </a:rPr>
              <a:t> ≡ Y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>
                <a:ea typeface="ＭＳ Ｐゴシック" panose="020B0600070205080204" pitchFamily="34" charset="-128"/>
              </a:rPr>
              <a:t> è ripetuta nelle tre funzioni e può essere calcolata una sola volta</a:t>
            </a:r>
          </a:p>
        </p:txBody>
      </p:sp>
      <p:sp>
        <p:nvSpPr>
          <p:cNvPr id="98308" name="Rectangle 5">
            <a:extLst>
              <a:ext uri="{FF2B5EF4-FFF2-40B4-BE49-F238E27FC236}">
                <a16:creationId xmlns:a16="http://schemas.microsoft.com/office/drawing/2014/main" id="{B18E1818-C04A-9947-0CA1-A35E27629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8309" name="Object 2">
            <a:extLst>
              <a:ext uri="{FF2B5EF4-FFF2-40B4-BE49-F238E27FC236}">
                <a16:creationId xmlns:a16="http://schemas.microsoft.com/office/drawing/2014/main" id="{D05DE398-5740-19BB-3EB4-09D60E65E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6550" y="2794000"/>
          <a:ext cx="36671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2794000"/>
                        <a:ext cx="36671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egnaposto numero diapositiva 3">
            <a:extLst>
              <a:ext uri="{FF2B5EF4-FFF2-40B4-BE49-F238E27FC236}">
                <a16:creationId xmlns:a16="http://schemas.microsoft.com/office/drawing/2014/main" id="{A2011526-BF1A-FB0B-F58C-AB30D2E7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82BA6E9-F864-4D59-8F60-351343010D66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it-IT" altLang="it-IT" sz="14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E7D7C5DC-9E7E-23AB-879C-858B838CC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66D27D50-775D-5C74-0FB7-AC8F72E36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9368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Un confronto tra stringhe di </a:t>
            </a:r>
            <a:r>
              <a:rPr lang="it-IT" altLang="it-IT" i="1">
                <a:ea typeface="ＭＳ Ｐゴシック" panose="020B0600070205080204" pitchFamily="34" charset="-128"/>
              </a:rPr>
              <a:t>k</a:t>
            </a:r>
            <a:r>
              <a:rPr lang="it-IT" altLang="it-IT">
                <a:ea typeface="ＭＳ Ｐゴシック" panose="020B0600070205080204" pitchFamily="34" charset="-128"/>
              </a:rPr>
              <a:t> bit può essere effettuato con un unico comparatore se </a:t>
            </a:r>
            <a:r>
              <a:rPr lang="it-IT" altLang="it-IT" i="1">
                <a:ea typeface="ＭＳ Ｐゴシック" panose="020B0600070205080204" pitchFamily="34" charset="-128"/>
              </a:rPr>
              <a:t>k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≤n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 (numero di bit di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X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 e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Y, ingressi del comparatore)</a:t>
            </a:r>
          </a:p>
          <a:p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Altrimenti, possono essere collegati in catena {[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k/n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]}  comparatori, come in figura</a:t>
            </a:r>
          </a:p>
          <a:p>
            <a:pPr lvl="4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			         </a:t>
            </a:r>
            <a:r>
              <a:rPr lang="it-IT" altLang="it-IT" sz="2800"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9332" name="Rectangle 25">
            <a:extLst>
              <a:ext uri="{FF2B5EF4-FFF2-40B4-BE49-F238E27FC236}">
                <a16:creationId xmlns:a16="http://schemas.microsoft.com/office/drawing/2014/main" id="{54487719-7BA0-0AE9-4F44-4E51A5D76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010150"/>
            <a:ext cx="1017587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33" name="Line 27">
            <a:extLst>
              <a:ext uri="{FF2B5EF4-FFF2-40B4-BE49-F238E27FC236}">
                <a16:creationId xmlns:a16="http://schemas.microsoft.com/office/drawing/2014/main" id="{403D48BD-EB8A-E55C-DCD0-C7051291F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4" name="Line 28">
            <a:extLst>
              <a:ext uri="{FF2B5EF4-FFF2-40B4-BE49-F238E27FC236}">
                <a16:creationId xmlns:a16="http://schemas.microsoft.com/office/drawing/2014/main" id="{48C49DCD-1269-F43D-4690-87C13665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5" name="Text Box 29">
            <a:extLst>
              <a:ext uri="{FF2B5EF4-FFF2-40B4-BE49-F238E27FC236}">
                <a16:creationId xmlns:a16="http://schemas.microsoft.com/office/drawing/2014/main" id="{44278C61-3ABB-0752-907E-2AF530584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4924425"/>
            <a:ext cx="139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egin</a:t>
            </a:r>
          </a:p>
        </p:txBody>
      </p:sp>
      <p:sp>
        <p:nvSpPr>
          <p:cNvPr id="99336" name="Text Box 30">
            <a:extLst>
              <a:ext uri="{FF2B5EF4-FFF2-40B4-BE49-F238E27FC236}">
                <a16:creationId xmlns:a16="http://schemas.microsoft.com/office/drawing/2014/main" id="{5D026ED5-6A51-0E32-CB9D-47AAC7F9B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254625"/>
            <a:ext cx="2360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magin</a:t>
            </a:r>
          </a:p>
        </p:txBody>
      </p:sp>
      <p:sp>
        <p:nvSpPr>
          <p:cNvPr id="99337" name="Text Box 31">
            <a:extLst>
              <a:ext uri="{FF2B5EF4-FFF2-40B4-BE49-F238E27FC236}">
                <a16:creationId xmlns:a16="http://schemas.microsoft.com/office/drawing/2014/main" id="{DE641531-A0CE-425E-C844-97E7217E8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622925"/>
            <a:ext cx="1316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minin</a:t>
            </a:r>
          </a:p>
        </p:txBody>
      </p:sp>
      <p:sp>
        <p:nvSpPr>
          <p:cNvPr id="99338" name="Line 33">
            <a:extLst>
              <a:ext uri="{FF2B5EF4-FFF2-40B4-BE49-F238E27FC236}">
                <a16:creationId xmlns:a16="http://schemas.microsoft.com/office/drawing/2014/main" id="{A34467FA-A406-CACB-4818-CC754B030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13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9" name="Line 34">
            <a:extLst>
              <a:ext uri="{FF2B5EF4-FFF2-40B4-BE49-F238E27FC236}">
                <a16:creationId xmlns:a16="http://schemas.microsoft.com/office/drawing/2014/main" id="{184056E5-3E32-6E84-8101-D28B4CBBF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13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0" name="Text Box 35">
            <a:extLst>
              <a:ext uri="{FF2B5EF4-FFF2-40B4-BE49-F238E27FC236}">
                <a16:creationId xmlns:a16="http://schemas.microsoft.com/office/drawing/2014/main" id="{422F1EF3-B3EE-CB53-AB1A-AEE9F86A6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563" y="4964113"/>
            <a:ext cx="1395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egout</a:t>
            </a:r>
          </a:p>
        </p:txBody>
      </p:sp>
      <p:sp>
        <p:nvSpPr>
          <p:cNvPr id="99341" name="Text Box 36">
            <a:extLst>
              <a:ext uri="{FF2B5EF4-FFF2-40B4-BE49-F238E27FC236}">
                <a16:creationId xmlns:a16="http://schemas.microsoft.com/office/drawing/2014/main" id="{FD984A1A-A444-BEA4-3AB6-1A017BC7A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263" y="5662613"/>
            <a:ext cx="13160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minout</a:t>
            </a:r>
          </a:p>
        </p:txBody>
      </p:sp>
      <p:sp>
        <p:nvSpPr>
          <p:cNvPr id="99342" name="Text Box 37">
            <a:extLst>
              <a:ext uri="{FF2B5EF4-FFF2-40B4-BE49-F238E27FC236}">
                <a16:creationId xmlns:a16="http://schemas.microsoft.com/office/drawing/2014/main" id="{9F84024F-9B67-8536-E290-9E1FD0CA3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263" y="5307013"/>
            <a:ext cx="1177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magout</a:t>
            </a:r>
          </a:p>
        </p:txBody>
      </p:sp>
      <p:sp>
        <p:nvSpPr>
          <p:cNvPr id="99343" name="Line 38">
            <a:extLst>
              <a:ext uri="{FF2B5EF4-FFF2-40B4-BE49-F238E27FC236}">
                <a16:creationId xmlns:a16="http://schemas.microsoft.com/office/drawing/2014/main" id="{7791FA96-BD34-2D96-8247-60D016A9E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45243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4" name="Line 39">
            <a:extLst>
              <a:ext uri="{FF2B5EF4-FFF2-40B4-BE49-F238E27FC236}">
                <a16:creationId xmlns:a16="http://schemas.microsoft.com/office/drawing/2014/main" id="{D93D3FA2-C727-78CC-8C3D-2CD74858B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5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5" name="Text Box 40">
            <a:extLst>
              <a:ext uri="{FF2B5EF4-FFF2-40B4-BE49-F238E27FC236}">
                <a16:creationId xmlns:a16="http://schemas.microsoft.com/office/drawing/2014/main" id="{809AD375-7247-AA00-C549-69FAF7FBD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43640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46" name="Text Box 41">
            <a:extLst>
              <a:ext uri="{FF2B5EF4-FFF2-40B4-BE49-F238E27FC236}">
                <a16:creationId xmlns:a16="http://schemas.microsoft.com/office/drawing/2014/main" id="{AA6A6586-23EA-B8B1-BFF2-83D7E1B86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4364038"/>
            <a:ext cx="433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47" name="Line 42">
            <a:extLst>
              <a:ext uri="{FF2B5EF4-FFF2-40B4-BE49-F238E27FC236}">
                <a16:creationId xmlns:a16="http://schemas.microsoft.com/office/drawing/2014/main" id="{CFB748E0-07CB-E8D0-0C0E-6248850BDA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0313" y="48021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8" name="Line 43">
            <a:extLst>
              <a:ext uri="{FF2B5EF4-FFF2-40B4-BE49-F238E27FC236}">
                <a16:creationId xmlns:a16="http://schemas.microsoft.com/office/drawing/2014/main" id="{5B3F8267-9D34-271A-10A6-E5D58D8379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2913" y="48021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9" name="Text Box 44">
            <a:extLst>
              <a:ext uri="{FF2B5EF4-FFF2-40B4-BE49-F238E27FC236}">
                <a16:creationId xmlns:a16="http://schemas.microsoft.com/office/drawing/2014/main" id="{AEEFA2F3-BB15-55AD-2F79-32446D7C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6037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50" name="Rectangle 45">
            <a:extLst>
              <a:ext uri="{FF2B5EF4-FFF2-40B4-BE49-F238E27FC236}">
                <a16:creationId xmlns:a16="http://schemas.microsoft.com/office/drawing/2014/main" id="{49A0FC05-673F-422E-B7D5-B2597E8E4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010150"/>
            <a:ext cx="1019175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51" name="Line 47">
            <a:extLst>
              <a:ext uri="{FF2B5EF4-FFF2-40B4-BE49-F238E27FC236}">
                <a16:creationId xmlns:a16="http://schemas.microsoft.com/office/drawing/2014/main" id="{5EF8BDB4-F4DD-0E86-6487-0850AD5BD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2" name="Line 48">
            <a:extLst>
              <a:ext uri="{FF2B5EF4-FFF2-40B4-BE49-F238E27FC236}">
                <a16:creationId xmlns:a16="http://schemas.microsoft.com/office/drawing/2014/main" id="{5333255A-8D47-3DD5-E164-5288774B5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3" name="Line 49">
            <a:extLst>
              <a:ext uri="{FF2B5EF4-FFF2-40B4-BE49-F238E27FC236}">
                <a16:creationId xmlns:a16="http://schemas.microsoft.com/office/drawing/2014/main" id="{88FBC984-CFA3-A133-94F1-71E4079C3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2075" y="45243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4" name="Line 50">
            <a:extLst>
              <a:ext uri="{FF2B5EF4-FFF2-40B4-BE49-F238E27FC236}">
                <a16:creationId xmlns:a16="http://schemas.microsoft.com/office/drawing/2014/main" id="{3E53A614-2423-7AAB-5039-133F66224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3088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5" name="Text Box 51">
            <a:extLst>
              <a:ext uri="{FF2B5EF4-FFF2-40B4-BE49-F238E27FC236}">
                <a16:creationId xmlns:a16="http://schemas.microsoft.com/office/drawing/2014/main" id="{02220903-D8FF-2C2E-E7DE-FA438441B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4364038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56" name="Text Box 52">
            <a:extLst>
              <a:ext uri="{FF2B5EF4-FFF2-40B4-BE49-F238E27FC236}">
                <a16:creationId xmlns:a16="http://schemas.microsoft.com/office/drawing/2014/main" id="{533A573B-AAA1-6043-3B73-32F4F56D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43640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57" name="Line 53">
            <a:extLst>
              <a:ext uri="{FF2B5EF4-FFF2-40B4-BE49-F238E27FC236}">
                <a16:creationId xmlns:a16="http://schemas.microsoft.com/office/drawing/2014/main" id="{B2F3E1EE-3EA6-F32B-2B13-0EBB17E06A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8413" y="48021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8" name="Line 54">
            <a:extLst>
              <a:ext uri="{FF2B5EF4-FFF2-40B4-BE49-F238E27FC236}">
                <a16:creationId xmlns:a16="http://schemas.microsoft.com/office/drawing/2014/main" id="{358D3E74-62CB-8465-D49C-5051927147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9425" y="48021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9" name="Text Box 55">
            <a:extLst>
              <a:ext uri="{FF2B5EF4-FFF2-40B4-BE49-F238E27FC236}">
                <a16:creationId xmlns:a16="http://schemas.microsoft.com/office/drawing/2014/main" id="{746BF329-9425-670C-C901-A3B646618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46037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60" name="Rectangle 56">
            <a:extLst>
              <a:ext uri="{FF2B5EF4-FFF2-40B4-BE49-F238E27FC236}">
                <a16:creationId xmlns:a16="http://schemas.microsoft.com/office/drawing/2014/main" id="{24B4A113-ABDF-3DA8-7566-FB15FE760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022850"/>
            <a:ext cx="1017587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61" name="Line 57">
            <a:extLst>
              <a:ext uri="{FF2B5EF4-FFF2-40B4-BE49-F238E27FC236}">
                <a16:creationId xmlns:a16="http://schemas.microsoft.com/office/drawing/2014/main" id="{BB31C558-543F-54A8-9B4E-E490A7286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1752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2" name="Line 58">
            <a:extLst>
              <a:ext uri="{FF2B5EF4-FFF2-40B4-BE49-F238E27FC236}">
                <a16:creationId xmlns:a16="http://schemas.microsoft.com/office/drawing/2014/main" id="{00CD1242-246C-5A30-D8CF-59EB2B81D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4800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3" name="Line 59">
            <a:extLst>
              <a:ext uri="{FF2B5EF4-FFF2-40B4-BE49-F238E27FC236}">
                <a16:creationId xmlns:a16="http://schemas.microsoft.com/office/drawing/2014/main" id="{96313603-58C8-EC7A-19FD-2B75A4408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8356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4" name="Line 60">
            <a:extLst>
              <a:ext uri="{FF2B5EF4-FFF2-40B4-BE49-F238E27FC236}">
                <a16:creationId xmlns:a16="http://schemas.microsoft.com/office/drawing/2014/main" id="{7A14BFB4-95BC-741C-4FA2-D40B713FE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5" name="Line 61">
            <a:extLst>
              <a:ext uri="{FF2B5EF4-FFF2-40B4-BE49-F238E27FC236}">
                <a16:creationId xmlns:a16="http://schemas.microsoft.com/office/drawing/2014/main" id="{82852C7A-6590-BDB1-E2BB-F8E6EC35A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3875" y="45497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6" name="Text Box 62">
            <a:extLst>
              <a:ext uri="{FF2B5EF4-FFF2-40B4-BE49-F238E27FC236}">
                <a16:creationId xmlns:a16="http://schemas.microsoft.com/office/drawing/2014/main" id="{EF28944F-6D98-7BCA-56FC-2A0C081B8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43767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67" name="Text Box 63">
            <a:extLst>
              <a:ext uri="{FF2B5EF4-FFF2-40B4-BE49-F238E27FC236}">
                <a16:creationId xmlns:a16="http://schemas.microsoft.com/office/drawing/2014/main" id="{2AAA97AD-F22A-FD73-1C1D-90FD730E3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376738"/>
            <a:ext cx="433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68" name="Line 64">
            <a:extLst>
              <a:ext uri="{FF2B5EF4-FFF2-40B4-BE49-F238E27FC236}">
                <a16:creationId xmlns:a16="http://schemas.microsoft.com/office/drawing/2014/main" id="{B6F4EFE9-C90E-2CFF-A357-AC120A3AFE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97613" y="48148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9" name="Line 65">
            <a:extLst>
              <a:ext uri="{FF2B5EF4-FFF2-40B4-BE49-F238E27FC236}">
                <a16:creationId xmlns:a16="http://schemas.microsoft.com/office/drawing/2014/main" id="{61A38933-CBEF-74FE-5304-51B1F2D984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0213" y="48148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0" name="Text Box 66">
            <a:extLst>
              <a:ext uri="{FF2B5EF4-FFF2-40B4-BE49-F238E27FC236}">
                <a16:creationId xmlns:a16="http://schemas.microsoft.com/office/drawing/2014/main" id="{8543C3AD-F46E-A300-D400-8450798AB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413" y="46164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71" name="Text Box 67">
            <a:extLst>
              <a:ext uri="{FF2B5EF4-FFF2-40B4-BE49-F238E27FC236}">
                <a16:creationId xmlns:a16="http://schemas.microsoft.com/office/drawing/2014/main" id="{F620DD93-47B1-B070-7DAC-88C8711D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0" y="5292725"/>
            <a:ext cx="89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. . . </a:t>
            </a:r>
          </a:p>
        </p:txBody>
      </p:sp>
      <p:sp>
        <p:nvSpPr>
          <p:cNvPr id="99372" name="AutoShape 69">
            <a:extLst>
              <a:ext uri="{FF2B5EF4-FFF2-40B4-BE49-F238E27FC236}">
                <a16:creationId xmlns:a16="http://schemas.microsoft.com/office/drawing/2014/main" id="{6B1D963A-2F47-ACC5-5C66-956E3327F052}"/>
              </a:ext>
            </a:extLst>
          </p:cNvPr>
          <p:cNvSpPr>
            <a:spLocks/>
          </p:cNvSpPr>
          <p:nvPr/>
        </p:nvSpPr>
        <p:spPr bwMode="auto">
          <a:xfrm rot="-5400000">
            <a:off x="4578350" y="2112963"/>
            <a:ext cx="414337" cy="4300538"/>
          </a:xfrm>
          <a:prstGeom prst="rightBrace">
            <a:avLst>
              <a:gd name="adj1" fmla="val 79863"/>
              <a:gd name="adj2" fmla="val 5179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73" name="Line 27">
            <a:extLst>
              <a:ext uri="{FF2B5EF4-FFF2-40B4-BE49-F238E27FC236}">
                <a16:creationId xmlns:a16="http://schemas.microsoft.com/office/drawing/2014/main" id="{5A2BDD49-9653-4798-FF5E-6642F93C2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5338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4" name="Line 33">
            <a:extLst>
              <a:ext uri="{FF2B5EF4-FFF2-40B4-BE49-F238E27FC236}">
                <a16:creationId xmlns:a16="http://schemas.microsoft.com/office/drawing/2014/main" id="{D5F1376D-32D2-0395-3ED8-878E05C7A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5" name="Line 47">
            <a:extLst>
              <a:ext uri="{FF2B5EF4-FFF2-40B4-BE49-F238E27FC236}">
                <a16:creationId xmlns:a16="http://schemas.microsoft.com/office/drawing/2014/main" id="{DA17ED6A-D521-935E-039E-3EC5E52BD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F30E96AC-35A8-319E-137C-758F3DA47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58AC29B1-6AFD-F43A-AB16-C351E785A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800">
                <a:ea typeface="ＭＳ Ｐゴシック" panose="020B0600070205080204" pitchFamily="34" charset="-128"/>
              </a:rPr>
              <a:t>Adder</a:t>
            </a:r>
          </a:p>
        </p:txBody>
      </p:sp>
      <p:sp>
        <p:nvSpPr>
          <p:cNvPr id="100355" name="Segnaposto numero diapositiva 3">
            <a:extLst>
              <a:ext uri="{FF2B5EF4-FFF2-40B4-BE49-F238E27FC236}">
                <a16:creationId xmlns:a16="http://schemas.microsoft.com/office/drawing/2014/main" id="{E7E72D8A-C8C2-0387-3CCA-C5CE0E0A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5D8664-9344-4C8F-84A4-57ABBEC5A69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it-IT" altLang="it-IT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D80FCCDA-8C47-D818-4C67-741A82289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Half Adder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3E9C3C5C-1475-A815-39B3-F7CD061ECB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9906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Scrivere la tabella di verità relativa alla somma di due addendi. Riportare sia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uscita somma che quella riporto. Disegnare anche il circuito equivalente.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101379" name="Picture 4">
            <a:extLst>
              <a:ext uri="{FF2B5EF4-FFF2-40B4-BE49-F238E27FC236}">
                <a16:creationId xmlns:a16="http://schemas.microsoft.com/office/drawing/2014/main" id="{9F51E14B-60D9-16FD-CEC8-AF1B1B7C1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1"/>
          <a:stretch>
            <a:fillRect/>
          </a:stretch>
        </p:blipFill>
        <p:spPr bwMode="auto">
          <a:xfrm>
            <a:off x="177800" y="1905000"/>
            <a:ext cx="36226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5">
            <a:extLst>
              <a:ext uri="{FF2B5EF4-FFF2-40B4-BE49-F238E27FC236}">
                <a16:creationId xmlns:a16="http://schemas.microsoft.com/office/drawing/2014/main" id="{F8F328CF-D14B-737E-D120-1020E8BB4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3581400"/>
            <a:ext cx="24765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1" name="Picture 6">
            <a:extLst>
              <a:ext uri="{FF2B5EF4-FFF2-40B4-BE49-F238E27FC236}">
                <a16:creationId xmlns:a16="http://schemas.microsoft.com/office/drawing/2014/main" id="{19A5707F-5E56-90AE-526F-7162CC4A8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119313"/>
            <a:ext cx="36734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2" name="Picture 10">
            <a:extLst>
              <a:ext uri="{FF2B5EF4-FFF2-40B4-BE49-F238E27FC236}">
                <a16:creationId xmlns:a16="http://schemas.microsoft.com/office/drawing/2014/main" id="{0891ACAC-61ED-E944-F918-65E9A7E93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25" y="4524375"/>
            <a:ext cx="2497138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383" name="Group 12">
            <a:extLst>
              <a:ext uri="{FF2B5EF4-FFF2-40B4-BE49-F238E27FC236}">
                <a16:creationId xmlns:a16="http://schemas.microsoft.com/office/drawing/2014/main" id="{615F189A-ECE9-3952-667E-06CCEE67B5E7}"/>
              </a:ext>
            </a:extLst>
          </p:cNvPr>
          <p:cNvGrpSpPr>
            <a:grpSpLocks/>
          </p:cNvGrpSpPr>
          <p:nvPr/>
        </p:nvGrpSpPr>
        <p:grpSpPr bwMode="auto">
          <a:xfrm>
            <a:off x="3400425" y="4262438"/>
            <a:ext cx="2425700" cy="947737"/>
            <a:chOff x="2142" y="2685"/>
            <a:chExt cx="1528" cy="597"/>
          </a:xfrm>
        </p:grpSpPr>
        <p:grpSp>
          <p:nvGrpSpPr>
            <p:cNvPr id="101385" name="Group 7">
              <a:extLst>
                <a:ext uri="{FF2B5EF4-FFF2-40B4-BE49-F238E27FC236}">
                  <a16:creationId xmlns:a16="http://schemas.microsoft.com/office/drawing/2014/main" id="{103B5922-D50B-575F-233F-82755F0D50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2" y="2685"/>
              <a:ext cx="1528" cy="597"/>
              <a:chOff x="1968" y="2914"/>
              <a:chExt cx="1200" cy="449"/>
            </a:xfrm>
          </p:grpSpPr>
          <p:pic>
            <p:nvPicPr>
              <p:cNvPr id="101387" name="Picture 8">
                <a:extLst>
                  <a:ext uri="{FF2B5EF4-FFF2-40B4-BE49-F238E27FC236}">
                    <a16:creationId xmlns:a16="http://schemas.microsoft.com/office/drawing/2014/main" id="{C2EA5E83-EDB6-BBE5-B58D-B4A09A8648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8" y="2914"/>
                <a:ext cx="1200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1388" name="Text Box 9">
                <a:extLst>
                  <a:ext uri="{FF2B5EF4-FFF2-40B4-BE49-F238E27FC236}">
                    <a16:creationId xmlns:a16="http://schemas.microsoft.com/office/drawing/2014/main" id="{15A87A89-E7CD-E4A4-D3D2-96D214B02D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6" y="3109"/>
                <a:ext cx="15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600">
                    <a:latin typeface="Arial" panose="020B0604020202020204" pitchFamily="34" charset="0"/>
                  </a:rPr>
                  <a:t>r</a:t>
                </a:r>
              </a:p>
            </p:txBody>
          </p:sp>
        </p:grpSp>
        <p:sp>
          <p:nvSpPr>
            <p:cNvPr id="101386" name="Rectangle 11">
              <a:extLst>
                <a:ext uri="{FF2B5EF4-FFF2-40B4-BE49-F238E27FC236}">
                  <a16:creationId xmlns:a16="http://schemas.microsoft.com/office/drawing/2014/main" id="{3C09535D-6835-64AC-5DE0-C40D57392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" y="2720"/>
              <a:ext cx="90" cy="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101384" name="Segnaposto numero diapositiva 12">
            <a:extLst>
              <a:ext uri="{FF2B5EF4-FFF2-40B4-BE49-F238E27FC236}">
                <a16:creationId xmlns:a16="http://schemas.microsoft.com/office/drawing/2014/main" id="{4D2D150D-F8CA-2728-4463-6E7465CC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D0C943-B477-44E1-8939-9EADCD63BCE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it-IT" altLang="it-IT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791242EF-E54B-E674-439E-7A3262345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165100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 (1/2)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2EE744A1-1696-2384-F9E4-7002CB6C04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9906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Scrivere la tabella di verità relativa alla somma di due addendi più il riporto entrante. Riportare sia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uscita somma che quella riporto.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102403" name="Picture 4">
            <a:extLst>
              <a:ext uri="{FF2B5EF4-FFF2-40B4-BE49-F238E27FC236}">
                <a16:creationId xmlns:a16="http://schemas.microsoft.com/office/drawing/2014/main" id="{8E9AA1EF-E443-6E5C-17C3-C904E1C35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3783013"/>
            <a:ext cx="2889250" cy="260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4" name="Picture 5">
            <a:extLst>
              <a:ext uri="{FF2B5EF4-FFF2-40B4-BE49-F238E27FC236}">
                <a16:creationId xmlns:a16="http://schemas.microsoft.com/office/drawing/2014/main" id="{9A9D916A-2973-7477-04EA-9EF0AA5E1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214563"/>
            <a:ext cx="3209925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05" name="Group 6">
            <a:extLst>
              <a:ext uri="{FF2B5EF4-FFF2-40B4-BE49-F238E27FC236}">
                <a16:creationId xmlns:a16="http://schemas.microsoft.com/office/drawing/2014/main" id="{88826A10-03FD-C897-60EB-43B4DF900722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224088"/>
            <a:ext cx="3276600" cy="1752600"/>
            <a:chOff x="3375" y="1344"/>
            <a:chExt cx="1905" cy="1104"/>
          </a:xfrm>
        </p:grpSpPr>
        <p:pic>
          <p:nvPicPr>
            <p:cNvPr id="102410" name="Picture 7">
              <a:extLst>
                <a:ext uri="{FF2B5EF4-FFF2-40B4-BE49-F238E27FC236}">
                  <a16:creationId xmlns:a16="http://schemas.microsoft.com/office/drawing/2014/main" id="{568F3511-108D-ADB0-B085-63E4EF69E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2" b="3999"/>
            <a:stretch>
              <a:fillRect/>
            </a:stretch>
          </p:blipFill>
          <p:spPr bwMode="auto">
            <a:xfrm>
              <a:off x="3426" y="1488"/>
              <a:ext cx="185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11" name="Text Box 8">
              <a:extLst>
                <a:ext uri="{FF2B5EF4-FFF2-40B4-BE49-F238E27FC236}">
                  <a16:creationId xmlns:a16="http://schemas.microsoft.com/office/drawing/2014/main" id="{88D1F9CE-E568-5363-6E24-01E48BEF3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5" y="1344"/>
              <a:ext cx="192" cy="5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>
                  <a:latin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02406" name="Group 9">
            <a:extLst>
              <a:ext uri="{FF2B5EF4-FFF2-40B4-BE49-F238E27FC236}">
                <a16:creationId xmlns:a16="http://schemas.microsoft.com/office/drawing/2014/main" id="{8E04E30A-F891-B3B5-5947-5F941D737E1A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110038"/>
            <a:ext cx="3286125" cy="1695450"/>
            <a:chOff x="3369" y="2388"/>
            <a:chExt cx="1911" cy="1068"/>
          </a:xfrm>
        </p:grpSpPr>
        <p:pic>
          <p:nvPicPr>
            <p:cNvPr id="102408" name="Picture 10">
              <a:extLst>
                <a:ext uri="{FF2B5EF4-FFF2-40B4-BE49-F238E27FC236}">
                  <a16:creationId xmlns:a16="http://schemas.microsoft.com/office/drawing/2014/main" id="{ABC5434F-74FF-31E2-DCB8-066A871E4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06" r="2499" b="5882"/>
            <a:stretch>
              <a:fillRect/>
            </a:stretch>
          </p:blipFill>
          <p:spPr bwMode="auto">
            <a:xfrm>
              <a:off x="3408" y="2544"/>
              <a:ext cx="1872" cy="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09" name="Text Box 11">
              <a:extLst>
                <a:ext uri="{FF2B5EF4-FFF2-40B4-BE49-F238E27FC236}">
                  <a16:creationId xmlns:a16="http://schemas.microsoft.com/office/drawing/2014/main" id="{093A960B-7C82-8067-2096-DAA798130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" y="2388"/>
              <a:ext cx="192" cy="5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102407" name="Segnaposto numero diapositiva 11">
            <a:extLst>
              <a:ext uri="{FF2B5EF4-FFF2-40B4-BE49-F238E27FC236}">
                <a16:creationId xmlns:a16="http://schemas.microsoft.com/office/drawing/2014/main" id="{EE7D8F01-0C5F-AEFE-B3CD-EA647EA9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85202D-24D7-4C52-B493-EB57B04B534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it-IT" altLang="it-IT" sz="1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E43197BD-09B8-5CDA-7782-74D7BAF12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25" y="247650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 (2/2)</a:t>
            </a:r>
          </a:p>
        </p:txBody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8CC1D080-1C80-AC24-9293-F44D6B085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5283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1800" b="0"/>
              <a:t>Le uscite valgono quindi:</a:t>
            </a:r>
          </a:p>
        </p:txBody>
      </p:sp>
      <p:pic>
        <p:nvPicPr>
          <p:cNvPr id="103427" name="Picture 4">
            <a:extLst>
              <a:ext uri="{FF2B5EF4-FFF2-40B4-BE49-F238E27FC236}">
                <a16:creationId xmlns:a16="http://schemas.microsoft.com/office/drawing/2014/main" id="{D25F3139-D076-4134-4A97-9B352120B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657350"/>
            <a:ext cx="48704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3428" name="Object 5">
            <a:extLst>
              <a:ext uri="{FF2B5EF4-FFF2-40B4-BE49-F238E27FC236}">
                <a16:creationId xmlns:a16="http://schemas.microsoft.com/office/drawing/2014/main" id="{7747A51C-A0B7-DB60-C1AB-46965059971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68338" y="2266950"/>
          <a:ext cx="63452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2266950"/>
                        <a:ext cx="6345237" cy="4635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29" name="Picture 6">
            <a:extLst>
              <a:ext uri="{FF2B5EF4-FFF2-40B4-BE49-F238E27FC236}">
                <a16:creationId xmlns:a16="http://schemas.microsoft.com/office/drawing/2014/main" id="{575365CA-669A-98ED-DAA8-F5E5AD64B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2"/>
          <a:stretch>
            <a:fillRect/>
          </a:stretch>
        </p:blipFill>
        <p:spPr bwMode="auto">
          <a:xfrm>
            <a:off x="560388" y="2997200"/>
            <a:ext cx="4030662" cy="358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430" name="Group 7">
            <a:extLst>
              <a:ext uri="{FF2B5EF4-FFF2-40B4-BE49-F238E27FC236}">
                <a16:creationId xmlns:a16="http://schemas.microsoft.com/office/drawing/2014/main" id="{F558366E-F6EF-B378-D1D1-E4FEBD118E23}"/>
              </a:ext>
            </a:extLst>
          </p:cNvPr>
          <p:cNvGrpSpPr>
            <a:grpSpLocks/>
          </p:cNvGrpSpPr>
          <p:nvPr/>
        </p:nvGrpSpPr>
        <p:grpSpPr bwMode="auto">
          <a:xfrm>
            <a:off x="5156200" y="2995613"/>
            <a:ext cx="3738563" cy="3581400"/>
            <a:chOff x="3168" y="1872"/>
            <a:chExt cx="2174" cy="2256"/>
          </a:xfrm>
        </p:grpSpPr>
        <p:pic>
          <p:nvPicPr>
            <p:cNvPr id="103432" name="Picture 8">
              <a:extLst>
                <a:ext uri="{FF2B5EF4-FFF2-40B4-BE49-F238E27FC236}">
                  <a16:creationId xmlns:a16="http://schemas.microsoft.com/office/drawing/2014/main" id="{61806D1F-4AEF-F5AA-22A5-7836BF578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872"/>
              <a:ext cx="2174" cy="2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433" name="Text Box 9">
              <a:extLst>
                <a:ext uri="{FF2B5EF4-FFF2-40B4-BE49-F238E27FC236}">
                  <a16:creationId xmlns:a16="http://schemas.microsoft.com/office/drawing/2014/main" id="{0D35A683-F7F6-7A12-ADFB-641BB6D83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400"/>
              <a:ext cx="14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400"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103431" name="Segnaposto numero diapositiva 9">
            <a:extLst>
              <a:ext uri="{FF2B5EF4-FFF2-40B4-BE49-F238E27FC236}">
                <a16:creationId xmlns:a16="http://schemas.microsoft.com/office/drawing/2014/main" id="{CEB607A5-B6C2-64DB-9416-C5B0FDC2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C2C362-6802-4723-B992-956B383EC1C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it-IT" altLang="it-IT"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33B8112C-8776-9C52-3550-41C4ADB80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33375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Adder: sintesi per decomposizione</a:t>
            </a:r>
          </a:p>
        </p:txBody>
      </p:sp>
      <p:pic>
        <p:nvPicPr>
          <p:cNvPr id="104450" name="Picture 3">
            <a:extLst>
              <a:ext uri="{FF2B5EF4-FFF2-40B4-BE49-F238E27FC236}">
                <a16:creationId xmlns:a16="http://schemas.microsoft.com/office/drawing/2014/main" id="{F248D353-2872-D9D4-68FB-F770F39A8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7"/>
          <a:stretch>
            <a:fillRect/>
          </a:stretch>
        </p:blipFill>
        <p:spPr bwMode="auto">
          <a:xfrm>
            <a:off x="57150" y="1341438"/>
            <a:ext cx="5183188" cy="478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1" name="Picture 4">
            <a:extLst>
              <a:ext uri="{FF2B5EF4-FFF2-40B4-BE49-F238E27FC236}">
                <a16:creationId xmlns:a16="http://schemas.microsoft.com/office/drawing/2014/main" id="{D19BE9E3-34B3-01E0-6BFC-8990B348C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44775"/>
            <a:ext cx="49688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Segnaposto numero diapositiva 4">
            <a:extLst>
              <a:ext uri="{FF2B5EF4-FFF2-40B4-BE49-F238E27FC236}">
                <a16:creationId xmlns:a16="http://schemas.microsoft.com/office/drawing/2014/main" id="{88647EC3-45D5-FB28-683E-DF727864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DECC88-5CC6-40E6-8AF0-620C73A56667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egnaposto numero diapositiva 3">
            <a:extLst>
              <a:ext uri="{FF2B5EF4-FFF2-40B4-BE49-F238E27FC236}">
                <a16:creationId xmlns:a16="http://schemas.microsoft.com/office/drawing/2014/main" id="{C8264B56-1F10-4087-BC62-4E0CF618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5B9086A-CD46-4E85-8F12-79B8B2B35D8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it-IT" altLang="it-IT" sz="14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C29CD9BA-FF20-AF0B-A7C0-46F238CC4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85C099B6-8D52-39B9-5320-83DFE9ED75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possibile isolare il fattore </a:t>
            </a:r>
            <a:r>
              <a:rPr lang="it-IT" altLang="ja-JP" b="1">
                <a:ea typeface="ＭＳ Ｐゴシック" panose="020B0600070205080204" pitchFamily="34" charset="-128"/>
              </a:rPr>
              <a:t>(a </a:t>
            </a:r>
            <a:r>
              <a:rPr lang="it-IT" altLang="ja-JP" b="1">
                <a:ea typeface="ＭＳ Ｐゴシック" panose="020B0600070205080204" pitchFamily="34" charset="-128"/>
                <a:sym typeface="Symbol" panose="05050102010706020507" pitchFamily="18" charset="2"/>
              </a:rPr>
              <a:t></a:t>
            </a:r>
            <a:r>
              <a:rPr lang="it-IT" altLang="ja-JP" b="1">
                <a:ea typeface="ＭＳ Ｐゴシック" panose="020B0600070205080204" pitchFamily="34" charset="-128"/>
              </a:rPr>
              <a:t> b)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Rielaborando le precedenti espressioni è quindi possibile ottenere le seguenti espressioni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completo: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05476" name="Rectangle 5">
            <a:extLst>
              <a:ext uri="{FF2B5EF4-FFF2-40B4-BE49-F238E27FC236}">
                <a16:creationId xmlns:a16="http://schemas.microsoft.com/office/drawing/2014/main" id="{CEC3CFFE-63C5-1CAE-244C-EBCB6108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05477" name="Object 2">
            <a:extLst>
              <a:ext uri="{FF2B5EF4-FFF2-40B4-BE49-F238E27FC236}">
                <a16:creationId xmlns:a16="http://schemas.microsoft.com/office/drawing/2014/main" id="{37E762BD-7B58-A62E-7C86-C5C250CD3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838" y="3903663"/>
          <a:ext cx="40544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903663"/>
                        <a:ext cx="40544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egnaposto numero diapositiva 4">
            <a:extLst>
              <a:ext uri="{FF2B5EF4-FFF2-40B4-BE49-F238E27FC236}">
                <a16:creationId xmlns:a16="http://schemas.microsoft.com/office/drawing/2014/main" id="{2CE5E0E1-C401-2C07-4112-9B4A99B9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A36C0C4-61B8-4EB2-ADD0-3A2577B58431}" type="slidenum">
              <a:rPr lang="it-IT" altLang="it-IT" sz="10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it-IT" altLang="it-IT" sz="10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FF99A451-C930-A078-FE0A-DAC8BA497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16E9859-3013-54F3-31BB-5B1E336272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812213" cy="218598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Pertanto, un addizionatore completo può essere ottenuto a partire da due semiaddizionatori:</a:t>
            </a:r>
          </a:p>
        </p:txBody>
      </p:sp>
      <p:grpSp>
        <p:nvGrpSpPr>
          <p:cNvPr id="106500" name="Group 36">
            <a:extLst>
              <a:ext uri="{FF2B5EF4-FFF2-40B4-BE49-F238E27FC236}">
                <a16:creationId xmlns:a16="http://schemas.microsoft.com/office/drawing/2014/main" id="{F806A9B3-EE8D-3499-7292-91328697B462}"/>
              </a:ext>
            </a:extLst>
          </p:cNvPr>
          <p:cNvGrpSpPr>
            <a:grpSpLocks/>
          </p:cNvGrpSpPr>
          <p:nvPr/>
        </p:nvGrpSpPr>
        <p:grpSpPr bwMode="auto">
          <a:xfrm>
            <a:off x="1722438" y="4221163"/>
            <a:ext cx="6934200" cy="1879600"/>
            <a:chOff x="1436" y="2286"/>
            <a:chExt cx="4032" cy="1184"/>
          </a:xfrm>
        </p:grpSpPr>
        <p:grpSp>
          <p:nvGrpSpPr>
            <p:cNvPr id="106502" name="Group 9">
              <a:extLst>
                <a:ext uri="{FF2B5EF4-FFF2-40B4-BE49-F238E27FC236}">
                  <a16:creationId xmlns:a16="http://schemas.microsoft.com/office/drawing/2014/main" id="{1FA610FE-902C-1ECB-59A0-92C5517C40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3" y="2438"/>
              <a:ext cx="750" cy="395"/>
              <a:chOff x="2083" y="2438"/>
              <a:chExt cx="750" cy="395"/>
            </a:xfrm>
          </p:grpSpPr>
          <p:sp>
            <p:nvSpPr>
              <p:cNvPr id="106523" name="Rectangle 4">
                <a:extLst>
                  <a:ext uri="{FF2B5EF4-FFF2-40B4-BE49-F238E27FC236}">
                    <a16:creationId xmlns:a16="http://schemas.microsoft.com/office/drawing/2014/main" id="{974BEA4C-1686-667D-7866-5D55B1634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3" y="2438"/>
                <a:ext cx="750" cy="39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/>
              </a:p>
            </p:txBody>
          </p:sp>
          <p:sp>
            <p:nvSpPr>
              <p:cNvPr id="106524" name="Text Box 6">
                <a:extLst>
                  <a:ext uri="{FF2B5EF4-FFF2-40B4-BE49-F238E27FC236}">
                    <a16:creationId xmlns:a16="http://schemas.microsoft.com/office/drawing/2014/main" id="{045A9D74-31B5-4F71-2B04-37998376C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0" y="2509"/>
                <a:ext cx="6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800"/>
                  <a:t>HA</a:t>
                </a:r>
              </a:p>
            </p:txBody>
          </p:sp>
        </p:grpSp>
        <p:grpSp>
          <p:nvGrpSpPr>
            <p:cNvPr id="106503" name="Group 8">
              <a:extLst>
                <a:ext uri="{FF2B5EF4-FFF2-40B4-BE49-F238E27FC236}">
                  <a16:creationId xmlns:a16="http://schemas.microsoft.com/office/drawing/2014/main" id="{D7D40B11-EF7C-4640-A1BA-7140137FB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6" y="3039"/>
              <a:ext cx="750" cy="395"/>
              <a:chOff x="3096" y="3039"/>
              <a:chExt cx="750" cy="395"/>
            </a:xfrm>
          </p:grpSpPr>
          <p:sp>
            <p:nvSpPr>
              <p:cNvPr id="106521" name="Rectangle 5">
                <a:extLst>
                  <a:ext uri="{FF2B5EF4-FFF2-40B4-BE49-F238E27FC236}">
                    <a16:creationId xmlns:a16="http://schemas.microsoft.com/office/drawing/2014/main" id="{3E1C3294-F935-5417-5E8E-FB61BCA3A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6" y="3039"/>
                <a:ext cx="750" cy="39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/>
              </a:p>
            </p:txBody>
          </p:sp>
          <p:sp>
            <p:nvSpPr>
              <p:cNvPr id="106522" name="Text Box 7">
                <a:extLst>
                  <a:ext uri="{FF2B5EF4-FFF2-40B4-BE49-F238E27FC236}">
                    <a16:creationId xmlns:a16="http://schemas.microsoft.com/office/drawing/2014/main" id="{B8CD9252-89A2-C628-6C37-BB0743BEA4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3118"/>
                <a:ext cx="6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800"/>
                  <a:t>HA</a:t>
                </a:r>
              </a:p>
            </p:txBody>
          </p:sp>
        </p:grpSp>
        <p:sp>
          <p:nvSpPr>
            <p:cNvPr id="106504" name="Line 10">
              <a:extLst>
                <a:ext uri="{FF2B5EF4-FFF2-40B4-BE49-F238E27FC236}">
                  <a16:creationId xmlns:a16="http://schemas.microsoft.com/office/drawing/2014/main" id="{7354A017-65D3-5745-D0F2-BCAFD2CF2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517"/>
              <a:ext cx="3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05" name="Line 11">
              <a:extLst>
                <a:ext uri="{FF2B5EF4-FFF2-40B4-BE49-F238E27FC236}">
                  <a16:creationId xmlns:a16="http://schemas.microsoft.com/office/drawing/2014/main" id="{8CC84992-A62B-C6D0-F8EA-6F742529C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2684"/>
              <a:ext cx="3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06" name="Line 12">
              <a:extLst>
                <a:ext uri="{FF2B5EF4-FFF2-40B4-BE49-F238E27FC236}">
                  <a16:creationId xmlns:a16="http://schemas.microsoft.com/office/drawing/2014/main" id="{46F57F2A-B9F9-B186-8B6B-4F0C20CA9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5" y="3357"/>
              <a:ext cx="13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6507" name="AutoShape 14">
              <a:extLst>
                <a:ext uri="{FF2B5EF4-FFF2-40B4-BE49-F238E27FC236}">
                  <a16:creationId xmlns:a16="http://schemas.microsoft.com/office/drawing/2014/main" id="{F0E49B11-1FC5-306F-1BB1-B784BDE0F7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8" y="3314"/>
              <a:ext cx="328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6508" name="Text Box 15">
              <a:extLst>
                <a:ext uri="{FF2B5EF4-FFF2-40B4-BE49-F238E27FC236}">
                  <a16:creationId xmlns:a16="http://schemas.microsoft.com/office/drawing/2014/main" id="{BA06A920-F6C2-4216-CAB5-0F9D00314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2383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a</a:t>
              </a:r>
            </a:p>
          </p:txBody>
        </p:sp>
        <p:sp>
          <p:nvSpPr>
            <p:cNvPr id="106509" name="Text Box 16">
              <a:extLst>
                <a:ext uri="{FF2B5EF4-FFF2-40B4-BE49-F238E27FC236}">
                  <a16:creationId xmlns:a16="http://schemas.microsoft.com/office/drawing/2014/main" id="{D39BF988-44B3-9927-8C3B-8F76C22E1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8" y="2605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b</a:t>
              </a:r>
            </a:p>
          </p:txBody>
        </p:sp>
        <p:sp>
          <p:nvSpPr>
            <p:cNvPr id="106510" name="Text Box 17">
              <a:extLst>
                <a:ext uri="{FF2B5EF4-FFF2-40B4-BE49-F238E27FC236}">
                  <a16:creationId xmlns:a16="http://schemas.microsoft.com/office/drawing/2014/main" id="{ECA8C5A9-5E2C-80FD-1130-29BD26AB3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" y="3237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r</a:t>
              </a:r>
            </a:p>
          </p:txBody>
        </p:sp>
        <p:sp>
          <p:nvSpPr>
            <p:cNvPr id="106511" name="Text Box 19">
              <a:extLst>
                <a:ext uri="{FF2B5EF4-FFF2-40B4-BE49-F238E27FC236}">
                  <a16:creationId xmlns:a16="http://schemas.microsoft.com/office/drawing/2014/main" id="{A681C96E-A041-AADD-D82F-D7D1BF159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3207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a </a:t>
              </a:r>
              <a:r>
                <a:rPr lang="it-IT" altLang="it-IT" sz="1800">
                  <a:sym typeface="Symbol" panose="05050102010706020507" pitchFamily="18" charset="2"/>
                </a:rPr>
                <a:t></a:t>
              </a:r>
              <a:r>
                <a:rPr lang="it-IT" altLang="it-IT" sz="1800"/>
                <a:t> b </a:t>
              </a:r>
              <a:r>
                <a:rPr lang="it-IT" altLang="it-IT" sz="1800">
                  <a:sym typeface="Symbol" panose="05050102010706020507" pitchFamily="18" charset="2"/>
                </a:rPr>
                <a:t> r</a:t>
              </a:r>
            </a:p>
          </p:txBody>
        </p:sp>
        <p:sp>
          <p:nvSpPr>
            <p:cNvPr id="106512" name="Text Box 20">
              <a:extLst>
                <a:ext uri="{FF2B5EF4-FFF2-40B4-BE49-F238E27FC236}">
                  <a16:creationId xmlns:a16="http://schemas.microsoft.com/office/drawing/2014/main" id="{A2B8A61C-453F-43B8-20FA-594A6BE5A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735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H = a </a:t>
              </a:r>
              <a:r>
                <a:rPr lang="it-IT" altLang="it-IT" sz="1800">
                  <a:sym typeface="Symbol" panose="05050102010706020507" pitchFamily="18" charset="2"/>
                </a:rPr>
                <a:t></a:t>
              </a:r>
              <a:r>
                <a:rPr lang="it-IT" altLang="it-IT" sz="1800"/>
                <a:t> b</a:t>
              </a:r>
              <a:endParaRPr lang="it-IT" altLang="it-IT" sz="1800">
                <a:sym typeface="Symbol" panose="05050102010706020507" pitchFamily="18" charset="2"/>
              </a:endParaRPr>
            </a:p>
          </p:txBody>
        </p:sp>
        <p:sp>
          <p:nvSpPr>
            <p:cNvPr id="106513" name="AutoShape 26">
              <a:extLst>
                <a:ext uri="{FF2B5EF4-FFF2-40B4-BE49-F238E27FC236}">
                  <a16:creationId xmlns:a16="http://schemas.microsoft.com/office/drawing/2014/main" id="{6BB0C9B8-A59B-242F-64E5-C5412120E3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06" y="2430"/>
              <a:ext cx="346" cy="237"/>
            </a:xfrm>
            <a:prstGeom prst="flowChartOnlineStorag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/>
            </a:p>
          </p:txBody>
        </p:sp>
        <p:sp>
          <p:nvSpPr>
            <p:cNvPr id="106514" name="Freeform 28">
              <a:extLst>
                <a:ext uri="{FF2B5EF4-FFF2-40B4-BE49-F238E27FC236}">
                  <a16:creationId xmlns:a16="http://schemas.microsoft.com/office/drawing/2014/main" id="{0E4DAE65-B690-031A-EDC2-9E8291E43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604"/>
              <a:ext cx="402" cy="528"/>
            </a:xfrm>
            <a:custGeom>
              <a:avLst/>
              <a:gdLst>
                <a:gd name="T0" fmla="*/ 0 w 402"/>
                <a:gd name="T1" fmla="*/ 528 h 528"/>
                <a:gd name="T2" fmla="*/ 173 w 402"/>
                <a:gd name="T3" fmla="*/ 528 h 528"/>
                <a:gd name="T4" fmla="*/ 173 w 402"/>
                <a:gd name="T5" fmla="*/ 0 h 528"/>
                <a:gd name="T6" fmla="*/ 402 w 402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528"/>
                <a:gd name="T14" fmla="*/ 402 w 402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528">
                  <a:moveTo>
                    <a:pt x="0" y="528"/>
                  </a:moveTo>
                  <a:lnTo>
                    <a:pt x="173" y="528"/>
                  </a:lnTo>
                  <a:lnTo>
                    <a:pt x="173" y="0"/>
                  </a:lnTo>
                  <a:lnTo>
                    <a:pt x="40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5" name="Freeform 30">
              <a:extLst>
                <a:ext uri="{FF2B5EF4-FFF2-40B4-BE49-F238E27FC236}">
                  <a16:creationId xmlns:a16="http://schemas.microsoft.com/office/drawing/2014/main" id="{605EEDE9-A0E9-1DBB-F749-6E9301A5A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2714"/>
              <a:ext cx="260" cy="450"/>
            </a:xfrm>
            <a:custGeom>
              <a:avLst/>
              <a:gdLst>
                <a:gd name="T0" fmla="*/ 0 w 260"/>
                <a:gd name="T1" fmla="*/ 0 h 450"/>
                <a:gd name="T2" fmla="*/ 94 w 260"/>
                <a:gd name="T3" fmla="*/ 0 h 450"/>
                <a:gd name="T4" fmla="*/ 94 w 260"/>
                <a:gd name="T5" fmla="*/ 450 h 450"/>
                <a:gd name="T6" fmla="*/ 260 w 260"/>
                <a:gd name="T7" fmla="*/ 450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450"/>
                <a:gd name="T14" fmla="*/ 260 w 260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450">
                  <a:moveTo>
                    <a:pt x="0" y="0"/>
                  </a:moveTo>
                  <a:lnTo>
                    <a:pt x="94" y="0"/>
                  </a:lnTo>
                  <a:lnTo>
                    <a:pt x="94" y="450"/>
                  </a:lnTo>
                  <a:lnTo>
                    <a:pt x="260" y="4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6" name="Line 31">
              <a:extLst>
                <a:ext uri="{FF2B5EF4-FFF2-40B4-BE49-F238E27FC236}">
                  <a16:creationId xmlns:a16="http://schemas.microsoft.com/office/drawing/2014/main" id="{EBC85A3B-D93D-FD8D-13B7-C9AAF791F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" y="2509"/>
              <a:ext cx="1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7" name="Line 32">
              <a:extLst>
                <a:ext uri="{FF2B5EF4-FFF2-40B4-BE49-F238E27FC236}">
                  <a16:creationId xmlns:a16="http://schemas.microsoft.com/office/drawing/2014/main" id="{60E1A0BF-9F0F-445D-0C96-BFC90F422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2541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8" name="Text Box 33">
              <a:extLst>
                <a:ext uri="{FF2B5EF4-FFF2-40B4-BE49-F238E27FC236}">
                  <a16:creationId xmlns:a16="http://schemas.microsoft.com/office/drawing/2014/main" id="{5B76D146-2327-A4FB-D86B-757288C56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2286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G = a </a:t>
              </a:r>
              <a:r>
                <a:rPr lang="en-US" altLang="it-IT" sz="1800">
                  <a:cs typeface="Arial" panose="020B0604020202020204" pitchFamily="34" charset="0"/>
                  <a:sym typeface="Symbol" panose="05050102010706020507" pitchFamily="18" charset="2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 b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06519" name="Text Box 34">
              <a:extLst>
                <a:ext uri="{FF2B5EF4-FFF2-40B4-BE49-F238E27FC236}">
                  <a16:creationId xmlns:a16="http://schemas.microsoft.com/office/drawing/2014/main" id="{60C75574-0064-4D58-CA1B-06C056A4B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746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H </a:t>
              </a:r>
              <a:r>
                <a:rPr lang="en-US" altLang="it-IT" sz="1800">
                  <a:cs typeface="Arial" panose="020B0604020202020204" pitchFamily="34" charset="0"/>
                  <a:sym typeface="Symbol" panose="05050102010706020507" pitchFamily="18" charset="2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 r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06520" name="Text Box 35">
              <a:extLst>
                <a:ext uri="{FF2B5EF4-FFF2-40B4-BE49-F238E27FC236}">
                  <a16:creationId xmlns:a16="http://schemas.microsoft.com/office/drawing/2014/main" id="{2C5603E7-375F-105C-774C-9040EFF10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9" y="2311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G + H</a:t>
              </a:r>
              <a:r>
                <a:rPr lang="en-US" altLang="it-IT" sz="1800">
                  <a:cs typeface="Arial" panose="020B0604020202020204" pitchFamily="34" charset="0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r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06501" name="Object 2">
            <a:extLst>
              <a:ext uri="{FF2B5EF4-FFF2-40B4-BE49-F238E27FC236}">
                <a16:creationId xmlns:a16="http://schemas.microsoft.com/office/drawing/2014/main" id="{4762F760-BB41-4A84-722D-4FC27795B0E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511425" y="2714625"/>
          <a:ext cx="451326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2714625"/>
                        <a:ext cx="451326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egnaposto numero diapositiva 3">
            <a:extLst>
              <a:ext uri="{FF2B5EF4-FFF2-40B4-BE49-F238E27FC236}">
                <a16:creationId xmlns:a16="http://schemas.microsoft.com/office/drawing/2014/main" id="{DB9F6D5B-59C1-1FC2-6C78-ABAD0F29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3C01D94-4CC4-4F99-81F6-9F68E04B831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it-IT" altLang="it-IT" sz="14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A96E475F-9FEF-EF4D-089A-577E3ABCF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binario: il riporto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0AB6BA46-EB4F-8AA8-E6F9-7D6EC15D6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Le diverse componenti dell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ottenuta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binario assumono un significato particolare:</a:t>
            </a:r>
          </a:p>
          <a:p>
            <a:pPr lvl="1"/>
            <a:r>
              <a:rPr lang="it-IT" altLang="it-IT" sz="2800" b="1">
                <a:ea typeface="ＭＳ Ｐゴシック" panose="020B0600070205080204" pitchFamily="34" charset="-128"/>
              </a:rPr>
              <a:t>G = a·b</a:t>
            </a:r>
            <a:r>
              <a:rPr lang="it-IT" altLang="it-IT" sz="2800">
                <a:ea typeface="ＭＳ Ｐゴシック" panose="020B0600070205080204" pitchFamily="34" charset="-128"/>
              </a:rPr>
              <a:t>  </a:t>
            </a:r>
            <a:r>
              <a:rPr lang="ja-JP" altLang="it-IT" sz="2800">
                <a:ea typeface="ＭＳ Ｐゴシック" panose="020B0600070205080204" pitchFamily="34" charset="-128"/>
              </a:rPr>
              <a:t>“</a:t>
            </a:r>
            <a:r>
              <a:rPr lang="it-IT" altLang="ja-JP" sz="2800" b="1">
                <a:ea typeface="ＭＳ Ｐゴシック" panose="020B0600070205080204" pitchFamily="34" charset="-128"/>
              </a:rPr>
              <a:t>riporto generato</a:t>
            </a:r>
            <a:r>
              <a:rPr lang="ja-JP" altLang="it-IT" sz="2800">
                <a:ea typeface="ＭＳ Ｐゴシック" panose="020B0600070205080204" pitchFamily="34" charset="-128"/>
              </a:rPr>
              <a:t>”</a:t>
            </a:r>
            <a:r>
              <a:rPr lang="it-IT" altLang="ja-JP" sz="2800">
                <a:ea typeface="ＭＳ Ｐゴシック" panose="020B0600070205080204" pitchFamily="34" charset="-128"/>
              </a:rPr>
              <a:t>: indica la creazione di un riporto all</a:t>
            </a:r>
            <a:r>
              <a:rPr lang="ja-JP" altLang="it-IT" sz="2800">
                <a:ea typeface="ＭＳ Ｐゴシック" panose="020B0600070205080204" pitchFamily="34" charset="-128"/>
              </a:rPr>
              <a:t>’</a:t>
            </a:r>
            <a:r>
              <a:rPr lang="it-IT" altLang="ja-JP" sz="2800">
                <a:ea typeface="ＭＳ Ｐゴシック" panose="020B0600070205080204" pitchFamily="34" charset="-128"/>
              </a:rPr>
              <a:t>interno dell</a:t>
            </a:r>
            <a:r>
              <a:rPr lang="ja-JP" altLang="it-IT" sz="2800">
                <a:ea typeface="ＭＳ Ｐゴシック" panose="020B0600070205080204" pitchFamily="34" charset="-128"/>
              </a:rPr>
              <a:t>’</a:t>
            </a:r>
            <a:r>
              <a:rPr lang="it-IT" altLang="ja-JP" sz="2800">
                <a:ea typeface="ＭＳ Ｐゴシック" panose="020B0600070205080204" pitchFamily="34" charset="-128"/>
              </a:rPr>
              <a:t>addizionatore binario</a:t>
            </a:r>
          </a:p>
          <a:p>
            <a:pPr lvl="1"/>
            <a:r>
              <a:rPr lang="it-IT" altLang="it-IT" sz="2800" b="1">
                <a:ea typeface="ＭＳ Ｐゴシック" panose="020B0600070205080204" pitchFamily="34" charset="-128"/>
              </a:rPr>
              <a:t>P = H = a</a:t>
            </a:r>
            <a:r>
              <a:rPr lang="it-IT" altLang="it-IT" sz="2800" b="1">
                <a:ea typeface="ＭＳ Ｐゴシック" panose="020B0600070205080204" pitchFamily="34" charset="-128"/>
                <a:sym typeface="Symbol" panose="05050102010706020507" pitchFamily="18" charset="2"/>
              </a:rPr>
              <a:t></a:t>
            </a:r>
            <a:r>
              <a:rPr lang="it-IT" altLang="it-IT" sz="2800" b="1">
                <a:ea typeface="ＭＳ Ｐゴシック" panose="020B0600070205080204" pitchFamily="34" charset="-128"/>
              </a:rPr>
              <a:t>b</a:t>
            </a:r>
            <a:r>
              <a:rPr lang="it-IT" altLang="it-IT" sz="2800">
                <a:ea typeface="ＭＳ Ｐゴシック" panose="020B0600070205080204" pitchFamily="34" charset="-128"/>
              </a:rPr>
              <a:t> </a:t>
            </a:r>
            <a:r>
              <a:rPr lang="ja-JP" altLang="it-IT" sz="2800">
                <a:ea typeface="ＭＳ Ｐゴシック" panose="020B0600070205080204" pitchFamily="34" charset="-128"/>
              </a:rPr>
              <a:t>“</a:t>
            </a:r>
            <a:r>
              <a:rPr lang="it-IT" altLang="ja-JP" sz="2800" b="1">
                <a:ea typeface="ＭＳ Ｐゴシック" panose="020B0600070205080204" pitchFamily="34" charset="-128"/>
              </a:rPr>
              <a:t>riporto propagato</a:t>
            </a:r>
            <a:r>
              <a:rPr lang="ja-JP" altLang="it-IT" sz="2800">
                <a:ea typeface="ＭＳ Ｐゴシック" panose="020B0600070205080204" pitchFamily="34" charset="-128"/>
              </a:rPr>
              <a:t>”</a:t>
            </a:r>
            <a:r>
              <a:rPr lang="it-IT" altLang="ja-JP" sz="2800">
                <a:ea typeface="ＭＳ Ｐゴシック" panose="020B0600070205080204" pitchFamily="34" charset="-128"/>
              </a:rPr>
              <a:t>: indica se, in presenza di un riporto in ingresso, lo stesso verrà propagato in uscita</a:t>
            </a:r>
          </a:p>
          <a:p>
            <a:pPr lvl="1"/>
            <a:r>
              <a:rPr lang="it-IT" altLang="it-IT" sz="2800">
                <a:ea typeface="ＭＳ Ｐゴシック" panose="020B0600070205080204" pitchFamily="34" charset="-128"/>
              </a:rPr>
              <a:t>Il riporto in uscita può quindi essere espresso come </a:t>
            </a:r>
            <a:r>
              <a:rPr lang="it-IT" altLang="it-IT" sz="2800" b="1">
                <a:ea typeface="ＭＳ Ｐゴシック" panose="020B0600070205080204" pitchFamily="34" charset="-128"/>
              </a:rPr>
              <a:t>R=G+Pr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egnaposto numero diapositiva 3">
            <a:extLst>
              <a:ext uri="{FF2B5EF4-FFF2-40B4-BE49-F238E27FC236}">
                <a16:creationId xmlns:a16="http://schemas.microsoft.com/office/drawing/2014/main" id="{457F2402-84F7-3AAE-2220-9DC78488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A0BB0BE-A4CF-4C9A-B278-2649B9953F94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it-IT" altLang="it-IT" sz="14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1CDAD15B-AB53-00EE-A941-085890F6D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binario: conclusione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ED8FFC9B-3226-B1F7-9C44-81F64567E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completo (full-adder)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ha il riporto entrante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Semi-addizionatore (half-adder)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non include il riporto entrante</a:t>
            </a:r>
          </a:p>
        </p:txBody>
      </p:sp>
      <p:grpSp>
        <p:nvGrpSpPr>
          <p:cNvPr id="108548" name="Group 4">
            <a:extLst>
              <a:ext uri="{FF2B5EF4-FFF2-40B4-BE49-F238E27FC236}">
                <a16:creationId xmlns:a16="http://schemas.microsoft.com/office/drawing/2014/main" id="{26C23351-91B7-1230-0381-CF1E1D0AE04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97013" y="3395663"/>
            <a:ext cx="6586537" cy="2747962"/>
            <a:chOff x="3665" y="11420"/>
            <a:chExt cx="6040" cy="2730"/>
          </a:xfrm>
        </p:grpSpPr>
        <p:sp>
          <p:nvSpPr>
            <p:cNvPr id="108549" name="AutoShape 5">
              <a:extLst>
                <a:ext uri="{FF2B5EF4-FFF2-40B4-BE49-F238E27FC236}">
                  <a16:creationId xmlns:a16="http://schemas.microsoft.com/office/drawing/2014/main" id="{2DA5BC92-EEB2-5F0B-3452-801C8A1FE1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11420"/>
              <a:ext cx="6040" cy="2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08550" name="Text Box 6">
              <a:extLst>
                <a:ext uri="{FF2B5EF4-FFF2-40B4-BE49-F238E27FC236}">
                  <a16:creationId xmlns:a16="http://schemas.microsoft.com/office/drawing/2014/main" id="{9E89DB7A-57C2-8565-0B40-5CB7E2049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" y="12500"/>
              <a:ext cx="440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G</a:t>
              </a:r>
              <a:endParaRPr lang="it-IT" altLang="it-IT"/>
            </a:p>
          </p:txBody>
        </p:sp>
        <p:sp>
          <p:nvSpPr>
            <p:cNvPr id="108551" name="Text Box 7">
              <a:extLst>
                <a:ext uri="{FF2B5EF4-FFF2-40B4-BE49-F238E27FC236}">
                  <a16:creationId xmlns:a16="http://schemas.microsoft.com/office/drawing/2014/main" id="{2D61F5E6-A270-4B21-A5FB-F3E8F1D5C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5" y="12450"/>
              <a:ext cx="450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08552" name="Text Box 8">
              <a:extLst>
                <a:ext uri="{FF2B5EF4-FFF2-40B4-BE49-F238E27FC236}">
                  <a16:creationId xmlns:a16="http://schemas.microsoft.com/office/drawing/2014/main" id="{D3BABC4C-4381-31E4-B678-B6587926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12400"/>
              <a:ext cx="410" cy="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08553" name="Text Box 9">
              <a:extLst>
                <a:ext uri="{FF2B5EF4-FFF2-40B4-BE49-F238E27FC236}">
                  <a16:creationId xmlns:a16="http://schemas.microsoft.com/office/drawing/2014/main" id="{3B853566-499F-4177-D874-2F5794995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" y="12330"/>
              <a:ext cx="930" cy="9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/>
                <a:t>A</a:t>
              </a:r>
              <a:endParaRPr lang="it-IT" altLang="it-IT"/>
            </a:p>
          </p:txBody>
        </p:sp>
        <p:sp>
          <p:nvSpPr>
            <p:cNvPr id="108554" name="Line 10">
              <a:extLst>
                <a:ext uri="{FF2B5EF4-FFF2-40B4-BE49-F238E27FC236}">
                  <a16:creationId xmlns:a16="http://schemas.microsoft.com/office/drawing/2014/main" id="{863F4FD3-AE4D-D4D3-6E3B-221D1FA13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5" name="Line 11">
              <a:extLst>
                <a:ext uri="{FF2B5EF4-FFF2-40B4-BE49-F238E27FC236}">
                  <a16:creationId xmlns:a16="http://schemas.microsoft.com/office/drawing/2014/main" id="{E4C6370A-2DD8-91A1-AA24-E6A3E99C7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6" name="Text Box 12">
              <a:extLst>
                <a:ext uri="{FF2B5EF4-FFF2-40B4-BE49-F238E27FC236}">
                  <a16:creationId xmlns:a16="http://schemas.microsoft.com/office/drawing/2014/main" id="{518AC1F6-F0CC-26B4-6513-0CD453490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5" y="11550"/>
              <a:ext cx="1030" cy="3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 a       b  </a:t>
              </a:r>
              <a:endParaRPr lang="it-IT" altLang="it-IT"/>
            </a:p>
          </p:txBody>
        </p:sp>
        <p:sp>
          <p:nvSpPr>
            <p:cNvPr id="108557" name="Line 13">
              <a:extLst>
                <a:ext uri="{FF2B5EF4-FFF2-40B4-BE49-F238E27FC236}">
                  <a16:creationId xmlns:a16="http://schemas.microsoft.com/office/drawing/2014/main" id="{8D1E43BA-94D5-1497-7E6C-89E4E3E95A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5" y="12760"/>
              <a:ext cx="5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8" name="Line 14">
              <a:extLst>
                <a:ext uri="{FF2B5EF4-FFF2-40B4-BE49-F238E27FC236}">
                  <a16:creationId xmlns:a16="http://schemas.microsoft.com/office/drawing/2014/main" id="{1ED4C131-514E-0E1D-689E-CE0E76AA9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5" y="12750"/>
              <a:ext cx="440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9" name="Line 15">
              <a:extLst>
                <a:ext uri="{FF2B5EF4-FFF2-40B4-BE49-F238E27FC236}">
                  <a16:creationId xmlns:a16="http://schemas.microsoft.com/office/drawing/2014/main" id="{339AC8C6-535C-43E3-455E-6A556762D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5" y="13270"/>
              <a:ext cx="1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0" name="Text Box 16">
              <a:extLst>
                <a:ext uri="{FF2B5EF4-FFF2-40B4-BE49-F238E27FC236}">
                  <a16:creationId xmlns:a16="http://schemas.microsoft.com/office/drawing/2014/main" id="{FDB30237-4646-601F-D716-623E48C02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13750"/>
              <a:ext cx="460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S</a:t>
              </a:r>
              <a:endParaRPr lang="it-IT" altLang="it-IT"/>
            </a:p>
          </p:txBody>
        </p:sp>
        <p:sp>
          <p:nvSpPr>
            <p:cNvPr id="108561" name="Text Box 17">
              <a:extLst>
                <a:ext uri="{FF2B5EF4-FFF2-40B4-BE49-F238E27FC236}">
                  <a16:creationId xmlns:a16="http://schemas.microsoft.com/office/drawing/2014/main" id="{6CA48286-5D41-BCA2-86A1-6ED3D4772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" y="12360"/>
              <a:ext cx="970" cy="8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08562" name="Line 18">
              <a:extLst>
                <a:ext uri="{FF2B5EF4-FFF2-40B4-BE49-F238E27FC236}">
                  <a16:creationId xmlns:a16="http://schemas.microsoft.com/office/drawing/2014/main" id="{6E23F870-5505-9BA8-BAFA-946F6982D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5" y="11960"/>
              <a:ext cx="0" cy="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3" name="Line 19">
              <a:extLst>
                <a:ext uri="{FF2B5EF4-FFF2-40B4-BE49-F238E27FC236}">
                  <a16:creationId xmlns:a16="http://schemas.microsoft.com/office/drawing/2014/main" id="{EE3F7BCF-B295-6F05-93A7-634BA99B4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" y="11980"/>
              <a:ext cx="0" cy="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4" name="Line 20">
              <a:extLst>
                <a:ext uri="{FF2B5EF4-FFF2-40B4-BE49-F238E27FC236}">
                  <a16:creationId xmlns:a16="http://schemas.microsoft.com/office/drawing/2014/main" id="{DA2AA90A-B061-1B03-A4C5-E6B609DE07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5" y="12790"/>
              <a:ext cx="43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5" name="Line 21">
              <a:extLst>
                <a:ext uri="{FF2B5EF4-FFF2-40B4-BE49-F238E27FC236}">
                  <a16:creationId xmlns:a16="http://schemas.microsoft.com/office/drawing/2014/main" id="{A84FB0EE-BBFB-97AB-0F19-68BA5B429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5" y="1323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6" name="Text Box 22">
              <a:extLst>
                <a:ext uri="{FF2B5EF4-FFF2-40B4-BE49-F238E27FC236}">
                  <a16:creationId xmlns:a16="http://schemas.microsoft.com/office/drawing/2014/main" id="{266FBB68-BA64-865A-90B7-FA0012184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5" y="13670"/>
              <a:ext cx="57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08567" name="Text Box 23">
              <a:extLst>
                <a:ext uri="{FF2B5EF4-FFF2-40B4-BE49-F238E27FC236}">
                  <a16:creationId xmlns:a16="http://schemas.microsoft.com/office/drawing/2014/main" id="{063EF80F-F1CB-2135-4B37-1BDF65A35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" y="11590"/>
              <a:ext cx="104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a        b</a:t>
              </a:r>
              <a:endParaRPr lang="it-IT" altLang="it-IT"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egnaposto numero diapositiva 4">
            <a:extLst>
              <a:ext uri="{FF2B5EF4-FFF2-40B4-BE49-F238E27FC236}">
                <a16:creationId xmlns:a16="http://schemas.microsoft.com/office/drawing/2014/main" id="{7479C03D-19C0-F044-3D2D-5273BEA9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34AA20B-5574-415A-AF37-623557F3D69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it-IT" altLang="it-IT" sz="14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62BB8614-5896-CFAD-F723-2B3F596AE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graphicFrame>
        <p:nvGraphicFramePr>
          <p:cNvPr id="109571" name="Object 2">
            <a:extLst>
              <a:ext uri="{FF2B5EF4-FFF2-40B4-BE49-F238E27FC236}">
                <a16:creationId xmlns:a16="http://schemas.microsoft.com/office/drawing/2014/main" id="{5457188C-D3E5-1D3D-0DF2-8AD0E3E3E36B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3702050" y="1943100"/>
          <a:ext cx="3171825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4933"/>
                      <a:stretch>
                        <a:fillRect/>
                      </a:stretch>
                    </p:blipFill>
                    <p:spPr bwMode="auto">
                      <a:xfrm>
                        <a:off x="3702050" y="1943100"/>
                        <a:ext cx="3171825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572" name="Picture 4">
            <a:extLst>
              <a:ext uri="{FF2B5EF4-FFF2-40B4-BE49-F238E27FC236}">
                <a16:creationId xmlns:a16="http://schemas.microsoft.com/office/drawing/2014/main" id="{5FE2B824-B3E6-824B-2A5B-50D75F432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8" t="25645" r="55066" b="47917"/>
          <a:stretch>
            <a:fillRect/>
          </a:stretch>
        </p:blipFill>
        <p:spPr bwMode="auto">
          <a:xfrm>
            <a:off x="830263" y="3951288"/>
            <a:ext cx="2716212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5">
            <a:extLst>
              <a:ext uri="{FF2B5EF4-FFF2-40B4-BE49-F238E27FC236}">
                <a16:creationId xmlns:a16="http://schemas.microsoft.com/office/drawing/2014/main" id="{B4D01FF3-80D3-51A3-576B-5D3DFDD50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8" t="53583" r="57838" b="20209"/>
          <a:stretch>
            <a:fillRect/>
          </a:stretch>
        </p:blipFill>
        <p:spPr bwMode="auto">
          <a:xfrm>
            <a:off x="847725" y="1225550"/>
            <a:ext cx="2392363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74" name="Object 3">
            <a:extLst>
              <a:ext uri="{FF2B5EF4-FFF2-40B4-BE49-F238E27FC236}">
                <a16:creationId xmlns:a16="http://schemas.microsoft.com/office/drawing/2014/main" id="{AE1C9E4A-BCF7-C6A5-ACAA-31C4EDE33A2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51238" y="3846513"/>
          <a:ext cx="346075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0" imgH="0" progId="Word.Document.8">
                  <p:embed/>
                </p:oleObj>
              </mc:Choice>
              <mc:Fallback>
                <p:oleObj name="Documento" r:id="rId5" imgW="0" imgH="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9429"/>
                      <a:stretch>
                        <a:fillRect/>
                      </a:stretch>
                    </p:blipFill>
                    <p:spPr bwMode="auto">
                      <a:xfrm>
                        <a:off x="3551238" y="3846513"/>
                        <a:ext cx="3460750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Text Box 10">
            <a:extLst>
              <a:ext uri="{FF2B5EF4-FFF2-40B4-BE49-F238E27FC236}">
                <a16:creationId xmlns:a16="http://schemas.microsoft.com/office/drawing/2014/main" id="{0C4C0582-DD50-4181-324A-B3E5AC5A8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1539875"/>
            <a:ext cx="263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(S</a:t>
            </a:r>
            <a:r>
              <a:rPr lang="it-IT" altLang="it-IT" sz="2400" baseline="-25000"/>
              <a:t>h</a:t>
            </a:r>
            <a:r>
              <a:rPr lang="it-IT" altLang="it-IT" sz="2400"/>
              <a:t>,R</a:t>
            </a:r>
            <a:r>
              <a:rPr lang="it-IT" altLang="it-IT" sz="2400" baseline="-25000"/>
              <a:t>h</a:t>
            </a:r>
            <a:r>
              <a:rPr lang="it-IT" altLang="it-IT" sz="2400"/>
              <a:t>) = X – Y</a:t>
            </a:r>
          </a:p>
        </p:txBody>
      </p:sp>
      <p:sp>
        <p:nvSpPr>
          <p:cNvPr id="109576" name="Text Box 11">
            <a:extLst>
              <a:ext uri="{FF2B5EF4-FFF2-40B4-BE49-F238E27FC236}">
                <a16:creationId xmlns:a16="http://schemas.microsoft.com/office/drawing/2014/main" id="{31F6E311-CD01-0C5D-D01C-96D266FB4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5689600"/>
            <a:ext cx="263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(S,R) = X – Y – r</a:t>
            </a:r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egnaposto numero diapositiva 3">
            <a:extLst>
              <a:ext uri="{FF2B5EF4-FFF2-40B4-BE49-F238E27FC236}">
                <a16:creationId xmlns:a16="http://schemas.microsoft.com/office/drawing/2014/main" id="{EA6DAD11-3583-63C0-E89B-2E087B0D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CE3B064-72DC-4E84-8F83-928C2D4DFB5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it-IT" altLang="it-IT" sz="14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F6D8DEEE-917C-E536-F768-774F47FA0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FB536A0-3A46-0BC9-94C3-6081B82F1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0097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ottenere la sottrazione può essere ripetuto lo stesso procedimento usato per definire la struttura degli addizionatori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Per il semisottrattore si avrà:</a:t>
            </a:r>
          </a:p>
        </p:txBody>
      </p:sp>
      <p:sp>
        <p:nvSpPr>
          <p:cNvPr id="110596" name="Rectangle 5">
            <a:extLst>
              <a:ext uri="{FF2B5EF4-FFF2-40B4-BE49-F238E27FC236}">
                <a16:creationId xmlns:a16="http://schemas.microsoft.com/office/drawing/2014/main" id="{4F40D149-8D8F-C101-B511-AB36249E2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597" name="Object 2">
            <a:extLst>
              <a:ext uri="{FF2B5EF4-FFF2-40B4-BE49-F238E27FC236}">
                <a16:creationId xmlns:a16="http://schemas.microsoft.com/office/drawing/2014/main" id="{F86861D0-D14E-1B01-C93A-F61B36F30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090863"/>
          <a:ext cx="32750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090863"/>
                        <a:ext cx="32750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7">
            <a:extLst>
              <a:ext uri="{FF2B5EF4-FFF2-40B4-BE49-F238E27FC236}">
                <a16:creationId xmlns:a16="http://schemas.microsoft.com/office/drawing/2014/main" id="{07E1BD7F-67D2-755A-4C51-F5EE3B6A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599" name="Object 3">
            <a:extLst>
              <a:ext uri="{FF2B5EF4-FFF2-40B4-BE49-F238E27FC236}">
                <a16:creationId xmlns:a16="http://schemas.microsoft.com/office/drawing/2014/main" id="{79F94566-A223-0B7F-D24B-82CFA9E54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606800"/>
          <a:ext cx="13922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606800"/>
                        <a:ext cx="139223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Rectangle 9">
            <a:extLst>
              <a:ext uri="{FF2B5EF4-FFF2-40B4-BE49-F238E27FC236}">
                <a16:creationId xmlns:a16="http://schemas.microsoft.com/office/drawing/2014/main" id="{1CB6A531-2BDE-E9D6-2FD8-F09A1B854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601" name="Object 4">
            <a:extLst>
              <a:ext uri="{FF2B5EF4-FFF2-40B4-BE49-F238E27FC236}">
                <a16:creationId xmlns:a16="http://schemas.microsoft.com/office/drawing/2014/main" id="{407305AD-DCF5-1062-E7DF-4CC9402D86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4950" y="4811713"/>
          <a:ext cx="5924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811713"/>
                        <a:ext cx="5924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Rectangle 11">
            <a:extLst>
              <a:ext uri="{FF2B5EF4-FFF2-40B4-BE49-F238E27FC236}">
                <a16:creationId xmlns:a16="http://schemas.microsoft.com/office/drawing/2014/main" id="{A888E208-14BA-C908-4503-451F86DF0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20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603" name="Object 5">
            <a:extLst>
              <a:ext uri="{FF2B5EF4-FFF2-40B4-BE49-F238E27FC236}">
                <a16:creationId xmlns:a16="http://schemas.microsoft.com/office/drawing/2014/main" id="{276A2123-5641-2AB2-50B7-3D897E313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1613" y="5416550"/>
          <a:ext cx="63134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5416550"/>
                        <a:ext cx="63134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4" name="Rectangle 12">
            <a:extLst>
              <a:ext uri="{FF2B5EF4-FFF2-40B4-BE49-F238E27FC236}">
                <a16:creationId xmlns:a16="http://schemas.microsoft.com/office/drawing/2014/main" id="{0B108C8D-1444-B4D0-9C4E-D912DDA43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4159250"/>
            <a:ext cx="8915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b="0"/>
              <a:t>Per il sottrattore completo :</a:t>
            </a: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egnaposto numero diapositiva 3">
            <a:extLst>
              <a:ext uri="{FF2B5EF4-FFF2-40B4-BE49-F238E27FC236}">
                <a16:creationId xmlns:a16="http://schemas.microsoft.com/office/drawing/2014/main" id="{E465738A-F3AC-CC22-90D8-60245C62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9002610B-D042-4E46-897B-05CEB6E42D88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it-IT" altLang="it-IT" sz="1400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B2F9E1DB-D625-AB82-B905-605953187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C46B8DEF-615B-9E6E-3472-339136479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il semiaddizionatore valgono le eguaglianze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Similmente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completo valgono le eguaglianze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11620" name="Rectangle 5">
            <a:extLst>
              <a:ext uri="{FF2B5EF4-FFF2-40B4-BE49-F238E27FC236}">
                <a16:creationId xmlns:a16="http://schemas.microsoft.com/office/drawing/2014/main" id="{E2BA0C2B-2D3F-215E-462F-5C4E199A4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1" name="Object 2">
            <a:extLst>
              <a:ext uri="{FF2B5EF4-FFF2-40B4-BE49-F238E27FC236}">
                <a16:creationId xmlns:a16="http://schemas.microsoft.com/office/drawing/2014/main" id="{2F11D38B-D2E8-94BA-4D95-90CF2238B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700" y="2228850"/>
          <a:ext cx="364013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228850"/>
                        <a:ext cx="364013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2" name="Rectangle 7">
            <a:extLst>
              <a:ext uri="{FF2B5EF4-FFF2-40B4-BE49-F238E27FC236}">
                <a16:creationId xmlns:a16="http://schemas.microsoft.com/office/drawing/2014/main" id="{B35D1515-8E8E-8009-17FB-C5A9010D4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3" name="Object 3">
            <a:extLst>
              <a:ext uri="{FF2B5EF4-FFF2-40B4-BE49-F238E27FC236}">
                <a16:creationId xmlns:a16="http://schemas.microsoft.com/office/drawing/2014/main" id="{C4170A97-E2B8-28BF-88F3-F33FEBDBB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0800" y="2765425"/>
          <a:ext cx="11001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765425"/>
                        <a:ext cx="110013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4" name="Rectangle 9">
            <a:extLst>
              <a:ext uri="{FF2B5EF4-FFF2-40B4-BE49-F238E27FC236}">
                <a16:creationId xmlns:a16="http://schemas.microsoft.com/office/drawing/2014/main" id="{6B2130EE-62D7-01BA-2403-4EA92C8F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5" name="Object 4">
            <a:extLst>
              <a:ext uri="{FF2B5EF4-FFF2-40B4-BE49-F238E27FC236}">
                <a16:creationId xmlns:a16="http://schemas.microsoft.com/office/drawing/2014/main" id="{CDEAE9D2-D07F-79BD-D209-3BCA4C8F0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2538" y="4646613"/>
          <a:ext cx="62150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646613"/>
                        <a:ext cx="62150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Rectangle 11">
            <a:extLst>
              <a:ext uri="{FF2B5EF4-FFF2-40B4-BE49-F238E27FC236}">
                <a16:creationId xmlns:a16="http://schemas.microsoft.com/office/drawing/2014/main" id="{994DE83E-4753-5ED9-863C-FDBA35AB5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7" name="Object 5">
            <a:extLst>
              <a:ext uri="{FF2B5EF4-FFF2-40B4-BE49-F238E27FC236}">
                <a16:creationId xmlns:a16="http://schemas.microsoft.com/office/drawing/2014/main" id="{3D315611-B44A-E2F5-CA9A-DC10646B6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5186363"/>
          <a:ext cx="70342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186363"/>
                        <a:ext cx="70342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egnaposto numero diapositiva 3">
            <a:extLst>
              <a:ext uri="{FF2B5EF4-FFF2-40B4-BE49-F238E27FC236}">
                <a16:creationId xmlns:a16="http://schemas.microsoft.com/office/drawing/2014/main" id="{4FFF6DC5-6F8F-22BF-46AD-BBAE0136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DE4D10A-3269-439C-A2A8-DD60DDBF21C0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it-IT" altLang="it-IT" sz="1400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F50D07B1-3651-7E7F-64DC-20FFC8A49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1B6B168F-BCEE-EB8D-6C39-20BBED1C0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14788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Un sottrattore può essere ottenuto a partire da un addizionatore negando opportunamente alcuni ingressi ed uscite, come mostrato in figura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Provatelo come esercizio.</a:t>
            </a:r>
          </a:p>
        </p:txBody>
      </p:sp>
      <p:grpSp>
        <p:nvGrpSpPr>
          <p:cNvPr id="112644" name="Group 4">
            <a:extLst>
              <a:ext uri="{FF2B5EF4-FFF2-40B4-BE49-F238E27FC236}">
                <a16:creationId xmlns:a16="http://schemas.microsoft.com/office/drawing/2014/main" id="{B176A4B0-B555-B0A6-EDD8-7864594E70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2950" y="3370263"/>
            <a:ext cx="5643563" cy="2466975"/>
            <a:chOff x="3665" y="11290"/>
            <a:chExt cx="6040" cy="2860"/>
          </a:xfrm>
        </p:grpSpPr>
        <p:sp>
          <p:nvSpPr>
            <p:cNvPr id="112645" name="AutoShape 5">
              <a:extLst>
                <a:ext uri="{FF2B5EF4-FFF2-40B4-BE49-F238E27FC236}">
                  <a16:creationId xmlns:a16="http://schemas.microsoft.com/office/drawing/2014/main" id="{C3C10C02-8242-3D89-D400-8170CF8DFB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11290"/>
              <a:ext cx="6040" cy="2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46" name="Text Box 6">
              <a:extLst>
                <a:ext uri="{FF2B5EF4-FFF2-40B4-BE49-F238E27FC236}">
                  <a16:creationId xmlns:a16="http://schemas.microsoft.com/office/drawing/2014/main" id="{F5835F9C-FC87-2198-D5CA-5EC9894FD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5" y="13720"/>
              <a:ext cx="57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12647" name="Text Box 7">
              <a:extLst>
                <a:ext uri="{FF2B5EF4-FFF2-40B4-BE49-F238E27FC236}">
                  <a16:creationId xmlns:a16="http://schemas.microsoft.com/office/drawing/2014/main" id="{B928B3A6-171A-C5D3-D254-1F8EDB9CA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" y="12500"/>
              <a:ext cx="440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G</a:t>
              </a:r>
              <a:endParaRPr lang="it-IT" altLang="it-IT"/>
            </a:p>
          </p:txBody>
        </p:sp>
        <p:sp>
          <p:nvSpPr>
            <p:cNvPr id="112648" name="Text Box 8">
              <a:extLst>
                <a:ext uri="{FF2B5EF4-FFF2-40B4-BE49-F238E27FC236}">
                  <a16:creationId xmlns:a16="http://schemas.microsoft.com/office/drawing/2014/main" id="{05FF5ECE-0AB8-5555-73B0-2009C5E91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7" y="12355"/>
              <a:ext cx="450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12649" name="Text Box 9">
              <a:extLst>
                <a:ext uri="{FF2B5EF4-FFF2-40B4-BE49-F238E27FC236}">
                  <a16:creationId xmlns:a16="http://schemas.microsoft.com/office/drawing/2014/main" id="{340027E7-D491-3A41-9534-085C3715F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12400"/>
              <a:ext cx="410" cy="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12650" name="Text Box 10">
              <a:extLst>
                <a:ext uri="{FF2B5EF4-FFF2-40B4-BE49-F238E27FC236}">
                  <a16:creationId xmlns:a16="http://schemas.microsoft.com/office/drawing/2014/main" id="{93CEE043-23DF-CB44-752C-F3137C18A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" y="12330"/>
              <a:ext cx="930" cy="9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/>
                <a:t>A</a:t>
              </a:r>
              <a:endParaRPr lang="it-IT" altLang="it-IT"/>
            </a:p>
          </p:txBody>
        </p:sp>
        <p:sp>
          <p:nvSpPr>
            <p:cNvPr id="112651" name="Line 11">
              <a:extLst>
                <a:ext uri="{FF2B5EF4-FFF2-40B4-BE49-F238E27FC236}">
                  <a16:creationId xmlns:a16="http://schemas.microsoft.com/office/drawing/2014/main" id="{BDA34BCC-F76D-D08E-7017-535EF5BC8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2" name="Line 12">
              <a:extLst>
                <a:ext uri="{FF2B5EF4-FFF2-40B4-BE49-F238E27FC236}">
                  <a16:creationId xmlns:a16="http://schemas.microsoft.com/office/drawing/2014/main" id="{9A9CF664-CE3F-EFC7-C641-B43233483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5" y="11710"/>
              <a:ext cx="1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3" name="Text Box 13">
              <a:extLst>
                <a:ext uri="{FF2B5EF4-FFF2-40B4-BE49-F238E27FC236}">
                  <a16:creationId xmlns:a16="http://schemas.microsoft.com/office/drawing/2014/main" id="{EA897846-C282-D74E-F757-0C8257B0F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1460"/>
              <a:ext cx="1120" cy="3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 X       Y </a:t>
              </a:r>
              <a:endParaRPr lang="it-IT" altLang="it-IT"/>
            </a:p>
          </p:txBody>
        </p:sp>
        <p:sp>
          <p:nvSpPr>
            <p:cNvPr id="112654" name="Line 14">
              <a:extLst>
                <a:ext uri="{FF2B5EF4-FFF2-40B4-BE49-F238E27FC236}">
                  <a16:creationId xmlns:a16="http://schemas.microsoft.com/office/drawing/2014/main" id="{D7C828F5-FC9D-F592-9767-B46A0E3F9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15" y="12760"/>
              <a:ext cx="51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5" name="Line 15">
              <a:extLst>
                <a:ext uri="{FF2B5EF4-FFF2-40B4-BE49-F238E27FC236}">
                  <a16:creationId xmlns:a16="http://schemas.microsoft.com/office/drawing/2014/main" id="{01BD9590-8EAA-6686-8EFB-2D9A3B4C5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5" y="12750"/>
              <a:ext cx="440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6" name="Line 16">
              <a:extLst>
                <a:ext uri="{FF2B5EF4-FFF2-40B4-BE49-F238E27FC236}">
                  <a16:creationId xmlns:a16="http://schemas.microsoft.com/office/drawing/2014/main" id="{AB85A270-AE1E-C2D2-EB99-AD548D9D8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5" y="13270"/>
              <a:ext cx="1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7" name="Text Box 17">
              <a:extLst>
                <a:ext uri="{FF2B5EF4-FFF2-40B4-BE49-F238E27FC236}">
                  <a16:creationId xmlns:a16="http://schemas.microsoft.com/office/drawing/2014/main" id="{C7AACB20-7410-FD2E-DA6A-F71154FDF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13750"/>
              <a:ext cx="460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S</a:t>
              </a:r>
              <a:endParaRPr lang="it-IT" altLang="it-IT"/>
            </a:p>
          </p:txBody>
        </p:sp>
        <p:sp>
          <p:nvSpPr>
            <p:cNvPr id="112658" name="Text Box 18">
              <a:extLst>
                <a:ext uri="{FF2B5EF4-FFF2-40B4-BE49-F238E27FC236}">
                  <a16:creationId xmlns:a16="http://schemas.microsoft.com/office/drawing/2014/main" id="{7496A2A9-AA0E-75DA-EFA3-49C039037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" y="12360"/>
              <a:ext cx="970" cy="8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12659" name="Line 19">
              <a:extLst>
                <a:ext uri="{FF2B5EF4-FFF2-40B4-BE49-F238E27FC236}">
                  <a16:creationId xmlns:a16="http://schemas.microsoft.com/office/drawing/2014/main" id="{12FB8C32-1DE9-7598-DCBE-EC2239210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85" y="11860"/>
              <a:ext cx="10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0" name="Line 20">
              <a:extLst>
                <a:ext uri="{FF2B5EF4-FFF2-40B4-BE49-F238E27FC236}">
                  <a16:creationId xmlns:a16="http://schemas.microsoft.com/office/drawing/2014/main" id="{F294228D-6265-0804-6670-475E3D46D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" y="11850"/>
              <a:ext cx="1" cy="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1" name="Line 21">
              <a:extLst>
                <a:ext uri="{FF2B5EF4-FFF2-40B4-BE49-F238E27FC236}">
                  <a16:creationId xmlns:a16="http://schemas.microsoft.com/office/drawing/2014/main" id="{B1CBAC59-ECBC-0C00-E9BB-B578F6A6A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5" y="12790"/>
              <a:ext cx="43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2" name="Line 22">
              <a:extLst>
                <a:ext uri="{FF2B5EF4-FFF2-40B4-BE49-F238E27FC236}">
                  <a16:creationId xmlns:a16="http://schemas.microsoft.com/office/drawing/2014/main" id="{7B6F9BE2-8544-00BA-43B4-8252DD53B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5" y="13330"/>
              <a:ext cx="1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3" name="Text Box 23">
              <a:extLst>
                <a:ext uri="{FF2B5EF4-FFF2-40B4-BE49-F238E27FC236}">
                  <a16:creationId xmlns:a16="http://schemas.microsoft.com/office/drawing/2014/main" id="{62FBCF43-002F-ED1B-8BAB-B9A3C380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5" y="11470"/>
              <a:ext cx="104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X      Y</a:t>
              </a:r>
              <a:endParaRPr lang="it-IT" altLang="it-IT"/>
            </a:p>
          </p:txBody>
        </p:sp>
        <p:sp>
          <p:nvSpPr>
            <p:cNvPr id="112664" name="Oval 24">
              <a:extLst>
                <a:ext uri="{FF2B5EF4-FFF2-40B4-BE49-F238E27FC236}">
                  <a16:creationId xmlns:a16="http://schemas.microsoft.com/office/drawing/2014/main" id="{3CF2C1DC-B2D0-D8C6-10B1-2F674B08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1270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5" name="Oval 25">
              <a:extLst>
                <a:ext uri="{FF2B5EF4-FFF2-40B4-BE49-F238E27FC236}">
                  <a16:creationId xmlns:a16="http://schemas.microsoft.com/office/drawing/2014/main" id="{5A35CA95-1082-F975-2702-9E02A3251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" y="12203"/>
              <a:ext cx="9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6" name="Oval 26">
              <a:extLst>
                <a:ext uri="{FF2B5EF4-FFF2-40B4-BE49-F238E27FC236}">
                  <a16:creationId xmlns:a16="http://schemas.microsoft.com/office/drawing/2014/main" id="{7A59406A-050D-33A2-5B48-78B7770BF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" y="12713"/>
              <a:ext cx="9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7" name="Oval 27">
              <a:extLst>
                <a:ext uri="{FF2B5EF4-FFF2-40B4-BE49-F238E27FC236}">
                  <a16:creationId xmlns:a16="http://schemas.microsoft.com/office/drawing/2014/main" id="{AE230DD7-8F28-5BEC-4F8A-90B711A6A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2" y="1224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8" name="Oval 28">
              <a:extLst>
                <a:ext uri="{FF2B5EF4-FFF2-40B4-BE49-F238E27FC236}">
                  <a16:creationId xmlns:a16="http://schemas.microsoft.com/office/drawing/2014/main" id="{D6F67F03-1C3D-9BB5-8B74-0158F0C5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" y="1321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egnaposto numero diapositiva 3">
            <a:extLst>
              <a:ext uri="{FF2B5EF4-FFF2-40B4-BE49-F238E27FC236}">
                <a16:creationId xmlns:a16="http://schemas.microsoft.com/office/drawing/2014/main" id="{6E86FEBE-E350-EA02-1A6B-44FD9FC2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FB41645-3741-459E-9F84-2CD523B022D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it-IT" altLang="it-IT" sz="1400"/>
          </a:p>
        </p:txBody>
      </p:sp>
      <p:sp>
        <p:nvSpPr>
          <p:cNvPr id="113666" name="Rectangle 9">
            <a:extLst>
              <a:ext uri="{FF2B5EF4-FFF2-40B4-BE49-F238E27FC236}">
                <a16:creationId xmlns:a16="http://schemas.microsoft.com/office/drawing/2014/main" id="{4D579FA0-6E08-DCB0-4855-4346BD1AE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binari</a:t>
            </a:r>
          </a:p>
        </p:txBody>
      </p:sp>
      <p:graphicFrame>
        <p:nvGraphicFramePr>
          <p:cNvPr id="113667" name="Object 2">
            <a:extLst>
              <a:ext uri="{FF2B5EF4-FFF2-40B4-BE49-F238E27FC236}">
                <a16:creationId xmlns:a16="http://schemas.microsoft.com/office/drawing/2014/main" id="{A0453406-9E94-514A-D302-1B93FEFA52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4963" y="3492500"/>
          <a:ext cx="15970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3492500"/>
                        <a:ext cx="15970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3">
            <a:extLst>
              <a:ext uri="{FF2B5EF4-FFF2-40B4-BE49-F238E27FC236}">
                <a16:creationId xmlns:a16="http://schemas.microsoft.com/office/drawing/2014/main" id="{C19D98EE-4D68-34C5-F57B-72369674B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5110163"/>
          <a:ext cx="23447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5110163"/>
                        <a:ext cx="23447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30" name="Text Box 6">
            <a:extLst>
              <a:ext uri="{FF2B5EF4-FFF2-40B4-BE49-F238E27FC236}">
                <a16:creationId xmlns:a16="http://schemas.microsoft.com/office/drawing/2014/main" id="{B72055AB-2E26-05AE-CA41-FB43EFCCB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3225800"/>
            <a:ext cx="49784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Riporto </a:t>
            </a:r>
            <a:r>
              <a:rPr lang="ja-JP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it-IT" altLang="ja-JP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killed</a:t>
            </a:r>
            <a:r>
              <a:rPr lang="ja-JP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endParaRPr lang="it-IT" altLang="ja-JP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0"/>
              <a:t>Indica che, indipendentemente dalla presenza di un riporto entrante, il riporto in uscita sarà comunque zero</a:t>
            </a:r>
          </a:p>
        </p:txBody>
      </p:sp>
      <p:sp>
        <p:nvSpPr>
          <p:cNvPr id="113670" name="Text Box 7">
            <a:extLst>
              <a:ext uri="{FF2B5EF4-FFF2-40B4-BE49-F238E27FC236}">
                <a16:creationId xmlns:a16="http://schemas.microsoft.com/office/drawing/2014/main" id="{A1222C4F-12DA-66DB-C81A-75F7D59A6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4208463"/>
            <a:ext cx="4830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08236" name="Text Box 12">
            <a:extLst>
              <a:ext uri="{FF2B5EF4-FFF2-40B4-BE49-F238E27FC236}">
                <a16:creationId xmlns:a16="http://schemas.microsoft.com/office/drawing/2014/main" id="{7EBE2FCD-0E89-02E0-ADB9-9B5E85E46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5089525"/>
            <a:ext cx="420528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sz="2000">
                <a:effectLst>
                  <a:outerShdw blurRad="38100" dist="38100" dir="2700000" algn="tl">
                    <a:srgbClr val="DDDDDD"/>
                  </a:outerShdw>
                </a:effectLst>
              </a:rPr>
              <a:t>Propagazione del non-riporto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it-IT" sz="2000" b="0"/>
              <a:t>Indica assenza di riporto in uscita</a:t>
            </a:r>
          </a:p>
        </p:txBody>
      </p:sp>
      <p:sp>
        <p:nvSpPr>
          <p:cNvPr id="113672" name="Rectangle 14">
            <a:extLst>
              <a:ext uri="{FF2B5EF4-FFF2-40B4-BE49-F238E27FC236}">
                <a16:creationId xmlns:a16="http://schemas.microsoft.com/office/drawing/2014/main" id="{9926AEE5-CA3F-7243-2FC9-49562701B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b="0"/>
              <a:t>Ulteriori condizioni di interesse:</a:t>
            </a:r>
          </a:p>
        </p:txBody>
      </p:sp>
      <p:graphicFrame>
        <p:nvGraphicFramePr>
          <p:cNvPr id="113673" name="Object 4">
            <a:extLst>
              <a:ext uri="{FF2B5EF4-FFF2-40B4-BE49-F238E27FC236}">
                <a16:creationId xmlns:a16="http://schemas.microsoft.com/office/drawing/2014/main" id="{C40380DB-308F-EE88-3F15-386CC15132F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76388" y="2093913"/>
          <a:ext cx="1163637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093913"/>
                        <a:ext cx="1163637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2" name="Text Box 18">
            <a:extLst>
              <a:ext uri="{FF2B5EF4-FFF2-40B4-BE49-F238E27FC236}">
                <a16:creationId xmlns:a16="http://schemas.microsoft.com/office/drawing/2014/main" id="{197DEFBE-E0A2-951B-E48A-003D7544F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450" y="2047875"/>
            <a:ext cx="420528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sz="2000">
                <a:effectLst>
                  <a:outerShdw blurRad="38100" dist="38100" dir="2700000" algn="tl">
                    <a:srgbClr val="DDDDDD"/>
                  </a:outerShdw>
                </a:effectLst>
              </a:rPr>
              <a:t>non-riporto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it-IT" sz="2000" b="0"/>
              <a:t>Indica assenza di riporto in ingresso</a:t>
            </a: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egnaposto numero diapositiva 3">
            <a:extLst>
              <a:ext uri="{FF2B5EF4-FFF2-40B4-BE49-F238E27FC236}">
                <a16:creationId xmlns:a16="http://schemas.microsoft.com/office/drawing/2014/main" id="{80DB2EFB-61D5-81AB-8870-F9D5FB1B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9E6FF29-2326-4087-8A84-2BB79700283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it-IT" altLang="it-IT" sz="1400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81353728-A015-6F96-6A5D-532D8966E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seriali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725D482F-F695-FE70-6385-5DEB2888E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46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Usa un unico addizionatore operante sulla singola cifra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Opera in momenti successivi su cifre diverse degli addendi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Richiede un blocco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con memoria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lento rispetto ad addizionatori che lavorano in parallelo sulle diverse cifre degli addendi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114692" name="Group 4">
            <a:extLst>
              <a:ext uri="{FF2B5EF4-FFF2-40B4-BE49-F238E27FC236}">
                <a16:creationId xmlns:a16="http://schemas.microsoft.com/office/drawing/2014/main" id="{68FA0540-2373-70DF-90D4-837111AEB2B9}"/>
              </a:ext>
            </a:extLst>
          </p:cNvPr>
          <p:cNvGrpSpPr>
            <a:grpSpLocks/>
          </p:cNvGrpSpPr>
          <p:nvPr/>
        </p:nvGrpSpPr>
        <p:grpSpPr bwMode="auto">
          <a:xfrm>
            <a:off x="3735388" y="3741738"/>
            <a:ext cx="2019300" cy="2622550"/>
            <a:chOff x="3707" y="1905"/>
            <a:chExt cx="441" cy="603"/>
          </a:xfrm>
        </p:grpSpPr>
        <p:sp>
          <p:nvSpPr>
            <p:cNvPr id="114693" name="Rectangle 5">
              <a:extLst>
                <a:ext uri="{FF2B5EF4-FFF2-40B4-BE49-F238E27FC236}">
                  <a16:creationId xmlns:a16="http://schemas.microsoft.com/office/drawing/2014/main" id="{1AF2AD2E-83FE-3FB1-052D-16223FBC8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2101"/>
              <a:ext cx="271" cy="208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694" name="Rectangle 6">
              <a:extLst>
                <a:ext uri="{FF2B5EF4-FFF2-40B4-BE49-F238E27FC236}">
                  <a16:creationId xmlns:a16="http://schemas.microsoft.com/office/drawing/2014/main" id="{3BF819DF-7FDD-EBD3-0FAD-AE1B97274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" y="2107"/>
              <a:ext cx="43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4695" name="Rectangle 7">
              <a:extLst>
                <a:ext uri="{FF2B5EF4-FFF2-40B4-BE49-F238E27FC236}">
                  <a16:creationId xmlns:a16="http://schemas.microsoft.com/office/drawing/2014/main" id="{A238BCE0-A1E5-5052-B3C2-837CE7167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107"/>
              <a:ext cx="8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4696" name="Rectangle 8">
              <a:extLst>
                <a:ext uri="{FF2B5EF4-FFF2-40B4-BE49-F238E27FC236}">
                  <a16:creationId xmlns:a16="http://schemas.microsoft.com/office/drawing/2014/main" id="{C590953A-7896-74A1-212E-EC30355E4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2229"/>
              <a:ext cx="45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4697" name="Rectangle 9">
              <a:extLst>
                <a:ext uri="{FF2B5EF4-FFF2-40B4-BE49-F238E27FC236}">
                  <a16:creationId xmlns:a16="http://schemas.microsoft.com/office/drawing/2014/main" id="{167FB6AD-A221-BACA-A45D-2618453FE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2229"/>
              <a:ext cx="8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4698" name="Rectangle 10">
              <a:extLst>
                <a:ext uri="{FF2B5EF4-FFF2-40B4-BE49-F238E27FC236}">
                  <a16:creationId xmlns:a16="http://schemas.microsoft.com/office/drawing/2014/main" id="{9719CB6F-70EF-2CA8-67AB-97F3F01E8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" y="2229"/>
              <a:ext cx="13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4699" name="Group 11">
              <a:extLst>
                <a:ext uri="{FF2B5EF4-FFF2-40B4-BE49-F238E27FC236}">
                  <a16:creationId xmlns:a16="http://schemas.microsoft.com/office/drawing/2014/main" id="{EB2188A1-B95A-7AD0-D963-11B38C362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4" y="1966"/>
              <a:ext cx="65" cy="135"/>
              <a:chOff x="4014" y="1966"/>
              <a:chExt cx="65" cy="135"/>
            </a:xfrm>
          </p:grpSpPr>
          <p:sp>
            <p:nvSpPr>
              <p:cNvPr id="114749" name="Rectangle 12">
                <a:extLst>
                  <a:ext uri="{FF2B5EF4-FFF2-40B4-BE49-F238E27FC236}">
                    <a16:creationId xmlns:a16="http://schemas.microsoft.com/office/drawing/2014/main" id="{21E6F91B-6063-E56E-63DB-64C01E4D7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0" y="1966"/>
                <a:ext cx="12" cy="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50" name="Freeform 13">
                <a:extLst>
                  <a:ext uri="{FF2B5EF4-FFF2-40B4-BE49-F238E27FC236}">
                    <a16:creationId xmlns:a16="http://schemas.microsoft.com/office/drawing/2014/main" id="{BAD4DD9E-7065-1636-9B7B-A6115206A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036"/>
                <a:ext cx="65" cy="65"/>
              </a:xfrm>
              <a:custGeom>
                <a:avLst/>
                <a:gdLst>
                  <a:gd name="T0" fmla="*/ 0 w 131"/>
                  <a:gd name="T1" fmla="*/ 0 h 130"/>
                  <a:gd name="T2" fmla="*/ 0 w 131"/>
                  <a:gd name="T3" fmla="*/ 1 h 130"/>
                  <a:gd name="T4" fmla="*/ 0 w 131"/>
                  <a:gd name="T5" fmla="*/ 0 h 130"/>
                  <a:gd name="T6" fmla="*/ 0 w 131"/>
                  <a:gd name="T7" fmla="*/ 0 h 1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30"/>
                  <a:gd name="T14" fmla="*/ 131 w 131"/>
                  <a:gd name="T15" fmla="*/ 130 h 1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30">
                    <a:moveTo>
                      <a:pt x="0" y="0"/>
                    </a:moveTo>
                    <a:lnTo>
                      <a:pt x="65" y="130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00" name="Rectangle 14">
              <a:extLst>
                <a:ext uri="{FF2B5EF4-FFF2-40B4-BE49-F238E27FC236}">
                  <a16:creationId xmlns:a16="http://schemas.microsoft.com/office/drawing/2014/main" id="{33C47CAB-FEE3-8065-A00E-3A8DE1F01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2" y="1905"/>
              <a:ext cx="102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1" name="Rectangle 15">
              <a:extLst>
                <a:ext uri="{FF2B5EF4-FFF2-40B4-BE49-F238E27FC236}">
                  <a16:creationId xmlns:a16="http://schemas.microsoft.com/office/drawing/2014/main" id="{7DD02661-4C87-9617-4286-8A27E5210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2" y="1909"/>
              <a:ext cx="12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4702" name="Rectangle 16">
              <a:extLst>
                <a:ext uri="{FF2B5EF4-FFF2-40B4-BE49-F238E27FC236}">
                  <a16:creationId xmlns:a16="http://schemas.microsoft.com/office/drawing/2014/main" id="{2F7DD85F-CBEF-0A7E-693E-7C8DDF339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" y="1935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grpSp>
          <p:nvGrpSpPr>
            <p:cNvPr id="114703" name="Group 17">
              <a:extLst>
                <a:ext uri="{FF2B5EF4-FFF2-40B4-BE49-F238E27FC236}">
                  <a16:creationId xmlns:a16="http://schemas.microsoft.com/office/drawing/2014/main" id="{9272FC02-2FAC-0717-D012-A87BB359E6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1" y="1966"/>
              <a:ext cx="66" cy="135"/>
              <a:chOff x="4081" y="1966"/>
              <a:chExt cx="66" cy="135"/>
            </a:xfrm>
          </p:grpSpPr>
          <p:sp>
            <p:nvSpPr>
              <p:cNvPr id="114747" name="Rectangle 18">
                <a:extLst>
                  <a:ext uri="{FF2B5EF4-FFF2-40B4-BE49-F238E27FC236}">
                    <a16:creationId xmlns:a16="http://schemas.microsoft.com/office/drawing/2014/main" id="{FDBF59C0-E475-A9D2-8846-783BDA42F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7" y="1966"/>
                <a:ext cx="13" cy="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8" name="Freeform 19">
                <a:extLst>
                  <a:ext uri="{FF2B5EF4-FFF2-40B4-BE49-F238E27FC236}">
                    <a16:creationId xmlns:a16="http://schemas.microsoft.com/office/drawing/2014/main" id="{17B96877-24C0-A680-E987-45476F2B1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2036"/>
                <a:ext cx="66" cy="65"/>
              </a:xfrm>
              <a:custGeom>
                <a:avLst/>
                <a:gdLst>
                  <a:gd name="T0" fmla="*/ 0 w 131"/>
                  <a:gd name="T1" fmla="*/ 0 h 130"/>
                  <a:gd name="T2" fmla="*/ 1 w 131"/>
                  <a:gd name="T3" fmla="*/ 1 h 130"/>
                  <a:gd name="T4" fmla="*/ 1 w 131"/>
                  <a:gd name="T5" fmla="*/ 0 h 130"/>
                  <a:gd name="T6" fmla="*/ 0 w 131"/>
                  <a:gd name="T7" fmla="*/ 0 h 1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30"/>
                  <a:gd name="T14" fmla="*/ 131 w 131"/>
                  <a:gd name="T15" fmla="*/ 130 h 1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30">
                    <a:moveTo>
                      <a:pt x="0" y="0"/>
                    </a:moveTo>
                    <a:lnTo>
                      <a:pt x="65" y="130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704" name="Group 20">
              <a:extLst>
                <a:ext uri="{FF2B5EF4-FFF2-40B4-BE49-F238E27FC236}">
                  <a16:creationId xmlns:a16="http://schemas.microsoft.com/office/drawing/2014/main" id="{E76BD314-3B2E-F5D0-7081-122393DF3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7" y="2304"/>
              <a:ext cx="66" cy="135"/>
              <a:chOff x="4047" y="2304"/>
              <a:chExt cx="66" cy="135"/>
            </a:xfrm>
          </p:grpSpPr>
          <p:sp>
            <p:nvSpPr>
              <p:cNvPr id="114745" name="Rectangle 21">
                <a:extLst>
                  <a:ext uri="{FF2B5EF4-FFF2-40B4-BE49-F238E27FC236}">
                    <a16:creationId xmlns:a16="http://schemas.microsoft.com/office/drawing/2014/main" id="{CF3C88E5-CEAD-F41C-798C-D6C6010A0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3" y="2304"/>
                <a:ext cx="13" cy="7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6" name="Freeform 22">
                <a:extLst>
                  <a:ext uri="{FF2B5EF4-FFF2-40B4-BE49-F238E27FC236}">
                    <a16:creationId xmlns:a16="http://schemas.microsoft.com/office/drawing/2014/main" id="{12A3D20C-C34F-DEF8-10CB-B9293BAF6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2374"/>
                <a:ext cx="66" cy="65"/>
              </a:xfrm>
              <a:custGeom>
                <a:avLst/>
                <a:gdLst>
                  <a:gd name="T0" fmla="*/ 0 w 131"/>
                  <a:gd name="T1" fmla="*/ 0 h 129"/>
                  <a:gd name="T2" fmla="*/ 1 w 131"/>
                  <a:gd name="T3" fmla="*/ 1 h 129"/>
                  <a:gd name="T4" fmla="*/ 1 w 131"/>
                  <a:gd name="T5" fmla="*/ 0 h 129"/>
                  <a:gd name="T6" fmla="*/ 0 w 131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29"/>
                  <a:gd name="T14" fmla="*/ 131 w 13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29">
                    <a:moveTo>
                      <a:pt x="0" y="0"/>
                    </a:moveTo>
                    <a:lnTo>
                      <a:pt x="65" y="129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05" name="Rectangle 23">
              <a:extLst>
                <a:ext uri="{FF2B5EF4-FFF2-40B4-BE49-F238E27FC236}">
                  <a16:creationId xmlns:a16="http://schemas.microsoft.com/office/drawing/2014/main" id="{D4455AE7-9A62-C3AA-45E1-DC7EEEDA3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05"/>
              <a:ext cx="68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6" name="Rectangle 24">
              <a:extLst>
                <a:ext uri="{FF2B5EF4-FFF2-40B4-BE49-F238E27FC236}">
                  <a16:creationId xmlns:a16="http://schemas.microsoft.com/office/drawing/2014/main" id="{796B7F44-B724-B70B-2D40-7207C1AF3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09"/>
              <a:ext cx="12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4707" name="Rectangle 25">
              <a:extLst>
                <a:ext uri="{FF2B5EF4-FFF2-40B4-BE49-F238E27FC236}">
                  <a16:creationId xmlns:a16="http://schemas.microsoft.com/office/drawing/2014/main" id="{EC2C8A30-9C11-DF4D-6A03-C7A864724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1935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08" name="Rectangle 26">
              <a:extLst>
                <a:ext uri="{FF2B5EF4-FFF2-40B4-BE49-F238E27FC236}">
                  <a16:creationId xmlns:a16="http://schemas.microsoft.com/office/drawing/2014/main" id="{0BD38E69-31F2-DD0E-17BB-E7F720578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439"/>
              <a:ext cx="102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9" name="Rectangle 27">
              <a:extLst>
                <a:ext uri="{FF2B5EF4-FFF2-40B4-BE49-F238E27FC236}">
                  <a16:creationId xmlns:a16="http://schemas.microsoft.com/office/drawing/2014/main" id="{C32048BD-FE25-82EE-3A8F-1E6F11BA3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443"/>
              <a:ext cx="9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4710" name="Rectangle 28">
              <a:extLst>
                <a:ext uri="{FF2B5EF4-FFF2-40B4-BE49-F238E27FC236}">
                  <a16:creationId xmlns:a16="http://schemas.microsoft.com/office/drawing/2014/main" id="{8399A2DF-4125-74BF-4768-CE3424862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" y="2469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11" name="Rectangle 29">
              <a:extLst>
                <a:ext uri="{FF2B5EF4-FFF2-40B4-BE49-F238E27FC236}">
                  <a16:creationId xmlns:a16="http://schemas.microsoft.com/office/drawing/2014/main" id="{3285D008-439E-71B0-3B9D-DD30C046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2446"/>
              <a:ext cx="68" cy="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12" name="Rectangle 30">
              <a:extLst>
                <a:ext uri="{FF2B5EF4-FFF2-40B4-BE49-F238E27FC236}">
                  <a16:creationId xmlns:a16="http://schemas.microsoft.com/office/drawing/2014/main" id="{5B8F8EE6-6388-ACFA-E54C-AD46E5A43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2450"/>
              <a:ext cx="11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4713" name="Rectangle 31">
              <a:extLst>
                <a:ext uri="{FF2B5EF4-FFF2-40B4-BE49-F238E27FC236}">
                  <a16:creationId xmlns:a16="http://schemas.microsoft.com/office/drawing/2014/main" id="{8358E114-BB09-6D8E-5BF5-4EA1AFEC0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2476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14" name="Line 32">
              <a:extLst>
                <a:ext uri="{FF2B5EF4-FFF2-40B4-BE49-F238E27FC236}">
                  <a16:creationId xmlns:a16="http://schemas.microsoft.com/office/drawing/2014/main" id="{5F10D9DF-95A8-3256-8DE8-4AB410E27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1" y="2311"/>
              <a:ext cx="1" cy="10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715" name="Group 33">
              <a:extLst>
                <a:ext uri="{FF2B5EF4-FFF2-40B4-BE49-F238E27FC236}">
                  <a16:creationId xmlns:a16="http://schemas.microsoft.com/office/drawing/2014/main" id="{F62AB9F0-BE1C-6371-8722-9D2CBE84B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6" y="2391"/>
              <a:ext cx="135" cy="44"/>
              <a:chOff x="3776" y="2391"/>
              <a:chExt cx="135" cy="44"/>
            </a:xfrm>
          </p:grpSpPr>
          <p:sp>
            <p:nvSpPr>
              <p:cNvPr id="114743" name="Line 34">
                <a:extLst>
                  <a:ext uri="{FF2B5EF4-FFF2-40B4-BE49-F238E27FC236}">
                    <a16:creationId xmlns:a16="http://schemas.microsoft.com/office/drawing/2014/main" id="{A57EB178-B6ED-D65D-14E4-FE0BE6E65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8" y="2412"/>
                <a:ext cx="93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4" name="Freeform 35">
                <a:extLst>
                  <a:ext uri="{FF2B5EF4-FFF2-40B4-BE49-F238E27FC236}">
                    <a16:creationId xmlns:a16="http://schemas.microsoft.com/office/drawing/2014/main" id="{4E797561-107A-B1BC-9286-3E8F7AE52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2391"/>
                <a:ext cx="44" cy="44"/>
              </a:xfrm>
              <a:custGeom>
                <a:avLst/>
                <a:gdLst>
                  <a:gd name="T0" fmla="*/ 0 w 89"/>
                  <a:gd name="T1" fmla="*/ 0 h 89"/>
                  <a:gd name="T2" fmla="*/ 0 w 89"/>
                  <a:gd name="T3" fmla="*/ 0 h 89"/>
                  <a:gd name="T4" fmla="*/ 0 w 89"/>
                  <a:gd name="T5" fmla="*/ 0 h 89"/>
                  <a:gd name="T6" fmla="*/ 0 w 89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"/>
                  <a:gd name="T13" fmla="*/ 0 h 89"/>
                  <a:gd name="T14" fmla="*/ 89 w 89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" h="89">
                    <a:moveTo>
                      <a:pt x="89" y="0"/>
                    </a:moveTo>
                    <a:lnTo>
                      <a:pt x="0" y="44"/>
                    </a:lnTo>
                    <a:lnTo>
                      <a:pt x="89" y="8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16" name="Line 36">
              <a:extLst>
                <a:ext uri="{FF2B5EF4-FFF2-40B4-BE49-F238E27FC236}">
                  <a16:creationId xmlns:a16="http://schemas.microsoft.com/office/drawing/2014/main" id="{3B095187-0F18-10BF-B296-4D9A38D27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277"/>
              <a:ext cx="1" cy="13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7" name="Line 37">
              <a:extLst>
                <a:ext uri="{FF2B5EF4-FFF2-40B4-BE49-F238E27FC236}">
                  <a16:creationId xmlns:a16="http://schemas.microsoft.com/office/drawing/2014/main" id="{3AF05C4D-3F9D-EA1D-7E2D-909264A8F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2006"/>
              <a:ext cx="1" cy="17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8" name="Line 38">
              <a:extLst>
                <a:ext uri="{FF2B5EF4-FFF2-40B4-BE49-F238E27FC236}">
                  <a16:creationId xmlns:a16="http://schemas.microsoft.com/office/drawing/2014/main" id="{4E98CBAD-1DBB-03E2-7F11-C2CA2F644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006"/>
              <a:ext cx="135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719" name="Group 39">
              <a:extLst>
                <a:ext uri="{FF2B5EF4-FFF2-40B4-BE49-F238E27FC236}">
                  <a16:creationId xmlns:a16="http://schemas.microsoft.com/office/drawing/2014/main" id="{C11401AA-858E-7961-1428-8223AB843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9" y="2006"/>
              <a:ext cx="45" cy="102"/>
              <a:chOff x="3889" y="2006"/>
              <a:chExt cx="45" cy="102"/>
            </a:xfrm>
          </p:grpSpPr>
          <p:sp>
            <p:nvSpPr>
              <p:cNvPr id="114741" name="Line 40">
                <a:extLst>
                  <a:ext uri="{FF2B5EF4-FFF2-40B4-BE49-F238E27FC236}">
                    <a16:creationId xmlns:a16="http://schemas.microsoft.com/office/drawing/2014/main" id="{07C443E0-6D47-3F93-79B6-6D06873A4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1" y="2006"/>
                <a:ext cx="1" cy="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2" name="Freeform 41">
                <a:extLst>
                  <a:ext uri="{FF2B5EF4-FFF2-40B4-BE49-F238E27FC236}">
                    <a16:creationId xmlns:a16="http://schemas.microsoft.com/office/drawing/2014/main" id="{E4A64B77-9CFE-137B-D431-8DCB1E9E0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2064"/>
                <a:ext cx="45" cy="44"/>
              </a:xfrm>
              <a:custGeom>
                <a:avLst/>
                <a:gdLst>
                  <a:gd name="T0" fmla="*/ 0 w 88"/>
                  <a:gd name="T1" fmla="*/ 0 h 88"/>
                  <a:gd name="T2" fmla="*/ 1 w 88"/>
                  <a:gd name="T3" fmla="*/ 1 h 88"/>
                  <a:gd name="T4" fmla="*/ 1 w 88"/>
                  <a:gd name="T5" fmla="*/ 0 h 88"/>
                  <a:gd name="T6" fmla="*/ 0 w 88"/>
                  <a:gd name="T7" fmla="*/ 0 h 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8"/>
                  <a:gd name="T13" fmla="*/ 0 h 88"/>
                  <a:gd name="T14" fmla="*/ 88 w 88"/>
                  <a:gd name="T15" fmla="*/ 88 h 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8" h="88">
                    <a:moveTo>
                      <a:pt x="0" y="0"/>
                    </a:moveTo>
                    <a:lnTo>
                      <a:pt x="43" y="88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720" name="Group 42">
              <a:extLst>
                <a:ext uri="{FF2B5EF4-FFF2-40B4-BE49-F238E27FC236}">
                  <a16:creationId xmlns:a16="http://schemas.microsoft.com/office/drawing/2014/main" id="{C963E57E-10A1-A122-F1DF-85F15AC155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7" y="2173"/>
              <a:ext cx="139" cy="110"/>
              <a:chOff x="3707" y="2173"/>
              <a:chExt cx="139" cy="110"/>
            </a:xfrm>
          </p:grpSpPr>
          <p:sp>
            <p:nvSpPr>
              <p:cNvPr id="114725" name="Freeform 43">
                <a:extLst>
                  <a:ext uri="{FF2B5EF4-FFF2-40B4-BE49-F238E27FC236}">
                    <a16:creationId xmlns:a16="http://schemas.microsoft.com/office/drawing/2014/main" id="{2CADFCA0-72F0-D4DB-610F-B7BBA15DE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2173"/>
                <a:ext cx="10" cy="19"/>
              </a:xfrm>
              <a:custGeom>
                <a:avLst/>
                <a:gdLst>
                  <a:gd name="T0" fmla="*/ 0 w 21"/>
                  <a:gd name="T1" fmla="*/ 1 h 38"/>
                  <a:gd name="T2" fmla="*/ 0 w 21"/>
                  <a:gd name="T3" fmla="*/ 1 h 38"/>
                  <a:gd name="T4" fmla="*/ 0 w 21"/>
                  <a:gd name="T5" fmla="*/ 1 h 38"/>
                  <a:gd name="T6" fmla="*/ 0 w 21"/>
                  <a:gd name="T7" fmla="*/ 1 h 38"/>
                  <a:gd name="T8" fmla="*/ 0 w 21"/>
                  <a:gd name="T9" fmla="*/ 0 h 38"/>
                  <a:gd name="T10" fmla="*/ 0 w 21"/>
                  <a:gd name="T11" fmla="*/ 0 h 38"/>
                  <a:gd name="T12" fmla="*/ 0 w 21"/>
                  <a:gd name="T13" fmla="*/ 0 h 38"/>
                  <a:gd name="T14" fmla="*/ 0 w 21"/>
                  <a:gd name="T15" fmla="*/ 1 h 38"/>
                  <a:gd name="T16" fmla="*/ 0 w 21"/>
                  <a:gd name="T17" fmla="*/ 1 h 38"/>
                  <a:gd name="T18" fmla="*/ 0 w 21"/>
                  <a:gd name="T19" fmla="*/ 1 h 38"/>
                  <a:gd name="T20" fmla="*/ 0 w 21"/>
                  <a:gd name="T21" fmla="*/ 1 h 3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38"/>
                  <a:gd name="T35" fmla="*/ 21 w 21"/>
                  <a:gd name="T36" fmla="*/ 38 h 3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38">
                    <a:moveTo>
                      <a:pt x="9" y="4"/>
                    </a:moveTo>
                    <a:lnTo>
                      <a:pt x="4" y="4"/>
                    </a:lnTo>
                    <a:lnTo>
                      <a:pt x="4" y="8"/>
                    </a:lnTo>
                    <a:lnTo>
                      <a:pt x="21" y="8"/>
                    </a:lnTo>
                    <a:lnTo>
                      <a:pt x="21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38"/>
                    </a:lnTo>
                    <a:lnTo>
                      <a:pt x="9" y="38"/>
                    </a:ln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6" name="Rectangle 44">
                <a:extLst>
                  <a:ext uri="{FF2B5EF4-FFF2-40B4-BE49-F238E27FC236}">
                    <a16:creationId xmlns:a16="http://schemas.microsoft.com/office/drawing/2014/main" id="{F6C8975C-CFF5-A858-F586-8584DFB03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05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7" name="Rectangle 45">
                <a:extLst>
                  <a:ext uri="{FF2B5EF4-FFF2-40B4-BE49-F238E27FC236}">
                    <a16:creationId xmlns:a16="http://schemas.microsoft.com/office/drawing/2014/main" id="{9FE80F26-3EE5-BD90-7919-621EB7169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35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8" name="Rectangle 46">
                <a:extLst>
                  <a:ext uri="{FF2B5EF4-FFF2-40B4-BE49-F238E27FC236}">
                    <a16:creationId xmlns:a16="http://schemas.microsoft.com/office/drawing/2014/main" id="{58769FBD-9A2A-6C22-47F5-35C95D9D8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64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9" name="Rectangle 47">
                <a:extLst>
                  <a:ext uri="{FF2B5EF4-FFF2-40B4-BE49-F238E27FC236}">
                    <a16:creationId xmlns:a16="http://schemas.microsoft.com/office/drawing/2014/main" id="{70BE6A1F-F48B-6B7A-A2DD-1F9EA90C0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0" name="Rectangle 48">
                <a:extLst>
                  <a:ext uri="{FF2B5EF4-FFF2-40B4-BE49-F238E27FC236}">
                    <a16:creationId xmlns:a16="http://schemas.microsoft.com/office/drawing/2014/main" id="{1F7BF622-2E94-9685-A721-F7A653895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1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1" name="Rectangle 49">
                <a:extLst>
                  <a:ext uri="{FF2B5EF4-FFF2-40B4-BE49-F238E27FC236}">
                    <a16:creationId xmlns:a16="http://schemas.microsoft.com/office/drawing/2014/main" id="{A5507D20-DDE1-74F8-848F-D2ACB66A2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0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2" name="Rectangle 50">
                <a:extLst>
                  <a:ext uri="{FF2B5EF4-FFF2-40B4-BE49-F238E27FC236}">
                    <a16:creationId xmlns:a16="http://schemas.microsoft.com/office/drawing/2014/main" id="{7A55509F-CBD9-D2F1-B4FF-B4D55BFFF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3" name="Freeform 51">
                <a:extLst>
                  <a:ext uri="{FF2B5EF4-FFF2-40B4-BE49-F238E27FC236}">
                    <a16:creationId xmlns:a16="http://schemas.microsoft.com/office/drawing/2014/main" id="{6311E4EC-C6E5-72A1-12BC-5B3052C13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2269"/>
                <a:ext cx="7" cy="14"/>
              </a:xfrm>
              <a:custGeom>
                <a:avLst/>
                <a:gdLst>
                  <a:gd name="T0" fmla="*/ 0 w 13"/>
                  <a:gd name="T1" fmla="*/ 0 h 30"/>
                  <a:gd name="T2" fmla="*/ 0 w 13"/>
                  <a:gd name="T3" fmla="*/ 0 h 30"/>
                  <a:gd name="T4" fmla="*/ 1 w 13"/>
                  <a:gd name="T5" fmla="*/ 0 h 30"/>
                  <a:gd name="T6" fmla="*/ 1 w 13"/>
                  <a:gd name="T7" fmla="*/ 0 h 30"/>
                  <a:gd name="T8" fmla="*/ 1 w 13"/>
                  <a:gd name="T9" fmla="*/ 0 h 30"/>
                  <a:gd name="T10" fmla="*/ 1 w 13"/>
                  <a:gd name="T11" fmla="*/ 0 h 30"/>
                  <a:gd name="T12" fmla="*/ 1 w 13"/>
                  <a:gd name="T13" fmla="*/ 0 h 30"/>
                  <a:gd name="T14" fmla="*/ 1 w 13"/>
                  <a:gd name="T15" fmla="*/ 0 h 30"/>
                  <a:gd name="T16" fmla="*/ 1 w 13"/>
                  <a:gd name="T17" fmla="*/ 0 h 30"/>
                  <a:gd name="T18" fmla="*/ 1 w 13"/>
                  <a:gd name="T19" fmla="*/ 0 h 30"/>
                  <a:gd name="T20" fmla="*/ 0 w 13"/>
                  <a:gd name="T21" fmla="*/ 0 h 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"/>
                  <a:gd name="T34" fmla="*/ 0 h 30"/>
                  <a:gd name="T35" fmla="*/ 13 w 13"/>
                  <a:gd name="T36" fmla="*/ 30 h 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" h="30">
                    <a:moveTo>
                      <a:pt x="0" y="21"/>
                    </a:moveTo>
                    <a:lnTo>
                      <a:pt x="0" y="30"/>
                    </a:lnTo>
                    <a:lnTo>
                      <a:pt x="8" y="30"/>
                    </a:lnTo>
                    <a:lnTo>
                      <a:pt x="13" y="30"/>
                    </a:lnTo>
                    <a:lnTo>
                      <a:pt x="13" y="26"/>
                    </a:lnTo>
                    <a:lnTo>
                      <a:pt x="13" y="0"/>
                    </a:lnTo>
                    <a:lnTo>
                      <a:pt x="4" y="0"/>
                    </a:lnTo>
                    <a:lnTo>
                      <a:pt x="4" y="26"/>
                    </a:lnTo>
                    <a:lnTo>
                      <a:pt x="8" y="26"/>
                    </a:lnTo>
                    <a:lnTo>
                      <a:pt x="8" y="21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4" name="Rectangle 52">
                <a:extLst>
                  <a:ext uri="{FF2B5EF4-FFF2-40B4-BE49-F238E27FC236}">
                    <a16:creationId xmlns:a16="http://schemas.microsoft.com/office/drawing/2014/main" id="{199EA5E6-2DAD-76DC-4EB9-3922A813E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239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5" name="Rectangle 53">
                <a:extLst>
                  <a:ext uri="{FF2B5EF4-FFF2-40B4-BE49-F238E27FC236}">
                    <a16:creationId xmlns:a16="http://schemas.microsoft.com/office/drawing/2014/main" id="{850036D9-043E-1A42-B1BA-183DAF638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209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6" name="Rectangle 54">
                <a:extLst>
                  <a:ext uri="{FF2B5EF4-FFF2-40B4-BE49-F238E27FC236}">
                    <a16:creationId xmlns:a16="http://schemas.microsoft.com/office/drawing/2014/main" id="{78402C78-FA08-76EB-D543-08426C07C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180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7" name="Rectangle 55">
                <a:extLst>
                  <a:ext uri="{FF2B5EF4-FFF2-40B4-BE49-F238E27FC236}">
                    <a16:creationId xmlns:a16="http://schemas.microsoft.com/office/drawing/2014/main" id="{87FFBCEB-A276-2567-6FE3-664665C1E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8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8" name="Rectangle 56">
                <a:extLst>
                  <a:ext uri="{FF2B5EF4-FFF2-40B4-BE49-F238E27FC236}">
                    <a16:creationId xmlns:a16="http://schemas.microsoft.com/office/drawing/2014/main" id="{9C5D356C-B604-6BF5-7DFC-104EF434C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9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9" name="Rectangle 57">
                <a:extLst>
                  <a:ext uri="{FF2B5EF4-FFF2-40B4-BE49-F238E27FC236}">
                    <a16:creationId xmlns:a16="http://schemas.microsoft.com/office/drawing/2014/main" id="{8FB180B7-9501-BD99-8091-AB681A470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0" name="Rectangle 58">
                <a:extLst>
                  <a:ext uri="{FF2B5EF4-FFF2-40B4-BE49-F238E27FC236}">
                    <a16:creationId xmlns:a16="http://schemas.microsoft.com/office/drawing/2014/main" id="{CDE1B437-400D-EDCD-85A9-8F5621F46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0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114721" name="Rectangle 59">
              <a:extLst>
                <a:ext uri="{FF2B5EF4-FFF2-40B4-BE49-F238E27FC236}">
                  <a16:creationId xmlns:a16="http://schemas.microsoft.com/office/drawing/2014/main" id="{70B07E0F-C745-FC55-1721-0F8FD229C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196"/>
              <a:ext cx="10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it-IT" altLang="it-IT"/>
            </a:p>
          </p:txBody>
        </p:sp>
        <p:sp>
          <p:nvSpPr>
            <p:cNvPr id="114722" name="Rectangle 60">
              <a:extLst>
                <a:ext uri="{FF2B5EF4-FFF2-40B4-BE49-F238E27FC236}">
                  <a16:creationId xmlns:a16="http://schemas.microsoft.com/office/drawing/2014/main" id="{DD5CB47F-FC2E-40D1-8E4F-1D3AA6B8A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946"/>
              <a:ext cx="68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23" name="Rectangle 61">
              <a:extLst>
                <a:ext uri="{FF2B5EF4-FFF2-40B4-BE49-F238E27FC236}">
                  <a16:creationId xmlns:a16="http://schemas.microsoft.com/office/drawing/2014/main" id="{101C83DE-80A1-8E04-64CC-11D2EEA8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949"/>
              <a:ext cx="6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4724" name="Rectangle 62">
              <a:extLst>
                <a:ext uri="{FF2B5EF4-FFF2-40B4-BE49-F238E27FC236}">
                  <a16:creationId xmlns:a16="http://schemas.microsoft.com/office/drawing/2014/main" id="{09B97971-B917-5457-771A-520FAA0B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1976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egnaposto numero diapositiva 3">
            <a:extLst>
              <a:ext uri="{FF2B5EF4-FFF2-40B4-BE49-F238E27FC236}">
                <a16:creationId xmlns:a16="http://schemas.microsoft.com/office/drawing/2014/main" id="{DCEC7781-E661-4F78-8462-16AD123F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1912DF8-7D0F-4E78-9984-17517F739E50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it-IT" altLang="it-IT" sz="14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3120BD56-EC1B-C32C-36BC-883B721FA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paralleli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4D0EAA64-4746-3C16-7553-88E3221B9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160588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Opera sulle cifre degli addendi in parallelo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…anche se il riporto deve propagarsi attraverso 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intera struttura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Richiede un numero maggiore di risorse rispetto all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addizionatore seriale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115716" name="Group 4">
            <a:extLst>
              <a:ext uri="{FF2B5EF4-FFF2-40B4-BE49-F238E27FC236}">
                <a16:creationId xmlns:a16="http://schemas.microsoft.com/office/drawing/2014/main" id="{526988F0-4930-5B95-478C-522B07FB5F19}"/>
              </a:ext>
            </a:extLst>
          </p:cNvPr>
          <p:cNvGrpSpPr>
            <a:grpSpLocks/>
          </p:cNvGrpSpPr>
          <p:nvPr/>
        </p:nvGrpSpPr>
        <p:grpSpPr bwMode="auto">
          <a:xfrm>
            <a:off x="579438" y="3895725"/>
            <a:ext cx="9001125" cy="2152650"/>
            <a:chOff x="521" y="1333"/>
            <a:chExt cx="3256" cy="1020"/>
          </a:xfrm>
        </p:grpSpPr>
        <p:sp>
          <p:nvSpPr>
            <p:cNvPr id="115717" name="Rectangle 5">
              <a:extLst>
                <a:ext uri="{FF2B5EF4-FFF2-40B4-BE49-F238E27FC236}">
                  <a16:creationId xmlns:a16="http://schemas.microsoft.com/office/drawing/2014/main" id="{FDA2453D-E177-A9D2-0EE3-EBA6F075C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1677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18" name="Rectangle 6">
              <a:extLst>
                <a:ext uri="{FF2B5EF4-FFF2-40B4-BE49-F238E27FC236}">
                  <a16:creationId xmlns:a16="http://schemas.microsoft.com/office/drawing/2014/main" id="{2AEFC179-D607-6D56-651C-BC19A48F6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1687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19" name="Rectangle 7">
              <a:extLst>
                <a:ext uri="{FF2B5EF4-FFF2-40B4-BE49-F238E27FC236}">
                  <a16:creationId xmlns:a16="http://schemas.microsoft.com/office/drawing/2014/main" id="{7117A8F1-16D9-2D91-B86D-EAC739E9D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1687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20" name="Rectangle 8">
              <a:extLst>
                <a:ext uri="{FF2B5EF4-FFF2-40B4-BE49-F238E27FC236}">
                  <a16:creationId xmlns:a16="http://schemas.microsoft.com/office/drawing/2014/main" id="{35A4A01C-4CF4-90F9-AE96-39A5A731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" y="1893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21" name="Rectangle 9">
              <a:extLst>
                <a:ext uri="{FF2B5EF4-FFF2-40B4-BE49-F238E27FC236}">
                  <a16:creationId xmlns:a16="http://schemas.microsoft.com/office/drawing/2014/main" id="{4FF8F072-84FA-532B-8E04-85A37EABC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1893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22" name="Rectangle 10">
              <a:extLst>
                <a:ext uri="{FF2B5EF4-FFF2-40B4-BE49-F238E27FC236}">
                  <a16:creationId xmlns:a16="http://schemas.microsoft.com/office/drawing/2014/main" id="{42320905-1FBA-9143-A653-D4BD65C45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1893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23" name="Group 11">
              <a:extLst>
                <a:ext uri="{FF2B5EF4-FFF2-40B4-BE49-F238E27FC236}">
                  <a16:creationId xmlns:a16="http://schemas.microsoft.com/office/drawing/2014/main" id="{BD8C9442-C8F6-FF76-84FE-513DE4DF36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7" y="1448"/>
              <a:ext cx="111" cy="229"/>
              <a:chOff x="3207" y="1448"/>
              <a:chExt cx="111" cy="229"/>
            </a:xfrm>
          </p:grpSpPr>
          <p:sp>
            <p:nvSpPr>
              <p:cNvPr id="115866" name="Rectangle 12">
                <a:extLst>
                  <a:ext uri="{FF2B5EF4-FFF2-40B4-BE49-F238E27FC236}">
                    <a16:creationId xmlns:a16="http://schemas.microsoft.com/office/drawing/2014/main" id="{937E82C6-B542-D51D-41AE-E25A3EE28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1448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7" name="Freeform 13">
                <a:extLst>
                  <a:ext uri="{FF2B5EF4-FFF2-40B4-BE49-F238E27FC236}">
                    <a16:creationId xmlns:a16="http://schemas.microsoft.com/office/drawing/2014/main" id="{56A287D6-2301-74CC-4EF8-B5BD4CCA8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7" y="1567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24" name="Rectangle 14">
              <a:extLst>
                <a:ext uri="{FF2B5EF4-FFF2-40B4-BE49-F238E27FC236}">
                  <a16:creationId xmlns:a16="http://schemas.microsoft.com/office/drawing/2014/main" id="{45039BB3-79FA-0C71-CD3A-DA9C8130F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1345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25" name="Rectangle 15">
              <a:extLst>
                <a:ext uri="{FF2B5EF4-FFF2-40B4-BE49-F238E27FC236}">
                  <a16:creationId xmlns:a16="http://schemas.microsoft.com/office/drawing/2014/main" id="{29F3EA06-0E1B-7AD8-19D3-D6BC9693D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1351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26" name="Rectangle 16">
              <a:extLst>
                <a:ext uri="{FF2B5EF4-FFF2-40B4-BE49-F238E27FC236}">
                  <a16:creationId xmlns:a16="http://schemas.microsoft.com/office/drawing/2014/main" id="{E957D634-9F15-DD31-E03F-946F5F9F0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1395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grpSp>
          <p:nvGrpSpPr>
            <p:cNvPr id="115727" name="Group 17">
              <a:extLst>
                <a:ext uri="{FF2B5EF4-FFF2-40B4-BE49-F238E27FC236}">
                  <a16:creationId xmlns:a16="http://schemas.microsoft.com/office/drawing/2014/main" id="{2A75501C-9E3F-BCD0-C952-5E86F5360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2" y="1448"/>
              <a:ext cx="110" cy="229"/>
              <a:chOff x="3322" y="1448"/>
              <a:chExt cx="110" cy="229"/>
            </a:xfrm>
          </p:grpSpPr>
          <p:sp>
            <p:nvSpPr>
              <p:cNvPr id="115864" name="Rectangle 18">
                <a:extLst>
                  <a:ext uri="{FF2B5EF4-FFF2-40B4-BE49-F238E27FC236}">
                    <a16:creationId xmlns:a16="http://schemas.microsoft.com/office/drawing/2014/main" id="{B1F5D106-706C-F220-081A-20DB3E08B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6" y="1448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5" name="Freeform 19">
                <a:extLst>
                  <a:ext uri="{FF2B5EF4-FFF2-40B4-BE49-F238E27FC236}">
                    <a16:creationId xmlns:a16="http://schemas.microsoft.com/office/drawing/2014/main" id="{E885F4AD-A7AE-3A29-9F89-0345E00B8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567"/>
                <a:ext cx="110" cy="110"/>
              </a:xfrm>
              <a:custGeom>
                <a:avLst/>
                <a:gdLst>
                  <a:gd name="T0" fmla="*/ 0 w 110"/>
                  <a:gd name="T1" fmla="*/ 0 h 110"/>
                  <a:gd name="T2" fmla="*/ 54 w 110"/>
                  <a:gd name="T3" fmla="*/ 110 h 110"/>
                  <a:gd name="T4" fmla="*/ 110 w 110"/>
                  <a:gd name="T5" fmla="*/ 0 h 110"/>
                  <a:gd name="T6" fmla="*/ 0 w 110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10"/>
                  <a:gd name="T14" fmla="*/ 110 w 110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10">
                    <a:moveTo>
                      <a:pt x="0" y="0"/>
                    </a:moveTo>
                    <a:lnTo>
                      <a:pt x="54" y="110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28" name="Group 20">
              <a:extLst>
                <a:ext uri="{FF2B5EF4-FFF2-40B4-BE49-F238E27FC236}">
                  <a16:creationId xmlns:a16="http://schemas.microsoft.com/office/drawing/2014/main" id="{4ED3A6C7-4C23-FCE0-C5A3-52B1247B5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6" y="2020"/>
              <a:ext cx="111" cy="229"/>
              <a:chOff x="3436" y="2020"/>
              <a:chExt cx="111" cy="229"/>
            </a:xfrm>
          </p:grpSpPr>
          <p:sp>
            <p:nvSpPr>
              <p:cNvPr id="115862" name="Rectangle 21">
                <a:extLst>
                  <a:ext uri="{FF2B5EF4-FFF2-40B4-BE49-F238E27FC236}">
                    <a16:creationId xmlns:a16="http://schemas.microsoft.com/office/drawing/2014/main" id="{FB04E673-F137-62B9-76B8-AEC56AA0D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0" y="2020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3" name="Freeform 22">
                <a:extLst>
                  <a:ext uri="{FF2B5EF4-FFF2-40B4-BE49-F238E27FC236}">
                    <a16:creationId xmlns:a16="http://schemas.microsoft.com/office/drawing/2014/main" id="{C6BC5449-FF0B-21EA-BCFE-2658F8965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2140"/>
                <a:ext cx="111" cy="109"/>
              </a:xfrm>
              <a:custGeom>
                <a:avLst/>
                <a:gdLst>
                  <a:gd name="T0" fmla="*/ 0 w 111"/>
                  <a:gd name="T1" fmla="*/ 0 h 109"/>
                  <a:gd name="T2" fmla="*/ 55 w 111"/>
                  <a:gd name="T3" fmla="*/ 109 h 109"/>
                  <a:gd name="T4" fmla="*/ 111 w 111"/>
                  <a:gd name="T5" fmla="*/ 0 h 109"/>
                  <a:gd name="T6" fmla="*/ 0 w 111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09"/>
                  <a:gd name="T14" fmla="*/ 111 w 111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09">
                    <a:moveTo>
                      <a:pt x="0" y="0"/>
                    </a:moveTo>
                    <a:lnTo>
                      <a:pt x="55" y="109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29" name="Rectangle 23">
              <a:extLst>
                <a:ext uri="{FF2B5EF4-FFF2-40B4-BE49-F238E27FC236}">
                  <a16:creationId xmlns:a16="http://schemas.microsoft.com/office/drawing/2014/main" id="{4F87BC5A-1C94-B7B8-C429-B41667DAA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345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0" name="Rectangle 24">
              <a:extLst>
                <a:ext uri="{FF2B5EF4-FFF2-40B4-BE49-F238E27FC236}">
                  <a16:creationId xmlns:a16="http://schemas.microsoft.com/office/drawing/2014/main" id="{06772EF6-30D5-6287-F65D-66DC4EC8E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351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31" name="Rectangle 25">
              <a:extLst>
                <a:ext uri="{FF2B5EF4-FFF2-40B4-BE49-F238E27FC236}">
                  <a16:creationId xmlns:a16="http://schemas.microsoft.com/office/drawing/2014/main" id="{0648D375-6EE8-9B1D-C0C0-25EC8F623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395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32" name="Rectangle 26">
              <a:extLst>
                <a:ext uri="{FF2B5EF4-FFF2-40B4-BE49-F238E27FC236}">
                  <a16:creationId xmlns:a16="http://schemas.microsoft.com/office/drawing/2014/main" id="{782CEAD8-851D-F61A-09AB-C9F6752B5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249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3" name="Rectangle 27">
              <a:extLst>
                <a:ext uri="{FF2B5EF4-FFF2-40B4-BE49-F238E27FC236}">
                  <a16:creationId xmlns:a16="http://schemas.microsoft.com/office/drawing/2014/main" id="{EF65EAD5-A131-5090-4F17-C713A5F76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256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734" name="Rectangle 28">
              <a:extLst>
                <a:ext uri="{FF2B5EF4-FFF2-40B4-BE49-F238E27FC236}">
                  <a16:creationId xmlns:a16="http://schemas.microsoft.com/office/drawing/2014/main" id="{8224E503-0542-CAEE-664D-E30C66CF1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1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35" name="Rectangle 29">
              <a:extLst>
                <a:ext uri="{FF2B5EF4-FFF2-40B4-BE49-F238E27FC236}">
                  <a16:creationId xmlns:a16="http://schemas.microsoft.com/office/drawing/2014/main" id="{7A893303-595D-AE12-DEEC-4C1F54492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1665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6" name="Rectangle 30">
              <a:extLst>
                <a:ext uri="{FF2B5EF4-FFF2-40B4-BE49-F238E27FC236}">
                  <a16:creationId xmlns:a16="http://schemas.microsoft.com/office/drawing/2014/main" id="{E6EA0EEF-F75E-17B4-D67F-2F7C2A01D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1675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37" name="Rectangle 31">
              <a:extLst>
                <a:ext uri="{FF2B5EF4-FFF2-40B4-BE49-F238E27FC236}">
                  <a16:creationId xmlns:a16="http://schemas.microsoft.com/office/drawing/2014/main" id="{F9684F41-FA15-4B77-7E03-018416A6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675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38" name="Rectangle 32">
              <a:extLst>
                <a:ext uri="{FF2B5EF4-FFF2-40B4-BE49-F238E27FC236}">
                  <a16:creationId xmlns:a16="http://schemas.microsoft.com/office/drawing/2014/main" id="{CCB6EECD-7D78-A9C9-947B-12206B961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881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39" name="Rectangle 33">
              <a:extLst>
                <a:ext uri="{FF2B5EF4-FFF2-40B4-BE49-F238E27FC236}">
                  <a16:creationId xmlns:a16="http://schemas.microsoft.com/office/drawing/2014/main" id="{827A5867-FF09-F246-419E-8787738DF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1881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40" name="Rectangle 34">
              <a:extLst>
                <a:ext uri="{FF2B5EF4-FFF2-40B4-BE49-F238E27FC236}">
                  <a16:creationId xmlns:a16="http://schemas.microsoft.com/office/drawing/2014/main" id="{CF9420B1-CAA2-51A3-C321-24355FE55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" y="1881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41" name="Group 35">
              <a:extLst>
                <a:ext uri="{FF2B5EF4-FFF2-40B4-BE49-F238E27FC236}">
                  <a16:creationId xmlns:a16="http://schemas.microsoft.com/office/drawing/2014/main" id="{0D1789A4-3ADA-7727-42AA-791051F86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2" y="1436"/>
              <a:ext cx="111" cy="229"/>
              <a:chOff x="2522" y="1436"/>
              <a:chExt cx="111" cy="229"/>
            </a:xfrm>
          </p:grpSpPr>
          <p:sp>
            <p:nvSpPr>
              <p:cNvPr id="115860" name="Rectangle 36">
                <a:extLst>
                  <a:ext uri="{FF2B5EF4-FFF2-40B4-BE49-F238E27FC236}">
                    <a16:creationId xmlns:a16="http://schemas.microsoft.com/office/drawing/2014/main" id="{8A9DDE19-010A-9137-0D94-5699E5B49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1" name="Freeform 37">
                <a:extLst>
                  <a:ext uri="{FF2B5EF4-FFF2-40B4-BE49-F238E27FC236}">
                    <a16:creationId xmlns:a16="http://schemas.microsoft.com/office/drawing/2014/main" id="{57D9222C-3EEF-53D0-A0D7-7B24EB2A4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42" name="Rectangle 38">
              <a:extLst>
                <a:ext uri="{FF2B5EF4-FFF2-40B4-BE49-F238E27FC236}">
                  <a16:creationId xmlns:a16="http://schemas.microsoft.com/office/drawing/2014/main" id="{A223CFE1-6427-0FF6-E9D7-661043163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1333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43" name="Rectangle 39">
              <a:extLst>
                <a:ext uri="{FF2B5EF4-FFF2-40B4-BE49-F238E27FC236}">
                  <a16:creationId xmlns:a16="http://schemas.microsoft.com/office/drawing/2014/main" id="{B868F6E5-14EE-99D9-6BD3-4ACAA8112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44" name="Rectangle 40">
              <a:extLst>
                <a:ext uri="{FF2B5EF4-FFF2-40B4-BE49-F238E27FC236}">
                  <a16:creationId xmlns:a16="http://schemas.microsoft.com/office/drawing/2014/main" id="{2BDFB9F1-1501-832A-3188-BB2541A15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45" name="Group 41">
              <a:extLst>
                <a:ext uri="{FF2B5EF4-FFF2-40B4-BE49-F238E27FC236}">
                  <a16:creationId xmlns:a16="http://schemas.microsoft.com/office/drawing/2014/main" id="{2F6A1BEB-D96A-EEAE-DB9A-628D5D8DC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6" y="1436"/>
              <a:ext cx="111" cy="229"/>
              <a:chOff x="2636" y="1436"/>
              <a:chExt cx="111" cy="229"/>
            </a:xfrm>
          </p:grpSpPr>
          <p:sp>
            <p:nvSpPr>
              <p:cNvPr id="115858" name="Rectangle 42">
                <a:extLst>
                  <a:ext uri="{FF2B5EF4-FFF2-40B4-BE49-F238E27FC236}">
                    <a16:creationId xmlns:a16="http://schemas.microsoft.com/office/drawing/2014/main" id="{FA37C994-6C4E-6983-93AF-421F3EA37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0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59" name="Freeform 43">
                <a:extLst>
                  <a:ext uri="{FF2B5EF4-FFF2-40B4-BE49-F238E27FC236}">
                    <a16:creationId xmlns:a16="http://schemas.microsoft.com/office/drawing/2014/main" id="{1AE9369B-0996-5264-39AA-534392997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46" name="Group 44">
              <a:extLst>
                <a:ext uri="{FF2B5EF4-FFF2-40B4-BE49-F238E27FC236}">
                  <a16:creationId xmlns:a16="http://schemas.microsoft.com/office/drawing/2014/main" id="{415B99EA-1853-9DA7-B50E-58A6A048AE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1" y="2008"/>
              <a:ext cx="110" cy="229"/>
              <a:chOff x="2751" y="2008"/>
              <a:chExt cx="110" cy="229"/>
            </a:xfrm>
          </p:grpSpPr>
          <p:sp>
            <p:nvSpPr>
              <p:cNvPr id="115856" name="Rectangle 45">
                <a:extLst>
                  <a:ext uri="{FF2B5EF4-FFF2-40B4-BE49-F238E27FC236}">
                    <a16:creationId xmlns:a16="http://schemas.microsoft.com/office/drawing/2014/main" id="{7CD44F9D-204F-BA35-5D8E-D02AEE3A8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5" y="2008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57" name="Freeform 46">
                <a:extLst>
                  <a:ext uri="{FF2B5EF4-FFF2-40B4-BE49-F238E27FC236}">
                    <a16:creationId xmlns:a16="http://schemas.microsoft.com/office/drawing/2014/main" id="{8E6AA6E3-067C-35CB-28E9-806A6C7C8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128"/>
                <a:ext cx="110" cy="109"/>
              </a:xfrm>
              <a:custGeom>
                <a:avLst/>
                <a:gdLst>
                  <a:gd name="T0" fmla="*/ 0 w 110"/>
                  <a:gd name="T1" fmla="*/ 0 h 109"/>
                  <a:gd name="T2" fmla="*/ 54 w 110"/>
                  <a:gd name="T3" fmla="*/ 109 h 109"/>
                  <a:gd name="T4" fmla="*/ 110 w 110"/>
                  <a:gd name="T5" fmla="*/ 0 h 109"/>
                  <a:gd name="T6" fmla="*/ 0 w 110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09"/>
                  <a:gd name="T14" fmla="*/ 110 w 110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09">
                    <a:moveTo>
                      <a:pt x="0" y="0"/>
                    </a:moveTo>
                    <a:lnTo>
                      <a:pt x="54" y="109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47" name="Rectangle 47">
              <a:extLst>
                <a:ext uri="{FF2B5EF4-FFF2-40B4-BE49-F238E27FC236}">
                  <a16:creationId xmlns:a16="http://schemas.microsoft.com/office/drawing/2014/main" id="{A3CC39EB-0483-8368-F941-BC07331D4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4" y="1333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48" name="Rectangle 48">
              <a:extLst>
                <a:ext uri="{FF2B5EF4-FFF2-40B4-BE49-F238E27FC236}">
                  <a16:creationId xmlns:a16="http://schemas.microsoft.com/office/drawing/2014/main" id="{69C4531E-095A-E65B-A7CF-FF5A33CCF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4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49" name="Rectangle 49">
              <a:extLst>
                <a:ext uri="{FF2B5EF4-FFF2-40B4-BE49-F238E27FC236}">
                  <a16:creationId xmlns:a16="http://schemas.microsoft.com/office/drawing/2014/main" id="{F2AFDAC8-7EA6-2158-5315-448AFB59F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6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50" name="Rectangle 50">
              <a:extLst>
                <a:ext uri="{FF2B5EF4-FFF2-40B4-BE49-F238E27FC236}">
                  <a16:creationId xmlns:a16="http://schemas.microsoft.com/office/drawing/2014/main" id="{778F0A22-87BE-C81D-9F92-5D2351F7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2237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51" name="Rectangle 51">
              <a:extLst>
                <a:ext uri="{FF2B5EF4-FFF2-40B4-BE49-F238E27FC236}">
                  <a16:creationId xmlns:a16="http://schemas.microsoft.com/office/drawing/2014/main" id="{79E67BC0-C794-DB79-311A-FCACC25CF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2244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752" name="Rectangle 52">
              <a:extLst>
                <a:ext uri="{FF2B5EF4-FFF2-40B4-BE49-F238E27FC236}">
                  <a16:creationId xmlns:a16="http://schemas.microsoft.com/office/drawing/2014/main" id="{425E1C1B-6262-3B3C-3642-364A81CDD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53" name="Group 53">
              <a:extLst>
                <a:ext uri="{FF2B5EF4-FFF2-40B4-BE49-F238E27FC236}">
                  <a16:creationId xmlns:a16="http://schemas.microsoft.com/office/drawing/2014/main" id="{F8F9BDF2-FE64-CF39-0D6E-545E41639A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020"/>
              <a:ext cx="75" cy="172"/>
              <a:chOff x="3168" y="2020"/>
              <a:chExt cx="75" cy="172"/>
            </a:xfrm>
          </p:grpSpPr>
          <p:sp>
            <p:nvSpPr>
              <p:cNvPr id="115854" name="Line 54">
                <a:extLst>
                  <a:ext uri="{FF2B5EF4-FFF2-40B4-BE49-F238E27FC236}">
                    <a16:creationId xmlns:a16="http://schemas.microsoft.com/office/drawing/2014/main" id="{8B2A93AD-F588-B879-D137-188844A9E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5" y="2020"/>
                <a:ext cx="1" cy="10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5" name="Freeform 55">
                <a:extLst>
                  <a:ext uri="{FF2B5EF4-FFF2-40B4-BE49-F238E27FC236}">
                    <a16:creationId xmlns:a16="http://schemas.microsoft.com/office/drawing/2014/main" id="{040E560E-DBB5-95FC-7011-1DB7710D6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2118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54" name="Line 56">
              <a:extLst>
                <a:ext uri="{FF2B5EF4-FFF2-40B4-BE49-F238E27FC236}">
                  <a16:creationId xmlns:a16="http://schemas.microsoft.com/office/drawing/2014/main" id="{15E4C203-F03C-028F-8064-2DB1397B0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4" y="2192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5" name="Line 57">
              <a:extLst>
                <a:ext uri="{FF2B5EF4-FFF2-40B4-BE49-F238E27FC236}">
                  <a16:creationId xmlns:a16="http://schemas.microsoft.com/office/drawing/2014/main" id="{2F7B13DF-9D5F-7043-DAC5-8D74055BA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4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6" name="Line 58">
              <a:extLst>
                <a:ext uri="{FF2B5EF4-FFF2-40B4-BE49-F238E27FC236}">
                  <a16:creationId xmlns:a16="http://schemas.microsoft.com/office/drawing/2014/main" id="{7EB3038C-FB75-534E-C61C-0060CC86CE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2" y="1505"/>
              <a:ext cx="17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57" name="Group 59">
              <a:extLst>
                <a:ext uri="{FF2B5EF4-FFF2-40B4-BE49-F238E27FC236}">
                  <a16:creationId xmlns:a16="http://schemas.microsoft.com/office/drawing/2014/main" id="{540EB40E-128A-E6B3-0208-7F011BF2F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6" y="1505"/>
              <a:ext cx="74" cy="172"/>
              <a:chOff x="2826" y="1505"/>
              <a:chExt cx="74" cy="172"/>
            </a:xfrm>
          </p:grpSpPr>
          <p:sp>
            <p:nvSpPr>
              <p:cNvPr id="115852" name="Line 60">
                <a:extLst>
                  <a:ext uri="{FF2B5EF4-FFF2-40B4-BE49-F238E27FC236}">
                    <a16:creationId xmlns:a16="http://schemas.microsoft.com/office/drawing/2014/main" id="{219ABD9D-EC8A-58FE-C1DB-17C20A63B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3" name="Freeform 61">
                <a:extLst>
                  <a:ext uri="{FF2B5EF4-FFF2-40B4-BE49-F238E27FC236}">
                    <a16:creationId xmlns:a16="http://schemas.microsoft.com/office/drawing/2014/main" id="{3D19E47D-FC0C-D505-004C-F7201BE72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1603"/>
                <a:ext cx="74" cy="74"/>
              </a:xfrm>
              <a:custGeom>
                <a:avLst/>
                <a:gdLst>
                  <a:gd name="T0" fmla="*/ 0 w 74"/>
                  <a:gd name="T1" fmla="*/ 0 h 74"/>
                  <a:gd name="T2" fmla="*/ 36 w 74"/>
                  <a:gd name="T3" fmla="*/ 74 h 74"/>
                  <a:gd name="T4" fmla="*/ 74 w 74"/>
                  <a:gd name="T5" fmla="*/ 0 h 74"/>
                  <a:gd name="T6" fmla="*/ 0 w 74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"/>
                  <a:gd name="T13" fmla="*/ 0 h 74"/>
                  <a:gd name="T14" fmla="*/ 74 w 74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" h="74">
                    <a:moveTo>
                      <a:pt x="0" y="0"/>
                    </a:moveTo>
                    <a:lnTo>
                      <a:pt x="36" y="74"/>
                    </a:lnTo>
                    <a:lnTo>
                      <a:pt x="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58" name="Rectangle 62">
              <a:extLst>
                <a:ext uri="{FF2B5EF4-FFF2-40B4-BE49-F238E27FC236}">
                  <a16:creationId xmlns:a16="http://schemas.microsoft.com/office/drawing/2014/main" id="{389B8D00-ECC2-D5E4-328C-F2CF88234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192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59" name="Rectangle 63">
              <a:extLst>
                <a:ext uri="{FF2B5EF4-FFF2-40B4-BE49-F238E27FC236}">
                  <a16:creationId xmlns:a16="http://schemas.microsoft.com/office/drawing/2014/main" id="{00C55284-A5FF-855A-E46C-80009E3D1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0" name="Rectangle 64">
              <a:extLst>
                <a:ext uri="{FF2B5EF4-FFF2-40B4-BE49-F238E27FC236}">
                  <a16:creationId xmlns:a16="http://schemas.microsoft.com/office/drawing/2014/main" id="{366C2100-93C4-6D71-019A-DB347F7A3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61" name="Rectangle 65">
              <a:extLst>
                <a:ext uri="{FF2B5EF4-FFF2-40B4-BE49-F238E27FC236}">
                  <a16:creationId xmlns:a16="http://schemas.microsoft.com/office/drawing/2014/main" id="{AD815152-7E35-09D5-C7D7-477FAF0E5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390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62" name="Rectangle 66">
              <a:extLst>
                <a:ext uri="{FF2B5EF4-FFF2-40B4-BE49-F238E27FC236}">
                  <a16:creationId xmlns:a16="http://schemas.microsoft.com/office/drawing/2014/main" id="{6C95F21A-B2FB-672C-DAD2-6D6914F13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397"/>
              <a:ext cx="1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3" name="Rectangle 67">
              <a:extLst>
                <a:ext uri="{FF2B5EF4-FFF2-40B4-BE49-F238E27FC236}">
                  <a16:creationId xmlns:a16="http://schemas.microsoft.com/office/drawing/2014/main" id="{773CDA48-8DF2-4F0B-7566-5C580AA59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64" name="Line 68">
              <a:extLst>
                <a:ext uri="{FF2B5EF4-FFF2-40B4-BE49-F238E27FC236}">
                  <a16:creationId xmlns:a16="http://schemas.microsoft.com/office/drawing/2014/main" id="{818B1309-5FFD-A42B-1832-82A47BA3F9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8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65" name="Group 69">
              <a:extLst>
                <a:ext uri="{FF2B5EF4-FFF2-40B4-BE49-F238E27FC236}">
                  <a16:creationId xmlns:a16="http://schemas.microsoft.com/office/drawing/2014/main" id="{A39A124D-5EC9-9EFF-63C5-6CCEA0AF8E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1" y="1505"/>
              <a:ext cx="75" cy="172"/>
              <a:chOff x="3511" y="1505"/>
              <a:chExt cx="75" cy="172"/>
            </a:xfrm>
          </p:grpSpPr>
          <p:sp>
            <p:nvSpPr>
              <p:cNvPr id="115850" name="Line 70">
                <a:extLst>
                  <a:ext uri="{FF2B5EF4-FFF2-40B4-BE49-F238E27FC236}">
                    <a16:creationId xmlns:a16="http://schemas.microsoft.com/office/drawing/2014/main" id="{EA917E1A-6E07-2A41-DDBF-DB24BB929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1" name="Freeform 71">
                <a:extLst>
                  <a:ext uri="{FF2B5EF4-FFF2-40B4-BE49-F238E27FC236}">
                    <a16:creationId xmlns:a16="http://schemas.microsoft.com/office/drawing/2014/main" id="{D43F3C16-DBDB-710C-F9A2-974A77B33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66" name="Rectangle 72">
              <a:extLst>
                <a:ext uri="{FF2B5EF4-FFF2-40B4-BE49-F238E27FC236}">
                  <a16:creationId xmlns:a16="http://schemas.microsoft.com/office/drawing/2014/main" id="{09CCF748-9A80-F03C-E350-E8394E2EF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390"/>
              <a:ext cx="22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67" name="Rectangle 73">
              <a:extLst>
                <a:ext uri="{FF2B5EF4-FFF2-40B4-BE49-F238E27FC236}">
                  <a16:creationId xmlns:a16="http://schemas.microsoft.com/office/drawing/2014/main" id="{CF554E11-A1F9-95CD-270C-51FA21204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397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8" name="Rectangle 74">
              <a:extLst>
                <a:ext uri="{FF2B5EF4-FFF2-40B4-BE49-F238E27FC236}">
                  <a16:creationId xmlns:a16="http://schemas.microsoft.com/office/drawing/2014/main" id="{9D7083A4-ABF6-C601-73AA-CDEA66C3E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69" name="Rectangle 75">
              <a:extLst>
                <a:ext uri="{FF2B5EF4-FFF2-40B4-BE49-F238E27FC236}">
                  <a16:creationId xmlns:a16="http://schemas.microsoft.com/office/drawing/2014/main" id="{81F4F707-4E79-6945-1643-E59248A9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" y="1397"/>
              <a:ext cx="52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=c</a:t>
              </a:r>
              <a:endParaRPr lang="it-IT" altLang="it-IT"/>
            </a:p>
          </p:txBody>
        </p:sp>
        <p:grpSp>
          <p:nvGrpSpPr>
            <p:cNvPr id="115770" name="Group 76">
              <a:extLst>
                <a:ext uri="{FF2B5EF4-FFF2-40B4-BE49-F238E27FC236}">
                  <a16:creationId xmlns:a16="http://schemas.microsoft.com/office/drawing/2014/main" id="{6E000AAA-9983-5B6B-500A-EECE626F2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3" y="2020"/>
              <a:ext cx="75" cy="172"/>
              <a:chOff x="2483" y="2020"/>
              <a:chExt cx="75" cy="172"/>
            </a:xfrm>
          </p:grpSpPr>
          <p:sp>
            <p:nvSpPr>
              <p:cNvPr id="115848" name="Line 77">
                <a:extLst>
                  <a:ext uri="{FF2B5EF4-FFF2-40B4-BE49-F238E27FC236}">
                    <a16:creationId xmlns:a16="http://schemas.microsoft.com/office/drawing/2014/main" id="{3CC8F3A8-487F-33C6-6372-B2C8D6B59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0" y="2020"/>
                <a:ext cx="1" cy="10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9" name="Freeform 78">
                <a:extLst>
                  <a:ext uri="{FF2B5EF4-FFF2-40B4-BE49-F238E27FC236}">
                    <a16:creationId xmlns:a16="http://schemas.microsoft.com/office/drawing/2014/main" id="{EC7E27B1-7DF2-1B2B-EB26-C67FF9518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2118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71" name="Line 79">
              <a:extLst>
                <a:ext uri="{FF2B5EF4-FFF2-40B4-BE49-F238E27FC236}">
                  <a16:creationId xmlns:a16="http://schemas.microsoft.com/office/drawing/2014/main" id="{37DD0859-F147-F813-3900-728333B11D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8" y="2192"/>
              <a:ext cx="17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2" name="Line 80">
              <a:extLst>
                <a:ext uri="{FF2B5EF4-FFF2-40B4-BE49-F238E27FC236}">
                  <a16:creationId xmlns:a16="http://schemas.microsoft.com/office/drawing/2014/main" id="{2967E4C9-A540-32CD-68FF-ADD1E1EF23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8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3" name="Line 81">
              <a:extLst>
                <a:ext uri="{FF2B5EF4-FFF2-40B4-BE49-F238E27FC236}">
                  <a16:creationId xmlns:a16="http://schemas.microsoft.com/office/drawing/2014/main" id="{6F82DA75-900E-330D-DA1F-63BF26DB9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7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74" name="Group 82">
              <a:extLst>
                <a:ext uri="{FF2B5EF4-FFF2-40B4-BE49-F238E27FC236}">
                  <a16:creationId xmlns:a16="http://schemas.microsoft.com/office/drawing/2014/main" id="{62CD042E-C373-0464-1F73-1D1867FE9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1505"/>
              <a:ext cx="75" cy="172"/>
              <a:chOff x="2140" y="1505"/>
              <a:chExt cx="75" cy="172"/>
            </a:xfrm>
          </p:grpSpPr>
          <p:sp>
            <p:nvSpPr>
              <p:cNvPr id="115846" name="Line 83">
                <a:extLst>
                  <a:ext uri="{FF2B5EF4-FFF2-40B4-BE49-F238E27FC236}">
                    <a16:creationId xmlns:a16="http://schemas.microsoft.com/office/drawing/2014/main" id="{62F037B3-8DCF-A765-A882-3FACA91A9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7" name="Freeform 84">
                <a:extLst>
                  <a:ext uri="{FF2B5EF4-FFF2-40B4-BE49-F238E27FC236}">
                    <a16:creationId xmlns:a16="http://schemas.microsoft.com/office/drawing/2014/main" id="{842DBC53-3AA0-602D-12C5-225ADAF54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75" name="Rectangle 85">
              <a:extLst>
                <a:ext uri="{FF2B5EF4-FFF2-40B4-BE49-F238E27FC236}">
                  <a16:creationId xmlns:a16="http://schemas.microsoft.com/office/drawing/2014/main" id="{6A088FA6-ED76-536B-1339-6FA09CBC7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2192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76" name="Rectangle 86">
              <a:extLst>
                <a:ext uri="{FF2B5EF4-FFF2-40B4-BE49-F238E27FC236}">
                  <a16:creationId xmlns:a16="http://schemas.microsoft.com/office/drawing/2014/main" id="{42F64CE8-CCF1-8E7A-14EC-6C54DC8F0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77" name="Rectangle 87">
              <a:extLst>
                <a:ext uri="{FF2B5EF4-FFF2-40B4-BE49-F238E27FC236}">
                  <a16:creationId xmlns:a16="http://schemas.microsoft.com/office/drawing/2014/main" id="{E148D726-E09F-5DBE-71A7-EECE681C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78" name="Rectangle 88">
              <a:extLst>
                <a:ext uri="{FF2B5EF4-FFF2-40B4-BE49-F238E27FC236}">
                  <a16:creationId xmlns:a16="http://schemas.microsoft.com/office/drawing/2014/main" id="{6E0977A3-1FF4-BF39-5315-692001092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1390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79" name="Rectangle 89">
              <a:extLst>
                <a:ext uri="{FF2B5EF4-FFF2-40B4-BE49-F238E27FC236}">
                  <a16:creationId xmlns:a16="http://schemas.microsoft.com/office/drawing/2014/main" id="{389A4FA4-47C7-11D3-50D1-008B3EB97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1397"/>
              <a:ext cx="1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80" name="Rectangle 90">
              <a:extLst>
                <a:ext uri="{FF2B5EF4-FFF2-40B4-BE49-F238E27FC236}">
                  <a16:creationId xmlns:a16="http://schemas.microsoft.com/office/drawing/2014/main" id="{81354F04-78B8-B631-F972-53197B85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2</a:t>
              </a:r>
              <a:endParaRPr lang="it-IT" altLang="it-IT"/>
            </a:p>
          </p:txBody>
        </p:sp>
        <p:grpSp>
          <p:nvGrpSpPr>
            <p:cNvPr id="115781" name="Group 91">
              <a:extLst>
                <a:ext uri="{FF2B5EF4-FFF2-40B4-BE49-F238E27FC236}">
                  <a16:creationId xmlns:a16="http://schemas.microsoft.com/office/drawing/2014/main" id="{6A97ABE9-2338-CC5E-D61E-2FA60C527E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7" y="1820"/>
              <a:ext cx="857" cy="57"/>
              <a:chOff x="1377" y="1820"/>
              <a:chExt cx="857" cy="57"/>
            </a:xfrm>
          </p:grpSpPr>
          <p:sp>
            <p:nvSpPr>
              <p:cNvPr id="115838" name="Rectangle 92">
                <a:extLst>
                  <a:ext uri="{FF2B5EF4-FFF2-40B4-BE49-F238E27FC236}">
                    <a16:creationId xmlns:a16="http://schemas.microsoft.com/office/drawing/2014/main" id="{03DE340E-2106-23E6-50C0-506642A20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7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9" name="Rectangle 93">
                <a:extLst>
                  <a:ext uri="{FF2B5EF4-FFF2-40B4-BE49-F238E27FC236}">
                    <a16:creationId xmlns:a16="http://schemas.microsoft.com/office/drawing/2014/main" id="{0003A333-F632-5B07-D83D-9A56F8E12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3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0" name="Rectangle 94">
                <a:extLst>
                  <a:ext uri="{FF2B5EF4-FFF2-40B4-BE49-F238E27FC236}">
                    <a16:creationId xmlns:a16="http://schemas.microsoft.com/office/drawing/2014/main" id="{24F1497E-3D65-D0E5-BDCA-7B7D414FF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9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1" name="Rectangle 95">
                <a:extLst>
                  <a:ext uri="{FF2B5EF4-FFF2-40B4-BE49-F238E27FC236}">
                    <a16:creationId xmlns:a16="http://schemas.microsoft.com/office/drawing/2014/main" id="{C34B12E7-32C7-AC45-8839-B81902C28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4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2" name="Rectangle 96">
                <a:extLst>
                  <a:ext uri="{FF2B5EF4-FFF2-40B4-BE49-F238E27FC236}">
                    <a16:creationId xmlns:a16="http://schemas.microsoft.com/office/drawing/2014/main" id="{3897D8A6-18F9-2D4E-4555-171D0A7F6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0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3" name="Rectangle 97">
                <a:extLst>
                  <a:ext uri="{FF2B5EF4-FFF2-40B4-BE49-F238E27FC236}">
                    <a16:creationId xmlns:a16="http://schemas.microsoft.com/office/drawing/2014/main" id="{0961FF40-B856-3FDC-2589-C1F176056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4" name="Rectangle 98">
                <a:extLst>
                  <a:ext uri="{FF2B5EF4-FFF2-40B4-BE49-F238E27FC236}">
                    <a16:creationId xmlns:a16="http://schemas.microsoft.com/office/drawing/2014/main" id="{BA19120D-D8D1-03A6-4161-7A8D99144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5" name="Rectangle 99">
                <a:extLst>
                  <a:ext uri="{FF2B5EF4-FFF2-40B4-BE49-F238E27FC236}">
                    <a16:creationId xmlns:a16="http://schemas.microsoft.com/office/drawing/2014/main" id="{8596243C-8E88-748E-807C-A3CCD8DFD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7" y="1820"/>
                <a:ext cx="58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115782" name="Rectangle 100">
              <a:extLst>
                <a:ext uri="{FF2B5EF4-FFF2-40B4-BE49-F238E27FC236}">
                  <a16:creationId xmlns:a16="http://schemas.microsoft.com/office/drawing/2014/main" id="{28394A55-E228-6FA5-04AD-A2C7DC75A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1665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83" name="Rectangle 101">
              <a:extLst>
                <a:ext uri="{FF2B5EF4-FFF2-40B4-BE49-F238E27FC236}">
                  <a16:creationId xmlns:a16="http://schemas.microsoft.com/office/drawing/2014/main" id="{E136EEC1-A39F-9520-AF92-61AEB54E5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" y="1675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84" name="Rectangle 102">
              <a:extLst>
                <a:ext uri="{FF2B5EF4-FFF2-40B4-BE49-F238E27FC236}">
                  <a16:creationId xmlns:a16="http://schemas.microsoft.com/office/drawing/2014/main" id="{ED16750B-EB0E-77F7-A078-272D09728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1675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85" name="Rectangle 103">
              <a:extLst>
                <a:ext uri="{FF2B5EF4-FFF2-40B4-BE49-F238E27FC236}">
                  <a16:creationId xmlns:a16="http://schemas.microsoft.com/office/drawing/2014/main" id="{892D6765-E1E1-7444-BAFA-9432F6499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881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86" name="Rectangle 104">
              <a:extLst>
                <a:ext uri="{FF2B5EF4-FFF2-40B4-BE49-F238E27FC236}">
                  <a16:creationId xmlns:a16="http://schemas.microsoft.com/office/drawing/2014/main" id="{BBF03896-34BF-7782-05A0-49A49879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881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87" name="Rectangle 105">
              <a:extLst>
                <a:ext uri="{FF2B5EF4-FFF2-40B4-BE49-F238E27FC236}">
                  <a16:creationId xmlns:a16="http://schemas.microsoft.com/office/drawing/2014/main" id="{4E176BB7-0251-4F1F-AC7A-52C96D8E2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1881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88" name="Group 106">
              <a:extLst>
                <a:ext uri="{FF2B5EF4-FFF2-40B4-BE49-F238E27FC236}">
                  <a16:creationId xmlns:a16="http://schemas.microsoft.com/office/drawing/2014/main" id="{2B249190-F6CB-D1D3-58AC-50FB35E242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4" y="1436"/>
              <a:ext cx="111" cy="229"/>
              <a:chOff x="694" y="1436"/>
              <a:chExt cx="111" cy="229"/>
            </a:xfrm>
          </p:grpSpPr>
          <p:sp>
            <p:nvSpPr>
              <p:cNvPr id="115836" name="Rectangle 107">
                <a:extLst>
                  <a:ext uri="{FF2B5EF4-FFF2-40B4-BE49-F238E27FC236}">
                    <a16:creationId xmlns:a16="http://schemas.microsoft.com/office/drawing/2014/main" id="{7620E5C6-E7E5-87DA-4DF2-BD956B284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7" name="Freeform 108">
                <a:extLst>
                  <a:ext uri="{FF2B5EF4-FFF2-40B4-BE49-F238E27FC236}">
                    <a16:creationId xmlns:a16="http://schemas.microsoft.com/office/drawing/2014/main" id="{3C3B557C-D926-21C8-E396-EE3DDF851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89" name="Rectangle 109">
              <a:extLst>
                <a:ext uri="{FF2B5EF4-FFF2-40B4-BE49-F238E27FC236}">
                  <a16:creationId xmlns:a16="http://schemas.microsoft.com/office/drawing/2014/main" id="{B792ACFF-247D-5232-57E4-4ACB2B6A5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333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90" name="Rectangle 110">
              <a:extLst>
                <a:ext uri="{FF2B5EF4-FFF2-40B4-BE49-F238E27FC236}">
                  <a16:creationId xmlns:a16="http://schemas.microsoft.com/office/drawing/2014/main" id="{8D024DD7-ECBE-83E3-BF9C-256DBED2B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91" name="Rectangle 111">
              <a:extLst>
                <a:ext uri="{FF2B5EF4-FFF2-40B4-BE49-F238E27FC236}">
                  <a16:creationId xmlns:a16="http://schemas.microsoft.com/office/drawing/2014/main" id="{F1CCB52D-30DC-EB85-3FBF-45DEB514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792" name="Rectangle 112">
              <a:extLst>
                <a:ext uri="{FF2B5EF4-FFF2-40B4-BE49-F238E27FC236}">
                  <a16:creationId xmlns:a16="http://schemas.microsoft.com/office/drawing/2014/main" id="{8B6C6F9F-D68E-20E6-A209-504E9DDDF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138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93" name="Rectangle 113">
              <a:extLst>
                <a:ext uri="{FF2B5EF4-FFF2-40B4-BE49-F238E27FC236}">
                  <a16:creationId xmlns:a16="http://schemas.microsoft.com/office/drawing/2014/main" id="{C07E2AE8-A7DD-A58A-B7F8-12725B22D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94" name="Group 114">
              <a:extLst>
                <a:ext uri="{FF2B5EF4-FFF2-40B4-BE49-F238E27FC236}">
                  <a16:creationId xmlns:a16="http://schemas.microsoft.com/office/drawing/2014/main" id="{653B704E-33B9-FA27-CCAD-8F39AA9E6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9" y="1436"/>
              <a:ext cx="110" cy="229"/>
              <a:chOff x="809" y="1436"/>
              <a:chExt cx="110" cy="229"/>
            </a:xfrm>
          </p:grpSpPr>
          <p:sp>
            <p:nvSpPr>
              <p:cNvPr id="115834" name="Rectangle 115">
                <a:extLst>
                  <a:ext uri="{FF2B5EF4-FFF2-40B4-BE49-F238E27FC236}">
                    <a16:creationId xmlns:a16="http://schemas.microsoft.com/office/drawing/2014/main" id="{B917619B-0836-636D-2F5E-5FD804BC8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" y="1436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5" name="Freeform 116">
                <a:extLst>
                  <a:ext uri="{FF2B5EF4-FFF2-40B4-BE49-F238E27FC236}">
                    <a16:creationId xmlns:a16="http://schemas.microsoft.com/office/drawing/2014/main" id="{CC41D19C-C422-84AD-4A6E-293B4D6D5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" y="1555"/>
                <a:ext cx="110" cy="110"/>
              </a:xfrm>
              <a:custGeom>
                <a:avLst/>
                <a:gdLst>
                  <a:gd name="T0" fmla="*/ 0 w 110"/>
                  <a:gd name="T1" fmla="*/ 0 h 110"/>
                  <a:gd name="T2" fmla="*/ 54 w 110"/>
                  <a:gd name="T3" fmla="*/ 110 h 110"/>
                  <a:gd name="T4" fmla="*/ 110 w 110"/>
                  <a:gd name="T5" fmla="*/ 0 h 110"/>
                  <a:gd name="T6" fmla="*/ 0 w 110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10"/>
                  <a:gd name="T14" fmla="*/ 110 w 110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10">
                    <a:moveTo>
                      <a:pt x="0" y="0"/>
                    </a:moveTo>
                    <a:lnTo>
                      <a:pt x="54" y="110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95" name="Group 117">
              <a:extLst>
                <a:ext uri="{FF2B5EF4-FFF2-40B4-BE49-F238E27FC236}">
                  <a16:creationId xmlns:a16="http://schemas.microsoft.com/office/drawing/2014/main" id="{BF752B4B-4BC3-DC86-3D78-3C4490D58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3" y="2008"/>
              <a:ext cx="110" cy="229"/>
              <a:chOff x="923" y="2008"/>
              <a:chExt cx="110" cy="229"/>
            </a:xfrm>
          </p:grpSpPr>
          <p:sp>
            <p:nvSpPr>
              <p:cNvPr id="115832" name="Rectangle 118">
                <a:extLst>
                  <a:ext uri="{FF2B5EF4-FFF2-40B4-BE49-F238E27FC236}">
                    <a16:creationId xmlns:a16="http://schemas.microsoft.com/office/drawing/2014/main" id="{E6EE98FA-F795-6708-3E57-5696945D6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7" y="2008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3" name="Freeform 119">
                <a:extLst>
                  <a:ext uri="{FF2B5EF4-FFF2-40B4-BE49-F238E27FC236}">
                    <a16:creationId xmlns:a16="http://schemas.microsoft.com/office/drawing/2014/main" id="{E804144E-7DC4-3D2B-4920-B252D1212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2128"/>
                <a:ext cx="110" cy="109"/>
              </a:xfrm>
              <a:custGeom>
                <a:avLst/>
                <a:gdLst>
                  <a:gd name="T0" fmla="*/ 0 w 110"/>
                  <a:gd name="T1" fmla="*/ 0 h 109"/>
                  <a:gd name="T2" fmla="*/ 55 w 110"/>
                  <a:gd name="T3" fmla="*/ 109 h 109"/>
                  <a:gd name="T4" fmla="*/ 110 w 110"/>
                  <a:gd name="T5" fmla="*/ 0 h 109"/>
                  <a:gd name="T6" fmla="*/ 0 w 110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09"/>
                  <a:gd name="T14" fmla="*/ 110 w 110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09">
                    <a:moveTo>
                      <a:pt x="0" y="0"/>
                    </a:moveTo>
                    <a:lnTo>
                      <a:pt x="55" y="109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96" name="Rectangle 120">
              <a:extLst>
                <a:ext uri="{FF2B5EF4-FFF2-40B4-BE49-F238E27FC236}">
                  <a16:creationId xmlns:a16="http://schemas.microsoft.com/office/drawing/2014/main" id="{954B2AF7-605E-BF31-3AAD-36177D93C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333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97" name="Rectangle 121">
              <a:extLst>
                <a:ext uri="{FF2B5EF4-FFF2-40B4-BE49-F238E27FC236}">
                  <a16:creationId xmlns:a16="http://schemas.microsoft.com/office/drawing/2014/main" id="{F256FA16-8CD5-C91D-7EC2-3ED374F8E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98" name="Rectangle 122">
              <a:extLst>
                <a:ext uri="{FF2B5EF4-FFF2-40B4-BE49-F238E27FC236}">
                  <a16:creationId xmlns:a16="http://schemas.microsoft.com/office/drawing/2014/main" id="{0CE01545-C01E-5469-1477-1233494B9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799" name="Rectangle 123">
              <a:extLst>
                <a:ext uri="{FF2B5EF4-FFF2-40B4-BE49-F238E27FC236}">
                  <a16:creationId xmlns:a16="http://schemas.microsoft.com/office/drawing/2014/main" id="{0BB48E09-DE0E-3E79-B93F-007237C0E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138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00" name="Rectangle 124">
              <a:extLst>
                <a:ext uri="{FF2B5EF4-FFF2-40B4-BE49-F238E27FC236}">
                  <a16:creationId xmlns:a16="http://schemas.microsoft.com/office/drawing/2014/main" id="{49B5A72C-EDA4-F59D-FF67-3ECB8FF43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01" name="Rectangle 125">
              <a:extLst>
                <a:ext uri="{FF2B5EF4-FFF2-40B4-BE49-F238E27FC236}">
                  <a16:creationId xmlns:a16="http://schemas.microsoft.com/office/drawing/2014/main" id="{DF66FFFA-2AC7-D445-37C4-38EA9E487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237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02" name="Rectangle 126">
              <a:extLst>
                <a:ext uri="{FF2B5EF4-FFF2-40B4-BE49-F238E27FC236}">
                  <a16:creationId xmlns:a16="http://schemas.microsoft.com/office/drawing/2014/main" id="{46E64BFC-F258-928E-7FF1-3E0A0214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244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803" name="Rectangle 127">
              <a:extLst>
                <a:ext uri="{FF2B5EF4-FFF2-40B4-BE49-F238E27FC236}">
                  <a16:creationId xmlns:a16="http://schemas.microsoft.com/office/drawing/2014/main" id="{09245DBB-4A59-D93F-93C7-5208DAAEC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04" name="Rectangle 128">
              <a:extLst>
                <a:ext uri="{FF2B5EF4-FFF2-40B4-BE49-F238E27FC236}">
                  <a16:creationId xmlns:a16="http://schemas.microsoft.com/office/drawing/2014/main" id="{60071EF0-1176-9C8C-8BDB-FC4C7DB05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288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05" name="Rectangle 129">
              <a:extLst>
                <a:ext uri="{FF2B5EF4-FFF2-40B4-BE49-F238E27FC236}">
                  <a16:creationId xmlns:a16="http://schemas.microsoft.com/office/drawing/2014/main" id="{1FAEDC8D-9B2C-CE48-F44F-EF131033A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06" name="Line 130">
              <a:extLst>
                <a:ext uri="{FF2B5EF4-FFF2-40B4-BE49-F238E27FC236}">
                  <a16:creationId xmlns:a16="http://schemas.microsoft.com/office/drawing/2014/main" id="{24CCE2CE-046F-E10A-1159-BEF5EECA99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6" y="2192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7" name="Line 131">
              <a:extLst>
                <a:ext uri="{FF2B5EF4-FFF2-40B4-BE49-F238E27FC236}">
                  <a16:creationId xmlns:a16="http://schemas.microsoft.com/office/drawing/2014/main" id="{DECE0346-41F6-F320-C569-9E95B4278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6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8" name="Line 132">
              <a:extLst>
                <a:ext uri="{FF2B5EF4-FFF2-40B4-BE49-F238E27FC236}">
                  <a16:creationId xmlns:a16="http://schemas.microsoft.com/office/drawing/2014/main" id="{3876E354-5566-5A81-CBC3-A82D4F2F9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809" name="Group 133">
              <a:extLst>
                <a:ext uri="{FF2B5EF4-FFF2-40B4-BE49-F238E27FC236}">
                  <a16:creationId xmlns:a16="http://schemas.microsoft.com/office/drawing/2014/main" id="{95CA39BC-59CE-15C6-8190-9F6EC72826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505"/>
              <a:ext cx="75" cy="172"/>
              <a:chOff x="998" y="1505"/>
              <a:chExt cx="75" cy="172"/>
            </a:xfrm>
          </p:grpSpPr>
          <p:sp>
            <p:nvSpPr>
              <p:cNvPr id="115830" name="Line 134">
                <a:extLst>
                  <a:ext uri="{FF2B5EF4-FFF2-40B4-BE49-F238E27FC236}">
                    <a16:creationId xmlns:a16="http://schemas.microsoft.com/office/drawing/2014/main" id="{2D9BD653-07EA-D03B-6E83-BDF973268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5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31" name="Freeform 135">
                <a:extLst>
                  <a:ext uri="{FF2B5EF4-FFF2-40B4-BE49-F238E27FC236}">
                    <a16:creationId xmlns:a16="http://schemas.microsoft.com/office/drawing/2014/main" id="{2A97513E-5526-32BB-4F74-0A626A89E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8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810" name="Rectangle 136">
              <a:extLst>
                <a:ext uri="{FF2B5EF4-FFF2-40B4-BE49-F238E27FC236}">
                  <a16:creationId xmlns:a16="http://schemas.microsoft.com/office/drawing/2014/main" id="{1E503EFD-431B-67EF-43C6-26FE8DC32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2192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11" name="Rectangle 137">
              <a:extLst>
                <a:ext uri="{FF2B5EF4-FFF2-40B4-BE49-F238E27FC236}">
                  <a16:creationId xmlns:a16="http://schemas.microsoft.com/office/drawing/2014/main" id="{4B906455-FC36-4659-8EBA-DA4233F6A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12" name="Rectangle 138">
              <a:extLst>
                <a:ext uri="{FF2B5EF4-FFF2-40B4-BE49-F238E27FC236}">
                  <a16:creationId xmlns:a16="http://schemas.microsoft.com/office/drawing/2014/main" id="{03FFCF1D-949E-C7F8-A82A-6783750BE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13" name="Rectangle 139">
              <a:extLst>
                <a:ext uri="{FF2B5EF4-FFF2-40B4-BE49-F238E27FC236}">
                  <a16:creationId xmlns:a16="http://schemas.microsoft.com/office/drawing/2014/main" id="{01A9BE65-DE88-F1AF-6F79-645CD230D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24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14" name="Rectangle 140">
              <a:extLst>
                <a:ext uri="{FF2B5EF4-FFF2-40B4-BE49-F238E27FC236}">
                  <a16:creationId xmlns:a16="http://schemas.microsoft.com/office/drawing/2014/main" id="{2768E45B-0202-28DA-411B-C5A279595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2</a:t>
              </a:r>
              <a:endParaRPr lang="it-IT" altLang="it-IT"/>
            </a:p>
          </p:txBody>
        </p:sp>
        <p:sp>
          <p:nvSpPr>
            <p:cNvPr id="115815" name="Rectangle 141">
              <a:extLst>
                <a:ext uri="{FF2B5EF4-FFF2-40B4-BE49-F238E27FC236}">
                  <a16:creationId xmlns:a16="http://schemas.microsoft.com/office/drawing/2014/main" id="{51398A32-6DDA-7165-67C1-1ACCF5C61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390"/>
              <a:ext cx="172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16" name="Rectangle 142">
              <a:extLst>
                <a:ext uri="{FF2B5EF4-FFF2-40B4-BE49-F238E27FC236}">
                  <a16:creationId xmlns:a16="http://schemas.microsoft.com/office/drawing/2014/main" id="{E3949EE1-4187-8A21-C2A9-8763FC8CD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397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17" name="Rectangle 143">
              <a:extLst>
                <a:ext uri="{FF2B5EF4-FFF2-40B4-BE49-F238E27FC236}">
                  <a16:creationId xmlns:a16="http://schemas.microsoft.com/office/drawing/2014/main" id="{28E8FD17-72D6-9462-FCD9-280C1FDC2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18" name="Rectangle 144">
              <a:extLst>
                <a:ext uri="{FF2B5EF4-FFF2-40B4-BE49-F238E27FC236}">
                  <a16:creationId xmlns:a16="http://schemas.microsoft.com/office/drawing/2014/main" id="{24F3A9DA-DCCB-D48C-3F78-F7355396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1441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19" name="Rectangle 145">
              <a:extLst>
                <a:ext uri="{FF2B5EF4-FFF2-40B4-BE49-F238E27FC236}">
                  <a16:creationId xmlns:a16="http://schemas.microsoft.com/office/drawing/2014/main" id="{8A1B18F8-F31A-F0FE-4D3E-8DDFD36B7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20" name="Rectangle 146">
              <a:extLst>
                <a:ext uri="{FF2B5EF4-FFF2-40B4-BE49-F238E27FC236}">
                  <a16:creationId xmlns:a16="http://schemas.microsoft.com/office/drawing/2014/main" id="{B45D00DF-7163-8870-9A9E-6270E6C91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49"/>
              <a:ext cx="28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21" name="Rectangle 147">
              <a:extLst>
                <a:ext uri="{FF2B5EF4-FFF2-40B4-BE49-F238E27FC236}">
                  <a16:creationId xmlns:a16="http://schemas.microsoft.com/office/drawing/2014/main" id="{880B1326-3C29-0E1A-06FE-FB5C34A09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56"/>
              <a:ext cx="63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C=</a:t>
              </a:r>
              <a:endParaRPr lang="it-IT" altLang="it-IT"/>
            </a:p>
          </p:txBody>
        </p:sp>
        <p:sp>
          <p:nvSpPr>
            <p:cNvPr id="115822" name="Rectangle 148">
              <a:extLst>
                <a:ext uri="{FF2B5EF4-FFF2-40B4-BE49-F238E27FC236}">
                  <a16:creationId xmlns:a16="http://schemas.microsoft.com/office/drawing/2014/main" id="{D038D11A-B687-8A13-6329-53F7930EE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2256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23" name="Rectangle 149">
              <a:extLst>
                <a:ext uri="{FF2B5EF4-FFF2-40B4-BE49-F238E27FC236}">
                  <a16:creationId xmlns:a16="http://schemas.microsoft.com/office/drawing/2014/main" id="{4434FAF7-956A-7AB1-8095-A39334A7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24" name="Rectangle 150">
              <a:extLst>
                <a:ext uri="{FF2B5EF4-FFF2-40B4-BE49-F238E27FC236}">
                  <a16:creationId xmlns:a16="http://schemas.microsoft.com/office/drawing/2014/main" id="{D81A91D7-CA55-E5E7-2960-A86EDBA0C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300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25" name="Rectangle 151">
              <a:extLst>
                <a:ext uri="{FF2B5EF4-FFF2-40B4-BE49-F238E27FC236}">
                  <a16:creationId xmlns:a16="http://schemas.microsoft.com/office/drawing/2014/main" id="{8E2C3673-0CA6-A9F8-FBC8-C905612CA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26" name="Line 152">
              <a:extLst>
                <a:ext uri="{FF2B5EF4-FFF2-40B4-BE49-F238E27FC236}">
                  <a16:creationId xmlns:a16="http://schemas.microsoft.com/office/drawing/2014/main" id="{E8064097-24F8-9EEC-8DAA-2E055A92A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020"/>
              <a:ext cx="1" cy="17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827" name="Group 153">
              <a:extLst>
                <a:ext uri="{FF2B5EF4-FFF2-40B4-BE49-F238E27FC236}">
                  <a16:creationId xmlns:a16="http://schemas.microsoft.com/office/drawing/2014/main" id="{7C3BC98B-4DD3-EE2C-4A15-8A09B5D9A3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155"/>
              <a:ext cx="171" cy="75"/>
              <a:chOff x="521" y="2155"/>
              <a:chExt cx="171" cy="75"/>
            </a:xfrm>
          </p:grpSpPr>
          <p:sp>
            <p:nvSpPr>
              <p:cNvPr id="115828" name="Line 154">
                <a:extLst>
                  <a:ext uri="{FF2B5EF4-FFF2-40B4-BE49-F238E27FC236}">
                    <a16:creationId xmlns:a16="http://schemas.microsoft.com/office/drawing/2014/main" id="{B45DFF7D-8346-43FA-F2EE-03034FA81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" y="2192"/>
                <a:ext cx="100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29" name="Freeform 155">
                <a:extLst>
                  <a:ext uri="{FF2B5EF4-FFF2-40B4-BE49-F238E27FC236}">
                    <a16:creationId xmlns:a16="http://schemas.microsoft.com/office/drawing/2014/main" id="{9EE85A30-E425-F00E-8FC9-767A8A95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" y="2155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0 w 75"/>
                  <a:gd name="T3" fmla="*/ 37 h 75"/>
                  <a:gd name="T4" fmla="*/ 75 w 75"/>
                  <a:gd name="T5" fmla="*/ 75 h 75"/>
                  <a:gd name="T6" fmla="*/ 75 w 75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5"/>
                  <a:gd name="T14" fmla="*/ 75 w 75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5">
                    <a:moveTo>
                      <a:pt x="75" y="0"/>
                    </a:moveTo>
                    <a:lnTo>
                      <a:pt x="0" y="37"/>
                    </a:lnTo>
                    <a:lnTo>
                      <a:pt x="75" y="75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egnaposto numero diapositiva 3">
            <a:extLst>
              <a:ext uri="{FF2B5EF4-FFF2-40B4-BE49-F238E27FC236}">
                <a16:creationId xmlns:a16="http://schemas.microsoft.com/office/drawing/2014/main" id="{23364D41-4171-4E63-D61F-CBAAB05E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022740A-7403-4900-9814-8C457C8E8B5B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it-IT" altLang="it-IT" sz="1400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1CC78936-CC71-9046-1D8B-EAC5E60C1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paralleli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1C76479A-4DD0-80AA-1298-BB5AE1024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4438"/>
            <a:ext cx="9247188" cy="4648200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Gli addizionatori ottenuti collegando in cascata </a:t>
            </a:r>
            <a:r>
              <a:rPr lang="it-IT" altLang="it-IT" sz="2400" b="1" i="1"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ea typeface="ＭＳ Ｐゴシック" panose="020B0600070205080204" pitchFamily="34" charset="-128"/>
              </a:rPr>
              <a:t> addizionatori di cifra sono anche chiamati addizionatori a propagazione del riporto (</a:t>
            </a:r>
            <a:r>
              <a:rPr lang="it-IT" altLang="it-IT" sz="2400" i="1">
                <a:ea typeface="ＭＳ Ｐゴシック" panose="020B0600070205080204" pitchFamily="34" charset="-128"/>
              </a:rPr>
              <a:t>carry-ripple</a:t>
            </a:r>
            <a:r>
              <a:rPr lang="it-IT" altLang="it-IT" sz="2400">
                <a:ea typeface="ＭＳ Ｐゴシック" panose="020B0600070205080204" pitchFamily="34" charset="-128"/>
              </a:rPr>
              <a:t> o </a:t>
            </a:r>
            <a:r>
              <a:rPr lang="it-IT" altLang="it-IT" sz="2400" i="1">
                <a:ea typeface="ＭＳ Ｐゴシック" panose="020B0600070205080204" pitchFamily="34" charset="-128"/>
              </a:rPr>
              <a:t>carry-propagate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</a:p>
          <a:p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</a:t>
            </a:r>
            <a:r>
              <a:rPr lang="it-IT" altLang="it-IT" sz="2400">
                <a:ea typeface="ＭＳ Ｐゴシック" panose="020B0600070205080204" pitchFamily="34" charset="-128"/>
              </a:rPr>
              <a:t>  = tempo di risposta di uno stadio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Allo stadio i, il riporto uscente o è </a:t>
            </a:r>
            <a:r>
              <a:rPr lang="it-IT" altLang="it-IT" sz="2400" b="1">
                <a:ea typeface="ＭＳ Ｐゴシック" panose="020B0600070205080204" pitchFamily="34" charset="-128"/>
              </a:rPr>
              <a:t>generato</a:t>
            </a:r>
            <a:r>
              <a:rPr lang="it-IT" altLang="it-IT" sz="2400">
                <a:ea typeface="ＭＳ Ｐゴシック" panose="020B0600070205080204" pitchFamily="34" charset="-128"/>
              </a:rPr>
              <a:t> o è </a:t>
            </a:r>
            <a:r>
              <a:rPr lang="it-IT" altLang="it-IT" sz="2400" b="1">
                <a:ea typeface="ＭＳ Ｐゴシック" panose="020B0600070205080204" pitchFamily="34" charset="-128"/>
              </a:rPr>
              <a:t>ucciso</a:t>
            </a:r>
            <a:r>
              <a:rPr lang="it-IT" altLang="it-IT" sz="2400">
                <a:ea typeface="ＭＳ Ｐゴシック" panose="020B0600070205080204" pitchFamily="34" charset="-128"/>
              </a:rPr>
              <a:t> o è </a:t>
            </a:r>
            <a:r>
              <a:rPr lang="it-IT" altLang="it-IT" sz="2400" b="1">
                <a:ea typeface="ＭＳ Ｐゴシック" panose="020B0600070205080204" pitchFamily="34" charset="-128"/>
              </a:rPr>
              <a:t>propagato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complessivo: </a:t>
            </a:r>
            <a:r>
              <a:rPr lang="it-IT" altLang="it-IT" sz="2400" b="1">
                <a:ea typeface="ＭＳ Ｐゴシック" panose="020B0600070205080204" pitchFamily="34" charset="-128"/>
              </a:rPr>
              <a:t>Limite inferiore </a:t>
            </a:r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 </a:t>
            </a:r>
            <a:r>
              <a:rPr lang="it-IT" altLang="it-IT" sz="2400">
                <a:ea typeface="ＭＳ Ｐゴシック" panose="020B0600070205080204" pitchFamily="34" charset="-128"/>
                <a:sym typeface="Symbol" panose="05050102010706020507" pitchFamily="18" charset="2"/>
              </a:rPr>
              <a:t>(in tutti gli stadi il riporto è generato o ucciso)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complessivo: </a:t>
            </a:r>
            <a:r>
              <a:rPr lang="it-IT" altLang="it-IT" sz="2400" b="1">
                <a:ea typeface="ＭＳ Ｐゴシック" panose="020B0600070205080204" pitchFamily="34" charset="-128"/>
              </a:rPr>
              <a:t>Limite superiore </a:t>
            </a:r>
            <a:r>
              <a:rPr lang="it-IT" altLang="it-IT" sz="2400" b="1" i="1">
                <a:ea typeface="ＭＳ Ｐゴシック" panose="020B0600070205080204" pitchFamily="34" charset="-128"/>
              </a:rPr>
              <a:t>n</a:t>
            </a:r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 </a:t>
            </a:r>
            <a:r>
              <a:rPr lang="it-IT" altLang="it-IT" sz="2400">
                <a:ea typeface="ＭＳ Ｐゴシック" panose="020B0600070205080204" pitchFamily="34" charset="-128"/>
                <a:sym typeface="Symbol" panose="05050102010706020507" pitchFamily="18" charset="2"/>
              </a:rPr>
              <a:t>(un riporto entrante nel primo stadio che è propagato in tutti gli stadi)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 = 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 i="1">
                <a:ea typeface="ＭＳ Ｐゴシック" panose="020B0600070205080204" pitchFamily="34" charset="-128"/>
                <a:sym typeface="Symbol" panose="05050102010706020507" pitchFamily="18" charset="2"/>
              </a:rPr>
              <a:t></a:t>
            </a:r>
            <a:r>
              <a:rPr lang="it-IT" altLang="it-IT" sz="2400">
                <a:ea typeface="ＭＳ Ｐゴシック" panose="020B0600070205080204" pitchFamily="34" charset="-128"/>
              </a:rPr>
              <a:t> (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 i="1">
                <a:ea typeface="ＭＳ Ｐゴシック" panose="020B0600070205080204" pitchFamily="34" charset="-128"/>
                <a:sym typeface="Symbol" panose="05050102010706020507" pitchFamily="18" charset="2"/>
              </a:rPr>
              <a:t></a:t>
            </a:r>
            <a:r>
              <a:rPr lang="it-IT" altLang="it-IT" sz="2400" i="1">
                <a:ea typeface="ＭＳ Ｐゴシック" panose="020B0600070205080204" pitchFamily="34" charset="-128"/>
              </a:rPr>
              <a:t> n</a:t>
            </a:r>
            <a:r>
              <a:rPr lang="it-IT" altLang="it-IT" sz="2400">
                <a:ea typeface="ＭＳ Ｐゴシック" panose="020B0600070205080204" pitchFamily="34" charset="-128"/>
              </a:rPr>
              <a:t>), dove 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>
                <a:ea typeface="ＭＳ Ｐゴシック" panose="020B0600070205080204" pitchFamily="34" charset="-128"/>
              </a:rPr>
              <a:t> è la</a:t>
            </a:r>
            <a:endParaRPr lang="it-IT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 i="1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</a:rPr>
              <a:t>più lunga catena di condizioni di propagazione. </a:t>
            </a:r>
          </a:p>
          <a:p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egnaposto numero diapositiva 4">
            <a:extLst>
              <a:ext uri="{FF2B5EF4-FFF2-40B4-BE49-F238E27FC236}">
                <a16:creationId xmlns:a16="http://schemas.microsoft.com/office/drawing/2014/main" id="{FF8E2FE2-34C0-DC7B-59F4-D2B94830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874D970-AF8A-46C4-B9BD-2AAE4DF27CF8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it-IT" altLang="it-IT" sz="1400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5CEE941F-361F-19D4-57FA-D894A2F9B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con anticipo del riporto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9E26DC4A-B27D-EE2A-E970-2AB01E58B3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50288" cy="2473325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Normalmente chiamati addizionatori </a:t>
            </a:r>
            <a:r>
              <a:rPr lang="it-IT" altLang="it-IT" sz="2400" i="1">
                <a:ea typeface="ＭＳ Ｐゴシック" panose="020B0600070205080204" pitchFamily="34" charset="-128"/>
              </a:rPr>
              <a:t>carry lookahead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Per ogni stadio </a:t>
            </a:r>
            <a:r>
              <a:rPr lang="it-IT" altLang="it-IT" sz="2400" i="1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, dal </a:t>
            </a:r>
            <a:r>
              <a:rPr lang="it-IT" altLang="it-IT" sz="2400" i="1">
                <a:ea typeface="ＭＳ Ｐゴシック" panose="020B0600070205080204" pitchFamily="34" charset="-128"/>
              </a:rPr>
              <a:t>(k+1)-</a:t>
            </a:r>
            <a:r>
              <a:rPr lang="it-IT" altLang="it-IT" sz="2400">
                <a:ea typeface="ＭＳ Ｐゴシック" panose="020B0600070205080204" pitchFamily="34" charset="-128"/>
              </a:rPr>
              <a:t>esimo al </a:t>
            </a:r>
            <a:r>
              <a:rPr lang="it-IT" altLang="it-IT" sz="2400" i="1">
                <a:ea typeface="ＭＳ Ｐゴシック" panose="020B0600070205080204" pitchFamily="34" charset="-128"/>
              </a:rPr>
              <a:t>(k+j)</a:t>
            </a:r>
            <a:r>
              <a:rPr lang="it-IT" altLang="it-IT" sz="2400">
                <a:ea typeface="ＭＳ Ｐゴシック" panose="020B0600070205080204" pitchFamily="34" charset="-128"/>
              </a:rPr>
              <a:t>-esimo, </a:t>
            </a:r>
            <a:r>
              <a:rPr lang="it-IT" altLang="it-IT" sz="2400" i="1">
                <a:ea typeface="ＭＳ Ｐゴシック" panose="020B0600070205080204" pitchFamily="34" charset="-128"/>
              </a:rPr>
              <a:t>r</a:t>
            </a:r>
            <a:r>
              <a:rPr lang="it-IT" altLang="it-IT" sz="24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 si ottiene direttamente dai bit degli addendi X ed Y e dal riporto entrante nella catena (invece che dal riporto uscente </a:t>
            </a:r>
            <a:r>
              <a:rPr lang="it-IT" altLang="it-IT" sz="2400" i="1">
                <a:ea typeface="ＭＳ Ｐゴシック" panose="020B0600070205080204" pitchFamily="34" charset="-128"/>
              </a:rPr>
              <a:t>R</a:t>
            </a:r>
            <a:r>
              <a:rPr lang="it-IT" altLang="it-IT" sz="2400" i="1" baseline="-25000">
                <a:ea typeface="ＭＳ Ｐゴシック" panose="020B0600070205080204" pitchFamily="34" charset="-128"/>
              </a:rPr>
              <a:t>i-1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</a:p>
        </p:txBody>
      </p:sp>
      <p:graphicFrame>
        <p:nvGraphicFramePr>
          <p:cNvPr id="117764" name="Object 2">
            <a:extLst>
              <a:ext uri="{FF2B5EF4-FFF2-40B4-BE49-F238E27FC236}">
                <a16:creationId xmlns:a16="http://schemas.microsoft.com/office/drawing/2014/main" id="{A9E8FBB6-2816-790B-0C68-2CF855375B5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39775" y="3503613"/>
          <a:ext cx="8932863" cy="202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503613"/>
                        <a:ext cx="8932863" cy="202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Segnaposto numero diapositiva 3">
            <a:extLst>
              <a:ext uri="{FF2B5EF4-FFF2-40B4-BE49-F238E27FC236}">
                <a16:creationId xmlns:a16="http://schemas.microsoft.com/office/drawing/2014/main" id="{CB1E59B3-401C-817B-B5B2-FC204942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56F7D9E4-E9F7-4CBD-A693-7A180F3A9F92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it-IT" altLang="it-IT" sz="14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BA797C1F-7AFD-8847-D860-AA81A2469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graphicFrame>
        <p:nvGraphicFramePr>
          <p:cNvPr id="118787" name="Object 2">
            <a:extLst>
              <a:ext uri="{FF2B5EF4-FFF2-40B4-BE49-F238E27FC236}">
                <a16:creationId xmlns:a16="http://schemas.microsoft.com/office/drawing/2014/main" id="{B1909DB6-6494-47EF-4E5A-5B80645776A1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520700" y="1584325"/>
          <a:ext cx="89154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1584325"/>
                        <a:ext cx="89154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8" name="Line 5">
            <a:extLst>
              <a:ext uri="{FF2B5EF4-FFF2-40B4-BE49-F238E27FC236}">
                <a16:creationId xmlns:a16="http://schemas.microsoft.com/office/drawing/2014/main" id="{0CAA77BD-69C0-94AE-C37C-FC431210BC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1138" y="2143125"/>
            <a:ext cx="303212" cy="136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9" name="Line 6">
            <a:extLst>
              <a:ext uri="{FF2B5EF4-FFF2-40B4-BE49-F238E27FC236}">
                <a16:creationId xmlns:a16="http://schemas.microsoft.com/office/drawing/2014/main" id="{166C3B9D-03A6-67A8-C6A7-A9EE252B1C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3763" y="2116138"/>
            <a:ext cx="860425" cy="227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0" name="Line 7">
            <a:extLst>
              <a:ext uri="{FF2B5EF4-FFF2-40B4-BE49-F238E27FC236}">
                <a16:creationId xmlns:a16="http://schemas.microsoft.com/office/drawing/2014/main" id="{E1C0F4CC-714C-6593-0DAE-9EF88C8527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71625" y="2185988"/>
            <a:ext cx="325438" cy="949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1" name="Text Box 8">
            <a:extLst>
              <a:ext uri="{FF2B5EF4-FFF2-40B4-BE49-F238E27FC236}">
                <a16:creationId xmlns:a16="http://schemas.microsoft.com/office/drawing/2014/main" id="{7AD0EF77-1FEF-A8CC-870F-6029288FA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3656013"/>
            <a:ext cx="29987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…oppure è pari al riporto entrante r</a:t>
            </a:r>
            <a:r>
              <a:rPr lang="it-IT" altLang="it-IT" sz="1800" baseline="-25000"/>
              <a:t>k</a:t>
            </a:r>
            <a:r>
              <a:rPr lang="it-IT" altLang="it-IT" sz="1800"/>
              <a:t> se questo viene propagato in tutti gli stadi</a:t>
            </a:r>
          </a:p>
        </p:txBody>
      </p:sp>
      <p:sp>
        <p:nvSpPr>
          <p:cNvPr id="118792" name="Text Box 9">
            <a:extLst>
              <a:ext uri="{FF2B5EF4-FFF2-40B4-BE49-F238E27FC236}">
                <a16:creationId xmlns:a16="http://schemas.microsoft.com/office/drawing/2014/main" id="{11382819-5BD0-F66F-8011-7250AFE4E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481513"/>
            <a:ext cx="36099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…oppure se è verificata la condizione di generazione G</a:t>
            </a:r>
            <a:r>
              <a:rPr lang="it-IT" altLang="it-IT" sz="1800" baseline="-25000"/>
              <a:t>k</a:t>
            </a:r>
            <a:r>
              <a:rPr lang="it-IT" altLang="it-IT" sz="1800"/>
              <a:t> e se questa viene propagata dagli stadi dal (k+1)-esimo fino all</a:t>
            </a:r>
            <a:r>
              <a:rPr lang="ja-JP" altLang="it-IT" sz="1800"/>
              <a:t>’</a:t>
            </a:r>
            <a:r>
              <a:rPr lang="it-IT" altLang="ja-JP" sz="1800"/>
              <a:t>ultimo</a:t>
            </a:r>
            <a:endParaRPr lang="it-IT" altLang="it-IT" sz="1800"/>
          </a:p>
        </p:txBody>
      </p:sp>
      <p:sp>
        <p:nvSpPr>
          <p:cNvPr id="118793" name="Text Box 10">
            <a:extLst>
              <a:ext uri="{FF2B5EF4-FFF2-40B4-BE49-F238E27FC236}">
                <a16:creationId xmlns:a16="http://schemas.microsoft.com/office/drawing/2014/main" id="{5F6FEC48-CFF9-83FD-2244-ED74E45AF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3290888"/>
            <a:ext cx="35115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r</a:t>
            </a:r>
            <a:r>
              <a:rPr lang="it-IT" altLang="it-IT" sz="2000" baseline="-25000"/>
              <a:t>k+j</a:t>
            </a:r>
            <a:r>
              <a:rPr lang="it-IT" altLang="it-IT" sz="2000"/>
              <a:t> è alto se è verificata la condizione di generazione nell</a:t>
            </a:r>
            <a:r>
              <a:rPr lang="ja-JP" altLang="it-IT" sz="2000"/>
              <a:t>’</a:t>
            </a:r>
            <a:r>
              <a:rPr lang="it-IT" altLang="ja-JP" sz="2000"/>
              <a:t>ultimo stadio</a:t>
            </a:r>
            <a:endParaRPr lang="it-IT" altLang="it-IT" sz="2000"/>
          </a:p>
        </p:txBody>
      </p:sp>
      <p:sp>
        <p:nvSpPr>
          <p:cNvPr id="118794" name="Text Box 11">
            <a:extLst>
              <a:ext uri="{FF2B5EF4-FFF2-40B4-BE49-F238E27FC236}">
                <a16:creationId xmlns:a16="http://schemas.microsoft.com/office/drawing/2014/main" id="{45F9AF8E-8898-2C3A-727D-3CB8F346A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3811588"/>
            <a:ext cx="723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….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egnaposto numero diapositiva 3">
            <a:extLst>
              <a:ext uri="{FF2B5EF4-FFF2-40B4-BE49-F238E27FC236}">
                <a16:creationId xmlns:a16="http://schemas.microsoft.com/office/drawing/2014/main" id="{B62D9F61-38BF-78D1-AE31-F2BA4663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53845DCB-5B67-4D63-9365-F36F9681E41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it-IT" altLang="it-IT" sz="1400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9F5C5CAA-31CB-A2F4-7D6D-AE75BDC66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5EAA4D0B-89ED-14B1-D42E-9BB9D96E1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6414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precedente può essere realizzata nella maniera riportata in figura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pic>
        <p:nvPicPr>
          <p:cNvPr id="119812" name="Picture 4">
            <a:extLst>
              <a:ext uri="{FF2B5EF4-FFF2-40B4-BE49-F238E27FC236}">
                <a16:creationId xmlns:a16="http://schemas.microsoft.com/office/drawing/2014/main" id="{F93FB3B5-09C9-9F7A-081F-FAD2D6D2D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3" t="32834" r="25821" b="21603"/>
          <a:stretch>
            <a:fillRect/>
          </a:stretch>
        </p:blipFill>
        <p:spPr bwMode="auto">
          <a:xfrm>
            <a:off x="1503363" y="2481263"/>
            <a:ext cx="6891337" cy="387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Segnaposto numero diapositiva 4">
            <a:extLst>
              <a:ext uri="{FF2B5EF4-FFF2-40B4-BE49-F238E27FC236}">
                <a16:creationId xmlns:a16="http://schemas.microsoft.com/office/drawing/2014/main" id="{612B8BD3-3383-4D5E-6F7C-4CD2EB5E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75219D8-4361-4E2C-B63F-1E9D3AB216A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it-IT" altLang="it-IT" sz="1400"/>
          </a:p>
        </p:txBody>
      </p:sp>
      <p:sp>
        <p:nvSpPr>
          <p:cNvPr id="120834" name="Rectangle 8">
            <a:extLst>
              <a:ext uri="{FF2B5EF4-FFF2-40B4-BE49-F238E27FC236}">
                <a16:creationId xmlns:a16="http://schemas.microsoft.com/office/drawing/2014/main" id="{C90B5788-B673-F2FF-7AC6-8BD36B25A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84F9AC99-D0A5-CA36-AECF-9872606BF7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943975" cy="3052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idea di base negli addizionatori carry lookahead è quella di calcolare la relazione tra </a:t>
            </a:r>
            <a:r>
              <a:rPr lang="it-IT" altLang="ja-JP" sz="2400" i="1">
                <a:ea typeface="ＭＳ Ｐゴシック" panose="020B0600070205080204" pitchFamily="34" charset="-128"/>
              </a:rPr>
              <a:t>r</a:t>
            </a:r>
            <a:r>
              <a:rPr lang="it-IT" altLang="ja-JP" sz="2400" i="1" baseline="-25000">
                <a:ea typeface="ＭＳ Ｐゴシック" panose="020B0600070205080204" pitchFamily="34" charset="-128"/>
              </a:rPr>
              <a:t>k</a:t>
            </a:r>
            <a:r>
              <a:rPr lang="it-IT" altLang="ja-JP" sz="2400">
                <a:ea typeface="ＭＳ Ｐゴシック" panose="020B0600070205080204" pitchFamily="34" charset="-128"/>
              </a:rPr>
              <a:t> ed </a:t>
            </a:r>
            <a:r>
              <a:rPr lang="it-IT" altLang="ja-JP" sz="2400" i="1">
                <a:ea typeface="ＭＳ Ｐゴシック" panose="020B0600070205080204" pitchFamily="34" charset="-128"/>
              </a:rPr>
              <a:t>r</a:t>
            </a:r>
            <a:r>
              <a:rPr lang="it-IT" altLang="ja-JP" sz="2400" i="1" baseline="-25000">
                <a:ea typeface="ＭＳ Ｐゴシック" panose="020B0600070205080204" pitchFamily="34" charset="-128"/>
              </a:rPr>
              <a:t>k+j</a:t>
            </a:r>
            <a:r>
              <a:rPr lang="it-IT" altLang="ja-JP" sz="2400">
                <a:ea typeface="ＭＳ Ｐゴシック" panose="020B0600070205080204" pitchFamily="34" charset="-128"/>
              </a:rPr>
              <a:t> separatamente per ogni gruppo di cifre </a:t>
            </a:r>
            <a:r>
              <a:rPr lang="it-IT" altLang="ja-JP" sz="2400" i="1">
                <a:ea typeface="ＭＳ Ｐゴシック" panose="020B0600070205080204" pitchFamily="34" charset="-128"/>
              </a:rPr>
              <a:t>k+1</a:t>
            </a:r>
            <a:r>
              <a:rPr lang="it-IT" altLang="ja-JP" sz="2400">
                <a:ea typeface="ＭＳ Ｐゴシック" panose="020B0600070205080204" pitchFamily="34" charset="-128"/>
              </a:rPr>
              <a:t>….</a:t>
            </a:r>
            <a:r>
              <a:rPr lang="it-IT" altLang="ja-JP" sz="2400" i="1">
                <a:ea typeface="ＭＳ Ｐゴシック" panose="020B0600070205080204" pitchFamily="34" charset="-128"/>
              </a:rPr>
              <a:t>k+j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Una rete a livello superiore valuta la propagazione del carry tra </a:t>
            </a:r>
            <a:r>
              <a:rPr lang="it-IT" altLang="it-IT" sz="2400" i="1">
                <a:ea typeface="ＭＳ Ｐゴシック" panose="020B0600070205080204" pitchFamily="34" charset="-128"/>
              </a:rPr>
              <a:t>gruppi </a:t>
            </a:r>
            <a:r>
              <a:rPr lang="it-IT" altLang="it-IT" sz="2400">
                <a:ea typeface="ＭＳ Ｐゴシック" panose="020B0600070205080204" pitchFamily="34" charset="-128"/>
              </a:rPr>
              <a:t>di cifre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Ad esempio, per un adder a 64 bit suddiviso in blocchi di quattro cifre (bit), la parte di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 i="1">
                <a:ea typeface="ＭＳ Ｐゴシック" panose="020B0600070205080204" pitchFamily="34" charset="-128"/>
              </a:rPr>
              <a:t>look</a:t>
            </a:r>
            <a:r>
              <a:rPr lang="ja-JP" altLang="it-IT" sz="2400" i="1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lungo cui si propaga il riporto è lunga 64/4=16 stadi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120836" name="Object 2">
            <a:extLst>
              <a:ext uri="{FF2B5EF4-FFF2-40B4-BE49-F238E27FC236}">
                <a16:creationId xmlns:a16="http://schemas.microsoft.com/office/drawing/2014/main" id="{63888CA7-5D09-73A9-C0D4-C537E56D2B1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81050" y="4254500"/>
          <a:ext cx="811371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28241270" imgH="5536508" progId="Word.Document.8">
                  <p:embed/>
                </p:oleObj>
              </mc:Choice>
              <mc:Fallback>
                <p:oleObj name="Documento" r:id="rId2" imgW="28241270" imgH="553650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4254500"/>
                        <a:ext cx="811371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AutoShape 10">
            <a:extLst>
              <a:ext uri="{FF2B5EF4-FFF2-40B4-BE49-F238E27FC236}">
                <a16:creationId xmlns:a16="http://schemas.microsoft.com/office/drawing/2014/main" id="{779EB45C-FE88-E73E-D3FF-7B0D5C6AE8F7}"/>
              </a:ext>
            </a:extLst>
          </p:cNvPr>
          <p:cNvSpPr>
            <a:spLocks/>
          </p:cNvSpPr>
          <p:nvPr/>
        </p:nvSpPr>
        <p:spPr bwMode="auto">
          <a:xfrm rot="5400000">
            <a:off x="4712494" y="2620169"/>
            <a:ext cx="173038" cy="6464300"/>
          </a:xfrm>
          <a:prstGeom prst="rightBrace">
            <a:avLst>
              <a:gd name="adj1" fmla="val 862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0838" name="Text Box 11">
            <a:extLst>
              <a:ext uri="{FF2B5EF4-FFF2-40B4-BE49-F238E27FC236}">
                <a16:creationId xmlns:a16="http://schemas.microsoft.com/office/drawing/2014/main" id="{DB03A8AB-9F13-E7D8-EBC5-F82C75574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891213"/>
            <a:ext cx="2690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16 blocchi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egnaposto numero diapositiva 3">
            <a:extLst>
              <a:ext uri="{FF2B5EF4-FFF2-40B4-BE49-F238E27FC236}">
                <a16:creationId xmlns:a16="http://schemas.microsoft.com/office/drawing/2014/main" id="{98C5A448-C521-568A-CBC3-95A70762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8406708-DBAF-4166-B010-B2A26BC4AF24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it-IT" altLang="it-IT" sz="1400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AAD944B1-B1C6-6A16-41F3-E602A1A03C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pic>
        <p:nvPicPr>
          <p:cNvPr id="121859" name="Picture 4">
            <a:extLst>
              <a:ext uri="{FF2B5EF4-FFF2-40B4-BE49-F238E27FC236}">
                <a16:creationId xmlns:a16="http://schemas.microsoft.com/office/drawing/2014/main" id="{A1E97B6C-23F4-4D86-AD87-22ADA9DC1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6" t="28937" r="27318" b="27937"/>
          <a:stretch>
            <a:fillRect/>
          </a:stretch>
        </p:blipFill>
        <p:spPr bwMode="auto">
          <a:xfrm>
            <a:off x="1319213" y="2238375"/>
            <a:ext cx="7161212" cy="397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Segnaposto numero diapositiva 4">
            <a:extLst>
              <a:ext uri="{FF2B5EF4-FFF2-40B4-BE49-F238E27FC236}">
                <a16:creationId xmlns:a16="http://schemas.microsoft.com/office/drawing/2014/main" id="{303248A0-B3C8-4A79-6E0F-A6E2B0EF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93727EC8-60A8-4F78-AB2A-0CAA76F16732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it-IT" altLang="it-IT" sz="14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2B8B0961-58B7-D975-3483-B0014254D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5ED7A09-15E4-E4D5-6389-26381E4732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75688" cy="2255838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La rete di lookahead può a sua volta essere realizzata a più livelli, secondo lo stesso principio visto prima</a:t>
            </a:r>
          </a:p>
        </p:txBody>
      </p:sp>
      <p:graphicFrame>
        <p:nvGraphicFramePr>
          <p:cNvPr id="122884" name="Object 2">
            <a:extLst>
              <a:ext uri="{FF2B5EF4-FFF2-40B4-BE49-F238E27FC236}">
                <a16:creationId xmlns:a16="http://schemas.microsoft.com/office/drawing/2014/main" id="{D7B85AF0-5031-99C0-FDF6-4CB06541BE5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42938" y="2233613"/>
          <a:ext cx="8899525" cy="397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26412698" imgH="11784127" progId="Word.Document.8">
                  <p:embed/>
                </p:oleObj>
              </mc:Choice>
              <mc:Fallback>
                <p:oleObj name="Documento" r:id="rId2" imgW="26412698" imgH="1178412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233613"/>
                        <a:ext cx="8899525" cy="397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egnaposto numero diapositiva 4">
            <a:extLst>
              <a:ext uri="{FF2B5EF4-FFF2-40B4-BE49-F238E27FC236}">
                <a16:creationId xmlns:a16="http://schemas.microsoft.com/office/drawing/2014/main" id="{C1B3F08B-8773-5136-B1CA-4FA4B14F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AEB7173-0740-4515-B459-DACD009B1061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it-IT" altLang="it-IT" sz="14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FDD3AE15-DE14-E690-E614-4E2416D66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 Skip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9B1C6896-D453-DFED-03FC-660DEFD91E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62988" cy="2736850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Valuta localmente la condizione di propagazione e generazione del carry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In caso di propagazione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aggira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(skip) la condizione di generazione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Aggiunge dei multiplexer al cammino critico</a:t>
            </a:r>
          </a:p>
        </p:txBody>
      </p:sp>
      <p:graphicFrame>
        <p:nvGraphicFramePr>
          <p:cNvPr id="123908" name="Object 2">
            <a:extLst>
              <a:ext uri="{FF2B5EF4-FFF2-40B4-BE49-F238E27FC236}">
                <a16:creationId xmlns:a16="http://schemas.microsoft.com/office/drawing/2014/main" id="{5EE760CC-8F5E-1642-9E1D-F9D33899789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3663" y="3959225"/>
          <a:ext cx="9785350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" y="3959225"/>
                        <a:ext cx="9785350" cy="217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egnaposto numero diapositiva 3">
            <a:extLst>
              <a:ext uri="{FF2B5EF4-FFF2-40B4-BE49-F238E27FC236}">
                <a16:creationId xmlns:a16="http://schemas.microsoft.com/office/drawing/2014/main" id="{D937486D-8FCE-EC33-5572-A00E4B05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9344903-72A5-4DF7-88DE-C34F70C522E4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it-IT" altLang="it-IT" sz="14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347EEE3A-2E8C-6BB2-4F1F-24519DDF5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 Skip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E35C235-27A2-6632-8BA7-B6FC9D623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Cammino critico</a:t>
            </a:r>
          </a:p>
        </p:txBody>
      </p:sp>
      <p:sp>
        <p:nvSpPr>
          <p:cNvPr id="124932" name="Picture 4">
            <a:extLst>
              <a:ext uri="{FF2B5EF4-FFF2-40B4-BE49-F238E27FC236}">
                <a16:creationId xmlns:a16="http://schemas.microsoft.com/office/drawing/2014/main" id="{4663BBF9-A584-E7D0-9E9D-1365238687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238" y="2998788"/>
            <a:ext cx="9034462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egnaposto numero diapositiva 4">
            <a:extLst>
              <a:ext uri="{FF2B5EF4-FFF2-40B4-BE49-F238E27FC236}">
                <a16:creationId xmlns:a16="http://schemas.microsoft.com/office/drawing/2014/main" id="{84993740-D010-E6A2-9E5A-D5224E3F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601036B-46E6-4778-894B-04241F9C060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it-IT" altLang="it-IT" sz="14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3C0BDB69-46E6-7F5C-40A3-C99A31AC2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Carry-Select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43CF0747-0A8E-DA2B-3CA8-2D16908C4EA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78863" cy="2936875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Per ogni gruppo di cifre, calcola in parallelo somme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locali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per i due possibili valori del carry in ingresso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Un multiplexer seleziona il risultato corretto in base al valore effettivo del carry in ingresso</a:t>
            </a: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	 maggiore dispendio di risorse hardware per minore tempo di propagazione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125956" name="Object 2">
            <a:extLst>
              <a:ext uri="{FF2B5EF4-FFF2-40B4-BE49-F238E27FC236}">
                <a16:creationId xmlns:a16="http://schemas.microsoft.com/office/drawing/2014/main" id="{7B12143E-0A42-D633-ABB2-3C6DDE0FCB2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6700" y="3656013"/>
          <a:ext cx="9391650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3656013"/>
                        <a:ext cx="9391650" cy="276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Segnaposto numero diapositiva 3">
            <a:extLst>
              <a:ext uri="{FF2B5EF4-FFF2-40B4-BE49-F238E27FC236}">
                <a16:creationId xmlns:a16="http://schemas.microsoft.com/office/drawing/2014/main" id="{53D624E6-1C40-1700-0EE5-48D625D6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47DE5324-C68A-463F-92B1-69B1D0436FE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it-IT" altLang="it-IT" sz="14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0E29B3B3-5202-05FB-EB1C-248109F2D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Carry-Select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54DBAE08-1264-6AED-168C-A08CD351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Cammino critico</a:t>
            </a:r>
          </a:p>
        </p:txBody>
      </p:sp>
      <p:sp>
        <p:nvSpPr>
          <p:cNvPr id="126980" name="Picture 4">
            <a:extLst>
              <a:ext uri="{FF2B5EF4-FFF2-40B4-BE49-F238E27FC236}">
                <a16:creationId xmlns:a16="http://schemas.microsoft.com/office/drawing/2014/main" id="{B5B19E7A-6F2B-FF2F-CB11-726E128CD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813" y="2432050"/>
            <a:ext cx="8878887" cy="371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Segnaposto numero diapositiva 3">
            <a:extLst>
              <a:ext uri="{FF2B5EF4-FFF2-40B4-BE49-F238E27FC236}">
                <a16:creationId xmlns:a16="http://schemas.microsoft.com/office/drawing/2014/main" id="{F5ABB386-DE79-1977-B85A-F07D3155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9E780EF-F65D-4D33-B1F5-827BA7552B96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it-IT" altLang="it-IT" sz="1400"/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027F2CF6-7178-1D7C-82BC-A1639AB57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Carry-Save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C04810F1-DDE2-1715-6D77-B430F142C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 Z=A+B+C+D</a:t>
            </a:r>
          </a:p>
        </p:txBody>
      </p:sp>
      <p:pic>
        <p:nvPicPr>
          <p:cNvPr id="128004" name="Picture 4">
            <a:extLst>
              <a:ext uri="{FF2B5EF4-FFF2-40B4-BE49-F238E27FC236}">
                <a16:creationId xmlns:a16="http://schemas.microsoft.com/office/drawing/2014/main" id="{C8E17CE5-0782-42E3-405D-3280667C0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293938"/>
            <a:ext cx="4611687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5" name="Oval 5">
            <a:extLst>
              <a:ext uri="{FF2B5EF4-FFF2-40B4-BE49-F238E27FC236}">
                <a16:creationId xmlns:a16="http://schemas.microsoft.com/office/drawing/2014/main" id="{116CBA3F-9F82-C9DC-49E2-813C9406E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413" y="3344863"/>
            <a:ext cx="2185987" cy="663575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8006" name="Line 6">
            <a:extLst>
              <a:ext uri="{FF2B5EF4-FFF2-40B4-BE49-F238E27FC236}">
                <a16:creationId xmlns:a16="http://schemas.microsoft.com/office/drawing/2014/main" id="{6E459CDE-1DB9-7C42-A96E-FE8FF01C8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3757613"/>
            <a:ext cx="1112838" cy="35083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07" name="Text Box 7">
            <a:extLst>
              <a:ext uri="{FF2B5EF4-FFF2-40B4-BE49-F238E27FC236}">
                <a16:creationId xmlns:a16="http://schemas.microsoft.com/office/drawing/2014/main" id="{D7535CB5-5EFA-48C7-E473-9BEC3E6A5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4070350"/>
            <a:ext cx="2930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(C1,S1)=A+B+C</a:t>
            </a:r>
          </a:p>
        </p:txBody>
      </p:sp>
      <p:sp>
        <p:nvSpPr>
          <p:cNvPr id="128008" name="Oval 8">
            <a:extLst>
              <a:ext uri="{FF2B5EF4-FFF2-40B4-BE49-F238E27FC236}">
                <a16:creationId xmlns:a16="http://schemas.microsoft.com/office/drawing/2014/main" id="{A671B304-CED8-5C1C-AA56-141DE001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738" y="4437063"/>
            <a:ext cx="2185987" cy="663575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8009" name="Line 9">
            <a:extLst>
              <a:ext uri="{FF2B5EF4-FFF2-40B4-BE49-F238E27FC236}">
                <a16:creationId xmlns:a16="http://schemas.microsoft.com/office/drawing/2014/main" id="{F9185062-07CA-EDEA-93C8-DA0172403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4862513"/>
            <a:ext cx="1112838" cy="35083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0" name="Text Box 10">
            <a:extLst>
              <a:ext uri="{FF2B5EF4-FFF2-40B4-BE49-F238E27FC236}">
                <a16:creationId xmlns:a16="http://schemas.microsoft.com/office/drawing/2014/main" id="{716EBB51-806A-7B8E-6E2A-9F8290074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013" y="4811713"/>
            <a:ext cx="2930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(C2,S2)=C1+S1+D=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A+B+C+D</a:t>
            </a:r>
          </a:p>
        </p:txBody>
      </p:sp>
      <p:sp>
        <p:nvSpPr>
          <p:cNvPr id="128011" name="Line 11">
            <a:extLst>
              <a:ext uri="{FF2B5EF4-FFF2-40B4-BE49-F238E27FC236}">
                <a16:creationId xmlns:a16="http://schemas.microsoft.com/office/drawing/2014/main" id="{EB150A20-CD7D-1BDA-9544-D423A39B4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6029325"/>
            <a:ext cx="2116137" cy="762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2" name="Text Box 12">
            <a:extLst>
              <a:ext uri="{FF2B5EF4-FFF2-40B4-BE49-F238E27FC236}">
                <a16:creationId xmlns:a16="http://schemas.microsoft.com/office/drawing/2014/main" id="{0507AF47-4DFE-1E4C-ABE7-924E4A6A3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803900"/>
            <a:ext cx="37719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Z= C2+S2 =C1+S1+D=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                   A+B+C+D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Segnaposto numero diapositiva 3">
            <a:extLst>
              <a:ext uri="{FF2B5EF4-FFF2-40B4-BE49-F238E27FC236}">
                <a16:creationId xmlns:a16="http://schemas.microsoft.com/office/drawing/2014/main" id="{8AFFAB26-451F-B958-D859-A76184490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9BCDB29-C63D-423C-B96B-9F8D8C9CB9BB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it-IT" altLang="it-IT" sz="1400"/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B656453A-CCBD-604D-F4A7-D121280A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carry-save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35ABE08-66D7-FD97-C9A3-D966DF14F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835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Adatti per somme di più di due operandi (ad es., quando occorre sommare i prodotti parziali in una moltiplicazione)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Mantengono una rappresentazione ridondante delle somme parziali</a:t>
            </a:r>
          </a:p>
        </p:txBody>
      </p:sp>
      <p:pic>
        <p:nvPicPr>
          <p:cNvPr id="129028" name="Picture 4">
            <a:extLst>
              <a:ext uri="{FF2B5EF4-FFF2-40B4-BE49-F238E27FC236}">
                <a16:creationId xmlns:a16="http://schemas.microsoft.com/office/drawing/2014/main" id="{FB592667-D525-A359-6631-BCEC08BD9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0" b="5693"/>
          <a:stretch>
            <a:fillRect/>
          </a:stretch>
        </p:blipFill>
        <p:spPr bwMode="auto">
          <a:xfrm>
            <a:off x="1857375" y="3213100"/>
            <a:ext cx="6627813" cy="322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3">
            <a:extLst>
              <a:ext uri="{FF2B5EF4-FFF2-40B4-BE49-F238E27FC236}">
                <a16:creationId xmlns:a16="http://schemas.microsoft.com/office/drawing/2014/main" id="{D1344C86-C5D5-209F-8E10-399FAC917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Supporto Didattico</a:t>
            </a:r>
          </a:p>
        </p:txBody>
      </p:sp>
      <p:sp>
        <p:nvSpPr>
          <p:cNvPr id="130050" name="Text Box 6">
            <a:extLst>
              <a:ext uri="{FF2B5EF4-FFF2-40B4-BE49-F238E27FC236}">
                <a16:creationId xmlns:a16="http://schemas.microsoft.com/office/drawing/2014/main" id="{A46E91D7-A4D9-3F20-85C4-5FB876C04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2286000"/>
            <a:ext cx="75850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800">
                <a:solidFill>
                  <a:srgbClr val="002060"/>
                </a:solidFill>
              </a:rPr>
              <a:t>Capitolo 3 e Capitolo 7, Macchine per l</a:t>
            </a:r>
            <a:r>
              <a:rPr lang="ja-JP" altLang="it-IT" sz="2800">
                <a:solidFill>
                  <a:srgbClr val="002060"/>
                </a:solidFill>
              </a:rPr>
              <a:t>’</a:t>
            </a:r>
            <a:r>
              <a:rPr lang="it-IT" altLang="ja-JP" sz="2800">
                <a:solidFill>
                  <a:srgbClr val="002060"/>
                </a:solidFill>
              </a:rPr>
              <a:t>elaborazione delle Informazioni</a:t>
            </a:r>
          </a:p>
          <a:p>
            <a:pPr marL="0" lvl="1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800">
                <a:solidFill>
                  <a:srgbClr val="002060"/>
                </a:solidFill>
              </a:rPr>
              <a:t>Fadini – De Carlini</a:t>
            </a:r>
            <a:endParaRPr lang="it-IT" altLang="it-IT" sz="2800"/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0051" name="Segnaposto numero diapositiva 3">
            <a:extLst>
              <a:ext uri="{FF2B5EF4-FFF2-40B4-BE49-F238E27FC236}">
                <a16:creationId xmlns:a16="http://schemas.microsoft.com/office/drawing/2014/main" id="{AB9C204B-C1E9-E6B7-F526-DDCBCB49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D6BD06-8506-418D-8F02-547A8882ADD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4108D18B-1974-4ECB-C763-45E99B6BD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059A7F0C-36C1-54FC-6717-C6C2333DD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000">
                <a:ea typeface="ＭＳ Ｐゴシック" panose="020B0600070205080204" pitchFamily="34" charset="-128"/>
              </a:rPr>
              <a:t>CONTROLLO DI ERRORE</a:t>
            </a:r>
          </a:p>
        </p:txBody>
      </p:sp>
      <p:sp>
        <p:nvSpPr>
          <p:cNvPr id="131075" name="Segnaposto numero diapositiva 3">
            <a:extLst>
              <a:ext uri="{FF2B5EF4-FFF2-40B4-BE49-F238E27FC236}">
                <a16:creationId xmlns:a16="http://schemas.microsoft.com/office/drawing/2014/main" id="{E5066C0E-4C13-ABD5-7EA0-4A0DC71A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35FD44-25AA-4241-8499-369AB60F21D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Segnaposto numero diapositiva 3">
            <a:extLst>
              <a:ext uri="{FF2B5EF4-FFF2-40B4-BE49-F238E27FC236}">
                <a16:creationId xmlns:a16="http://schemas.microsoft.com/office/drawing/2014/main" id="{EF0C1849-401C-0307-9E94-87FA5FAA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DF0035A-A247-4A2A-A0CA-ABAEF66CB0CB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it-IT" altLang="it-IT" sz="1400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293732A9-9129-79E9-2587-DD48BE685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- 1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B77A0234-5EE5-E4AD-68A9-7630A6EB7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388" y="1571625"/>
            <a:ext cx="8915400" cy="4224338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Bit di parità e controllo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Nella trasmissione o nella memorizzazione di un</a:t>
            </a:r>
            <a:r>
              <a:rPr lang="ja-JP" altLang="it-IT" sz="1800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informazione la 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perdita</a:t>
            </a:r>
            <a:r>
              <a:rPr lang="ja-JP" altLang="it-IT" sz="1800">
                <a:ea typeface="ＭＳ Ｐゴシック" panose="020B0600070205080204" pitchFamily="34" charset="-128"/>
              </a:rPr>
              <a:t>”</a:t>
            </a:r>
            <a:r>
              <a:rPr lang="it-IT" altLang="ja-JP" sz="1800">
                <a:ea typeface="ＭＳ Ｐゴシック" panose="020B0600070205080204" pitchFamily="34" charset="-128"/>
              </a:rPr>
              <a:t> di un bit (trasformazione da 0 a 1 o viceversa) è la più diffusa causa di errore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Le reti di parità/disparità si usano per effettuare un semplice controllo di errore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In fase d trasmissione (o memorizzazione) si aggiunge un bit tale che il numero complessivo di bit  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1</a:t>
            </a:r>
            <a:r>
              <a:rPr lang="ja-JP" altLang="it-IT" sz="1800">
                <a:ea typeface="ＭＳ Ｐゴシック" panose="020B0600070205080204" pitchFamily="34" charset="-128"/>
              </a:rPr>
              <a:t>”</a:t>
            </a:r>
            <a:r>
              <a:rPr lang="it-IT" altLang="ja-JP" sz="1800">
                <a:ea typeface="ＭＳ Ｐゴシック" panose="020B0600070205080204" pitchFamily="34" charset="-128"/>
              </a:rPr>
              <a:t> sia a parità assegnata (p.e. pari)- Il bit si dice </a:t>
            </a:r>
            <a:r>
              <a:rPr lang="it-IT" altLang="ja-JP" sz="1800" b="1">
                <a:ea typeface="ＭＳ Ｐゴシック" panose="020B0600070205080204" pitchFamily="34" charset="-128"/>
              </a:rPr>
              <a:t>di parità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In fase di ricezione (o lettura) una rete di parità (o disparità) controlla la parità e, se diversa da quella assegnata, segnala l</a:t>
            </a:r>
            <a:r>
              <a:rPr lang="ja-JP" altLang="it-IT" sz="1800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errore, ponendo ad esempio ad 1 un segnale di controllo err ed avendosi dunque:</a:t>
            </a:r>
          </a:p>
          <a:p>
            <a:pPr lvl="1"/>
            <a:r>
              <a:rPr lang="it-IT" altLang="it-IT" sz="1800" i="1">
                <a:ea typeface="ＭＳ Ｐゴシック" panose="020B0600070205080204" pitchFamily="34" charset="-128"/>
              </a:rPr>
              <a:t>err=1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it-IT" altLang="it-IT" sz="1800" b="1">
                <a:ea typeface="ＭＳ Ｐゴシック" panose="020B0600070205080204" pitchFamily="34" charset="-128"/>
              </a:rPr>
              <a:t>CERTEZZA</a:t>
            </a:r>
            <a:r>
              <a:rPr lang="it-IT" altLang="it-IT" sz="1800">
                <a:ea typeface="ＭＳ Ｐゴシック" panose="020B0600070205080204" pitchFamily="34" charset="-128"/>
              </a:rPr>
              <a:t> della sua presenza</a:t>
            </a:r>
          </a:p>
          <a:p>
            <a:pPr lvl="1"/>
            <a:r>
              <a:rPr lang="it-IT" altLang="it-IT" sz="1800" i="1">
                <a:ea typeface="ＭＳ Ｐゴシック" panose="020B0600070205080204" pitchFamily="34" charset="-128"/>
              </a:rPr>
              <a:t>err=0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it-IT" altLang="it-IT" sz="1800" b="1">
                <a:ea typeface="ＭＳ Ｐゴシック" panose="020B0600070205080204" pitchFamily="34" charset="-128"/>
              </a:rPr>
              <a:t>PROBABILITA</a:t>
            </a:r>
            <a:r>
              <a:rPr lang="ja-JP" altLang="it-IT" sz="1800" b="1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 di assenza di errori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Il sistema si basa sulla massimizzazione di questa probabilità</a:t>
            </a:r>
          </a:p>
        </p:txBody>
      </p:sp>
    </p:spTree>
  </p:cSld>
  <p:clrMapOvr>
    <a:masterClrMapping/>
  </p:clrMapOvr>
  <p:transition advTm="10500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Segnaposto numero diapositiva 3">
            <a:extLst>
              <a:ext uri="{FF2B5EF4-FFF2-40B4-BE49-F238E27FC236}">
                <a16:creationId xmlns:a16="http://schemas.microsoft.com/office/drawing/2014/main" id="{836C7820-691A-7D35-D6C4-8850DEF1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222A278-5B94-49C6-B225-608967ECEF38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it-IT" altLang="it-IT" sz="1400"/>
          </a:p>
        </p:txBody>
      </p:sp>
      <p:sp>
        <p:nvSpPr>
          <p:cNvPr id="134146" name="Rectangle 5">
            <a:extLst>
              <a:ext uri="{FF2B5EF4-FFF2-40B4-BE49-F238E27FC236}">
                <a16:creationId xmlns:a16="http://schemas.microsoft.com/office/drawing/2014/main" id="{ECC42E48-07E5-813F-CEC4-761236E25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- 3</a:t>
            </a:r>
          </a:p>
        </p:txBody>
      </p:sp>
      <p:graphicFrame>
        <p:nvGraphicFramePr>
          <p:cNvPr id="134147" name="Object 2">
            <a:extLst>
              <a:ext uri="{FF2B5EF4-FFF2-40B4-BE49-F238E27FC236}">
                <a16:creationId xmlns:a16="http://schemas.microsoft.com/office/drawing/2014/main" id="{DFAFD62E-2290-575B-0F96-6C1C5F9BA48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44625" y="2087563"/>
          <a:ext cx="6167438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3" imgW="4533333" imgH="1409897" progId="Paint.Picture">
                  <p:embed/>
                </p:oleObj>
              </mc:Choice>
              <mc:Fallback>
                <p:oleObj name="Immagine bitmap" r:id="rId3" imgW="4533333" imgH="140989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2087563"/>
                        <a:ext cx="6167438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8" name="Rectangle 8">
            <a:extLst>
              <a:ext uri="{FF2B5EF4-FFF2-40B4-BE49-F238E27FC236}">
                <a16:creationId xmlns:a16="http://schemas.microsoft.com/office/drawing/2014/main" id="{508434FA-1065-5FFF-ECBA-070FFF92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1328738"/>
            <a:ext cx="8667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it-IT" altLang="it-IT" sz="2400"/>
              <a:t>Disparità e controllo di errore</a:t>
            </a:r>
            <a:endParaRPr lang="it-IT" altLang="it-IT" sz="2400">
              <a:solidFill>
                <a:srgbClr val="FF3300"/>
              </a:solidFill>
            </a:endParaRPr>
          </a:p>
        </p:txBody>
      </p:sp>
      <p:sp>
        <p:nvSpPr>
          <p:cNvPr id="134149" name="Rectangle 9">
            <a:extLst>
              <a:ext uri="{FF2B5EF4-FFF2-40B4-BE49-F238E27FC236}">
                <a16:creationId xmlns:a16="http://schemas.microsoft.com/office/drawing/2014/main" id="{DA50B1B6-9F79-FEE8-813F-557C4DB7F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3857625"/>
            <a:ext cx="8667750" cy="2419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In partenza (o in scrittura), d(X) calcola il bit di parità</a:t>
            </a:r>
          </a:p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In arrivo (o lettura), d(X) calcola il segnale err</a:t>
            </a:r>
          </a:p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Si ricorda:</a:t>
            </a:r>
          </a:p>
          <a:p>
            <a:pPr lvl="1" eaLnBrk="1" hangingPunct="1">
              <a:buClrTx/>
              <a:buFont typeface="Wingdings" panose="05000000000000000000" pitchFamily="2" charset="2"/>
              <a:buChar char="§"/>
            </a:pPr>
            <a:r>
              <a:rPr lang="it-IT" altLang="it-IT" sz="2000" i="1"/>
              <a:t>err=0 </a:t>
            </a:r>
            <a:r>
              <a:rPr lang="it-IT" altLang="it-IT" sz="2000" i="1">
                <a:sym typeface="Symbol" panose="05050102010706020507" pitchFamily="18" charset="2"/>
              </a:rPr>
              <a:t> probabilmente è X</a:t>
            </a:r>
            <a:r>
              <a:rPr lang="ja-JP" altLang="it-IT" sz="2000" i="1">
                <a:sym typeface="Symbol" panose="05050102010706020507" pitchFamily="18" charset="2"/>
              </a:rPr>
              <a:t>’</a:t>
            </a:r>
            <a:r>
              <a:rPr lang="it-IT" altLang="ja-JP" sz="2000" i="1">
                <a:sym typeface="Symbol" panose="05050102010706020507" pitchFamily="18" charset="2"/>
              </a:rPr>
              <a:t>=X</a:t>
            </a:r>
          </a:p>
          <a:p>
            <a:pPr lvl="1" eaLnBrk="1" hangingPunct="1">
              <a:buClrTx/>
              <a:buFont typeface="Wingdings" panose="05000000000000000000" pitchFamily="2" charset="2"/>
              <a:buChar char="§"/>
            </a:pPr>
            <a:r>
              <a:rPr lang="it-IT" altLang="it-IT" sz="2000" i="1">
                <a:sym typeface="Symbol" panose="05050102010706020507" pitchFamily="18" charset="2"/>
              </a:rPr>
              <a:t>err=0</a:t>
            </a:r>
            <a:r>
              <a:rPr lang="it-IT" altLang="it-IT" sz="2000" i="1"/>
              <a:t> </a:t>
            </a:r>
            <a:r>
              <a:rPr lang="it-IT" altLang="it-IT" sz="2000" i="1">
                <a:sym typeface="Symbol" panose="05050102010706020507" pitchFamily="18" charset="2"/>
              </a:rPr>
              <a:t> certamente è X</a:t>
            </a:r>
            <a:r>
              <a:rPr lang="ja-JP" altLang="it-IT" sz="2000" i="1">
                <a:sym typeface="Symbol" panose="05050102010706020507" pitchFamily="18" charset="2"/>
              </a:rPr>
              <a:t>’</a:t>
            </a:r>
            <a:r>
              <a:rPr lang="it-IT" altLang="ja-JP" sz="2000" i="1">
                <a:sym typeface="Symbol" panose="05050102010706020507" pitchFamily="18" charset="2"/>
              </a:rPr>
              <a:t>≠X </a:t>
            </a: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it-IT" altLang="it-IT" sz="1600" i="1">
                <a:sym typeface="Symbol" panose="05050102010706020507" pitchFamily="18" charset="2"/>
              </a:rPr>
              <a:t>	(potrebbe anche essere X</a:t>
            </a:r>
            <a:r>
              <a:rPr lang="ja-JP" altLang="it-IT" sz="1600" i="1">
                <a:sym typeface="Symbol" panose="05050102010706020507" pitchFamily="18" charset="2"/>
              </a:rPr>
              <a:t>’</a:t>
            </a:r>
            <a:r>
              <a:rPr lang="it-IT" altLang="ja-JP" sz="1600" i="1">
                <a:sym typeface="Symbol" panose="05050102010706020507" pitchFamily="18" charset="2"/>
              </a:rPr>
              <a:t>=X perché l</a:t>
            </a:r>
            <a:r>
              <a:rPr lang="ja-JP" altLang="it-IT" sz="1600" i="1">
                <a:sym typeface="Symbol" panose="05050102010706020507" pitchFamily="18" charset="2"/>
              </a:rPr>
              <a:t>’</a:t>
            </a:r>
            <a:r>
              <a:rPr lang="it-IT" altLang="ja-JP" sz="1600" i="1">
                <a:sym typeface="Symbol" panose="05050102010706020507" pitchFamily="18" charset="2"/>
              </a:rPr>
              <a:t>errore è sul bit di parità:. trascuriamo questo caso per sicurezza e semplicità)</a:t>
            </a:r>
            <a:endParaRPr lang="it-IT" altLang="it-IT" sz="1600" i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advTm="7000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58DE1E00-A694-91FD-CBB7-441CF9289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152400"/>
            <a:ext cx="9740900" cy="5619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Rilevazione degli errori</a:t>
            </a:r>
          </a:p>
        </p:txBody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B3DAFB28-C369-BBE5-A657-28DB8F28F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1136650"/>
            <a:ext cx="8648700" cy="531653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Natura degli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Codici ridondanti 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Rilevazione e correzione degli errori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Esempio: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Bit di parità: si aggiunge un bit in modo che il numero di 1 sia pari:</a:t>
            </a: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00101101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00101101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0</a:t>
            </a:r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01101000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01101000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ja-JP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’</a:t>
            </a:r>
            <a:r>
              <a:rPr lang="it-IT" altLang="ja-JP">
                <a:ea typeface="ＭＳ Ｐゴシック" panose="020B0600070205080204" pitchFamily="34" charset="-128"/>
                <a:sym typeface="Symbol" panose="05050102010706020507" pitchFamily="18" charset="2"/>
              </a:rPr>
              <a:t>errore su un bit viene rilevato (non corretto)</a:t>
            </a: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01101000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ea typeface="ＭＳ Ｐゴシック" panose="020B0600070205080204" pitchFamily="34" charset="-128"/>
              </a:rPr>
              <a:t>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0110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0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000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36195" name="Freeform 4">
            <a:extLst>
              <a:ext uri="{FF2B5EF4-FFF2-40B4-BE49-F238E27FC236}">
                <a16:creationId xmlns:a16="http://schemas.microsoft.com/office/drawing/2014/main" id="{D92F9921-05CF-EA0A-1D40-FB14C6966346}"/>
              </a:ext>
            </a:extLst>
          </p:cNvPr>
          <p:cNvSpPr>
            <a:spLocks/>
          </p:cNvSpPr>
          <p:nvPr/>
        </p:nvSpPr>
        <p:spPr bwMode="auto">
          <a:xfrm>
            <a:off x="-53975" y="5229225"/>
            <a:ext cx="2120900" cy="1008063"/>
          </a:xfrm>
          <a:custGeom>
            <a:avLst/>
            <a:gdLst>
              <a:gd name="T0" fmla="*/ 2147483646 w 1233"/>
              <a:gd name="T1" fmla="*/ 0 h 635"/>
              <a:gd name="T2" fmla="*/ 2147483646 w 1233"/>
              <a:gd name="T3" fmla="*/ 2147483646 h 635"/>
              <a:gd name="T4" fmla="*/ 2147483646 w 1233"/>
              <a:gd name="T5" fmla="*/ 2147483646 h 635"/>
              <a:gd name="T6" fmla="*/ 2147483646 w 1233"/>
              <a:gd name="T7" fmla="*/ 2147483646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1233"/>
              <a:gd name="T13" fmla="*/ 0 h 635"/>
              <a:gd name="T14" fmla="*/ 1233 w 123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3" h="635">
                <a:moveTo>
                  <a:pt x="1233" y="0"/>
                </a:moveTo>
                <a:cubicBezTo>
                  <a:pt x="847" y="4"/>
                  <a:pt x="461" y="8"/>
                  <a:pt x="280" y="91"/>
                </a:cubicBezTo>
                <a:cubicBezTo>
                  <a:pt x="99" y="174"/>
                  <a:pt x="0" y="408"/>
                  <a:pt x="144" y="499"/>
                </a:cubicBezTo>
                <a:cubicBezTo>
                  <a:pt x="288" y="590"/>
                  <a:pt x="976" y="612"/>
                  <a:pt x="1142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36196" name="Segnaposto numero diapositiva 4">
            <a:extLst>
              <a:ext uri="{FF2B5EF4-FFF2-40B4-BE49-F238E27FC236}">
                <a16:creationId xmlns:a16="http://schemas.microsoft.com/office/drawing/2014/main" id="{7E61FE00-2491-E7C6-FC69-1FED2754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FFECAD-D86F-4F53-860C-B55D1CD7522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0B8F12D3-7B86-AE31-3FDA-51C1A8401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152400"/>
            <a:ext cx="9328150" cy="6334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Rilevazione e Correzione degli errori</a:t>
            </a:r>
          </a:p>
        </p:txBody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2443E746-753B-F637-48DD-362DFBD91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463" y="1219200"/>
            <a:ext cx="8667750" cy="1089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3000">
                <a:ea typeface="ＭＳ Ｐゴシック" panose="020B0600070205080204" pitchFamily="34" charset="-128"/>
              </a:rPr>
              <a:t>Rilevazione (mediante bit di parità) e correzione mediante aggiunta di informazioni ridondanti (bit di parità + checksum)</a:t>
            </a:r>
          </a:p>
        </p:txBody>
      </p:sp>
      <p:graphicFrame>
        <p:nvGraphicFramePr>
          <p:cNvPr id="138243" name="Object 2">
            <a:extLst>
              <a:ext uri="{FF2B5EF4-FFF2-40B4-BE49-F238E27FC236}">
                <a16:creationId xmlns:a16="http://schemas.microsoft.com/office/drawing/2014/main" id="{5809F9B6-D88D-8AB1-2502-595EC2C1F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3650" y="3005138"/>
          <a:ext cx="2981325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0" imgH="0" progId="Word.Document.8">
                  <p:embed/>
                </p:oleObj>
              </mc:Choice>
              <mc:Fallback>
                <p:oleObj name="Document" r:id="rId3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005138"/>
                        <a:ext cx="2981325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Rectangle 5">
            <a:extLst>
              <a:ext uri="{FF2B5EF4-FFF2-40B4-BE49-F238E27FC236}">
                <a16:creationId xmlns:a16="http://schemas.microsoft.com/office/drawing/2014/main" id="{A29059EF-A8F7-74B8-7C9D-029AEA2DF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022600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5" name="Rectangle 6">
            <a:extLst>
              <a:ext uri="{FF2B5EF4-FFF2-40B4-BE49-F238E27FC236}">
                <a16:creationId xmlns:a16="http://schemas.microsoft.com/office/drawing/2014/main" id="{0C02059C-4405-9F59-61BD-7E1314C3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394075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6" name="Rectangle 7">
            <a:extLst>
              <a:ext uri="{FF2B5EF4-FFF2-40B4-BE49-F238E27FC236}">
                <a16:creationId xmlns:a16="http://schemas.microsoft.com/office/drawing/2014/main" id="{FF1F99EF-E803-0905-91D1-3B0153A8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767138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7" name="Rectangle 8">
            <a:extLst>
              <a:ext uri="{FF2B5EF4-FFF2-40B4-BE49-F238E27FC236}">
                <a16:creationId xmlns:a16="http://schemas.microsoft.com/office/drawing/2014/main" id="{98FEF34B-10C2-52F5-742B-8B29FBC3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138613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8" name="Rectangle 9">
            <a:extLst>
              <a:ext uri="{FF2B5EF4-FFF2-40B4-BE49-F238E27FC236}">
                <a16:creationId xmlns:a16="http://schemas.microsoft.com/office/drawing/2014/main" id="{1908DF1F-7953-1894-357B-63C18604E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511675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9" name="Rectangle 10">
            <a:extLst>
              <a:ext uri="{FF2B5EF4-FFF2-40B4-BE49-F238E27FC236}">
                <a16:creationId xmlns:a16="http://schemas.microsoft.com/office/drawing/2014/main" id="{A3CEFCA3-1006-25E8-7A8F-D89FCF54B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883150"/>
            <a:ext cx="2081213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0" name="Rectangle 11">
            <a:extLst>
              <a:ext uri="{FF2B5EF4-FFF2-40B4-BE49-F238E27FC236}">
                <a16:creationId xmlns:a16="http://schemas.microsoft.com/office/drawing/2014/main" id="{436C4BCB-4A14-D7DE-A0AC-1F8EEFFCC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883150"/>
            <a:ext cx="6350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1" name="Rectangle 12">
            <a:extLst>
              <a:ext uri="{FF2B5EF4-FFF2-40B4-BE49-F238E27FC236}">
                <a16:creationId xmlns:a16="http://schemas.microsoft.com/office/drawing/2014/main" id="{DF0913C0-3E85-9502-839F-8BD2959BE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663" y="4883150"/>
            <a:ext cx="571500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2" name="Rectangle 13">
            <a:extLst>
              <a:ext uri="{FF2B5EF4-FFF2-40B4-BE49-F238E27FC236}">
                <a16:creationId xmlns:a16="http://schemas.microsoft.com/office/drawing/2014/main" id="{B9F14AB2-99EA-AC2C-06C8-F7B65B00B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889500"/>
            <a:ext cx="6350" cy="373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pSp>
        <p:nvGrpSpPr>
          <p:cNvPr id="138253" name="Group 14">
            <a:extLst>
              <a:ext uri="{FF2B5EF4-FFF2-40B4-BE49-F238E27FC236}">
                <a16:creationId xmlns:a16="http://schemas.microsoft.com/office/drawing/2014/main" id="{06FFFCC2-0293-AF62-E575-66EE140D9984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2970213"/>
            <a:ext cx="2659063" cy="2317750"/>
            <a:chOff x="3124" y="1800"/>
            <a:chExt cx="1546" cy="1460"/>
          </a:xfrm>
        </p:grpSpPr>
        <p:sp>
          <p:nvSpPr>
            <p:cNvPr id="138259" name="Rectangle 15">
              <a:extLst>
                <a:ext uri="{FF2B5EF4-FFF2-40B4-BE49-F238E27FC236}">
                  <a16:creationId xmlns:a16="http://schemas.microsoft.com/office/drawing/2014/main" id="{49676530-65A6-277F-2317-A65B86A3D6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79" y="1676"/>
              <a:ext cx="200" cy="145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38260" name="Rectangle 16">
              <a:extLst>
                <a:ext uri="{FF2B5EF4-FFF2-40B4-BE49-F238E27FC236}">
                  <a16:creationId xmlns:a16="http://schemas.microsoft.com/office/drawing/2014/main" id="{09A615C7-F80B-C5FB-427D-82563B0B7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800"/>
              <a:ext cx="144" cy="145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38261" name="Rectangle 17">
              <a:extLst>
                <a:ext uri="{FF2B5EF4-FFF2-40B4-BE49-F238E27FC236}">
                  <a16:creationId xmlns:a16="http://schemas.microsoft.com/office/drawing/2014/main" id="{15DC19C3-32F3-94B4-C29F-A129BF02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1831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10110010</a:t>
              </a:r>
              <a:endParaRPr lang="it-IT" altLang="it-IT" sz="2400"/>
            </a:p>
          </p:txBody>
        </p:sp>
        <p:sp>
          <p:nvSpPr>
            <p:cNvPr id="138262" name="Rectangle 18">
              <a:extLst>
                <a:ext uri="{FF2B5EF4-FFF2-40B4-BE49-F238E27FC236}">
                  <a16:creationId xmlns:a16="http://schemas.microsoft.com/office/drawing/2014/main" id="{953BA413-EA16-B633-2FE7-EFFDE487E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31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3" name="Line 19">
              <a:extLst>
                <a:ext uri="{FF2B5EF4-FFF2-40B4-BE49-F238E27FC236}">
                  <a16:creationId xmlns:a16="http://schemas.microsoft.com/office/drawing/2014/main" id="{D6534277-C4BD-3E4A-8ABD-D14C2B43E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1833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4" name="Rectangle 20">
              <a:extLst>
                <a:ext uri="{FF2B5EF4-FFF2-40B4-BE49-F238E27FC236}">
                  <a16:creationId xmlns:a16="http://schemas.microsoft.com/office/drawing/2014/main" id="{526F2B47-2C0F-2EA6-F6AD-043BF996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066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11100100</a:t>
              </a:r>
              <a:endParaRPr lang="it-IT" altLang="it-IT" sz="2400"/>
            </a:p>
          </p:txBody>
        </p:sp>
        <p:sp>
          <p:nvSpPr>
            <p:cNvPr id="138265" name="Rectangle 21">
              <a:extLst>
                <a:ext uri="{FF2B5EF4-FFF2-40B4-BE49-F238E27FC236}">
                  <a16:creationId xmlns:a16="http://schemas.microsoft.com/office/drawing/2014/main" id="{7E4D98E5-4A65-19F4-5C65-5A8ED21D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066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6" name="Line 22">
              <a:extLst>
                <a:ext uri="{FF2B5EF4-FFF2-40B4-BE49-F238E27FC236}">
                  <a16:creationId xmlns:a16="http://schemas.microsoft.com/office/drawing/2014/main" id="{D063A8C9-488D-A765-5B32-0D24A29CA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067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7" name="Rectangle 23">
              <a:extLst>
                <a:ext uri="{FF2B5EF4-FFF2-40B4-BE49-F238E27FC236}">
                  <a16:creationId xmlns:a16="http://schemas.microsoft.com/office/drawing/2014/main" id="{21F54B20-6A1E-F272-904D-2435BB02E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300"/>
              <a:ext cx="3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010</a:t>
              </a:r>
              <a:endParaRPr lang="it-IT" altLang="it-IT" sz="2400"/>
            </a:p>
          </p:txBody>
        </p:sp>
        <p:sp>
          <p:nvSpPr>
            <p:cNvPr id="138268" name="Rectangle 24">
              <a:extLst>
                <a:ext uri="{FF2B5EF4-FFF2-40B4-BE49-F238E27FC236}">
                  <a16:creationId xmlns:a16="http://schemas.microsoft.com/office/drawing/2014/main" id="{8230EB60-C096-0DB0-A85C-CA3892D54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300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FF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9" name="Rectangle 25">
              <a:extLst>
                <a:ext uri="{FF2B5EF4-FFF2-40B4-BE49-F238E27FC236}">
                  <a16:creationId xmlns:a16="http://schemas.microsoft.com/office/drawing/2014/main" id="{0209F249-8992-D39E-9249-36D8649F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" y="2300"/>
              <a:ext cx="46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0110</a:t>
              </a:r>
              <a:endParaRPr lang="it-IT" altLang="it-IT" sz="2400"/>
            </a:p>
          </p:txBody>
        </p:sp>
        <p:sp>
          <p:nvSpPr>
            <p:cNvPr id="138270" name="Rectangle 26">
              <a:extLst>
                <a:ext uri="{FF2B5EF4-FFF2-40B4-BE49-F238E27FC236}">
                  <a16:creationId xmlns:a16="http://schemas.microsoft.com/office/drawing/2014/main" id="{3157EC76-F1C9-FCD9-3510-6D5BE6D4C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300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71" name="Line 27">
              <a:extLst>
                <a:ext uri="{FF2B5EF4-FFF2-40B4-BE49-F238E27FC236}">
                  <a16:creationId xmlns:a16="http://schemas.microsoft.com/office/drawing/2014/main" id="{5DB40ADE-BD1E-A38F-FA42-32AB7592E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302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2" name="Rectangle 28">
              <a:extLst>
                <a:ext uri="{FF2B5EF4-FFF2-40B4-BE49-F238E27FC236}">
                  <a16:creationId xmlns:a16="http://schemas.microsoft.com/office/drawing/2014/main" id="{75CCB87A-B3A5-94E6-22DE-96EA270CB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535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00000111</a:t>
              </a:r>
              <a:endParaRPr lang="it-IT" altLang="it-IT" sz="2400"/>
            </a:p>
          </p:txBody>
        </p:sp>
        <p:sp>
          <p:nvSpPr>
            <p:cNvPr id="138273" name="Rectangle 29">
              <a:extLst>
                <a:ext uri="{FF2B5EF4-FFF2-40B4-BE49-F238E27FC236}">
                  <a16:creationId xmlns:a16="http://schemas.microsoft.com/office/drawing/2014/main" id="{E8305198-0E52-2ADC-5B86-E0C43F3D4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535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</a:t>
              </a:r>
              <a:endParaRPr lang="it-IT" altLang="it-IT" sz="2400"/>
            </a:p>
          </p:txBody>
        </p:sp>
        <p:sp>
          <p:nvSpPr>
            <p:cNvPr id="138274" name="Line 30">
              <a:extLst>
                <a:ext uri="{FF2B5EF4-FFF2-40B4-BE49-F238E27FC236}">
                  <a16:creationId xmlns:a16="http://schemas.microsoft.com/office/drawing/2014/main" id="{12EF0074-5581-8A5B-215A-6CBC5769C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536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5" name="Rectangle 31">
              <a:extLst>
                <a:ext uri="{FF2B5EF4-FFF2-40B4-BE49-F238E27FC236}">
                  <a16:creationId xmlns:a16="http://schemas.microsoft.com/office/drawing/2014/main" id="{DA0BD87B-67CF-C6B3-6540-EE06BFEB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769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10000110</a:t>
              </a:r>
              <a:endParaRPr lang="it-IT" altLang="it-IT" sz="2400"/>
            </a:p>
          </p:txBody>
        </p:sp>
        <p:sp>
          <p:nvSpPr>
            <p:cNvPr id="138276" name="Rectangle 32">
              <a:extLst>
                <a:ext uri="{FF2B5EF4-FFF2-40B4-BE49-F238E27FC236}">
                  <a16:creationId xmlns:a16="http://schemas.microsoft.com/office/drawing/2014/main" id="{AAA3E1C3-0D88-928E-898B-A307F056B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769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</a:t>
              </a:r>
              <a:endParaRPr lang="it-IT" altLang="it-IT" sz="2400"/>
            </a:p>
          </p:txBody>
        </p:sp>
        <p:sp>
          <p:nvSpPr>
            <p:cNvPr id="138277" name="Line 33">
              <a:extLst>
                <a:ext uri="{FF2B5EF4-FFF2-40B4-BE49-F238E27FC236}">
                  <a16:creationId xmlns:a16="http://schemas.microsoft.com/office/drawing/2014/main" id="{B2E546FE-2241-4685-DE8F-BDE432C8B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771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8" name="Rectangle 34">
              <a:extLst>
                <a:ext uri="{FF2B5EF4-FFF2-40B4-BE49-F238E27FC236}">
                  <a16:creationId xmlns:a16="http://schemas.microsoft.com/office/drawing/2014/main" id="{B815DE17-FE07-3C7B-B60F-85619915C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3008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10000001</a:t>
              </a:r>
              <a:endParaRPr lang="it-IT" altLang="it-IT" sz="2400"/>
            </a:p>
          </p:txBody>
        </p:sp>
        <p:sp>
          <p:nvSpPr>
            <p:cNvPr id="138279" name="Rectangle 35">
              <a:extLst>
                <a:ext uri="{FF2B5EF4-FFF2-40B4-BE49-F238E27FC236}">
                  <a16:creationId xmlns:a16="http://schemas.microsoft.com/office/drawing/2014/main" id="{46F54157-943F-1A1F-BAB1-42FEFCDCB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3008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80" name="Line 36">
              <a:extLst>
                <a:ext uri="{FF2B5EF4-FFF2-40B4-BE49-F238E27FC236}">
                  <a16:creationId xmlns:a16="http://schemas.microsoft.com/office/drawing/2014/main" id="{3077A481-8C9B-EE0E-4F67-FAD7E9E45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3005"/>
              <a:ext cx="12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1" name="Line 37">
              <a:extLst>
                <a:ext uri="{FF2B5EF4-FFF2-40B4-BE49-F238E27FC236}">
                  <a16:creationId xmlns:a16="http://schemas.microsoft.com/office/drawing/2014/main" id="{C555F7E0-7EB7-36D0-E71E-5DA033130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5"/>
              <a:ext cx="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2" name="Line 38">
              <a:extLst>
                <a:ext uri="{FF2B5EF4-FFF2-40B4-BE49-F238E27FC236}">
                  <a16:creationId xmlns:a16="http://schemas.microsoft.com/office/drawing/2014/main" id="{F3B98130-4977-73B0-BBE5-B3A756FD6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5"/>
              <a:ext cx="1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3" name="Line 39">
              <a:extLst>
                <a:ext uri="{FF2B5EF4-FFF2-40B4-BE49-F238E27FC236}">
                  <a16:creationId xmlns:a16="http://schemas.microsoft.com/office/drawing/2014/main" id="{70609C60-F3AD-B337-B7EE-C5433837E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3005"/>
              <a:ext cx="3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4" name="Line 40">
              <a:extLst>
                <a:ext uri="{FF2B5EF4-FFF2-40B4-BE49-F238E27FC236}">
                  <a16:creationId xmlns:a16="http://schemas.microsoft.com/office/drawing/2014/main" id="{67CB4382-343B-09DC-86F8-077581740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9"/>
              <a:ext cx="1" cy="2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8254" name="Text Box 41">
            <a:extLst>
              <a:ext uri="{FF2B5EF4-FFF2-40B4-BE49-F238E27FC236}">
                <a16:creationId xmlns:a16="http://schemas.microsoft.com/office/drawing/2014/main" id="{4C0560B4-97B5-5FF0-0D9E-5C3E230EE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5808663"/>
            <a:ext cx="2066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  <a:latin typeface="Arial Narrow" panose="020B06060202020A0204" pitchFamily="34" charset="0"/>
              </a:rPr>
              <a:t>Check Sum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138255" name="Line 42">
            <a:extLst>
              <a:ext uri="{FF2B5EF4-FFF2-40B4-BE49-F238E27FC236}">
                <a16:creationId xmlns:a16="http://schemas.microsoft.com/office/drawing/2014/main" id="{6152A756-C42E-18C8-1840-ADD5B9D05A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4838" y="5229225"/>
            <a:ext cx="590550" cy="757238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256" name="Text Box 43">
            <a:extLst>
              <a:ext uri="{FF2B5EF4-FFF2-40B4-BE49-F238E27FC236}">
                <a16:creationId xmlns:a16="http://schemas.microsoft.com/office/drawing/2014/main" id="{4C18349E-D0F1-43A7-0426-A24004A1C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5873750"/>
            <a:ext cx="2035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  <a:latin typeface="Arial Narrow" panose="020B06060202020A0204" pitchFamily="34" charset="0"/>
              </a:rPr>
              <a:t>Bit di parità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138257" name="Line 44">
            <a:extLst>
              <a:ext uri="{FF2B5EF4-FFF2-40B4-BE49-F238E27FC236}">
                <a16:creationId xmlns:a16="http://schemas.microsoft.com/office/drawing/2014/main" id="{6A265137-9E22-91CE-9418-52F26FDC7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3917950"/>
            <a:ext cx="706437" cy="2079625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258" name="Segnaposto numero diapositiva 44">
            <a:extLst>
              <a:ext uri="{FF2B5EF4-FFF2-40B4-BE49-F238E27FC236}">
                <a16:creationId xmlns:a16="http://schemas.microsoft.com/office/drawing/2014/main" id="{5866818B-06FD-EB43-8485-72814190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B729B2-5AD9-42AD-820A-DAB5B369D6A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Segnaposto numero diapositiva 4">
            <a:extLst>
              <a:ext uri="{FF2B5EF4-FFF2-40B4-BE49-F238E27FC236}">
                <a16:creationId xmlns:a16="http://schemas.microsoft.com/office/drawing/2014/main" id="{2DBA7E0B-E00A-8CA7-69AC-99C52B50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DBC1913-2AE7-498F-B302-955EF7C225F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it-IT" altLang="it-IT" sz="1400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4E16E6A8-5B22-F667-1611-4D00F6AF5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- 2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9EF67B98-04FB-5215-7C76-4B223F76B8D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285875"/>
            <a:ext cx="8667750" cy="1906588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I riferimenti teorici – distanza di Hamming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informazione da trasmettere o memorizzare è un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codice a lunghezza fissa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endParaRPr lang="it-IT" altLang="ja-JP" sz="2400">
              <a:ea typeface="ＭＳ Ｐゴシック" panose="020B0600070205080204" pitchFamily="34" charset="-128"/>
            </a:endParaRPr>
          </a:p>
          <a:p>
            <a:r>
              <a:rPr lang="it-IT" altLang="it-IT" sz="2400" b="1">
                <a:ea typeface="ＭＳ Ｐゴシック" panose="020B0600070205080204" pitchFamily="34" charset="-128"/>
              </a:rPr>
              <a:t>Distanza di Hamming</a:t>
            </a:r>
            <a:r>
              <a:rPr lang="it-IT" altLang="it-IT" sz="2400" i="1">
                <a:ea typeface="ＭＳ Ｐゴシック" panose="020B0600070205080204" pitchFamily="34" charset="-128"/>
              </a:rPr>
              <a:t> D = </a:t>
            </a:r>
            <a:r>
              <a:rPr lang="it-IT" altLang="it-IT" sz="2000">
                <a:ea typeface="ＭＳ Ｐゴシック" panose="020B0600070205080204" pitchFamily="34" charset="-128"/>
              </a:rPr>
              <a:t>numero di bit diversi tra due parole codice </a:t>
            </a:r>
          </a:p>
          <a:p>
            <a:endParaRPr lang="it-IT" altLang="it-IT" sz="2400" b="1">
              <a:solidFill>
                <a:srgbClr val="FF33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140292" name="Picture 4" descr="http://www.ocf.berkeley.edu/~wwu/images/riddles/hamming_cube.gif">
            <a:extLst>
              <a:ext uri="{FF2B5EF4-FFF2-40B4-BE49-F238E27FC236}">
                <a16:creationId xmlns:a16="http://schemas.microsoft.com/office/drawing/2014/main" id="{6C5549D3-838D-96F0-1EB7-A5420365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2949575"/>
            <a:ext cx="245427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3" name="Rectangle 13">
            <a:extLst>
              <a:ext uri="{FF2B5EF4-FFF2-40B4-BE49-F238E27FC236}">
                <a16:creationId xmlns:a16="http://schemas.microsoft.com/office/drawing/2014/main" id="{ABCAEE36-E86A-2705-39B4-A4F8ECB08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5195888"/>
            <a:ext cx="8667750" cy="769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/>
              <a:t>Distanza minima</a:t>
            </a:r>
            <a:r>
              <a:rPr lang="it-IT" altLang="it-IT" sz="2000" b="0"/>
              <a:t> di un codice: la distanza minima fra 2 sue parole-codiice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/>
              <a:t>Sindrome di errore</a:t>
            </a:r>
            <a:r>
              <a:rPr lang="it-IT" altLang="it-IT" sz="2000" b="0"/>
              <a:t>: la parola-codice non appartiene al codice</a:t>
            </a:r>
            <a:endParaRPr lang="it-IT" altLang="it-IT" sz="20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advTm="21900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Segnaposto numero diapositiva 4">
            <a:extLst>
              <a:ext uri="{FF2B5EF4-FFF2-40B4-BE49-F238E27FC236}">
                <a16:creationId xmlns:a16="http://schemas.microsoft.com/office/drawing/2014/main" id="{DCE4134A-D721-1DB4-5AD3-4E4F3B1B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FF2F843-CE6D-4600-B19C-271A95A953D9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it-IT" altLang="it-IT" sz="14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6E6DD696-13D7-50F9-AD61-1D76B4F94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- 3</a:t>
            </a:r>
          </a:p>
        </p:txBody>
      </p:sp>
      <p:pic>
        <p:nvPicPr>
          <p:cNvPr id="142339" name="Picture 4" descr="http://www.ocf.berkeley.edu/~wwu/images/riddles/hamming_cube.gif">
            <a:extLst>
              <a:ext uri="{FF2B5EF4-FFF2-40B4-BE49-F238E27FC236}">
                <a16:creationId xmlns:a16="http://schemas.microsoft.com/office/drawing/2014/main" id="{08FE187B-068C-14E4-9B72-AAE0044AF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1285875"/>
            <a:ext cx="245427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509" name="Rectangle 5">
            <a:extLst>
              <a:ext uri="{FF2B5EF4-FFF2-40B4-BE49-F238E27FC236}">
                <a16:creationId xmlns:a16="http://schemas.microsoft.com/office/drawing/2014/main" id="{9660C157-F6A1-9206-C525-01769B2D3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3929063"/>
            <a:ext cx="9051925" cy="1692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I riferimenti teorici-Teorema di Hamming: 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Un codice a distanza minima</a:t>
            </a:r>
          </a:p>
          <a:p>
            <a:pPr lvl="1" eaLnBrk="1" hangingPunct="1"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	 d+1 può individuare gli errori simultanei su d bit;</a:t>
            </a:r>
          </a:p>
          <a:p>
            <a:pPr lvl="1" eaLnBrk="1" hangingPunct="1"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	 2c+1 può correggere gli errori simultanei su c bit.</a:t>
            </a:r>
          </a:p>
        </p:txBody>
      </p:sp>
    </p:spTree>
  </p:cSld>
  <p:clrMapOvr>
    <a:masterClrMapping/>
  </p:clrMapOvr>
  <p:transition advTm="3400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5" name="Picture 2" descr="j0078711">
            <a:extLst>
              <a:ext uri="{FF2B5EF4-FFF2-40B4-BE49-F238E27FC236}">
                <a16:creationId xmlns:a16="http://schemas.microsoft.com/office/drawing/2014/main" id="{BDA65F57-4BDB-5F4E-DEC3-43D3FE88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1473200"/>
            <a:ext cx="2143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6" name="Rectangle 3">
            <a:extLst>
              <a:ext uri="{FF2B5EF4-FFF2-40B4-BE49-F238E27FC236}">
                <a16:creationId xmlns:a16="http://schemas.microsoft.com/office/drawing/2014/main" id="{B60AEF79-3A9D-C8AE-2DDD-1C20283CE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Domande?</a:t>
            </a:r>
          </a:p>
        </p:txBody>
      </p:sp>
      <p:sp>
        <p:nvSpPr>
          <p:cNvPr id="144387" name="Segnaposto numero diapositiva 3">
            <a:extLst>
              <a:ext uri="{FF2B5EF4-FFF2-40B4-BE49-F238E27FC236}">
                <a16:creationId xmlns:a16="http://schemas.microsoft.com/office/drawing/2014/main" id="{4525B9F9-A2A3-0CD4-943D-C0404033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8B0A85-221D-498D-A755-994515A0FD0D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oppialc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doppialc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oppialc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ppialc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BC8F61-5E95-43D7-BA91-C64DB86AC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B1EEAD-1C7A-4ABD-BFB8-82B88EB3B2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1ac32-155a-4619-8d53-7abf123e0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33955B-CAE2-4A29-9A03-D6D74C2ECCA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c:\powerpnt\modelli\lucidicl\doppialc.ppt</Template>
  <TotalTime>38245</TotalTime>
  <Pages>39</Pages>
  <Words>5662</Words>
  <Application>Microsoft Office PowerPoint</Application>
  <PresentationFormat>A4 Paper (210x297 mm)</PresentationFormat>
  <Paragraphs>1133</Paragraphs>
  <Slides>106</Slides>
  <Notes>18</Notes>
  <HiddenSlides>37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7" baseType="lpstr">
      <vt:lpstr>doppialc</vt:lpstr>
      <vt:lpstr>Codifica delle informazioni e Macchine Elementari (Richiami)</vt:lpstr>
      <vt:lpstr>Tassonomia dei circuiti digitali</vt:lpstr>
      <vt:lpstr>PowerPoint Presentation</vt:lpstr>
      <vt:lpstr>PowerPoint Presentation</vt:lpstr>
      <vt:lpstr>Macchina combinatoria (3/4)</vt:lpstr>
      <vt:lpstr>Macchina combinatoria 4/4</vt:lpstr>
      <vt:lpstr>PowerPoint Presentation</vt:lpstr>
      <vt:lpstr>Codifica delle informazioni: sul piano formale</vt:lpstr>
      <vt:lpstr>Definizioni</vt:lpstr>
      <vt:lpstr>Codifica a lunghezza fissa</vt:lpstr>
      <vt:lpstr>PowerPoint Presentation</vt:lpstr>
      <vt:lpstr>PowerPoint Presentation</vt:lpstr>
      <vt:lpstr>PowerPoint Presentation</vt:lpstr>
      <vt:lpstr>Codifica a lunghezza variabile</vt:lpstr>
      <vt:lpstr>Codifica a lunghezza variabile</vt:lpstr>
      <vt:lpstr>Codifica indiretta</vt:lpstr>
      <vt:lpstr>PowerPoint Presentation</vt:lpstr>
      <vt:lpstr>PowerPoint Presentation</vt:lpstr>
      <vt:lpstr>PowerPoint Presentation</vt:lpstr>
      <vt:lpstr>PowerPoint Presentation</vt:lpstr>
      <vt:lpstr>Rappresentazione di Codici mediante tabelle</vt:lpstr>
      <vt:lpstr>Rappresentazione Decodificata</vt:lpstr>
      <vt:lpstr>PowerPoint Presentation</vt:lpstr>
      <vt:lpstr>PowerPoint Presentation</vt:lpstr>
      <vt:lpstr>Transcodificatore</vt:lpstr>
      <vt:lpstr>Transcodificatore per visualizzatore a 7 segmenti</vt:lpstr>
      <vt:lpstr>Transcodificatore per visualizzatore a 7 segmenti</vt:lpstr>
      <vt:lpstr>PowerPoint Presentation</vt:lpstr>
      <vt:lpstr>Decodificatore (decoder)</vt:lpstr>
      <vt:lpstr>Sintesi della trascodifica da binario a 1 su N </vt:lpstr>
      <vt:lpstr>Il circuito integrato DECODER </vt:lpstr>
      <vt:lpstr>Decodificatore binario (1/2) </vt:lpstr>
      <vt:lpstr>Decodificatore binario (2/2) </vt:lpstr>
      <vt:lpstr>Decodificatore incompleto</vt:lpstr>
      <vt:lpstr>Decodificatori composti</vt:lpstr>
      <vt:lpstr>Decodificatori composti</vt:lpstr>
      <vt:lpstr>Composizione modulare di Decoder 4:16</vt:lpstr>
      <vt:lpstr>Esempio (semplificato) di utilizzo di Decoder (1/2)</vt:lpstr>
      <vt:lpstr>Esempio (semplificato) di utilizzo di Decoder (2/2)</vt:lpstr>
      <vt:lpstr>Codificatore (Encoder)</vt:lpstr>
      <vt:lpstr>PowerPoint Presentation</vt:lpstr>
      <vt:lpstr>Reti di codifica (codificatori) (2/3)</vt:lpstr>
      <vt:lpstr>PowerPoint Presentation</vt:lpstr>
      <vt:lpstr>Reti di codifica a priorità</vt:lpstr>
      <vt:lpstr>PowerPoint Presentation</vt:lpstr>
      <vt:lpstr>Multiplexer lineare</vt:lpstr>
      <vt:lpstr>Multiplexer binario</vt:lpstr>
      <vt:lpstr>Multiplexer Indirizzabile</vt:lpstr>
      <vt:lpstr>Multiplexer composti</vt:lpstr>
      <vt:lpstr>Demultiplexer lineare</vt:lpstr>
      <vt:lpstr>PowerPoint Presentation</vt:lpstr>
      <vt:lpstr>XOR ED EQ</vt:lpstr>
      <vt:lpstr>Funzioni XOR ed EQ (1/3)</vt:lpstr>
      <vt:lpstr>Funzioni Xor e Eq</vt:lpstr>
      <vt:lpstr>Funzioni Xor e Eq</vt:lpstr>
      <vt:lpstr>Funzione XOR</vt:lpstr>
      <vt:lpstr>Proprietà della XOR e di Eq</vt:lpstr>
      <vt:lpstr>PowerPoint Presentation</vt:lpstr>
      <vt:lpstr>Comparatore</vt:lpstr>
      <vt:lpstr>Comparatori </vt:lpstr>
      <vt:lpstr>COMPARATORI BIT-SERIALE (per un singolo bit)</vt:lpstr>
      <vt:lpstr>COMPARATORI BIT-SERIALE (per un singolo bit)</vt:lpstr>
      <vt:lpstr>Comparatore binario</vt:lpstr>
      <vt:lpstr>Comparatore binario</vt:lpstr>
      <vt:lpstr>Comparatore binario</vt:lpstr>
      <vt:lpstr>Comparatore binario</vt:lpstr>
      <vt:lpstr>Comparatore binario</vt:lpstr>
      <vt:lpstr>Comparatore binario</vt:lpstr>
      <vt:lpstr>PowerPoint Presentation</vt:lpstr>
      <vt:lpstr>Half Adder</vt:lpstr>
      <vt:lpstr>Full Adder (1/2)</vt:lpstr>
      <vt:lpstr>Full Adder (2/2)</vt:lpstr>
      <vt:lpstr>Full Adder: sintesi per decomposizione</vt:lpstr>
      <vt:lpstr>Addizionatore binario</vt:lpstr>
      <vt:lpstr>Addizionatore binario</vt:lpstr>
      <vt:lpstr>Addizionatore binario: il riporto</vt:lpstr>
      <vt:lpstr>Addizionatore binario: conclusione</vt:lpstr>
      <vt:lpstr>Sottrattore binario</vt:lpstr>
      <vt:lpstr>Sottrattore binario</vt:lpstr>
      <vt:lpstr>Addizionatore binario</vt:lpstr>
      <vt:lpstr>Sottrattore binario</vt:lpstr>
      <vt:lpstr>Addizionatori binari</vt:lpstr>
      <vt:lpstr>Addizionatori seriali</vt:lpstr>
      <vt:lpstr>Addizionatori paralleli</vt:lpstr>
      <vt:lpstr>Addizionatori paralleli</vt:lpstr>
      <vt:lpstr>Addizionatori con anticipo del riporto</vt:lpstr>
      <vt:lpstr>Addizionatori carry lookahead</vt:lpstr>
      <vt:lpstr>Addizionatori carry lookahead</vt:lpstr>
      <vt:lpstr>Addizionatori carry lookahead</vt:lpstr>
      <vt:lpstr>Addizionatori carry lookahead</vt:lpstr>
      <vt:lpstr>Addizionatori carry lookahead</vt:lpstr>
      <vt:lpstr>Addizionatore Carry Skip</vt:lpstr>
      <vt:lpstr>Addizionatore Carry Skip</vt:lpstr>
      <vt:lpstr>Addizionatore Carry-Select</vt:lpstr>
      <vt:lpstr>Addizionatore Carry-Select</vt:lpstr>
      <vt:lpstr>Addizionatori Carry-Save</vt:lpstr>
      <vt:lpstr>Addizionatori carry-save</vt:lpstr>
      <vt:lpstr>Supporto Didattico</vt:lpstr>
      <vt:lpstr>PowerPoint Presentation</vt:lpstr>
      <vt:lpstr>Controllo di errori - 1</vt:lpstr>
      <vt:lpstr>Controllo di errori - 3</vt:lpstr>
      <vt:lpstr>Rilevazione degli errori</vt:lpstr>
      <vt:lpstr>Rilevazione e Correzione degli errori</vt:lpstr>
      <vt:lpstr>Controllo di errori - 2</vt:lpstr>
      <vt:lpstr>Controllo di errori - 3</vt:lpstr>
      <vt:lpstr>Domande?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 atm seminario</dc:title>
  <dc:subject/>
  <dc:creator/>
  <cp:keywords/>
  <dc:description/>
  <cp:lastModifiedBy>VALENTINA CASOLA</cp:lastModifiedBy>
  <cp:revision>365</cp:revision>
  <cp:lastPrinted>1999-05-26T13:44:20Z</cp:lastPrinted>
  <dcterms:created xsi:type="dcterms:W3CDTF">2012-03-14T13:46:55Z</dcterms:created>
  <dcterms:modified xsi:type="dcterms:W3CDTF">2026-03-18T15:09:34Z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2024-02-27T12:55:27Z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0aa0effc-ac40-4648-9e9b-47213d213cca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0x0101005F36501F82A52044904E2AA776D592FE</vt:lpwstr>
  </property>
</Properties>
</file>