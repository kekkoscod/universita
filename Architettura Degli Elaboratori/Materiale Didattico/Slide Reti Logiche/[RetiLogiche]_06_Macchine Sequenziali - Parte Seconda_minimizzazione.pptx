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3"/>
  </p:sldMasterIdLst>
  <p:notesMasterIdLst>
    <p:notesMasterId r:id="rId55"/>
  </p:notesMasterIdLst>
  <p:handoutMasterIdLst>
    <p:handoutMasterId r:id="rId56"/>
  </p:handoutMasterIdLst>
  <p:sldIdLst>
    <p:sldId id="256" r:id="rId4"/>
    <p:sldId id="465" r:id="rId5"/>
    <p:sldId id="460" r:id="rId6"/>
    <p:sldId id="350" r:id="rId7"/>
    <p:sldId id="351" r:id="rId8"/>
    <p:sldId id="466" r:id="rId9"/>
    <p:sldId id="352" r:id="rId10"/>
    <p:sldId id="353" r:id="rId11"/>
    <p:sldId id="461" r:id="rId12"/>
    <p:sldId id="357" r:id="rId13"/>
    <p:sldId id="463" r:id="rId14"/>
    <p:sldId id="464" r:id="rId15"/>
    <p:sldId id="358" r:id="rId16"/>
    <p:sldId id="359" r:id="rId17"/>
    <p:sldId id="360" r:id="rId18"/>
    <p:sldId id="361" r:id="rId19"/>
    <p:sldId id="363" r:id="rId20"/>
    <p:sldId id="364" r:id="rId21"/>
    <p:sldId id="365" r:id="rId22"/>
    <p:sldId id="469" r:id="rId23"/>
    <p:sldId id="467" r:id="rId24"/>
    <p:sldId id="468" r:id="rId25"/>
    <p:sldId id="392" r:id="rId26"/>
    <p:sldId id="479" r:id="rId27"/>
    <p:sldId id="498" r:id="rId28"/>
    <p:sldId id="499" r:id="rId29"/>
    <p:sldId id="500" r:id="rId30"/>
    <p:sldId id="501" r:id="rId31"/>
    <p:sldId id="480" r:id="rId32"/>
    <p:sldId id="485" r:id="rId33"/>
    <p:sldId id="488" r:id="rId34"/>
    <p:sldId id="489" r:id="rId35"/>
    <p:sldId id="493" r:id="rId36"/>
    <p:sldId id="494" r:id="rId37"/>
    <p:sldId id="497" r:id="rId38"/>
    <p:sldId id="470" r:id="rId39"/>
    <p:sldId id="471" r:id="rId40"/>
    <p:sldId id="472" r:id="rId41"/>
    <p:sldId id="473" r:id="rId42"/>
    <p:sldId id="474" r:id="rId43"/>
    <p:sldId id="475" r:id="rId44"/>
    <p:sldId id="476" r:id="rId45"/>
    <p:sldId id="477" r:id="rId46"/>
    <p:sldId id="478" r:id="rId47"/>
    <p:sldId id="490" r:id="rId48"/>
    <p:sldId id="491" r:id="rId49"/>
    <p:sldId id="492" r:id="rId50"/>
    <p:sldId id="486" r:id="rId51"/>
    <p:sldId id="487" r:id="rId52"/>
    <p:sldId id="495" r:id="rId53"/>
    <p:sldId id="496" r:id="rId54"/>
  </p:sldIdLst>
  <p:sldSz cx="9720263" cy="6480175"/>
  <p:notesSz cx="7300913" cy="95869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2">
          <p15:clr>
            <a:srgbClr val="A4A3A4"/>
          </p15:clr>
        </p15:guide>
        <p15:guide id="2" pos="208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>
      <p:cViewPr>
        <p:scale>
          <a:sx n="110" d="100"/>
          <a:sy n="110" d="100"/>
        </p:scale>
        <p:origin x="1480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3064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2"/>
        <p:guide pos="20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customXml" Target="../customXml/item3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E5FC2CA7-ACF1-05E9-994C-C101D30FB1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2139770C-7C25-AA5C-74BF-4D9F796619E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5438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6" name="Rectangle 4">
            <a:extLst>
              <a:ext uri="{FF2B5EF4-FFF2-40B4-BE49-F238E27FC236}">
                <a16:creationId xmlns:a16="http://schemas.microsoft.com/office/drawing/2014/main" id="{168E5032-2FA3-9954-DAA9-471CBD09867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590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7" name="Rectangle 5">
            <a:extLst>
              <a:ext uri="{FF2B5EF4-FFF2-40B4-BE49-F238E27FC236}">
                <a16:creationId xmlns:a16="http://schemas.microsoft.com/office/drawing/2014/main" id="{33F8BFD2-2CB0-5045-BB02-BE87F274CF6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5438" y="910590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1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AD46C23-71F9-4EBF-9679-BCCF8406D756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706AFB98-B7CF-C3CF-657D-0539BFDBA46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1162050" y="920750"/>
            <a:ext cx="4976813" cy="3317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A5316520-1524-FF3E-62CC-D8C3FC18C4F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0300" y="4560888"/>
            <a:ext cx="5046663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altLang="it-IT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ＭＳ Ｐゴシック" pitchFamily="-111" charset="-128"/>
      </a:defRPr>
    </a:lvl1pPr>
    <a:lvl2pPr marL="37931725" indent="-37474525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694D0BF2-6821-D0DA-2F32-F40DA5FD5A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63CADF3F-FB8D-93C2-B44D-FFE35456AC8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5E495DB-E837-9EA8-50EB-0F757AE297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0EAC76BA-0A38-F1C7-F09F-5A19EBC83A3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C71198BF-E7A8-186A-8F1C-EF117B206BF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9971DFFD-CFBD-DEFA-B605-2819BC78CEB2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4129136-A8B1-FD2C-BA01-65C6570E72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D0F737ED-A787-AEF7-D90C-34FE6343DB6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FDA2AA78-EE80-C4CF-B420-2C80252922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CB063660-DEF5-0666-9D17-6060C1E8353A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926E1BF-F2F5-5E26-FA03-EBDF7C60998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8" name="Text Box 3">
            <a:extLst>
              <a:ext uri="{FF2B5EF4-FFF2-40B4-BE49-F238E27FC236}">
                <a16:creationId xmlns:a16="http://schemas.microsoft.com/office/drawing/2014/main" id="{7AC038BF-A6B2-7038-223E-4418FF1BAA0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M?, non M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FF668E58-3BEB-0BB8-CFC4-3EE312132D8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CEF18D10-0034-2129-6F82-D48DDAA6B2FF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F606E01B-CA48-B588-8801-661F42D592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7DA2DCBD-FD21-2D14-6CDA-315DD5AB2F02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C5C96934-1451-4307-2B88-E88AEDE75D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891E3B29-32F3-501E-631B-6EB6546FEDFE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CBAA5FF5-A57E-5822-F5E3-0EE6602FAB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7775E6B3-EB8C-797F-4FC9-76D381D6201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0">
            <a:extLst>
              <a:ext uri="{FF2B5EF4-FFF2-40B4-BE49-F238E27FC236}">
                <a16:creationId xmlns:a16="http://schemas.microsoft.com/office/drawing/2014/main" id="{A9E3218B-63F8-2C44-F8B1-0D0A7FAEBD5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98663"/>
            <a:ext cx="9893300" cy="304800"/>
            <a:chOff x="0" y="624"/>
            <a:chExt cx="6232" cy="192"/>
          </a:xfrm>
        </p:grpSpPr>
        <p:sp>
          <p:nvSpPr>
            <p:cNvPr id="3" name="Rectangle 111">
              <a:extLst>
                <a:ext uri="{FF2B5EF4-FFF2-40B4-BE49-F238E27FC236}">
                  <a16:creationId xmlns:a16="http://schemas.microsoft.com/office/drawing/2014/main" id="{4C3DA4A3-472D-7700-A27F-AD923D68C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4" name="Rectangle 112">
              <a:extLst>
                <a:ext uri="{FF2B5EF4-FFF2-40B4-BE49-F238E27FC236}">
                  <a16:creationId xmlns:a16="http://schemas.microsoft.com/office/drawing/2014/main" id="{4215F7D0-4A7F-9E50-AA43-BAC7EE037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10557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243013" y="989013"/>
            <a:ext cx="7845425" cy="957262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0557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665288" y="2546350"/>
            <a:ext cx="7083425" cy="28289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Rectangle 103">
            <a:extLst>
              <a:ext uri="{FF2B5EF4-FFF2-40B4-BE49-F238E27FC236}">
                <a16:creationId xmlns:a16="http://schemas.microsoft.com/office/drawing/2014/main" id="{EEF9077F-3E08-1084-707C-4508090B07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474788" y="6007100"/>
            <a:ext cx="2025650" cy="431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104">
            <a:extLst>
              <a:ext uri="{FF2B5EF4-FFF2-40B4-BE49-F238E27FC236}">
                <a16:creationId xmlns:a16="http://schemas.microsoft.com/office/drawing/2014/main" id="{26E562FD-CD82-FECC-9B8D-87C0504B5E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957638" y="6007100"/>
            <a:ext cx="2414587" cy="431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C501C5AD-43A8-CB5C-FAA2-CD6A188A34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72288" y="6010275"/>
            <a:ext cx="2025650" cy="431800"/>
          </a:xfrm>
        </p:spPr>
        <p:txBody>
          <a:bodyPr/>
          <a:lstStyle>
            <a:lvl1pPr>
              <a:defRPr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1718F1F-8A33-4D2C-8531-6214647BDDD3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5978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0708250C-5B18-9D45-B402-94C9B29238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7555A-9B0B-49F5-B8E9-C0E04AF6812C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6724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8350" y="4164013"/>
            <a:ext cx="8261350" cy="12874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68350" y="2746375"/>
            <a:ext cx="8261350" cy="14176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57B61672-65A7-BA76-BF15-FA47ADFF66A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3FCB12-0DEE-4B57-9CEF-F065C62C461D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5234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4213" y="1727200"/>
            <a:ext cx="4152900" cy="366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89513" y="1727200"/>
            <a:ext cx="4154487" cy="366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275E71E1-2C06-399E-62EE-D43B7CD03B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C2D62-A490-417E-AE88-823A5D9B08A1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5961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85775" y="258763"/>
            <a:ext cx="8748713" cy="1081087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85775" y="1450975"/>
            <a:ext cx="4295775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85775" y="2055813"/>
            <a:ext cx="4295775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937125" y="1450975"/>
            <a:ext cx="4297363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937125" y="2055813"/>
            <a:ext cx="4297363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110">
            <a:extLst>
              <a:ext uri="{FF2B5EF4-FFF2-40B4-BE49-F238E27FC236}">
                <a16:creationId xmlns:a16="http://schemas.microsoft.com/office/drawing/2014/main" id="{F4CBC09B-704A-D44B-54E1-ED7D51B43E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6CF19-B47F-402D-8B32-3DD0F72AC453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7284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110">
            <a:extLst>
              <a:ext uri="{FF2B5EF4-FFF2-40B4-BE49-F238E27FC236}">
                <a16:creationId xmlns:a16="http://schemas.microsoft.com/office/drawing/2014/main" id="{38F72635-D436-C3CA-DE9D-2338685AF9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B3D5F-2FE6-4AD2-B068-D098ECF484A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0297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0">
            <a:extLst>
              <a:ext uri="{FF2B5EF4-FFF2-40B4-BE49-F238E27FC236}">
                <a16:creationId xmlns:a16="http://schemas.microsoft.com/office/drawing/2014/main" id="{46BCE686-4CA4-10E1-B4E2-A5530D6FB17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4BB25-51B1-468D-AD7F-D971F1AC177E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8369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85775" y="258763"/>
            <a:ext cx="3198813" cy="10969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00475" y="258763"/>
            <a:ext cx="5434013" cy="5529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85775" y="1355725"/>
            <a:ext cx="3198813" cy="44323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977B98C3-F1B0-2D65-7A44-8690771737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35FE1-EA46-4DD6-966F-DDBF5627E17F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5391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05000" y="4535488"/>
            <a:ext cx="5832475" cy="536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05000" y="579438"/>
            <a:ext cx="5832475" cy="38877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05000" y="5072063"/>
            <a:ext cx="5832475" cy="760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9B0C37B0-F8A5-6248-9A0D-7A059952D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B84F4-AC3E-4F94-832D-76F3C35586A6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16499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1FDBA868-377D-4AC9-FC47-1F5B15E8A27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A2EE4-2F47-46D2-8657-17114424F66C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3260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938963" y="215900"/>
            <a:ext cx="2205037" cy="51784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323850" y="215900"/>
            <a:ext cx="6462713" cy="51784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EFB3BACC-82B3-87FD-A826-35B22FEC4B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B86FE-A484-4039-BA75-E243B93DE5C8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80885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9738" y="161925"/>
            <a:ext cx="8748712" cy="8604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85775" y="1241425"/>
            <a:ext cx="4297363" cy="45513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35538" y="1241425"/>
            <a:ext cx="4298950" cy="45513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6C713-1FCD-7B0C-1270-2C5BEF5F948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860675" y="5921375"/>
            <a:ext cx="4441825" cy="4333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/>
            </a:lvl1pPr>
          </a:lstStyle>
          <a:p>
            <a:pPr>
              <a:defRPr/>
            </a:pPr>
            <a:r>
              <a:rPr lang="it-IT" altLang="it-IT"/>
              <a:t>bruno.fadini@unina.it</a:t>
            </a:r>
          </a:p>
          <a:p>
            <a:pPr>
              <a:defRPr/>
            </a:pPr>
            <a:r>
              <a:rPr lang="it-IT" altLang="it-IT"/>
              <a:t>Università degli Studi di Napoli FEDERICO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0A099-774C-27AC-5A24-06C544D28D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086598-7D49-4EF2-B375-010A37B845F5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5172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7">
            <a:extLst>
              <a:ext uri="{FF2B5EF4-FFF2-40B4-BE49-F238E27FC236}">
                <a16:creationId xmlns:a16="http://schemas.microsoft.com/office/drawing/2014/main" id="{8B530638-DD18-6A82-F4E0-574FB26E3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727200"/>
            <a:ext cx="8459787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7" name="Rectangle 111">
            <a:extLst>
              <a:ext uri="{FF2B5EF4-FFF2-40B4-BE49-F238E27FC236}">
                <a16:creationId xmlns:a16="http://schemas.microsoft.com/office/drawing/2014/main" id="{8CF53AD9-2E15-69F8-832C-FFCC82642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78438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grpSp>
        <p:nvGrpSpPr>
          <p:cNvPr id="1028" name="Group 112">
            <a:extLst>
              <a:ext uri="{FF2B5EF4-FFF2-40B4-BE49-F238E27FC236}">
                <a16:creationId xmlns:a16="http://schemas.microsoft.com/office/drawing/2014/main" id="{D0BBF5C6-BD10-F3E6-5D82-9AB6619A9AC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887413"/>
            <a:ext cx="9893300" cy="304800"/>
            <a:chOff x="0" y="624"/>
            <a:chExt cx="6232" cy="192"/>
          </a:xfrm>
        </p:grpSpPr>
        <p:sp>
          <p:nvSpPr>
            <p:cNvPr id="104561" name="Rectangle 113">
              <a:extLst>
                <a:ext uri="{FF2B5EF4-FFF2-40B4-BE49-F238E27FC236}">
                  <a16:creationId xmlns:a16="http://schemas.microsoft.com/office/drawing/2014/main" id="{3136F078-154E-70EB-68C7-3331E8AAA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104562" name="Rectangle 114">
              <a:extLst>
                <a:ext uri="{FF2B5EF4-FFF2-40B4-BE49-F238E27FC236}">
                  <a16:creationId xmlns:a16="http://schemas.microsoft.com/office/drawing/2014/main" id="{A1DFB897-378C-42E0-88CE-3DCEC4033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104558" name="Rectangle 110">
            <a:extLst>
              <a:ext uri="{FF2B5EF4-FFF2-40B4-BE49-F238E27FC236}">
                <a16:creationId xmlns:a16="http://schemas.microsoft.com/office/drawing/2014/main" id="{8501DB95-D2A8-EA04-1AED-2EB773E70F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5638" y="6026150"/>
            <a:ext cx="23320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fld id="{BD0A6A72-9893-4A62-B396-18795EBAC43B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1" r:id="rId1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1" charset="-128"/>
          <a:cs typeface="ＭＳ Ｐゴシック" pitchFamily="-111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1" charset="-128"/>
          <a:cs typeface="ＭＳ Ｐゴシック" pitchFamily="-111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1" charset="-128"/>
          <a:cs typeface="ＭＳ Ｐゴシック" pitchFamily="-111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1" charset="-128"/>
          <a:cs typeface="ＭＳ Ｐゴシック" pitchFamily="-111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>
          <a:solidFill>
            <a:srgbClr val="000000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>
          <a:solidFill>
            <a:srgbClr val="000000"/>
          </a:solidFill>
          <a:latin typeface="+mn-lt"/>
          <a:ea typeface="ＭＳ Ｐゴシック" pitchFamily="-111" charset="-128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>
          <a:solidFill>
            <a:srgbClr val="000000"/>
          </a:solidFill>
          <a:latin typeface="+mn-lt"/>
          <a:ea typeface="ＭＳ Ｐゴシック" pitchFamily="-111" charset="-128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>
          <a:solidFill>
            <a:srgbClr val="000000"/>
          </a:solidFill>
          <a:latin typeface="+mn-lt"/>
          <a:ea typeface="ＭＳ Ｐゴシック" pitchFamily="-111" charset="-128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sz="2000">
          <a:solidFill>
            <a:srgbClr val="000000"/>
          </a:solidFill>
          <a:latin typeface="+mn-lt"/>
          <a:ea typeface="ＭＳ Ｐゴシック" pitchFamily="-111" charset="-128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3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6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05">
            <a:extLst>
              <a:ext uri="{FF2B5EF4-FFF2-40B4-BE49-F238E27FC236}">
                <a16:creationId xmlns:a16="http://schemas.microsoft.com/office/drawing/2014/main" id="{74DEC232-DB1A-EC47-50FC-38C07C4B47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0BE341-173C-42F1-85EC-4846B9AF22BC}" type="slidenum">
              <a:rPr lang="it-IT" altLang="it-IT" sz="1400">
                <a:solidFill>
                  <a:schemeClr val="folHlin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it-IT" altLang="it-IT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6" name="Rectangle 8">
            <a:extLst>
              <a:ext uri="{FF2B5EF4-FFF2-40B4-BE49-F238E27FC236}">
                <a16:creationId xmlns:a16="http://schemas.microsoft.com/office/drawing/2014/main" id="{C8A4D8FD-36BE-5CDE-5EB0-969E4612C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2667000"/>
            <a:ext cx="80899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chemeClr val="tx1"/>
                </a:solidFill>
              </a:rPr>
              <a:t>Macchine Sequenziali</a:t>
            </a:r>
            <a:endParaRPr lang="it-IT" altLang="it-IT" sz="24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r>
              <a:rPr lang="it-IT" altLang="it-IT" sz="1800">
                <a:solidFill>
                  <a:schemeClr val="tx1"/>
                </a:solidFill>
              </a:rPr>
              <a:t>Dipartimento di Informatica e Sistemistica</a:t>
            </a:r>
          </a:p>
          <a:p>
            <a:pPr algn="ctr">
              <a:buClrTx/>
              <a:buFontTx/>
              <a:buNone/>
            </a:pPr>
            <a:r>
              <a:rPr lang="it-IT" altLang="it-IT" sz="1800">
                <a:solidFill>
                  <a:schemeClr val="tx1"/>
                </a:solidFill>
              </a:rPr>
              <a:t>Università degli Studi di Napoli Federico II</a:t>
            </a:r>
          </a:p>
        </p:txBody>
      </p:sp>
      <p:sp>
        <p:nvSpPr>
          <p:cNvPr id="16387" name="Rectangle 12">
            <a:extLst>
              <a:ext uri="{FF2B5EF4-FFF2-40B4-BE49-F238E27FC236}">
                <a16:creationId xmlns:a16="http://schemas.microsoft.com/office/drawing/2014/main" id="{21D7A9AD-004A-8B13-2FAB-3F9851C3A8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74725" y="989013"/>
            <a:ext cx="7845425" cy="957262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Corso di Reti Logiche</a:t>
            </a:r>
            <a:endParaRPr lang="it-IT" altLang="it-IT" sz="3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6C0D738-D79E-6814-8163-15D2BF767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215900"/>
            <a:ext cx="7843837" cy="503238"/>
          </a:xfrm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Funzioni uscita e stato prossimo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46F76683-C927-4A83-4910-A04CD4DF6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11300"/>
            <a:ext cx="8461375" cy="43926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800">
                <a:ea typeface="ＭＳ Ｐゴシック" panose="020B0600070205080204" pitchFamily="34" charset="-128"/>
              </a:rPr>
              <a:t>L’uscita e lo stato prossimo sono funzioni della sequenza di ingressi applicata a partire da uno “stato iniziale”: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2800" i="1">
                <a:ea typeface="ＭＳ Ｐゴシック" panose="020B0600070205080204" pitchFamily="34" charset="-128"/>
              </a:rPr>
              <a:t>		u</a:t>
            </a:r>
            <a:r>
              <a:rPr lang="it-IT" altLang="it-IT" sz="2800" baseline="-25000">
                <a:ea typeface="ＭＳ Ｐゴシック" panose="020B0600070205080204" pitchFamily="34" charset="-128"/>
              </a:rPr>
              <a:t>k </a:t>
            </a:r>
            <a:r>
              <a:rPr lang="it-IT" altLang="it-IT" sz="2800" i="1">
                <a:ea typeface="ＭＳ Ｐゴシック" panose="020B0600070205080204" pitchFamily="34" charset="-128"/>
              </a:rPr>
              <a:t>= </a:t>
            </a:r>
            <a:r>
              <a:rPr lang="fr-FR" altLang="it-IT" sz="2800" i="1">
                <a:ea typeface="ＭＳ Ｐゴシック" panose="020B0600070205080204" pitchFamily="34" charset="-128"/>
              </a:rPr>
              <a:t>λ</a:t>
            </a:r>
            <a:r>
              <a:rPr lang="it-IT" altLang="it-IT" sz="2800" i="1">
                <a:ea typeface="ＭＳ Ｐゴシック" panose="020B0600070205080204" pitchFamily="34" charset="-128"/>
              </a:rPr>
              <a:t>(q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800" i="1">
                <a:ea typeface="ＭＳ Ｐゴシック" panose="020B0600070205080204" pitchFamily="34" charset="-128"/>
              </a:rPr>
              <a:t>, J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800" i="1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2800" i="1">
                <a:ea typeface="ＭＳ Ｐゴシック" panose="020B0600070205080204" pitchFamily="34" charset="-128"/>
              </a:rPr>
              <a:t>		q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k+1</a:t>
            </a:r>
            <a:r>
              <a:rPr lang="it-IT" altLang="it-IT" sz="2800" i="1">
                <a:ea typeface="ＭＳ Ｐゴシック" panose="020B0600070205080204" pitchFamily="34" charset="-128"/>
              </a:rPr>
              <a:t> = δ(q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800" i="1">
                <a:ea typeface="ＭＳ Ｐゴシック" panose="020B0600070205080204" pitchFamily="34" charset="-128"/>
              </a:rPr>
              <a:t>, J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800" i="1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800">
              <a:solidFill>
                <a:srgbClr val="FF66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egnaposto numero diapositiva 3">
            <a:extLst>
              <a:ext uri="{FF2B5EF4-FFF2-40B4-BE49-F238E27FC236}">
                <a16:creationId xmlns:a16="http://schemas.microsoft.com/office/drawing/2014/main" id="{CD851B97-6493-DBB0-CB73-CA8AB9B3E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3F0FE49-C758-4D03-8B04-69EDFF15BFDB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D6ECF051-D244-174D-EEE6-95DB9F040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Macchine complete e incomplete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0C7A195-68F6-53F3-159C-E1A01155A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0213" y="1454150"/>
            <a:ext cx="8461375" cy="3962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Applicabilità di una sequenza</a:t>
            </a: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Una sequenza di ingressi J è </a:t>
            </a:r>
            <a:r>
              <a:rPr lang="it-IT" altLang="it-IT" sz="2400" i="1">
                <a:ea typeface="ＭＳ Ｐゴシック" panose="020B0600070205080204" pitchFamily="34" charset="-128"/>
              </a:rPr>
              <a:t>applicabile</a:t>
            </a:r>
            <a:r>
              <a:rPr lang="it-IT" altLang="it-IT" sz="2400">
                <a:ea typeface="ＭＳ Ｐゴシック" panose="020B0600070205080204" pitchFamily="34" charset="-128"/>
              </a:rPr>
              <a:t> a M in q - </a:t>
            </a:r>
            <a:r>
              <a:rPr lang="it-IT" altLang="it-IT" sz="2400" i="1">
                <a:ea typeface="ＭＳ Ｐゴシック" panose="020B0600070205080204" pitchFamily="34" charset="-128"/>
              </a:rPr>
              <a:t>si dice a M(q) </a:t>
            </a:r>
            <a:r>
              <a:rPr lang="it-IT" altLang="it-IT" sz="2400">
                <a:ea typeface="ＭＳ Ｐゴシック" panose="020B0600070205080204" pitchFamily="34" charset="-128"/>
              </a:rPr>
              <a:t>- se è definita </a:t>
            </a:r>
            <a:r>
              <a:rPr lang="it-IT" altLang="it-IT" sz="2400" i="1">
                <a:ea typeface="ＭＳ Ｐゴシック" panose="020B0600070205080204" pitchFamily="34" charset="-128"/>
              </a:rPr>
              <a:t>u=</a:t>
            </a:r>
            <a:r>
              <a:rPr lang="fr-FR" altLang="it-IT" sz="2400" i="1">
                <a:ea typeface="ＭＳ Ｐゴシック" panose="020B0600070205080204" pitchFamily="34" charset="-128"/>
              </a:rPr>
              <a:t>λ</a:t>
            </a:r>
            <a:r>
              <a:rPr lang="it-IT" altLang="it-IT" sz="2400" i="1">
                <a:ea typeface="ＭＳ Ｐゴシック" panose="020B0600070205080204" pitchFamily="34" charset="-128"/>
              </a:rPr>
              <a:t>(q, J), la funzione che fornisce l’uscita u che si ottiene applicando alla macchina la sequenza di ingressi J a partire da uno “stato iniziale” q.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Se la funzione di uscita </a:t>
            </a:r>
            <a:r>
              <a:rPr lang="fr-FR" altLang="it-IT" sz="2400" i="1">
                <a:ea typeface="ＭＳ Ｐゴシック" panose="020B0600070205080204" pitchFamily="34" charset="-128"/>
              </a:rPr>
              <a:t>λ</a:t>
            </a:r>
            <a:r>
              <a:rPr lang="it-IT" altLang="it-IT" sz="2400">
                <a:ea typeface="ＭＳ Ｐゴシック" panose="020B0600070205080204" pitchFamily="34" charset="-128"/>
              </a:rPr>
              <a:t> è definita ovunque, la macchina si dice </a:t>
            </a: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completa</a:t>
            </a:r>
            <a:r>
              <a:rPr lang="it-IT" altLang="it-IT" sz="2400">
                <a:solidFill>
                  <a:srgbClr val="FF6600"/>
                </a:solidFill>
                <a:ea typeface="ＭＳ Ｐゴシック" panose="020B0600070205080204" pitchFamily="34" charset="-128"/>
              </a:rPr>
              <a:t>, </a:t>
            </a: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incompleta</a:t>
            </a:r>
            <a:r>
              <a:rPr lang="it-IT" altLang="it-IT" sz="2400">
                <a:solidFill>
                  <a:schemeClr val="hlink"/>
                </a:solidFill>
                <a:ea typeface="ＭＳ Ｐゴシック" panose="020B0600070205080204" pitchFamily="34" charset="-128"/>
              </a:rPr>
              <a:t> altrimenti</a:t>
            </a:r>
          </a:p>
          <a:p>
            <a:pPr eaLnBrk="1" hangingPunct="1"/>
            <a:r>
              <a:rPr lang="it-IT" altLang="it-IT" sz="2400" b="1">
                <a:solidFill>
                  <a:schemeClr val="hlink"/>
                </a:solidFill>
                <a:ea typeface="ＭＳ Ｐゴシック" panose="020B0600070205080204" pitchFamily="34" charset="-128"/>
              </a:rPr>
              <a:t>Per le macchine incomplete esistono sequenze non applicabili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Sequenza </a:t>
            </a:r>
            <a:r>
              <a:rPr lang="it-IT" altLang="it-IT" sz="2000" i="1">
                <a:ea typeface="ＭＳ Ｐゴシック" panose="020B0600070205080204" pitchFamily="34" charset="-128"/>
              </a:rPr>
              <a:t>J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2000" i="1">
                <a:ea typeface="ＭＳ Ｐゴシック" panose="020B0600070205080204" pitchFamily="34" charset="-128"/>
              </a:rPr>
              <a:t> non applicabile</a:t>
            </a:r>
            <a:r>
              <a:rPr lang="it-IT" altLang="it-IT" sz="2000">
                <a:ea typeface="ＭＳ Ｐゴシック" panose="020B0600070205080204" pitchFamily="34" charset="-128"/>
              </a:rPr>
              <a:t> in q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: </a:t>
            </a:r>
            <a:r>
              <a:rPr lang="fr-FR" altLang="it-IT" sz="2000" i="1">
                <a:ea typeface="ＭＳ Ｐゴシック" panose="020B0600070205080204" pitchFamily="34" charset="-128"/>
              </a:rPr>
              <a:t>λ</a:t>
            </a:r>
            <a:r>
              <a:rPr lang="it-IT" altLang="it-IT" sz="2000">
                <a:ea typeface="ＭＳ Ｐゴシック" panose="020B0600070205080204" pitchFamily="34" charset="-128"/>
              </a:rPr>
              <a:t> non definita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600">
                <a:ea typeface="ＭＳ Ｐゴシック" panose="020B0600070205080204" pitchFamily="34" charset="-128"/>
              </a:rPr>
              <a:t>Potrebbe essere applicabile una sequenza più lunga</a:t>
            </a:r>
          </a:p>
          <a:p>
            <a:pPr eaLnBrk="1" hangingPunct="1"/>
            <a:endParaRPr lang="it-IT" altLang="it-IT" sz="2400" b="1">
              <a:solidFill>
                <a:srgbClr val="FF66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advTm="53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egnaposto numero diapositiva 3">
            <a:extLst>
              <a:ext uri="{FF2B5EF4-FFF2-40B4-BE49-F238E27FC236}">
                <a16:creationId xmlns:a16="http://schemas.microsoft.com/office/drawing/2014/main" id="{455778FA-040D-C413-0E3D-0760F3654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050C9C-6E89-494F-87C7-95D10189B25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588E2ECF-D411-5031-9F53-AEBA339A0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CB6853B-4F83-AB72-1164-12B44A297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525588"/>
            <a:ext cx="8459788" cy="3667125"/>
          </a:xfrm>
        </p:spPr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Occorre formalizzare il fatto che due macchine possano avere lo stesso funzionamento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800">
                <a:ea typeface="ＭＳ Ｐゴシック" panose="020B0600070205080204" pitchFamily="34" charset="-128"/>
              </a:rPr>
              <a:t>	</a:t>
            </a:r>
            <a:r>
              <a:rPr lang="it-IT" altLang="it-IT" sz="2800">
                <a:ea typeface="ＭＳ Ｐゴシック" panose="020B0600070205080204" pitchFamily="34" charset="-128"/>
                <a:sym typeface="Wingdings" panose="05000000000000000000" pitchFamily="2" charset="2"/>
              </a:rPr>
              <a:t> reagire nello stesso modo (con le stesse uscite) alle stesse sequenze di ingressi</a:t>
            </a:r>
          </a:p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Definizione di </a:t>
            </a:r>
            <a:r>
              <a:rPr lang="it-IT" altLang="it-IT" sz="2800" b="1" i="1">
                <a:ea typeface="ＭＳ Ｐゴシック" panose="020B0600070205080204" pitchFamily="34" charset="-128"/>
              </a:rPr>
              <a:t>stati equivalenti </a:t>
            </a:r>
            <a:r>
              <a:rPr lang="it-IT" altLang="it-IT" sz="2800">
                <a:ea typeface="ＭＳ Ｐゴシック" panose="020B0600070205080204" pitchFamily="34" charset="-128"/>
              </a:rPr>
              <a:t>in macchine complete</a:t>
            </a:r>
            <a:r>
              <a:rPr lang="it-IT" altLang="it-IT" sz="2800" i="1">
                <a:ea typeface="ＭＳ Ｐゴシック" panose="020B0600070205080204" pitchFamily="34" charset="-128"/>
              </a:rPr>
              <a:t>:</a:t>
            </a:r>
          </a:p>
          <a:p>
            <a:pPr lvl="1" eaLnBrk="1" hangingPunct="1"/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Producono la stessa sequenza di uscite per qualsiasi sequenza di ingressi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egnaposto numero diapositiva 3">
            <a:extLst>
              <a:ext uri="{FF2B5EF4-FFF2-40B4-BE49-F238E27FC236}">
                <a16:creationId xmlns:a16="http://schemas.microsoft.com/office/drawing/2014/main" id="{59B64D88-4A81-36BB-F0BE-1D09153F7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F992E4-A32A-40E8-B930-A2E1BA7251AB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85F98271-81E3-8BB1-DF9D-B28A9FF0A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3072E9C-E827-8BE3-6662-DF35C8083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54150"/>
            <a:ext cx="8459787" cy="4033838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Un modo per riconoscere stati equivalenti (fondamentale negli algoritmi che vedremo) è usare la proprietà ricorsiva degli stati equivalenti: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i="1">
                <a:ea typeface="ＭＳ Ｐゴシック" panose="020B0600070205080204" pitchFamily="34" charset="-128"/>
              </a:rPr>
              <a:t>	</a:t>
            </a:r>
            <a:r>
              <a:rPr lang="it-IT" altLang="it-IT" b="1" i="1">
                <a:solidFill>
                  <a:srgbClr val="FF6600"/>
                </a:solidFill>
                <a:ea typeface="ＭＳ Ｐゴシック" panose="020B0600070205080204" pitchFamily="34" charset="-128"/>
              </a:rPr>
              <a:t>Due stati sono equivalenti se lo sono tutte le possibili coppie di </a:t>
            </a:r>
            <a:r>
              <a:rPr lang="it-IT" altLang="it-IT" b="1" i="1" u="sng">
                <a:solidFill>
                  <a:srgbClr val="FF6600"/>
                </a:solidFill>
                <a:ea typeface="ＭＳ Ｐゴシック" panose="020B0600070205080204" pitchFamily="34" charset="-128"/>
              </a:rPr>
              <a:t>stati successivi</a:t>
            </a:r>
            <a:r>
              <a:rPr lang="it-IT" altLang="it-IT" b="1" i="1">
                <a:solidFill>
                  <a:srgbClr val="FF6600"/>
                </a:solidFill>
                <a:ea typeface="ＭＳ Ｐゴシック" panose="020B0600070205080204" pitchFamily="34" charset="-128"/>
              </a:rPr>
              <a:t>, e sono uguali tutte le possibili </a:t>
            </a:r>
            <a:r>
              <a:rPr lang="it-IT" altLang="it-IT" b="1" i="1" u="sng">
                <a:solidFill>
                  <a:srgbClr val="FF6600"/>
                </a:solidFill>
                <a:ea typeface="ＭＳ Ｐゴシック" panose="020B0600070205080204" pitchFamily="34" charset="-128"/>
              </a:rPr>
              <a:t>uscite successive.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1F9AA28-A39C-4095-C6CF-00062D8B6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800">
                <a:ea typeface="ＭＳ Ｐゴシック" panose="020B0600070205080204" pitchFamily="34" charset="-128"/>
              </a:rPr>
              <a:t>Equivalenza: riassumendo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5EFA0D5E-3ED8-6C96-3A1A-A8729C9792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1650" y="1311275"/>
            <a:ext cx="8431213" cy="3667125"/>
          </a:xfrm>
        </p:spPr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Concetto di equivalenza: </a:t>
            </a:r>
            <a:r>
              <a:rPr lang="it-IT" altLang="it-IT" sz="2800" u="sng">
                <a:ea typeface="ＭＳ Ｐゴシック" panose="020B0600070205080204" pitchFamily="34" charset="-128"/>
              </a:rPr>
              <a:t>avere lo stesso funzionamento “esterno”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Reagire nello stesso modo (con le stesse uscite) alle stesse sequenze di ingressi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Due stati sono equivalenti se, per ciascun ingresso:</a:t>
            </a:r>
          </a:p>
          <a:p>
            <a:pPr lvl="2" eaLnBrk="1" hangingPunct="1">
              <a:buClr>
                <a:schemeClr val="bg2"/>
              </a:buClr>
              <a:buSzPct val="75000"/>
            </a:pPr>
            <a:r>
              <a:rPr lang="it-IT" altLang="it-IT" sz="1800">
                <a:ea typeface="ＭＳ Ｐゴシック" panose="020B0600070205080204" pitchFamily="34" charset="-128"/>
                <a:sym typeface="Wingdings" panose="05000000000000000000" pitchFamily="2" charset="2"/>
              </a:rPr>
              <a:t>sono eguali le uscite</a:t>
            </a:r>
          </a:p>
          <a:p>
            <a:pPr lvl="2" eaLnBrk="1" hangingPunct="1">
              <a:buClr>
                <a:schemeClr val="bg2"/>
              </a:buClr>
              <a:buSzPct val="75000"/>
            </a:pPr>
            <a:r>
              <a:rPr lang="it-IT" altLang="it-IT" sz="1800">
                <a:ea typeface="ＭＳ Ｐゴシック" panose="020B0600070205080204" pitchFamily="34" charset="-128"/>
                <a:sym typeface="Wingdings" panose="05000000000000000000" pitchFamily="2" charset="2"/>
              </a:rPr>
              <a:t>sono equivalenti gli stati successivi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</a:rPr>
              <a:t>Definizione di </a:t>
            </a:r>
            <a:r>
              <a:rPr lang="it-IT" altLang="it-IT" sz="2400" i="1">
                <a:ea typeface="ＭＳ Ｐゴシック" panose="020B0600070205080204" pitchFamily="34" charset="-128"/>
              </a:rPr>
              <a:t>stati equivalenti </a:t>
            </a:r>
            <a:r>
              <a:rPr lang="it-IT" altLang="it-IT" sz="2400">
                <a:ea typeface="ＭＳ Ｐゴシック" panose="020B0600070205080204" pitchFamily="34" charset="-128"/>
              </a:rPr>
              <a:t>in macchine </a:t>
            </a: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complete</a:t>
            </a:r>
            <a:r>
              <a:rPr lang="it-IT" altLang="it-IT" sz="2400" i="1">
                <a:ea typeface="ＭＳ Ｐゴシック" panose="020B0600070205080204" pitchFamily="34" charset="-128"/>
              </a:rPr>
              <a:t>:</a:t>
            </a:r>
          </a:p>
          <a:p>
            <a:pPr lvl="2" eaLnBrk="1" hangingPunct="1"/>
            <a:r>
              <a:rPr lang="it-IT" altLang="it-IT" sz="1800">
                <a:ea typeface="ＭＳ Ｐゴシック" panose="020B0600070205080204" pitchFamily="34" charset="-128"/>
              </a:rPr>
              <a:t>Producono la stessa sequenza di uscite per qualsiasi sequenza di ingressi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egnaposto numero diapositiva 3">
            <a:extLst>
              <a:ext uri="{FF2B5EF4-FFF2-40B4-BE49-F238E27FC236}">
                <a16:creationId xmlns:a16="http://schemas.microsoft.com/office/drawing/2014/main" id="{5F3E21FB-CB4B-33AA-5B56-DEBCCE1B47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E40F50-E080-4800-AECB-2E2F56FBDCCF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7E604E8A-CC36-D678-1149-97E5D1CB5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AAA83CB-8A3C-E3FA-8130-5C2A1CBE1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 due stati possono appartenere anche non alla stessa macchina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Due macchine </a:t>
            </a:r>
            <a:r>
              <a:rPr lang="it-IT" altLang="it-IT" i="1">
                <a:ea typeface="ＭＳ Ｐゴシック" panose="020B0600070205080204" pitchFamily="34" charset="-128"/>
              </a:rPr>
              <a:t>complete</a:t>
            </a:r>
            <a:r>
              <a:rPr lang="it-IT" altLang="it-IT">
                <a:ea typeface="ＭＳ Ｐゴシック" panose="020B0600070205080204" pitchFamily="34" charset="-128"/>
              </a:rPr>
              <a:t> M e M' sono equivalenti se per ciascuno stato q di M esiste almeno uno stato q’ di M’ ad esso equivalente e, viceversa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egnaposto numero diapositiva 3">
            <a:extLst>
              <a:ext uri="{FF2B5EF4-FFF2-40B4-BE49-F238E27FC236}">
                <a16:creationId xmlns:a16="http://schemas.microsoft.com/office/drawing/2014/main" id="{DD09E305-F7FD-DE78-9CE3-062F16F87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D9CD58-EB4F-4FA8-83E0-F350D871F5D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4EE501AF-3074-37E0-7DD4-1C11F7EDC7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8569325" cy="503238"/>
          </a:xfrm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 e macchine incomplete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7501BCF-C84F-C383-88D0-ACE193EFF5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La definizione precedente non può essere applicata così com’è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	</a:t>
            </a:r>
            <a:r>
              <a:rPr lang="it-IT" altLang="it-IT">
                <a:ea typeface="ＭＳ Ｐゴシック" panose="020B0600070205080204" pitchFamily="34" charset="-128"/>
                <a:sym typeface="Wingdings" panose="05000000000000000000" pitchFamily="2" charset="2"/>
              </a:rPr>
              <a:t> non tutte le possibili sequenze sono applicabili a tutti gli stati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introducono i concetti di: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b="1" i="1">
                <a:solidFill>
                  <a:srgbClr val="FF6600"/>
                </a:solidFill>
                <a:ea typeface="ＭＳ Ｐゴシック" panose="020B0600070205080204" pitchFamily="34" charset="-128"/>
              </a:rPr>
              <a:t>Compatibilità</a:t>
            </a:r>
            <a:r>
              <a:rPr lang="it-IT" altLang="it-IT" i="1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</a:rPr>
              <a:t>tra stati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b="1" i="1">
                <a:solidFill>
                  <a:srgbClr val="FF6600"/>
                </a:solidFill>
                <a:ea typeface="ＭＳ Ｐゴシック" panose="020B0600070205080204" pitchFamily="34" charset="-128"/>
              </a:rPr>
              <a:t>Inclusione</a:t>
            </a:r>
            <a:r>
              <a:rPr lang="it-IT" altLang="it-IT">
                <a:ea typeface="ＭＳ Ｐゴシック" panose="020B0600070205080204" pitchFamily="34" charset="-128"/>
              </a:rPr>
              <a:t> tra macchine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egnaposto numero diapositiva 3">
            <a:extLst>
              <a:ext uri="{FF2B5EF4-FFF2-40B4-BE49-F238E27FC236}">
                <a16:creationId xmlns:a16="http://schemas.microsoft.com/office/drawing/2014/main" id="{AFFCC272-27FF-52DF-2E5E-9DA7B3B93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FE98EB-0431-4985-8321-9183BAF79713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252E2D8-8EB1-9E7A-A078-9D505AE0FD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Equivalenza: ricapitolando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9CB2A49-4598-FEB8-CC71-738D84B00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11300"/>
            <a:ext cx="8748712" cy="42846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Stati equivalenti</a:t>
            </a:r>
            <a:r>
              <a:rPr lang="it-IT" altLang="it-IT" b="1">
                <a:ea typeface="ＭＳ Ｐゴシック" panose="020B0600070205080204" pitchFamily="34" charset="-128"/>
              </a:rPr>
              <a:t> </a:t>
            </a:r>
            <a:r>
              <a:rPr lang="it-IT" altLang="it-IT" sz="2000" b="1">
                <a:ea typeface="ＭＳ Ｐゴシック" panose="020B0600070205080204" pitchFamily="34" charset="-128"/>
              </a:rPr>
              <a:t>(macchine complete)</a:t>
            </a:r>
            <a:endParaRPr lang="it-IT" altLang="it-IT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Due  stati (della stessa macchina o di macchine diverse) sono equivalenti</a:t>
            </a:r>
            <a:r>
              <a:rPr lang="it-IT" altLang="it-IT" sz="1800" i="1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</a:rPr>
              <a:t>se producono la stessa sequenza di uscite per qualsiasi sequenza di ingressi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Definizione ricorsiva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1600">
                <a:ea typeface="ＭＳ Ｐゴシック" panose="020B0600070205080204" pitchFamily="34" charset="-128"/>
              </a:rPr>
              <a:t>Due stati sono equivalenti se, per ciascun ingresso sono eguali le uscite e sono equivalenti gli stati successivi</a:t>
            </a:r>
            <a:endParaRPr lang="it-IT" altLang="it-IT" sz="2400" b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Macchine equivalenti</a:t>
            </a:r>
            <a:r>
              <a:rPr lang="it-IT" altLang="it-IT" sz="1800">
                <a:ea typeface="ＭＳ Ｐゴシック" panose="020B0600070205080204" pitchFamily="34" charset="-128"/>
              </a:rPr>
              <a:t> </a:t>
            </a:r>
            <a:r>
              <a:rPr lang="it-IT" altLang="it-IT" sz="2000" b="1">
                <a:ea typeface="ＭＳ Ｐゴシック" panose="020B0600070205080204" pitchFamily="34" charset="-128"/>
              </a:rPr>
              <a:t>(complete)</a:t>
            </a: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Due macchine complete M e M' sono equivalenti se per ciascuno stato q di M esiste almeno uno stato q’ di M’ ad esso equivalente e viceversa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Macchine equivalenti</a:t>
            </a:r>
            <a:r>
              <a:rPr lang="it-IT" altLang="it-IT" sz="1800">
                <a:ea typeface="ＭＳ Ｐゴシック" panose="020B0600070205080204" pitchFamily="34" charset="-128"/>
              </a:rPr>
              <a:t> </a:t>
            </a:r>
            <a:r>
              <a:rPr lang="it-IT" altLang="it-IT" sz="2000" b="1">
                <a:ea typeface="ＭＳ Ｐゴシック" panose="020B0600070205080204" pitchFamily="34" charset="-128"/>
              </a:rPr>
              <a:t>(incomplete):</a:t>
            </a:r>
            <a:r>
              <a:rPr lang="it-IT" altLang="it-IT" sz="2000">
                <a:ea typeface="ＭＳ Ｐゴシック" panose="020B0600070205080204" pitchFamily="34" charset="-128"/>
              </a:rPr>
              <a:t> n</a:t>
            </a:r>
            <a:r>
              <a:rPr lang="it-IT" altLang="it-IT" sz="1800">
                <a:ea typeface="ＭＳ Ｐゴシック" panose="020B0600070205080204" pitchFamily="34" charset="-128"/>
              </a:rPr>
              <a:t>on tutte le sequenze di ingresso sono applicabili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it-IT" altLang="it-IT" sz="2000">
                <a:ea typeface="ＭＳ Ｐゴシック" panose="020B0600070205080204" pitchFamily="34" charset="-128"/>
              </a:rPr>
              <a:t>il concetto è sostituito da quelli di </a:t>
            </a:r>
            <a:r>
              <a:rPr lang="it-IT" altLang="it-IT" sz="1800" b="1">
                <a:ea typeface="ＭＳ Ｐゴシック" panose="020B0600070205080204" pitchFamily="34" charset="-128"/>
              </a:rPr>
              <a:t>Compatibilità </a:t>
            </a:r>
            <a:r>
              <a:rPr lang="it-IT" altLang="it-IT" sz="1800">
                <a:ea typeface="ＭＳ Ｐゴシック" panose="020B0600070205080204" pitchFamily="34" charset="-128"/>
              </a:rPr>
              <a:t>tra stati ed </a:t>
            </a:r>
            <a:r>
              <a:rPr lang="it-IT" altLang="it-IT" sz="1800" b="1">
                <a:ea typeface="ＭＳ Ｐゴシック" panose="020B0600070205080204" pitchFamily="34" charset="-128"/>
              </a:rPr>
              <a:t>Inclusione</a:t>
            </a:r>
            <a:r>
              <a:rPr lang="it-IT" altLang="it-IT" sz="1800">
                <a:ea typeface="ＭＳ Ｐゴシック" panose="020B0600070205080204" pitchFamily="34" charset="-128"/>
              </a:rPr>
              <a:t> tra macchine</a:t>
            </a:r>
          </a:p>
        </p:txBody>
      </p:sp>
    </p:spTree>
  </p:cSld>
  <p:clrMapOvr>
    <a:masterClrMapping/>
  </p:clrMapOvr>
  <p:transition advTm="86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egnaposto numero diapositiva 3">
            <a:extLst>
              <a:ext uri="{FF2B5EF4-FFF2-40B4-BE49-F238E27FC236}">
                <a16:creationId xmlns:a16="http://schemas.microsoft.com/office/drawing/2014/main" id="{7C974A20-C9A2-53F9-6146-58800DD2E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E9EA65-C7CE-4C9D-ADFE-C32C68A5227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DC0A3E6E-BC3E-2E6E-FAA8-6D20D0CAA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Compatibilità ed equivalenza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9147CEF-D800-5C36-CE56-872DD1A30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Nel caso di macchine complete le due definizioni coincidono.</a:t>
            </a:r>
          </a:p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Tra due macchine equivalenti, conviene scegliere quella con meno stati</a:t>
            </a:r>
          </a:p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  <a:sym typeface="Wingdings" panose="05000000000000000000" pitchFamily="2" charset="2"/>
              </a:rPr>
              <a:t> problema di minimizzazione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800">
                <a:ea typeface="ＭＳ Ｐゴシック" panose="020B0600070205080204" pitchFamily="34" charset="-128"/>
                <a:sym typeface="Wingdings" panose="05000000000000000000" pitchFamily="2" charset="2"/>
              </a:rPr>
              <a:t>	individuare la macchina con il minor numero di stati tra tutte le possibili macchine equivalenti</a:t>
            </a:r>
            <a:endParaRPr lang="it-IT" altLang="it-IT" sz="28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egnaposto numero diapositiva 3">
            <a:extLst>
              <a:ext uri="{FF2B5EF4-FFF2-40B4-BE49-F238E27FC236}">
                <a16:creationId xmlns:a16="http://schemas.microsoft.com/office/drawing/2014/main" id="{98B00736-D52A-3F1A-AFCE-8BD11F1DA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FCB697-0C1C-44F8-855F-E9FCF6155FCB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0FF65172-DC2D-A8FA-39C2-21A976C0E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Minimizzazione degli stati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E8EFB5A-C4F3-7010-4869-77251EBA31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727200"/>
            <a:ext cx="8748712" cy="4241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Minimizzazione e classi di equivalenza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it-IT" altLang="it-IT" sz="2000">
                <a:ea typeface="ＭＳ Ｐゴシック" panose="020B0600070205080204" pitchFamily="34" charset="-128"/>
              </a:rPr>
              <a:t>Data una macchina M se ne vuole trovare una equivalente, M’, con un numero minimo di stati.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 b="1" u="sng">
                <a:ea typeface="ＭＳ Ｐゴシック" panose="020B0600070205080204" pitchFamily="34" charset="-128"/>
              </a:rPr>
              <a:t>La famiglia delle classi di equivalenza degli stati di M è la soluzione</a:t>
            </a:r>
            <a:r>
              <a:rPr lang="it-IT" altLang="it-IT" sz="2000">
                <a:ea typeface="ＭＳ Ｐゴシック" panose="020B0600070205080204" pitchFamily="34" charset="-128"/>
              </a:rPr>
              <a:t>: M’ ha uno stato per ogni elemento C della famiglia con: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uscita:</a:t>
            </a:r>
            <a:r>
              <a:rPr lang="it-IT" altLang="it-IT" sz="2000">
                <a:ea typeface="ＭＳ Ｐゴシック" panose="020B0600070205080204" pitchFamily="34" charset="-128"/>
              </a:rPr>
              <a:t> pari alla uscita degli elementi di C, tutti eguali per essere questi equivalenti fra loro,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stato seguente:</a:t>
            </a:r>
            <a:r>
              <a:rPr lang="it-IT" altLang="it-IT" sz="2000">
                <a:ea typeface="ＭＳ Ｐゴシック" panose="020B0600070205080204" pitchFamily="34" charset="-128"/>
              </a:rPr>
              <a:t> quello determinato da C stesso; essendo infatti gli stati di C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equivalenti fra loro, devono avere tutti per seguenti stati equivalenti e quindi appartenere ad un unico elemento C’ della famiglia delle classi di equivalenza.</a:t>
            </a:r>
          </a:p>
          <a:p>
            <a:pPr lvl="1" eaLnBrk="1" hangingPunct="1">
              <a:lnSpc>
                <a:spcPct val="8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solidFill>
                  <a:srgbClr val="FF6600"/>
                </a:solidFill>
                <a:ea typeface="ＭＳ Ｐゴシック" panose="020B0600070205080204" pitchFamily="34" charset="-128"/>
              </a:rPr>
              <a:t>M’ ha un numero di stati minimo, per le proprietà delle classi di equivalenza</a:t>
            </a:r>
            <a:r>
              <a:rPr lang="it-IT" altLang="it-IT" sz="2000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advTm="9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egnaposto numero diapositiva 3">
            <a:extLst>
              <a:ext uri="{FF2B5EF4-FFF2-40B4-BE49-F238E27FC236}">
                <a16:creationId xmlns:a16="http://schemas.microsoft.com/office/drawing/2014/main" id="{53D9F641-3382-3DAE-8B07-D74C92C41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E58632-FA63-4BC6-911F-595F0D1260C4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AEAB00B6-61A5-8308-070F-AB81C9C26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Minimizzazione degli stati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8111245-C289-9125-0EC7-40A5E9E16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44688"/>
            <a:ext cx="8748712" cy="35083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Minimizzazione e classi di compatibilità massime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Per le macchine incomplete, proprietà analoghe a quelle delle classi di equivalenza, ma più complesse, hanno le classi di compatibilità massime </a:t>
            </a:r>
          </a:p>
          <a:p>
            <a:pPr eaLnBrk="1" hangingPunct="1">
              <a:lnSpc>
                <a:spcPct val="8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Si procede analogamente, con le seguenti peculiarità: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M’ include M (non è equivalente)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La soluzione potrebbe non essere minima, ma in generale presenta una macchina a “stati ridotti”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Si possono avere più soluzioni, potendo uno “stato seguente” essere incluso in più elementi distinti della famiglia di compatibilità massima</a:t>
            </a:r>
          </a:p>
          <a:p>
            <a:pPr lvl="1" eaLnBrk="1" hangingPunct="1">
              <a:lnSpc>
                <a:spcPct val="8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advTm="83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egnaposto numero diapositiva 3">
            <a:extLst>
              <a:ext uri="{FF2B5EF4-FFF2-40B4-BE49-F238E27FC236}">
                <a16:creationId xmlns:a16="http://schemas.microsoft.com/office/drawing/2014/main" id="{F91999DC-5CC1-0963-1A52-6762D183A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BA74F9-55FA-494C-956A-2072D0CFC2C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42D323F3-878A-C4CA-401F-2EB99B2CD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Problema della Minimizzazione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91C2736-DC65-DEA9-C8E5-B298DEAAB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Partendo da una macchina </a:t>
            </a:r>
            <a:r>
              <a:rPr lang="it-IT" altLang="it-IT" i="1">
                <a:ea typeface="ＭＳ Ｐゴシック" panose="020B0600070205080204" pitchFamily="34" charset="-128"/>
              </a:rPr>
              <a:t>M(Q,I,U,τ,ω)</a:t>
            </a:r>
            <a:r>
              <a:rPr lang="it-IT" altLang="it-IT">
                <a:ea typeface="ＭＳ Ｐゴシック" panose="020B0600070205080204" pitchFamily="34" charset="-128"/>
              </a:rPr>
              <a:t> , ne vogliamo trovare a macchina </a:t>
            </a:r>
            <a:r>
              <a:rPr lang="it-IT" altLang="it-IT" i="1">
                <a:ea typeface="ＭＳ Ｐゴシック" panose="020B0600070205080204" pitchFamily="34" charset="-128"/>
              </a:rPr>
              <a:t>M’(Q’,I,U,τ’,ω’)</a:t>
            </a:r>
            <a:r>
              <a:rPr lang="it-IT" altLang="it-IT">
                <a:ea typeface="ＭＳ Ｐゴシック" panose="020B0600070205080204" pitchFamily="34" charset="-128"/>
              </a:rPr>
              <a:t> equivalente ad M e con il minor numero di stati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Partiamo dalla famiglia di insiemi di stati compatibili massimi </a:t>
            </a:r>
            <a:r>
              <a:rPr lang="it-IT" altLang="it-IT" i="1">
                <a:ea typeface="ＭＳ Ｐゴシック" panose="020B0600070205080204" pitchFamily="34" charset="-128"/>
              </a:rPr>
              <a:t>F=(S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1</a:t>
            </a:r>
            <a:r>
              <a:rPr lang="it-IT" altLang="it-IT" i="1">
                <a:ea typeface="ＭＳ Ｐゴシック" panose="020B0600070205080204" pitchFamily="34" charset="-128"/>
              </a:rPr>
              <a:t>,S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2</a:t>
            </a:r>
            <a:r>
              <a:rPr lang="it-IT" altLang="it-IT" i="1">
                <a:ea typeface="ＭＳ Ｐゴシック" panose="020B0600070205080204" pitchFamily="34" charset="-128"/>
              </a:rPr>
              <a:t>,...,S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n</a:t>
            </a:r>
            <a:r>
              <a:rPr lang="it-IT" altLang="it-IT" i="1">
                <a:ea typeface="ＭＳ Ｐゴシック" panose="020B0600070205080204" pitchFamily="34" charset="-128"/>
              </a:rPr>
              <a:t>)</a:t>
            </a: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egnaposto numero diapositiva 3">
            <a:extLst>
              <a:ext uri="{FF2B5EF4-FFF2-40B4-BE49-F238E27FC236}">
                <a16:creationId xmlns:a16="http://schemas.microsoft.com/office/drawing/2014/main" id="{E101F996-166E-0B9B-DC7D-CA9E9E9A8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800522-3AB5-4804-A7E1-A7DF47747B71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C0162F62-FF99-8DFA-3DC6-3899269BD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Problema della Minimizzazione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5F716E3-3C2E-2A8A-864D-568744F2F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La F gode delle seguenti proprietà, essenziali nei metodi di minimizzazione: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Gli elementi S di F sono disgiunti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Gli elementi S di F coprono l’insieme degli stati Q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Tutti gli stati di un elemento S di F portano alla stessa uscita (eventualmente non definita)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F è chiusa: da due stati di uno stesso elemento S di F si arriva a due stati che appartengono ad una stessa S’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Ricerchiamo la </a:t>
            </a:r>
            <a:r>
              <a:rPr lang="it-IT" altLang="it-IT" sz="2400" i="1">
                <a:ea typeface="ＭＳ Ｐゴシック" panose="020B0600070205080204" pitchFamily="34" charset="-128"/>
              </a:rPr>
              <a:t>M'(F,I,U,τ’,ω')</a:t>
            </a:r>
            <a:r>
              <a:rPr lang="it-IT" altLang="it-IT" sz="24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	</a:t>
            </a:r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 M’ ha un numero di stati non superiore a M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egnaposto numero diapositiva 3">
            <a:extLst>
              <a:ext uri="{FF2B5EF4-FFF2-40B4-BE49-F238E27FC236}">
                <a16:creationId xmlns:a16="http://schemas.microsoft.com/office/drawing/2014/main" id="{F7282281-2DBB-BC6D-B31F-BB86029EA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EE07CF-8A1A-4AD1-A07A-9CC801270E04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C8B3F148-DB8F-30D5-CB02-304140B07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Ricerca della famiglia F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7662E66-AE6B-8C2C-3D9D-54DE05F90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Algoritmo del partizionamento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Metodo tabellare di Paull-Unger </a:t>
            </a:r>
          </a:p>
          <a:p>
            <a:pPr eaLnBrk="1" hangingPunct="1">
              <a:lnSpc>
                <a:spcPct val="90000"/>
              </a:lnSpc>
            </a:pP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Procedono per “eliminazione”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Partono da una presunta F (inizialmente coincidente con Q) e cercano di individuare incompatibilità fin quando è possibile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egnaposto numero diapositiva 3">
            <a:extLst>
              <a:ext uri="{FF2B5EF4-FFF2-40B4-BE49-F238E27FC236}">
                <a16:creationId xmlns:a16="http://schemas.microsoft.com/office/drawing/2014/main" id="{120F5CA0-9D9B-4EDD-1C0A-19DBF13EE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85024-3861-4B77-82BF-F61D306367F9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CF7AC743-388D-390A-1AC6-78D100B60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Algoritmo del partizionamento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CE8D879-8FDF-73FB-E6B5-41A40F678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Si individuano gli stati incompatibili rispetto alle uscite per ciascun ingresso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Le partizioni individuate si esaminano rispetto allo stato prossimo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Si itera fintantoché tutte le partizioni non verificano la definizione di compatibilità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egnaposto numero diapositiva 3">
            <a:extLst>
              <a:ext uri="{FF2B5EF4-FFF2-40B4-BE49-F238E27FC236}">
                <a16:creationId xmlns:a16="http://schemas.microsoft.com/office/drawing/2014/main" id="{E24676FB-0D1A-384D-997A-538D71252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B8D2FC8-2EA1-4F5B-9D92-BC1B4A272463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F82108E5-3573-B2CD-C202-949E52C59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Algoritmo del partizionamento</a:t>
            </a:r>
          </a:p>
        </p:txBody>
      </p:sp>
      <p:pic>
        <p:nvPicPr>
          <p:cNvPr id="37891" name="Picture 4">
            <a:extLst>
              <a:ext uri="{FF2B5EF4-FFF2-40B4-BE49-F238E27FC236}">
                <a16:creationId xmlns:a16="http://schemas.microsoft.com/office/drawing/2014/main" id="{6CCA2A52-F958-2DBA-15E4-2C9F209CF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" t="67563" r="41159" b="15187"/>
          <a:stretch>
            <a:fillRect/>
          </a:stretch>
        </p:blipFill>
        <p:spPr bwMode="auto">
          <a:xfrm>
            <a:off x="2549525" y="3816350"/>
            <a:ext cx="7062788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>
            <a:extLst>
              <a:ext uri="{FF2B5EF4-FFF2-40B4-BE49-F238E27FC236}">
                <a16:creationId xmlns:a16="http://schemas.microsoft.com/office/drawing/2014/main" id="{C82765CA-7F92-848E-36F1-1F78B3853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" t="25958" r="41159" b="57355"/>
          <a:stretch>
            <a:fillRect/>
          </a:stretch>
        </p:blipFill>
        <p:spPr bwMode="auto">
          <a:xfrm>
            <a:off x="2549525" y="2303463"/>
            <a:ext cx="7062788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6">
            <a:extLst>
              <a:ext uri="{FF2B5EF4-FFF2-40B4-BE49-F238E27FC236}">
                <a16:creationId xmlns:a16="http://schemas.microsoft.com/office/drawing/2014/main" id="{C142D42E-14E1-CBA3-766E-C307E3067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7" t="27417" r="62904" b="41583"/>
          <a:stretch>
            <a:fillRect/>
          </a:stretch>
        </p:blipFill>
        <p:spPr bwMode="auto">
          <a:xfrm>
            <a:off x="0" y="1727200"/>
            <a:ext cx="2287588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egnaposto numero diapositiva 3">
            <a:extLst>
              <a:ext uri="{FF2B5EF4-FFF2-40B4-BE49-F238E27FC236}">
                <a16:creationId xmlns:a16="http://schemas.microsoft.com/office/drawing/2014/main" id="{59E56E4C-37E6-62D3-41E9-F47FA3588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887540-04B0-42D7-8B12-8B5E5CC179F6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940C345D-844D-93E1-3EFF-3F52CA1C9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Metodo di Paull-Unger 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D920779-89BF-61DD-EC4E-E2CFEEE7A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Riorganizza il procedimento visto prima in forma di matrice diagonale</a:t>
            </a: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C4B33E43-0494-2BCE-9B6C-34C01201B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1" t="49374" r="59375" b="25104"/>
          <a:stretch>
            <a:fillRect/>
          </a:stretch>
        </p:blipFill>
        <p:spPr bwMode="auto">
          <a:xfrm>
            <a:off x="2627313" y="2952750"/>
            <a:ext cx="3743325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Oval 5">
            <a:extLst>
              <a:ext uri="{FF2B5EF4-FFF2-40B4-BE49-F238E27FC236}">
                <a16:creationId xmlns:a16="http://schemas.microsoft.com/office/drawing/2014/main" id="{67288E08-EC94-53EE-90D1-50598F86E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32250"/>
            <a:ext cx="504825" cy="431800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38918" name="Line 6">
            <a:extLst>
              <a:ext uri="{FF2B5EF4-FFF2-40B4-BE49-F238E27FC236}">
                <a16:creationId xmlns:a16="http://schemas.microsoft.com/office/drawing/2014/main" id="{F9977182-B7BE-20EF-C6DB-57E011F5A9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48263" y="3744913"/>
            <a:ext cx="1584325" cy="4318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8919" name="Line 7">
            <a:extLst>
              <a:ext uri="{FF2B5EF4-FFF2-40B4-BE49-F238E27FC236}">
                <a16:creationId xmlns:a16="http://schemas.microsoft.com/office/drawing/2014/main" id="{928F44BA-3804-D7DB-37CF-C3523C6C68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0563" y="2879725"/>
            <a:ext cx="1943100" cy="86518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8920" name="Line 8">
            <a:extLst>
              <a:ext uri="{FF2B5EF4-FFF2-40B4-BE49-F238E27FC236}">
                <a16:creationId xmlns:a16="http://schemas.microsoft.com/office/drawing/2014/main" id="{3FBDF094-4BFB-F704-00E4-B60FE2F886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3384550"/>
            <a:ext cx="1008063" cy="1008063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8921" name="Line 9">
            <a:extLst>
              <a:ext uri="{FF2B5EF4-FFF2-40B4-BE49-F238E27FC236}">
                <a16:creationId xmlns:a16="http://schemas.microsoft.com/office/drawing/2014/main" id="{965B3CF1-155F-498A-2B14-1BA1EC1885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4608513"/>
            <a:ext cx="1296988" cy="8636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8922" name="Text Box 10">
            <a:extLst>
              <a:ext uri="{FF2B5EF4-FFF2-40B4-BE49-F238E27FC236}">
                <a16:creationId xmlns:a16="http://schemas.microsoft.com/office/drawing/2014/main" id="{D935AD5E-F93B-B49C-5C01-F29D60042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381635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stati</a:t>
            </a:r>
          </a:p>
        </p:txBody>
      </p:sp>
      <p:sp>
        <p:nvSpPr>
          <p:cNvPr id="38923" name="Text Box 12">
            <a:extLst>
              <a:ext uri="{FF2B5EF4-FFF2-40B4-BE49-F238E27FC236}">
                <a16:creationId xmlns:a16="http://schemas.microsoft.com/office/drawing/2014/main" id="{72037706-C48B-86B8-3B93-32EC1AE8A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592388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incompatibilità</a:t>
            </a:r>
          </a:p>
        </p:txBody>
      </p:sp>
      <p:sp>
        <p:nvSpPr>
          <p:cNvPr id="38924" name="Text Box 13">
            <a:extLst>
              <a:ext uri="{FF2B5EF4-FFF2-40B4-BE49-F238E27FC236}">
                <a16:creationId xmlns:a16="http://schemas.microsoft.com/office/drawing/2014/main" id="{4643D73D-AE06-4F9D-F52D-C6D3C231C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600450"/>
            <a:ext cx="2663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Possibili coppie di stati prossimi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egnaposto numero diapositiva 3">
            <a:extLst>
              <a:ext uri="{FF2B5EF4-FFF2-40B4-BE49-F238E27FC236}">
                <a16:creationId xmlns:a16="http://schemas.microsoft.com/office/drawing/2014/main" id="{571DC4A5-3888-18DD-F36F-7DFB792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CE49CB-EAC0-47CD-8E6A-F2A576508342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063FF9DD-5B05-A430-86C2-5CC1477F4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Metodo di Paull-Unger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413BD33-54D5-612E-2EFD-5E85CAB0A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marcano come incompatibili le coppie di stati che portano ad uscite differenti per almeno un ingresso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indicano le coppie di possibili stati prossimi in ogni casella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continua iterativamente il procedimento partizionando rispetto agli stati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3C13798E-49B3-BF57-B016-F17FDB60F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161925"/>
            <a:ext cx="8885237" cy="860425"/>
          </a:xfrm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Metodo di Paull-Unger</a:t>
            </a:r>
            <a:endParaRPr lang="en-US" altLang="it-IT" sz="4000">
              <a:ea typeface="ＭＳ Ｐゴシック" panose="020B0600070205080204" pitchFamily="34" charset="-128"/>
            </a:endParaRP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F939F08F-C10E-9AD1-25E3-9B01B9E37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463" y="1331913"/>
            <a:ext cx="9055100" cy="4551362"/>
          </a:xfrm>
        </p:spPr>
        <p:txBody>
          <a:bodyPr/>
          <a:lstStyle/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Ogni elemento della Tabella delle Implicazioni contiene: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Il simbolo di non equivalenza (X) 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Il simbolo di equivalenza (~)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La coppia di stati </a:t>
            </a:r>
            <a:r>
              <a:rPr lang="en-US" altLang="it-IT" i="1">
                <a:ea typeface="ＭＳ Ｐゴシック" panose="020B0600070205080204" pitchFamily="34" charset="-128"/>
              </a:rPr>
              <a:t>condizionanti</a:t>
            </a:r>
            <a:r>
              <a:rPr lang="en-US" altLang="it-IT">
                <a:ea typeface="ＭＳ Ｐゴシック" panose="020B0600070205080204" pitchFamily="34" charset="-128"/>
              </a:rPr>
              <a:t> se non è possible stabilire immediatamente l’equivalenza (o non equivalenza)</a:t>
            </a:r>
          </a:p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40963" name="Picture 4">
            <a:extLst>
              <a:ext uri="{FF2B5EF4-FFF2-40B4-BE49-F238E27FC236}">
                <a16:creationId xmlns:a16="http://schemas.microsoft.com/office/drawing/2014/main" id="{79AF6DC0-772A-C384-03C8-3D63E0A14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4168775"/>
            <a:ext cx="49657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egnaposto numero diapositiva 4">
            <a:extLst>
              <a:ext uri="{FF2B5EF4-FFF2-40B4-BE49-F238E27FC236}">
                <a16:creationId xmlns:a16="http://schemas.microsoft.com/office/drawing/2014/main" id="{52C6D6CA-04B6-1F28-710C-3649827D7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7413" y="136525"/>
            <a:ext cx="2268537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6AC49E-9291-4A10-85CD-227DC03661F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B6EA329F-231F-27E9-A88A-60EE2FEC9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 – Paull-Unger</a:t>
            </a:r>
          </a:p>
        </p:txBody>
      </p:sp>
      <p:pic>
        <p:nvPicPr>
          <p:cNvPr id="41987" name="Picture 4">
            <a:extLst>
              <a:ext uri="{FF2B5EF4-FFF2-40B4-BE49-F238E27FC236}">
                <a16:creationId xmlns:a16="http://schemas.microsoft.com/office/drawing/2014/main" id="{2D22907B-B92B-747C-32E8-5BCCBF869D89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900" y="1295400"/>
            <a:ext cx="6877050" cy="4116388"/>
          </a:xfrm>
          <a:noFill/>
        </p:spPr>
      </p:pic>
      <p:sp>
        <p:nvSpPr>
          <p:cNvPr id="41988" name="Oval 6">
            <a:extLst>
              <a:ext uri="{FF2B5EF4-FFF2-40B4-BE49-F238E27FC236}">
                <a16:creationId xmlns:a16="http://schemas.microsoft.com/office/drawing/2014/main" id="{DF8DADC5-8135-A659-1CE9-E7A4B37BD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311525"/>
            <a:ext cx="647700" cy="576263"/>
          </a:xfrm>
          <a:prstGeom prst="ellipse">
            <a:avLst/>
          </a:prstGeom>
          <a:gradFill rotWithShape="1">
            <a:gsLst>
              <a:gs pos="0">
                <a:srgbClr val="66CCFF">
                  <a:alpha val="60001"/>
                </a:srgbClr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rgbClr val="FF66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533616CF-C1EF-E820-5FDA-B6480A86B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295400"/>
            <a:ext cx="2808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it-IT" sz="2400">
              <a:solidFill>
                <a:schemeClr val="tx1"/>
              </a:solidFill>
            </a:endParaRPr>
          </a:p>
        </p:txBody>
      </p:sp>
      <p:sp>
        <p:nvSpPr>
          <p:cNvPr id="41990" name="AutoShape 7">
            <a:extLst>
              <a:ext uri="{FF2B5EF4-FFF2-40B4-BE49-F238E27FC236}">
                <a16:creationId xmlns:a16="http://schemas.microsoft.com/office/drawing/2014/main" id="{EE2996F0-D325-D4DD-22D2-6F725BE70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008063"/>
            <a:ext cx="4319588" cy="792162"/>
          </a:xfrm>
          <a:prstGeom prst="wedgeEllipseCallout">
            <a:avLst>
              <a:gd name="adj1" fmla="val -74843"/>
              <a:gd name="adj2" fmla="val 272444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solidFill>
                  <a:schemeClr val="bg1"/>
                </a:solidFill>
              </a:rPr>
              <a:t>“e” ed “a” hanno le stesse uscite per ogni ingresso</a:t>
            </a:r>
          </a:p>
        </p:txBody>
      </p:sp>
      <p:sp>
        <p:nvSpPr>
          <p:cNvPr id="41991" name="Oval 10">
            <a:extLst>
              <a:ext uri="{FF2B5EF4-FFF2-40B4-BE49-F238E27FC236}">
                <a16:creationId xmlns:a16="http://schemas.microsoft.com/office/drawing/2014/main" id="{58F6D14D-A426-0F8E-E392-144FDB37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4392613"/>
            <a:ext cx="647700" cy="576262"/>
          </a:xfrm>
          <a:prstGeom prst="ellipse">
            <a:avLst/>
          </a:prstGeom>
          <a:gradFill rotWithShape="1">
            <a:gsLst>
              <a:gs pos="0">
                <a:srgbClr val="66CCFF">
                  <a:alpha val="60001"/>
                </a:srgbClr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rgbClr val="FF66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41992" name="AutoShape 11">
            <a:extLst>
              <a:ext uri="{FF2B5EF4-FFF2-40B4-BE49-F238E27FC236}">
                <a16:creationId xmlns:a16="http://schemas.microsoft.com/office/drawing/2014/main" id="{52FF804B-4542-9A30-9354-E9EA6BBD1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376488"/>
            <a:ext cx="3887788" cy="792162"/>
          </a:xfrm>
          <a:prstGeom prst="wedgeEllipseCallout">
            <a:avLst>
              <a:gd name="adj1" fmla="val -22028"/>
              <a:gd name="adj2" fmla="val 227153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solidFill>
                  <a:schemeClr val="bg1"/>
                </a:solidFill>
              </a:rPr>
              <a:t>“g” ed “f” sono equivalenti se lo sono “a” e “d”</a:t>
            </a:r>
          </a:p>
        </p:txBody>
      </p:sp>
      <p:sp>
        <p:nvSpPr>
          <p:cNvPr id="41993" name="Oval 12">
            <a:extLst>
              <a:ext uri="{FF2B5EF4-FFF2-40B4-BE49-F238E27FC236}">
                <a16:creationId xmlns:a16="http://schemas.microsoft.com/office/drawing/2014/main" id="{B94707BB-2F75-902F-AF59-2D8685697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392613"/>
            <a:ext cx="647700" cy="576262"/>
          </a:xfrm>
          <a:prstGeom prst="ellipse">
            <a:avLst/>
          </a:prstGeom>
          <a:gradFill rotWithShape="1">
            <a:gsLst>
              <a:gs pos="0">
                <a:srgbClr val="66CCFF">
                  <a:alpha val="60001"/>
                </a:srgbClr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rgbClr val="FF66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41994" name="AutoShape 14">
            <a:extLst>
              <a:ext uri="{FF2B5EF4-FFF2-40B4-BE49-F238E27FC236}">
                <a16:creationId xmlns:a16="http://schemas.microsoft.com/office/drawing/2014/main" id="{E0010F91-5A63-CC97-E19D-7225C991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545138"/>
            <a:ext cx="3887788" cy="792162"/>
          </a:xfrm>
          <a:prstGeom prst="wedgeEllipseCallout">
            <a:avLst>
              <a:gd name="adj1" fmla="val 26889"/>
              <a:gd name="adj2" fmla="val -135171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solidFill>
                  <a:schemeClr val="bg1"/>
                </a:solidFill>
              </a:rPr>
              <a:t>“g” e “b” hanno uscite differenti (con rif ad uno stesso ingresso)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egnaposto numero diapositiva 4">
            <a:extLst>
              <a:ext uri="{FF2B5EF4-FFF2-40B4-BE49-F238E27FC236}">
                <a16:creationId xmlns:a16="http://schemas.microsoft.com/office/drawing/2014/main" id="{6D748496-BDF1-8C88-8794-FCE5F39C3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7413" y="136525"/>
            <a:ext cx="2268537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449DC2-47A9-426E-A053-F8C039893444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80F4D5C-2614-8286-51B3-749F53928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  - cont</a:t>
            </a:r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43011" name="Picture 5">
            <a:extLst>
              <a:ext uri="{FF2B5EF4-FFF2-40B4-BE49-F238E27FC236}">
                <a16:creationId xmlns:a16="http://schemas.microsoft.com/office/drawing/2014/main" id="{67D186E9-8AF6-0CDF-D504-FE06BAAE154F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813" y="2592388"/>
            <a:ext cx="3316287" cy="3068637"/>
          </a:xfrm>
          <a:noFill/>
        </p:spPr>
      </p:pic>
      <p:sp>
        <p:nvSpPr>
          <p:cNvPr id="43012" name="Rectangle 6">
            <a:extLst>
              <a:ext uri="{FF2B5EF4-FFF2-40B4-BE49-F238E27FC236}">
                <a16:creationId xmlns:a16="http://schemas.microsoft.com/office/drawing/2014/main" id="{B9CC242D-1101-EE01-24AB-3FF1CB8AA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241425"/>
            <a:ext cx="8748713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it-IT" sz="2800">
                <a:solidFill>
                  <a:schemeClr val="tx2"/>
                </a:solidFill>
              </a:rPr>
              <a:t>Procedendo iterativamente si giunge a determinare le classi di equivalenza</a:t>
            </a:r>
            <a:endParaRPr lang="en-US" altLang="it-IT" sz="2400">
              <a:solidFill>
                <a:schemeClr val="tx2"/>
              </a:solidFill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endParaRPr lang="en-US" altLang="it-IT" sz="2800">
              <a:solidFill>
                <a:schemeClr val="tx2"/>
              </a:solidFill>
            </a:endParaRPr>
          </a:p>
        </p:txBody>
      </p:sp>
      <p:pic>
        <p:nvPicPr>
          <p:cNvPr id="43013" name="Picture 11">
            <a:extLst>
              <a:ext uri="{FF2B5EF4-FFF2-40B4-BE49-F238E27FC236}">
                <a16:creationId xmlns:a16="http://schemas.microsoft.com/office/drawing/2014/main" id="{7B0D5956-1CE7-492A-57DC-EEDC46C07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8"/>
          <a:stretch>
            <a:fillRect/>
          </a:stretch>
        </p:blipFill>
        <p:spPr bwMode="auto">
          <a:xfrm>
            <a:off x="5795963" y="2519363"/>
            <a:ext cx="2881312" cy="18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egnaposto numero diapositiva 4">
            <a:extLst>
              <a:ext uri="{FF2B5EF4-FFF2-40B4-BE49-F238E27FC236}">
                <a16:creationId xmlns:a16="http://schemas.microsoft.com/office/drawing/2014/main" id="{44DF0936-A03F-F5F8-A528-85FE408DE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E1F9FE-D8D6-4771-98D0-F1CA691908FC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4034" name="Rectangle 97">
            <a:extLst>
              <a:ext uri="{FF2B5EF4-FFF2-40B4-BE49-F238E27FC236}">
                <a16:creationId xmlns:a16="http://schemas.microsoft.com/office/drawing/2014/main" id="{55002765-F644-70FA-AB2A-F8FBE5F898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Metodo di Paull-Unger</a:t>
            </a:r>
          </a:p>
        </p:txBody>
      </p:sp>
      <p:graphicFrame>
        <p:nvGraphicFramePr>
          <p:cNvPr id="287805" name="Group 61">
            <a:extLst>
              <a:ext uri="{FF2B5EF4-FFF2-40B4-BE49-F238E27FC236}">
                <a16:creationId xmlns:a16="http://schemas.microsoft.com/office/drawing/2014/main" id="{E014E977-4099-615D-0F15-DCAC4295CCD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3995738" y="2597150"/>
          <a:ext cx="4152900" cy="3667128"/>
        </p:xfrm>
        <a:graphic>
          <a:graphicData uri="http://schemas.openxmlformats.org/drawingml/2006/table">
            <a:tbl>
              <a:tblPr/>
              <a:tblGrid>
                <a:gridCol w="69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87840" name="Group 96">
            <a:extLst>
              <a:ext uri="{FF2B5EF4-FFF2-40B4-BE49-F238E27FC236}">
                <a16:creationId xmlns:a16="http://schemas.microsoft.com/office/drawing/2014/main" id="{A2F8B140-4571-C08B-637E-FE604E3CEBF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27088" y="1655763"/>
          <a:ext cx="2606675" cy="3667125"/>
        </p:xfrm>
        <a:graphic>
          <a:graphicData uri="http://schemas.openxmlformats.org/drawingml/2006/table">
            <a:tbl>
              <a:tblPr/>
              <a:tblGrid>
                <a:gridCol w="868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i</a:t>
                      </a:r>
                      <a:r>
                        <a:rPr kumimoji="0" lang="it-IT" altLang="it-IT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i</a:t>
                      </a:r>
                      <a:r>
                        <a:rPr kumimoji="0" lang="it-IT" altLang="it-IT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118" name="Text Box 99">
            <a:extLst>
              <a:ext uri="{FF2B5EF4-FFF2-40B4-BE49-F238E27FC236}">
                <a16:creationId xmlns:a16="http://schemas.microsoft.com/office/drawing/2014/main" id="{CB81085C-9B59-A23E-E5D4-4DD456D7F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1152525"/>
            <a:ext cx="377983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Ogni stato è confrontato con tutti gli altri, ma solo una volta: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1 è confrontato con 2…6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2 è confrontato con 3…6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etc etc.</a:t>
            </a:r>
          </a:p>
        </p:txBody>
      </p:sp>
      <p:sp>
        <p:nvSpPr>
          <p:cNvPr id="44119" name="AutoShape 101">
            <a:extLst>
              <a:ext uri="{FF2B5EF4-FFF2-40B4-BE49-F238E27FC236}">
                <a16:creationId xmlns:a16="http://schemas.microsoft.com/office/drawing/2014/main" id="{1C7A417B-94E6-4E9F-4585-C9D3076742F8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5112544" y="1620044"/>
            <a:ext cx="574675" cy="12239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4678 h 21600"/>
              <a:gd name="T14" fmla="*/ 20209 w 21600"/>
              <a:gd name="T15" fmla="*/ 748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564" y="0"/>
                </a:lnTo>
                <a:lnTo>
                  <a:pt x="15564" y="4678"/>
                </a:lnTo>
                <a:lnTo>
                  <a:pt x="12427" y="4678"/>
                </a:lnTo>
                <a:cubicBezTo>
                  <a:pt x="5564" y="4678"/>
                  <a:pt x="0" y="8027"/>
                  <a:pt x="0" y="12158"/>
                </a:cubicBezTo>
                <a:lnTo>
                  <a:pt x="0" y="21600"/>
                </a:lnTo>
                <a:lnTo>
                  <a:pt x="2864" y="21600"/>
                </a:lnTo>
                <a:lnTo>
                  <a:pt x="2864" y="12158"/>
                </a:lnTo>
                <a:cubicBezTo>
                  <a:pt x="2864" y="9574"/>
                  <a:pt x="7146" y="7480"/>
                  <a:pt x="12427" y="7480"/>
                </a:cubicBezTo>
                <a:lnTo>
                  <a:pt x="15564" y="7480"/>
                </a:lnTo>
                <a:lnTo>
                  <a:pt x="15564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44120" name="AutoShape 102">
            <a:extLst>
              <a:ext uri="{FF2B5EF4-FFF2-40B4-BE49-F238E27FC236}">
                <a16:creationId xmlns:a16="http://schemas.microsoft.com/office/drawing/2014/main" id="{BECAA6E1-7242-4AD7-5AA0-2F3EBA47F07A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5364163" y="2447925"/>
            <a:ext cx="719137" cy="5762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4678 h 21600"/>
              <a:gd name="T14" fmla="*/ 20209 w 21600"/>
              <a:gd name="T15" fmla="*/ 748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564" y="0"/>
                </a:lnTo>
                <a:lnTo>
                  <a:pt x="15564" y="4678"/>
                </a:lnTo>
                <a:lnTo>
                  <a:pt x="12427" y="4678"/>
                </a:lnTo>
                <a:cubicBezTo>
                  <a:pt x="5564" y="4678"/>
                  <a:pt x="0" y="8027"/>
                  <a:pt x="0" y="12158"/>
                </a:cubicBezTo>
                <a:lnTo>
                  <a:pt x="0" y="21600"/>
                </a:lnTo>
                <a:lnTo>
                  <a:pt x="2864" y="21600"/>
                </a:lnTo>
                <a:lnTo>
                  <a:pt x="2864" y="12158"/>
                </a:lnTo>
                <a:cubicBezTo>
                  <a:pt x="2864" y="9574"/>
                  <a:pt x="7146" y="7480"/>
                  <a:pt x="12427" y="7480"/>
                </a:cubicBezTo>
                <a:lnTo>
                  <a:pt x="15564" y="7480"/>
                </a:lnTo>
                <a:lnTo>
                  <a:pt x="15564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olo 1">
            <a:extLst>
              <a:ext uri="{FF2B5EF4-FFF2-40B4-BE49-F238E27FC236}">
                <a16:creationId xmlns:a16="http://schemas.microsoft.com/office/drawing/2014/main" id="{AF9D5233-A4D2-EA6A-8408-4A1699E83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45058" name="Segnaposto contenuto 2">
            <a:extLst>
              <a:ext uri="{FF2B5EF4-FFF2-40B4-BE49-F238E27FC236}">
                <a16:creationId xmlns:a16="http://schemas.microsoft.com/office/drawing/2014/main" id="{578BFAA6-FB35-5D29-9944-2F7F2C8C4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Macchine Incompletamente Specificate</a:t>
            </a:r>
          </a:p>
        </p:txBody>
      </p:sp>
      <p:sp>
        <p:nvSpPr>
          <p:cNvPr id="45059" name="Segnaposto numero diapositiva 3">
            <a:extLst>
              <a:ext uri="{FF2B5EF4-FFF2-40B4-BE49-F238E27FC236}">
                <a16:creationId xmlns:a16="http://schemas.microsoft.com/office/drawing/2014/main" id="{B9E5C0CC-C77F-BB3F-B672-A2088B856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E74505-1A21-4B93-8AC9-D602B0C9F625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egnaposto numero diapositiva 3">
            <a:extLst>
              <a:ext uri="{FF2B5EF4-FFF2-40B4-BE49-F238E27FC236}">
                <a16:creationId xmlns:a16="http://schemas.microsoft.com/office/drawing/2014/main" id="{BCDE2287-FE94-A087-60C1-801317BA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7ED5A9-D150-4A82-815F-8A28BEEADA3F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93E269B6-5ED4-2239-4B3F-5B80748FC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Stati compatibili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01BDB6F-3F8F-D98C-41C4-DF106CEC5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454150"/>
            <a:ext cx="8459788" cy="36671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400">
                <a:ea typeface="ＭＳ Ｐゴシック" panose="020B0600070205080204" pitchFamily="34" charset="-128"/>
              </a:rPr>
              <a:t>Due stati sono </a:t>
            </a: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compatibili </a:t>
            </a:r>
            <a:r>
              <a:rPr lang="it-IT" altLang="it-IT" sz="2400">
                <a:ea typeface="ＭＳ Ｐゴシック" panose="020B0600070205080204" pitchFamily="34" charset="-128"/>
              </a:rPr>
              <a:t>se </a:t>
            </a:r>
            <a:r>
              <a:rPr lang="it-IT" altLang="it-IT" sz="2400" i="1" u="sng">
                <a:ea typeface="ＭＳ Ｐゴシック" panose="020B0600070205080204" pitchFamily="34" charset="-128"/>
              </a:rPr>
              <a:t>per ogni </a:t>
            </a:r>
            <a:r>
              <a:rPr lang="it-IT" altLang="it-IT" sz="2400" u="sng">
                <a:ea typeface="ＭＳ Ｐゴシック" panose="020B0600070205080204" pitchFamily="34" charset="-128"/>
              </a:rPr>
              <a:t>sequenza di ingressi applicabili ad </a:t>
            </a:r>
            <a:r>
              <a:rPr lang="it-IT" altLang="it-IT" sz="2400" i="1" u="sng">
                <a:ea typeface="ＭＳ Ｐゴシック" panose="020B0600070205080204" pitchFamily="34" charset="-128"/>
              </a:rPr>
              <a:t>entrambi, </a:t>
            </a:r>
            <a:r>
              <a:rPr lang="it-IT" altLang="it-IT" sz="2400" u="sng">
                <a:ea typeface="ＭＳ Ｐゴシック" panose="020B0600070205080204" pitchFamily="34" charset="-128"/>
              </a:rPr>
              <a:t>le uscite prodotte sono identiche</a:t>
            </a:r>
          </a:p>
          <a:p>
            <a:pPr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400">
                <a:ea typeface="ＭＳ Ｐゴシック" panose="020B0600070205080204" pitchFamily="34" charset="-128"/>
              </a:rPr>
              <a:t>A differenza della relazione vista prima per macchine complete, la compatibilità </a:t>
            </a:r>
            <a:r>
              <a:rPr lang="it-IT" altLang="it-IT" sz="2400" b="1">
                <a:ea typeface="ＭＳ Ｐゴシック" panose="020B0600070205080204" pitchFamily="34" charset="-128"/>
              </a:rPr>
              <a:t>NON </a:t>
            </a:r>
            <a:r>
              <a:rPr lang="it-IT" altLang="it-IT" sz="2400">
                <a:ea typeface="ＭＳ Ｐゴシック" panose="020B0600070205080204" pitchFamily="34" charset="-128"/>
              </a:rPr>
              <a:t>è una relazione di equivalenza: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8166100" algn="l"/>
              </a:tabLst>
            </a:pPr>
            <a:r>
              <a:rPr lang="it-IT" altLang="it-IT" sz="2400">
                <a:ea typeface="ＭＳ Ｐゴシック" panose="020B0600070205080204" pitchFamily="34" charset="-128"/>
              </a:rPr>
              <a:t>	Gode delle proprietà</a:t>
            </a:r>
          </a:p>
          <a:p>
            <a:pPr lvl="1"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000">
                <a:ea typeface="ＭＳ Ｐゴシック" panose="020B0600070205080204" pitchFamily="34" charset="-128"/>
              </a:rPr>
              <a:t>Riflessiva</a:t>
            </a:r>
          </a:p>
          <a:p>
            <a:pPr lvl="1"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000">
                <a:ea typeface="ＭＳ Ｐゴシック" panose="020B0600070205080204" pitchFamily="34" charset="-128"/>
              </a:rPr>
              <a:t>Simmetrica</a:t>
            </a:r>
          </a:p>
          <a:p>
            <a:pPr lvl="1"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000">
                <a:ea typeface="ＭＳ Ｐゴシック" panose="020B0600070205080204" pitchFamily="34" charset="-128"/>
              </a:rPr>
              <a:t>Ma NON di quella transitiva</a:t>
            </a:r>
          </a:p>
          <a:p>
            <a:pPr lvl="2"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1600">
                <a:ea typeface="ＭＳ Ｐゴシック" panose="020B0600070205080204" pitchFamily="34" charset="-128"/>
              </a:rPr>
              <a:t>p.e.: q1~q2,  q2~q3, </a:t>
            </a:r>
            <a:r>
              <a:rPr lang="it-IT" altLang="it-IT" sz="1600">
                <a:latin typeface="Symbol" panose="05050102010706020507" pitchFamily="18" charset="2"/>
                <a:ea typeface="ＭＳ Ｐゴシック" panose="020B0600070205080204" pitchFamily="34" charset="-128"/>
              </a:rPr>
              <a:t>l</a:t>
            </a:r>
            <a:r>
              <a:rPr lang="it-IT" altLang="it-IT" sz="1600">
                <a:ea typeface="ＭＳ Ｐゴシック" panose="020B0600070205080204" pitchFamily="34" charset="-128"/>
              </a:rPr>
              <a:t>(q1,J)=a, , </a:t>
            </a:r>
            <a:r>
              <a:rPr lang="it-IT" altLang="it-IT" sz="1600">
                <a:latin typeface="Symbol" panose="05050102010706020507" pitchFamily="18" charset="2"/>
                <a:ea typeface="ＭＳ Ｐゴシック" panose="020B0600070205080204" pitchFamily="34" charset="-128"/>
              </a:rPr>
              <a:t>l</a:t>
            </a:r>
            <a:r>
              <a:rPr lang="it-IT" altLang="it-IT" sz="1600">
                <a:ea typeface="ＭＳ Ｐゴシック" panose="020B0600070205080204" pitchFamily="34" charset="-128"/>
              </a:rPr>
              <a:t>(q2,J)=-, </a:t>
            </a:r>
            <a:r>
              <a:rPr lang="it-IT" altLang="it-IT" sz="1600">
                <a:latin typeface="Symbol" panose="05050102010706020507" pitchFamily="18" charset="2"/>
                <a:ea typeface="ＭＳ Ｐゴシック" panose="020B0600070205080204" pitchFamily="34" charset="-128"/>
              </a:rPr>
              <a:t>l</a:t>
            </a:r>
            <a:r>
              <a:rPr lang="it-IT" altLang="it-IT" sz="1600">
                <a:ea typeface="ＭＳ Ｐゴシック" panose="020B0600070205080204" pitchFamily="34" charset="-128"/>
              </a:rPr>
              <a:t>(q3,J)=b</a:t>
            </a:r>
          </a:p>
          <a:p>
            <a:pPr eaLnBrk="1" hangingPunct="1">
              <a:lnSpc>
                <a:spcPct val="80000"/>
              </a:lnSpc>
              <a:tabLst>
                <a:tab pos="8166100" algn="l"/>
              </a:tabLst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400">
                <a:ea typeface="ＭＳ Ｐゴシック" panose="020B0600070205080204" pitchFamily="34" charset="-128"/>
              </a:rPr>
              <a:t>Ciò complica la ricerca di macchine equivalenti minime</a:t>
            </a:r>
          </a:p>
          <a:p>
            <a:pPr lvl="1" eaLnBrk="1" hangingPunct="1">
              <a:lnSpc>
                <a:spcPct val="80000"/>
              </a:lnSpc>
              <a:tabLst>
                <a:tab pos="8166100" algn="l"/>
              </a:tabLst>
            </a:pPr>
            <a:endParaRPr lang="it-IT" altLang="it-IT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egnaposto numero diapositiva 3">
            <a:extLst>
              <a:ext uri="{FF2B5EF4-FFF2-40B4-BE49-F238E27FC236}">
                <a16:creationId xmlns:a16="http://schemas.microsoft.com/office/drawing/2014/main" id="{8DB4F8E1-75B4-AF81-A423-57B2EFB341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374DC9-6C8F-41D5-966A-7E54038DC12B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14B721A3-8015-A883-5AD7-3C8CB869E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Compatibilità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A61BDFD-ED24-A58D-F5C9-EB6A4CE0C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Così come l’equivalenza, anche la compatibilità può essere definita ricorsivamente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Due stati sono compatibili se tutti i possibili stati prossimi sono compatibili, e tutte le possibili uscite prossime sono uguali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Non essendo una relazione di equivalenza, non è possibile utilizzare le proprietà delle classi di equivalenza.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Si generalizza con il concetto di </a:t>
            </a:r>
            <a:r>
              <a:rPr lang="it-IT" altLang="it-IT" sz="2400" i="1">
                <a:solidFill>
                  <a:srgbClr val="FF6600"/>
                </a:solidFill>
                <a:ea typeface="ＭＳ Ｐゴシック" panose="020B0600070205080204" pitchFamily="34" charset="-128"/>
              </a:rPr>
              <a:t>famiglia di insiemi di stati compatibili massimi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egnaposto numero diapositiva 3">
            <a:extLst>
              <a:ext uri="{FF2B5EF4-FFF2-40B4-BE49-F238E27FC236}">
                <a16:creationId xmlns:a16="http://schemas.microsoft.com/office/drawing/2014/main" id="{F95308F1-DED2-7389-80C1-AF811B5B56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8CCC3E-12ED-46DF-A731-D51C88CE1288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1FD675C3-8B50-DB0E-D606-2524D3321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Compatibilità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AEEED08-3AFF-662A-CE93-315B7C161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0213" y="1454150"/>
            <a:ext cx="8931275" cy="40338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800">
                <a:ea typeface="ＭＳ Ｐゴシック" panose="020B0600070205080204" pitchFamily="34" charset="-128"/>
              </a:rPr>
              <a:t>Per le macchine incomplete, non si parla quindi di equivalenza, ma di inclusione: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Una macchina M’ ne include una M, </a:t>
            </a:r>
            <a:r>
              <a:rPr lang="it-IT" altLang="it-IT" sz="2400" i="1">
                <a:ea typeface="ＭＳ Ｐゴシック" panose="020B0600070205080204" pitchFamily="34" charset="-128"/>
              </a:rPr>
              <a:t>in una coppia di stati q </a:t>
            </a:r>
            <a:r>
              <a:rPr lang="it-IT" altLang="it-IT" sz="2400">
                <a:ea typeface="ＭＳ Ｐゴシック" panose="020B0600070205080204" pitchFamily="34" charset="-128"/>
              </a:rPr>
              <a:t>e </a:t>
            </a:r>
            <a:r>
              <a:rPr lang="it-IT" altLang="it-IT" sz="2400" i="1">
                <a:ea typeface="ＭＳ Ｐゴシック" panose="020B0600070205080204" pitchFamily="34" charset="-128"/>
              </a:rPr>
              <a:t>q’ , </a:t>
            </a:r>
            <a:r>
              <a:rPr lang="it-IT" altLang="it-IT" sz="2400">
                <a:ea typeface="ＭＳ Ｐゴシック" panose="020B0600070205080204" pitchFamily="34" charset="-128"/>
              </a:rPr>
              <a:t>se tutte le sequenze di ingressi applicabili ad M a partire da q lo sono anche per M’ a partire da q’ producendo la stessa uscita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Se è possibile trovare per ciascuno stato di M uno q che soddisfa la precedente definizione, allora M’ include M</a:t>
            </a:r>
            <a:br>
              <a:rPr lang="it-IT" altLang="it-IT" sz="2400">
                <a:ea typeface="ＭＳ Ｐゴシック" panose="020B0600070205080204" pitchFamily="34" charset="-128"/>
              </a:rPr>
            </a:br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 è possibile usare M’ in luogo della M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M ed M’ possono includersi l’un l’altra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	</a:t>
            </a:r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 diremo in questo caso che le due macchine sono equivalenti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800">
              <a:ea typeface="ＭＳ Ｐゴシック" panose="020B0600070205080204" pitchFamily="34" charset="-128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egnaposto numero diapositiva 3">
            <a:extLst>
              <a:ext uri="{FF2B5EF4-FFF2-40B4-BE49-F238E27FC236}">
                <a16:creationId xmlns:a16="http://schemas.microsoft.com/office/drawing/2014/main" id="{4D10F1EC-0C83-15D1-B9BF-79D791D9C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BD4708-7D05-489B-8B60-FACCE0F6D0D0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F8FFE3B3-F536-55A3-B691-22816D448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215900"/>
            <a:ext cx="7843837" cy="503238"/>
          </a:xfrm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Compatibilità: formalmente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F063F61-35E8-A76F-C801-2A5E43079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00225"/>
            <a:ext cx="8785225" cy="1797050"/>
          </a:xfrm>
        </p:spPr>
        <p:txBody>
          <a:bodyPr/>
          <a:lstStyle/>
          <a:p>
            <a:pPr eaLnBrk="1" hangingPunct="1">
              <a:buFontTx/>
              <a:buNone/>
              <a:tabLst>
                <a:tab pos="8166100" algn="l"/>
              </a:tabLst>
            </a:pPr>
            <a:r>
              <a:rPr lang="it-IT" altLang="it-IT" sz="2400" b="1">
                <a:ea typeface="ＭＳ Ｐゴシック" panose="020B0600070205080204" pitchFamily="34" charset="-128"/>
              </a:rPr>
              <a:t>Inclusione fra macchine</a:t>
            </a:r>
          </a:p>
          <a:p>
            <a:pPr eaLnBrk="1" hangingPunct="1">
              <a:tabLst>
                <a:tab pos="8166100" algn="l"/>
              </a:tabLst>
            </a:pPr>
            <a:r>
              <a:rPr lang="it-IT" altLang="it-IT" sz="2000" b="1">
                <a:ea typeface="ＭＳ Ｐゴシック" panose="020B0600070205080204" pitchFamily="34" charset="-128"/>
              </a:rPr>
              <a:t>Concettualmente:</a:t>
            </a:r>
            <a:r>
              <a:rPr lang="it-IT" altLang="it-IT" sz="2000">
                <a:ea typeface="ＭＳ Ｐゴシック" panose="020B0600070205080204" pitchFamily="34" charset="-128"/>
              </a:rPr>
              <a:t> una macchina include un’altra se “fa qualcosa in più”</a:t>
            </a:r>
          </a:p>
          <a:p>
            <a:pPr eaLnBrk="1" hangingPunct="1">
              <a:lnSpc>
                <a:spcPct val="90000"/>
              </a:lnSpc>
              <a:tabLst>
                <a:tab pos="8166100" algn="l"/>
              </a:tabLst>
            </a:pPr>
            <a:endParaRPr lang="it-IT" altLang="it-IT" sz="2000" b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tabLst>
                <a:tab pos="8166100" algn="l"/>
              </a:tabLst>
            </a:pPr>
            <a:r>
              <a:rPr lang="it-IT" altLang="it-IT" sz="2000" b="1">
                <a:ea typeface="ＭＳ Ｐゴシック" panose="020B0600070205080204" pitchFamily="34" charset="-128"/>
              </a:rPr>
              <a:t>Formalmente: </a:t>
            </a:r>
          </a:p>
          <a:p>
            <a:pPr lvl="1" eaLnBrk="1" hangingPunct="1">
              <a:lnSpc>
                <a:spcPct val="90000"/>
              </a:lnSpc>
              <a:tabLst>
                <a:tab pos="8166100" algn="l"/>
              </a:tabLst>
            </a:pPr>
            <a:r>
              <a:rPr lang="it-IT" altLang="it-IT" sz="2000">
                <a:ea typeface="ＭＳ Ｐゴシック" panose="020B0600070205080204" pitchFamily="34" charset="-128"/>
              </a:rPr>
              <a:t>M’(q’) include M(q):</a:t>
            </a:r>
          </a:p>
        </p:txBody>
      </p:sp>
      <p:pic>
        <p:nvPicPr>
          <p:cNvPr id="49156" name="Picture 6">
            <a:extLst>
              <a:ext uri="{FF2B5EF4-FFF2-40B4-BE49-F238E27FC236}">
                <a16:creationId xmlns:a16="http://schemas.microsoft.com/office/drawing/2014/main" id="{D50015C5-BBDE-38AB-78FE-A2986381D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708400"/>
            <a:ext cx="6769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Rectangle 8">
            <a:extLst>
              <a:ext uri="{FF2B5EF4-FFF2-40B4-BE49-F238E27FC236}">
                <a16:creationId xmlns:a16="http://schemas.microsoft.com/office/drawing/2014/main" id="{1EF71D2A-2E19-7B6C-9101-33FCBAD5C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89400"/>
            <a:ext cx="6624638" cy="420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tabLst>
                <a:tab pos="81661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81661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tabLst>
                <a:tab pos="81661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lnSpc>
                <a:spcPct val="9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>
                <a:solidFill>
                  <a:schemeClr val="tx1"/>
                </a:solidFill>
              </a:rPr>
              <a:t>M’ include</a:t>
            </a:r>
            <a:r>
              <a:rPr lang="it-IT" altLang="it-IT" sz="2400">
                <a:solidFill>
                  <a:schemeClr val="tx1"/>
                </a:solidFill>
              </a:rPr>
              <a:t> M</a:t>
            </a:r>
          </a:p>
        </p:txBody>
      </p:sp>
      <p:grpSp>
        <p:nvGrpSpPr>
          <p:cNvPr id="49158" name="Group 16">
            <a:extLst>
              <a:ext uri="{FF2B5EF4-FFF2-40B4-BE49-F238E27FC236}">
                <a16:creationId xmlns:a16="http://schemas.microsoft.com/office/drawing/2014/main" id="{04E22899-736D-063A-A32C-AE7A196A9501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4545013"/>
            <a:ext cx="5832475" cy="481012"/>
            <a:chOff x="1020" y="2691"/>
            <a:chExt cx="3674" cy="303"/>
          </a:xfrm>
        </p:grpSpPr>
        <p:pic>
          <p:nvPicPr>
            <p:cNvPr id="49159" name="Picture 7">
              <a:extLst>
                <a:ext uri="{FF2B5EF4-FFF2-40B4-BE49-F238E27FC236}">
                  <a16:creationId xmlns:a16="http://schemas.microsoft.com/office/drawing/2014/main" id="{519F93CF-4161-B93E-7891-E1736CE6B7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2750"/>
              <a:ext cx="3674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60" name="Text Box 15">
              <a:extLst>
                <a:ext uri="{FF2B5EF4-FFF2-40B4-BE49-F238E27FC236}">
                  <a16:creationId xmlns:a16="http://schemas.microsoft.com/office/drawing/2014/main" id="{77FEC6DE-999C-1B69-9A88-6B6BD45FC0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2691"/>
              <a:ext cx="31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08585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42875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177165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2288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6860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1432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6004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it-IT" sz="1600">
                  <a:solidFill>
                    <a:schemeClr val="tx1"/>
                  </a:solidFill>
                  <a:latin typeface="Monotype Corsiva" panose="03010101010201010101" pitchFamily="66" charset="0"/>
                </a:rPr>
                <a:t>‘</a:t>
              </a:r>
            </a:p>
          </p:txBody>
        </p:sp>
      </p:grpSp>
    </p:spTree>
  </p:cSld>
  <p:clrMapOvr>
    <a:masterClrMapping/>
  </p:clrMapOvr>
  <p:transition advTm="103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2557132B-1605-A750-B3A2-97F4FCE22B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8" y="25400"/>
            <a:ext cx="9467850" cy="860425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Macchina incompletamente specificata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55CD50B8-7DFA-1721-129C-D76D3FB17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382713"/>
            <a:ext cx="8459788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Compatibilità: si ricorda che…</a:t>
            </a:r>
          </a:p>
          <a:p>
            <a:pPr lvl="1" algn="just" eaLnBrk="1" hangingPunct="1"/>
            <a:r>
              <a:rPr lang="en-US" altLang="it-IT" sz="2000">
                <a:ea typeface="ＭＳ Ｐゴシック" panose="020B0600070205080204" pitchFamily="34" charset="-128"/>
              </a:rPr>
              <a:t>Due stati </a:t>
            </a:r>
            <a:r>
              <a:rPr lang="en-US" altLang="it-IT" sz="2000" b="1">
                <a:solidFill>
                  <a:srgbClr val="FF0000"/>
                </a:solidFill>
                <a:ea typeface="ＭＳ Ｐゴシック" panose="020B0600070205080204" pitchFamily="34" charset="-128"/>
              </a:rPr>
              <a:t>si</a:t>
            </a:r>
            <a:r>
              <a:rPr lang="en-US" altLang="it-IT" sz="2000">
                <a:ea typeface="ＭＳ Ｐゴシック" panose="020B0600070205080204" pitchFamily="34" charset="-128"/>
              </a:rPr>
              <a:t> e </a:t>
            </a:r>
            <a:r>
              <a:rPr lang="en-US" altLang="it-IT" sz="2000" b="1">
                <a:solidFill>
                  <a:srgbClr val="FF0000"/>
                </a:solidFill>
                <a:ea typeface="ＭＳ Ｐゴシック" panose="020B0600070205080204" pitchFamily="34" charset="-128"/>
              </a:rPr>
              <a:t>sj</a:t>
            </a:r>
            <a:r>
              <a:rPr lang="en-US" altLang="it-IT" sz="2000">
                <a:ea typeface="ＭＳ Ｐゴシック" panose="020B0600070205080204" pitchFamily="34" charset="-128"/>
              </a:rPr>
              <a:t> si dicono compatibili se partendo da essi ed applicando ogni possibile sequenza di ingresso applicabile </a:t>
            </a:r>
            <a:r>
              <a:rPr lang="en-US" altLang="it-IT" sz="2000" b="1">
                <a:solidFill>
                  <a:srgbClr val="FF0000"/>
                </a:solidFill>
                <a:ea typeface="ＭＳ Ｐゴシック" panose="020B0600070205080204" pitchFamily="34" charset="-128"/>
              </a:rPr>
              <a:t>Iα</a:t>
            </a:r>
            <a:r>
              <a:rPr lang="en-US" altLang="it-IT" sz="2000">
                <a:ea typeface="ＭＳ Ｐゴシック" panose="020B0600070205080204" pitchFamily="34" charset="-128"/>
              </a:rPr>
              <a:t> si ottengono le stesse sequenze d'uscita, ovunque queste siano specificate.</a:t>
            </a:r>
          </a:p>
          <a:p>
            <a:pPr lvl="1" algn="just" eaLnBrk="1" hangingPunct="1"/>
            <a:r>
              <a:rPr lang="en-US" altLang="it-IT" sz="2000">
                <a:ea typeface="ＭＳ Ｐゴシック" panose="020B0600070205080204" pitchFamily="34" charset="-128"/>
              </a:rPr>
              <a:t>La relazione di compatibilità non è transitiva!!!</a:t>
            </a:r>
          </a:p>
          <a:p>
            <a:pPr lvl="1" algn="just" eaLnBrk="1" hangingPunct="1"/>
            <a:r>
              <a:rPr lang="en-US" altLang="it-IT" sz="2000">
                <a:ea typeface="ＭＳ Ｐゴシック" panose="020B0600070205080204" pitchFamily="34" charset="-128"/>
              </a:rPr>
              <a:t>Le classi di compatibilità NON sono disgiunte</a:t>
            </a:r>
          </a:p>
          <a:p>
            <a:pPr lvl="1" algn="just" eaLnBrk="1" hangingPunct="1"/>
            <a:r>
              <a:rPr lang="en-US" altLang="it-IT" sz="2000">
                <a:ea typeface="ＭＳ Ｐゴシック" panose="020B0600070205080204" pitchFamily="34" charset="-128"/>
              </a:rPr>
              <a:t>Non  è possibile applicare il metodo della fusione delle righe (row merging)</a:t>
            </a:r>
          </a:p>
          <a:p>
            <a:pPr algn="just"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it-IT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7D9AB2BF-4F43-DE3F-8BE5-B223B901F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161925"/>
            <a:ext cx="9029700" cy="860425"/>
          </a:xfrm>
        </p:spPr>
        <p:txBody>
          <a:bodyPr/>
          <a:lstStyle/>
          <a:p>
            <a:pPr eaLnBrk="1" hangingPunct="1"/>
            <a:r>
              <a:rPr lang="en-US" altLang="it-IT" sz="4000">
                <a:ea typeface="ＭＳ Ｐゴシック" panose="020B0600070205080204" pitchFamily="34" charset="-128"/>
              </a:rPr>
              <a:t>Macchina incompletamente specificata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FB8067EF-0691-FACC-FE40-F40819BEC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775" y="1241425"/>
            <a:ext cx="8983663" cy="4551363"/>
          </a:xfrm>
        </p:spPr>
        <p:txBody>
          <a:bodyPr/>
          <a:lstStyle/>
          <a:p>
            <a:pPr lvl="1" eaLnBrk="1" hangingPunct="1"/>
            <a:endParaRPr lang="en-US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52227" name="Rectangle 4">
            <a:extLst>
              <a:ext uri="{FF2B5EF4-FFF2-40B4-BE49-F238E27FC236}">
                <a16:creationId xmlns:a16="http://schemas.microsoft.com/office/drawing/2014/main" id="{1AC5ECCC-82F2-560D-7916-672E9FA65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241425"/>
            <a:ext cx="8661400" cy="495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95400" indent="-3810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it-IT" altLang="it-IT" sz="2800">
                <a:solidFill>
                  <a:schemeClr val="tx2"/>
                </a:solidFill>
              </a:rPr>
              <a:t>Costruzione della macchina minima o a stati ridotti </a:t>
            </a:r>
          </a:p>
          <a:p>
            <a:pPr lvl="1" algn="just" eaLnBrk="1" hangingPunct="1">
              <a:buClr>
                <a:schemeClr val="tx2"/>
              </a:buClr>
              <a:buSzPct val="75000"/>
            </a:pPr>
            <a:r>
              <a:rPr lang="it-IT" altLang="it-IT" sz="2400">
                <a:solidFill>
                  <a:schemeClr val="tx2"/>
                </a:solidFill>
              </a:rPr>
              <a:t>E’ più complessa che nel caso delle macchine completamente specificate.</a:t>
            </a:r>
          </a:p>
          <a:p>
            <a:pPr lvl="1" algn="just" eaLnBrk="1" hangingPunct="1">
              <a:buClr>
                <a:schemeClr val="tx2"/>
              </a:buClr>
              <a:buSzPct val="75000"/>
            </a:pPr>
            <a:r>
              <a:rPr lang="it-IT" altLang="it-IT" sz="2400">
                <a:solidFill>
                  <a:schemeClr val="tx2"/>
                </a:solidFill>
              </a:rPr>
              <a:t>Gli insiemi di F non sono disgiunti!</a:t>
            </a:r>
          </a:p>
          <a:p>
            <a:pPr lvl="1" algn="just" eaLnBrk="1" hangingPunct="1">
              <a:buClr>
                <a:schemeClr val="tx2"/>
              </a:buClr>
              <a:buSzPct val="75000"/>
            </a:pPr>
            <a:r>
              <a:rPr lang="it-IT" altLang="it-IT" sz="2400">
                <a:solidFill>
                  <a:schemeClr val="tx2"/>
                </a:solidFill>
              </a:rPr>
              <a:t>Un insieme T può essere incluso in più di un insieme di F</a:t>
            </a:r>
          </a:p>
          <a:p>
            <a:pPr lvl="2" algn="just" eaLnBrk="1" hangingPunct="1"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it-IT" altLang="it-IT">
                <a:solidFill>
                  <a:schemeClr val="tx2"/>
                </a:solidFill>
              </a:rPr>
              <a:t>la macchina che si ottiene associando uno stato ad ogni distinto insieme della famiglia F non è necessariamente una macchina a numero minimo di stati</a:t>
            </a:r>
            <a:r>
              <a:rPr lang="it-IT" altLang="it-IT" sz="2800">
                <a:solidFill>
                  <a:schemeClr val="tx2"/>
                </a:solidFill>
              </a:rPr>
              <a:t>.</a:t>
            </a:r>
          </a:p>
          <a:p>
            <a:pPr lvl="1" algn="just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endParaRPr lang="it-IT" altLang="it-IT" sz="32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12C4B9FD-0893-3D17-CD71-F5ABC5505B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200">
                <a:ea typeface="ＭＳ Ｐゴシック" panose="020B0600070205080204" pitchFamily="34" charset="-128"/>
              </a:rPr>
              <a:t>Algoritmo della suddivisione degli elementi della famiglia di presunta compatibilità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68214906-FE82-670D-D784-20C75E5B3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0213" y="1239838"/>
            <a:ext cx="8713787" cy="3667125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Analogo al metodo del partizionamento visto per reti complete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Data una famiglia, si esaminano singolarmente gli insiemi presumibilmente compatibili 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se in uno di questi, S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000">
                <a:ea typeface="ＭＳ Ｐゴシック" panose="020B0600070205080204" pitchFamily="34" charset="-128"/>
              </a:rPr>
              <a:t>, si identificano due stati incompatibili, qi e qi, Sk viene sostituito da due nuovi insiemi, l'uno contenente tutti gli elementi tranne q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e l'altro tutti tranne q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2000">
                <a:ea typeface="ＭＳ Ｐゴシック" panose="020B0600070205080204" pitchFamily="34" charset="-128"/>
              </a:rPr>
              <a:t>, dando così luogo ad una nuova famiglia 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Ad es.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000">
                <a:ea typeface="ＭＳ Ｐゴシック" panose="020B0600070205080204" pitchFamily="34" charset="-128"/>
              </a:rPr>
              <a:t> = 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l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3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4</a:t>
            </a:r>
            <a:r>
              <a:rPr lang="it-IT" altLang="it-IT" sz="2000">
                <a:ea typeface="ＭＳ Ｐゴシック" panose="020B0600070205080204" pitchFamily="34" charset="-128"/>
              </a:rPr>
              <a:t>) ;   se successivamente si verifica che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1  </a:t>
            </a:r>
            <a:r>
              <a:rPr lang="it-IT" altLang="it-IT" sz="1800">
                <a:ea typeface="ＭＳ Ｐゴシック" panose="020B0600070205080204" pitchFamily="34" charset="-128"/>
              </a:rPr>
              <a:t>e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  </a:t>
            </a:r>
            <a:r>
              <a:rPr lang="it-IT" altLang="it-IT" sz="2000">
                <a:ea typeface="ＭＳ Ｐゴシック" panose="020B0600070205080204" pitchFamily="34" charset="-128"/>
              </a:rPr>
              <a:t>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2 </a:t>
            </a:r>
            <a:r>
              <a:rPr lang="it-IT" altLang="it-IT" sz="2000">
                <a:ea typeface="ＭＳ Ｐゴシック" panose="020B0600070205080204" pitchFamily="34" charset="-128"/>
              </a:rPr>
              <a:t> sono incompatibili</a:t>
            </a:r>
          </a:p>
          <a:p>
            <a:pPr lvl="1" eaLnBrk="1" hangingPunct="1"/>
            <a:endParaRPr lang="it-IT" altLang="it-IT" sz="2000">
              <a:ea typeface="ＭＳ Ｐゴシック" panose="020B0600070205080204" pitchFamily="34" charset="-128"/>
            </a:endParaRP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it-IT" altLang="it-IT" sz="2000">
                <a:ea typeface="ＭＳ Ｐゴシック" panose="020B0600070205080204" pitchFamily="34" charset="-128"/>
              </a:rPr>
              <a:t>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k1</a:t>
            </a:r>
            <a:r>
              <a:rPr lang="it-IT" altLang="it-IT" sz="2000">
                <a:ea typeface="ＭＳ Ｐゴシック" panose="020B0600070205080204" pitchFamily="34" charset="-128"/>
              </a:rPr>
              <a:t> = 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l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3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4</a:t>
            </a:r>
            <a:r>
              <a:rPr lang="it-IT" altLang="it-IT" sz="2000">
                <a:ea typeface="ＭＳ Ｐゴシック" panose="020B0600070205080204" pitchFamily="34" charset="-128"/>
              </a:rPr>
              <a:t>)  ; 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k2</a:t>
            </a:r>
            <a:r>
              <a:rPr lang="it-IT" altLang="it-IT" sz="2000">
                <a:ea typeface="ＭＳ Ｐゴシック" panose="020B0600070205080204" pitchFamily="34" charset="-128"/>
              </a:rPr>
              <a:t> = 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3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4</a:t>
            </a:r>
            <a:r>
              <a:rPr lang="it-IT" altLang="it-IT" sz="2000">
                <a:ea typeface="ＭＳ Ｐゴシック" panose="020B0600070205080204" pitchFamily="34" charset="-128"/>
              </a:rPr>
              <a:t>) </a:t>
            </a:r>
          </a:p>
        </p:txBody>
      </p:sp>
      <p:sp>
        <p:nvSpPr>
          <p:cNvPr id="53251" name="Line 4">
            <a:extLst>
              <a:ext uri="{FF2B5EF4-FFF2-40B4-BE49-F238E27FC236}">
                <a16:creationId xmlns:a16="http://schemas.microsoft.com/office/drawing/2014/main" id="{2BB1713C-D6E2-F438-23CE-B547A69D9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968875"/>
            <a:ext cx="1584325" cy="4318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53252" name="Line 5">
            <a:extLst>
              <a:ext uri="{FF2B5EF4-FFF2-40B4-BE49-F238E27FC236}">
                <a16:creationId xmlns:a16="http://schemas.microsoft.com/office/drawing/2014/main" id="{D1955F58-31C7-4797-C5DF-9D0751018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968875"/>
            <a:ext cx="2952750" cy="35877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C13B300-EC99-63AF-13C0-3C45EC383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Algoritmo della suddivisione degli elementi della famiglia di presunta compatibilità</a:t>
            </a:r>
            <a:endParaRPr lang="en-US" altLang="it-IT" sz="2800">
              <a:ea typeface="ＭＳ Ｐゴシック" panose="020B0600070205080204" pitchFamily="34" charset="-128"/>
            </a:endParaRP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021BCA85-4CB6-026B-345A-3E89ACCA8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41425"/>
            <a:ext cx="8910638" cy="5022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TRE PASSI: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Passo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i="1">
                <a:ea typeface="ＭＳ Ｐゴシック" panose="020B0600070205080204" pitchFamily="34" charset="-128"/>
              </a:rPr>
              <a:t>1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Si eliminano le incompatibilità immediatamente evidenti, (per tutti gli ingressi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>
                <a:ea typeface="ＭＳ Ｐゴシック" panose="020B0600070205080204" pitchFamily="34" charset="-128"/>
              </a:rPr>
              <a:t>).</a:t>
            </a:r>
            <a:endParaRPr lang="it-IT" altLang="it-IT" sz="1800" i="1">
              <a:ea typeface="ＭＳ Ｐゴシック" panose="020B0600070205080204" pitchFamily="34" charset="-128"/>
            </a:endParaRPr>
          </a:p>
          <a:p>
            <a:pPr lvl="2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1800">
                <a:ea typeface="ＭＳ Ｐゴシック" panose="020B0600070205080204" pitchFamily="34" charset="-128"/>
              </a:rPr>
              <a:t>ω(q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1800">
                <a:ea typeface="ＭＳ Ｐゴシック" panose="020B0600070205080204" pitchFamily="34" charset="-128"/>
              </a:rPr>
              <a:t>,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>
                <a:ea typeface="ＭＳ Ｐゴシック" panose="020B0600070205080204" pitchFamily="34" charset="-128"/>
              </a:rPr>
              <a:t>) ≠ ω(q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1800">
                <a:ea typeface="ＭＳ Ｐゴシック" panose="020B0600070205080204" pitchFamily="34" charset="-128"/>
              </a:rPr>
              <a:t>,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i="1">
                <a:ea typeface="ＭＳ Ｐゴシック" panose="020B0600070205080204" pitchFamily="34" charset="-128"/>
              </a:rPr>
              <a:t>Passo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i="1">
                <a:ea typeface="ＭＳ Ｐゴシック" panose="020B0600070205080204" pitchFamily="34" charset="-128"/>
              </a:rPr>
              <a:t>2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i="1">
                <a:ea typeface="ＭＳ Ｐゴシック" panose="020B0600070205080204" pitchFamily="34" charset="-128"/>
              </a:rPr>
              <a:t>(aggiunto rispetto al partizionamento)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Si individua una famiglia di insiemi "presumibilmente compatibili", </a:t>
            </a:r>
          </a:p>
          <a:p>
            <a:pPr lvl="2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1800" i="1">
                <a:ea typeface="ＭＳ Ｐゴシック" panose="020B0600070205080204" pitchFamily="34" charset="-128"/>
              </a:rPr>
              <a:t>F= (S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1</a:t>
            </a:r>
            <a:r>
              <a:rPr lang="it-IT" altLang="it-IT" sz="1800" i="1">
                <a:ea typeface="ＭＳ Ｐゴシック" panose="020B0600070205080204" pitchFamily="34" charset="-128"/>
              </a:rPr>
              <a:t>,S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1800" i="1">
                <a:ea typeface="ＭＳ Ｐゴシック" panose="020B0600070205080204" pitchFamily="34" charset="-128"/>
              </a:rPr>
              <a:t>,...,S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m</a:t>
            </a:r>
            <a:r>
              <a:rPr lang="it-IT" altLang="it-IT" sz="1800" i="1">
                <a:ea typeface="ＭＳ Ｐゴシック" panose="020B0600070205080204" pitchFamily="34" charset="-128"/>
              </a:rPr>
              <a:t>),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1800">
                <a:ea typeface="ＭＳ Ｐゴシック" panose="020B0600070205080204" pitchFamily="34" charset="-128"/>
              </a:rPr>
              <a:t>eliminando gli elementi inclusi in altri</a:t>
            </a:r>
            <a:endParaRPr lang="it-IT" altLang="it-IT" sz="18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Passo 3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Si eliminano le incompatibilità dovute ad incompatibilità negli stati seguenti. Per ciascun ingresso ik e ciascun insieme </a:t>
            </a:r>
            <a:r>
              <a:rPr lang="it-IT" altLang="it-IT" sz="1800" i="1">
                <a:ea typeface="ＭＳ Ｐゴシック" panose="020B0600070205080204" pitchFamily="34" charset="-128"/>
              </a:rPr>
              <a:t>Si = 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il</a:t>
            </a:r>
            <a:r>
              <a:rPr lang="it-IT" altLang="it-IT" sz="1800" i="1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i2</a:t>
            </a:r>
            <a:r>
              <a:rPr lang="it-IT" altLang="it-IT" sz="1800" i="1">
                <a:ea typeface="ＭＳ Ｐゴシック" panose="020B0600070205080204" pitchFamily="34" charset="-128"/>
              </a:rPr>
              <a:t>,...,q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in</a:t>
            </a:r>
            <a:r>
              <a:rPr lang="it-IT" altLang="it-IT" sz="1800" i="1">
                <a:ea typeface="ＭＳ Ｐゴシック" panose="020B0600070205080204" pitchFamily="34" charset="-128"/>
              </a:rPr>
              <a:t>), </a:t>
            </a:r>
            <a:r>
              <a:rPr lang="it-IT" altLang="it-IT" sz="1800">
                <a:ea typeface="ＭＳ Ｐゴシック" panose="020B0600070205080204" pitchFamily="34" charset="-128"/>
              </a:rPr>
              <a:t>si forma l'insieme degli stati seguenti</a:t>
            </a:r>
            <a:endParaRPr lang="nl-NL" altLang="it-IT" sz="1800" i="1">
              <a:ea typeface="ＭＳ Ｐゴシック" panose="020B0600070205080204" pitchFamily="34" charset="-128"/>
            </a:endParaRPr>
          </a:p>
          <a:p>
            <a:pPr lvl="2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nl-NL" altLang="it-IT" sz="1800" i="1">
                <a:ea typeface="ＭＳ Ｐゴシック" panose="020B0600070205080204" pitchFamily="34" charset="-128"/>
              </a:rPr>
              <a:t>T(S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i</a:t>
            </a:r>
            <a:r>
              <a:rPr lang="nl-NL" altLang="it-IT" sz="1800" i="1">
                <a:ea typeface="ＭＳ Ｐゴシック" panose="020B0600070205080204" pitchFamily="34" charset="-128"/>
              </a:rPr>
              <a:t>, i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nl-NL" altLang="it-IT" sz="1800" i="1">
                <a:ea typeface="ＭＳ Ｐゴシック" panose="020B0600070205080204" pitchFamily="34" charset="-128"/>
              </a:rPr>
              <a:t>) = (</a:t>
            </a:r>
            <a:r>
              <a:rPr lang="fr-FR" altLang="it-IT" sz="1800" i="1">
                <a:ea typeface="ＭＳ Ｐゴシック" panose="020B0600070205080204" pitchFamily="34" charset="-128"/>
              </a:rPr>
              <a:t>τ</a:t>
            </a:r>
            <a:r>
              <a:rPr lang="nl-NL" altLang="it-IT" sz="1800" i="1">
                <a:ea typeface="ＭＳ Ｐゴシック" panose="020B0600070205080204" pitchFamily="34" charset="-128"/>
              </a:rPr>
              <a:t>(q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i1</a:t>
            </a:r>
            <a:r>
              <a:rPr lang="nl-NL" altLang="it-IT" sz="1800" i="1">
                <a:ea typeface="ＭＳ Ｐゴシック" panose="020B0600070205080204" pitchFamily="34" charset="-128"/>
              </a:rPr>
              <a:t>, i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nl-NL" altLang="it-IT" sz="1800" i="1">
                <a:ea typeface="ＭＳ Ｐゴシック" panose="020B0600070205080204" pitchFamily="34" charset="-128"/>
              </a:rPr>
              <a:t>), </a:t>
            </a:r>
            <a:r>
              <a:rPr lang="fr-FR" altLang="it-IT" sz="1800" i="1">
                <a:ea typeface="ＭＳ Ｐゴシック" panose="020B0600070205080204" pitchFamily="34" charset="-128"/>
              </a:rPr>
              <a:t>τ</a:t>
            </a:r>
            <a:r>
              <a:rPr lang="nl-NL" altLang="it-IT" sz="1800" i="1">
                <a:ea typeface="ＭＳ Ｐゴシック" panose="020B0600070205080204" pitchFamily="34" charset="-128"/>
              </a:rPr>
              <a:t>(q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i2</a:t>
            </a:r>
            <a:r>
              <a:rPr lang="nl-NL" altLang="it-IT" sz="1800" i="1">
                <a:ea typeface="ＭＳ Ｐゴシック" panose="020B0600070205080204" pitchFamily="34" charset="-128"/>
              </a:rPr>
              <a:t>, i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nl-NL" altLang="it-IT" sz="1800" i="1">
                <a:ea typeface="ＭＳ Ｐゴシック" panose="020B0600070205080204" pitchFamily="34" charset="-128"/>
              </a:rPr>
              <a:t>),...,</a:t>
            </a:r>
            <a:r>
              <a:rPr lang="fr-FR" altLang="it-IT" sz="1800" i="1">
                <a:ea typeface="ＭＳ Ｐゴシック" panose="020B0600070205080204" pitchFamily="34" charset="-128"/>
              </a:rPr>
              <a:t>τ</a:t>
            </a:r>
            <a:r>
              <a:rPr lang="nl-NL" altLang="it-IT" sz="1800" i="1">
                <a:ea typeface="ＭＳ Ｐゴシック" panose="020B0600070205080204" pitchFamily="34" charset="-128"/>
              </a:rPr>
              <a:t>(q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in</a:t>
            </a:r>
            <a:r>
              <a:rPr lang="nl-NL" altLang="it-IT" sz="1800" i="1">
                <a:ea typeface="ＭＳ Ｐゴシック" panose="020B0600070205080204" pitchFamily="34" charset="-128"/>
              </a:rPr>
              <a:t>, i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nl-NL" altLang="it-IT" sz="1800" i="1">
                <a:ea typeface="ＭＳ Ｐゴシック" panose="020B0600070205080204" pitchFamily="34" charset="-128"/>
              </a:rPr>
              <a:t>))</a:t>
            </a:r>
            <a:endParaRPr lang="it-IT" altLang="it-IT" sz="1800">
              <a:ea typeface="ＭＳ Ｐゴシック" panose="020B0600070205080204" pitchFamily="34" charset="-128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Se </a:t>
            </a:r>
            <a:r>
              <a:rPr lang="it-IT" altLang="it-IT" sz="1800" i="1">
                <a:ea typeface="ＭＳ Ｐゴシック" panose="020B0600070205080204" pitchFamily="34" charset="-128"/>
              </a:rPr>
              <a:t>T(S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1800" i="1">
                <a:ea typeface="ＭＳ Ｐゴシック" panose="020B0600070205080204" pitchFamily="34" charset="-128"/>
              </a:rPr>
              <a:t>,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 i="1">
                <a:ea typeface="ＭＳ Ｐゴシック" panose="020B0600070205080204" pitchFamily="34" charset="-128"/>
              </a:rPr>
              <a:t>)</a:t>
            </a:r>
            <a:r>
              <a:rPr lang="it-IT" altLang="it-IT" sz="1800" i="1">
                <a:ea typeface="ＭＳ Ｐゴシック" panose="020B0600070205080204" pitchFamily="34" charset="-128"/>
                <a:sym typeface="Symbol" panose="05050102010706020507" pitchFamily="18" charset="2"/>
              </a:rPr>
              <a:t></a:t>
            </a:r>
            <a:r>
              <a:rPr lang="it-IT" altLang="it-IT" sz="1800" i="1">
                <a:ea typeface="ＭＳ Ｐゴシック" panose="020B0600070205080204" pitchFamily="34" charset="-128"/>
              </a:rPr>
              <a:t>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1800">
                <a:ea typeface="ＭＳ Ｐゴシック" panose="020B0600070205080204" pitchFamily="34" charset="-128"/>
              </a:rPr>
              <a:t>, si individua l'incompatibilità, si procede alla suddivisione di </a:t>
            </a:r>
            <a:r>
              <a:rPr lang="it-IT" altLang="it-IT" sz="1800" i="1">
                <a:ea typeface="ＭＳ Ｐゴシック" panose="020B0600070205080204" pitchFamily="34" charset="-128"/>
              </a:rPr>
              <a:t>Si</a:t>
            </a:r>
            <a:r>
              <a:rPr lang="it-IT" altLang="it-IT" sz="1800">
                <a:ea typeface="ＭＳ Ｐゴシック" panose="020B0600070205080204" pitchFamily="34" charset="-128"/>
              </a:rPr>
              <a:t> e si ritorna al passo 2.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Se </a:t>
            </a:r>
            <a:r>
              <a:rPr lang="it-IT" altLang="it-IT" sz="1800" i="1">
                <a:ea typeface="ＭＳ Ｐゴシック" panose="020B0600070205080204" pitchFamily="34" charset="-128"/>
              </a:rPr>
              <a:t>T(S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1800" i="1">
                <a:ea typeface="ＭＳ Ｐゴシック" panose="020B0600070205080204" pitchFamily="34" charset="-128"/>
              </a:rPr>
              <a:t>,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 i="1">
                <a:ea typeface="ＭＳ Ｐゴシック" panose="020B0600070205080204" pitchFamily="34" charset="-128"/>
              </a:rPr>
              <a:t>)</a:t>
            </a:r>
            <a:r>
              <a:rPr lang="it-IT" altLang="it-IT" sz="1800" i="1">
                <a:ea typeface="ＭＳ Ｐゴシック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it-IT" altLang="it-IT" sz="1800" i="1">
                <a:ea typeface="ＭＳ Ｐゴシック" panose="020B0600070205080204" pitchFamily="34" charset="-128"/>
              </a:rPr>
              <a:t>S </a:t>
            </a:r>
            <a:r>
              <a:rPr lang="it-IT" altLang="it-IT" sz="1800">
                <a:ea typeface="ＭＳ Ｐゴシック" panose="020B0600070205080204" pitchFamily="34" charset="-128"/>
              </a:rPr>
              <a:t>per tutti gli elementi di F e per tutti gli ingressi, il procedimento ha termine.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FE5B5A0B-97E7-960C-F534-A93ED2281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8" y="96838"/>
            <a:ext cx="9280525" cy="860425"/>
          </a:xfrm>
        </p:spPr>
        <p:txBody>
          <a:bodyPr/>
          <a:lstStyle/>
          <a:p>
            <a:pPr eaLnBrk="1" hangingPunct="1"/>
            <a:r>
              <a:rPr lang="en-US" altLang="it-IT" sz="4000">
                <a:ea typeface="ＭＳ Ｐゴシック" panose="020B0600070205080204" pitchFamily="34" charset="-128"/>
              </a:rPr>
              <a:t>Macchina incompletamente specificata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A6D89507-8098-8787-53ED-8F0D5F8F7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1096963"/>
            <a:ext cx="9217025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Paull Unger esteso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Le relazioni di compatibilità possono essere ricavate dalla </a:t>
            </a:r>
            <a:r>
              <a:rPr lang="en-US" altLang="it-IT" b="1">
                <a:ea typeface="ＭＳ Ｐゴシック" panose="020B0600070205080204" pitchFamily="34" charset="-128"/>
              </a:rPr>
              <a:t>Tabella delle implicazioni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viene compilata come avviene nel caso delle macchine completamente specificate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Ogni elemento della tabella contiene: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Il simbolo di compatibilità se gli stati corrispondenti sono compatibili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Il simbolo di non compatibilità se gli stati corrispondenti non sono compatibili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Le coppie di stati a cui si rimanda la verifica se non è possibile stabilire la compatibilità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0F4AF2E-30D9-BD55-F450-AC7D20264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96838"/>
            <a:ext cx="9029700" cy="860425"/>
          </a:xfrm>
        </p:spPr>
        <p:txBody>
          <a:bodyPr/>
          <a:lstStyle/>
          <a:p>
            <a:pPr eaLnBrk="1" hangingPunct="1"/>
            <a:r>
              <a:rPr lang="en-US" altLang="it-IT" sz="4000">
                <a:ea typeface="ＭＳ Ｐゴシック" panose="020B0600070205080204" pitchFamily="34" charset="-128"/>
              </a:rPr>
              <a:t>Macchina incompletamente specificata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35952DB0-DBB8-8919-7AE5-700C13B69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1241425"/>
            <a:ext cx="9504363" cy="4735513"/>
          </a:xfrm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Passi: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>
                <a:ea typeface="ＭＳ Ｐゴシック" panose="020B0600070205080204" pitchFamily="34" charset="-128"/>
              </a:rPr>
              <a:t>Si barrano le caselle i cui stati seguenti sono incompatibili (piuttosto che disequivalenti)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>
                <a:ea typeface="ＭＳ Ｐゴシック" panose="020B0600070205080204" pitchFamily="34" charset="-128"/>
              </a:rPr>
              <a:t>Si determinano le coppie compatibili come per le macchine complete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 b="1" i="1">
                <a:ea typeface="ＭＳ Ｐゴシック" panose="020B0600070205080204" pitchFamily="34" charset="-128"/>
              </a:rPr>
              <a:t>Si costruisce la famiglia degli insiemi massimi (F)</a:t>
            </a:r>
          </a:p>
          <a:p>
            <a:pPr marL="1219200" lvl="2" indent="-3048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>
                <a:ea typeface="ＭＳ Ｐゴシック" panose="020B0600070205080204" pitchFamily="34" charset="-128"/>
              </a:rPr>
              <a:t>Si prendono in esame ordinatamente tutti gli stati della macchina e, per ciascuno di essi (q):</a:t>
            </a:r>
          </a:p>
          <a:p>
            <a:pPr marL="1638300" lvl="3" indent="-266700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aggiungono ad F tutte le coppie di compatibilità di q;</a:t>
            </a:r>
          </a:p>
          <a:p>
            <a:pPr marL="1638300" lvl="3" indent="-266700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q viene confrontato con tutti gli stati di ciascun elemento E di F e se compatibile con tutti, E si accresce di q, se compatibile solo con alcuni, si genera un nuovo elemento di F </a:t>
            </a:r>
          </a:p>
          <a:p>
            <a:pPr marL="1638300" lvl="3" indent="-266700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eliminano da F gli elementi inclusi in altri</a:t>
            </a:r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olo 4">
            <a:extLst>
              <a:ext uri="{FF2B5EF4-FFF2-40B4-BE49-F238E27FC236}">
                <a16:creationId xmlns:a16="http://schemas.microsoft.com/office/drawing/2014/main" id="{7CDFF375-0C22-9438-C03F-D4B172A7FC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43013" y="877888"/>
            <a:ext cx="7845425" cy="957262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Esempi di minimizzazioni</a:t>
            </a:r>
            <a:br>
              <a:rPr lang="it-IT" altLang="it-IT">
                <a:ea typeface="ＭＳ Ｐゴシック" panose="020B0600070205080204" pitchFamily="34" charset="-128"/>
              </a:rPr>
            </a:b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7346" name="Sottotitolo 5">
            <a:extLst>
              <a:ext uri="{FF2B5EF4-FFF2-40B4-BE49-F238E27FC236}">
                <a16:creationId xmlns:a16="http://schemas.microsoft.com/office/drawing/2014/main" id="{3BFF0B08-72FF-05CC-1D2F-774081FE34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55725" y="2546350"/>
            <a:ext cx="7392988" cy="282892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Macchine completamente specificate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Macchine incompletamente specificate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7347" name="Segnaposto numero diapositiva 3">
            <a:extLst>
              <a:ext uri="{FF2B5EF4-FFF2-40B4-BE49-F238E27FC236}">
                <a16:creationId xmlns:a16="http://schemas.microsoft.com/office/drawing/2014/main" id="{F94535C1-934A-6562-5D45-0D94F539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D175B4-543B-4EE2-BC7C-3AF7A45F4D7F}" type="slidenum">
              <a:rPr lang="it-IT" altLang="it-IT" sz="1400">
                <a:solidFill>
                  <a:schemeClr val="folHlin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it-IT" altLang="it-IT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ED1CC09B-B2F4-8872-986F-BD6953683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9738" y="161925"/>
            <a:ext cx="9029700" cy="860425"/>
          </a:xfrm>
          <a:noFill/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Esempio 1: Riconoscitore di codice 8-4-2-1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1B01B7E6-7340-FD18-D8A0-17BB81F26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58371" name="Rectangle 5">
            <a:extLst>
              <a:ext uri="{FF2B5EF4-FFF2-40B4-BE49-F238E27FC236}">
                <a16:creationId xmlns:a16="http://schemas.microsoft.com/office/drawing/2014/main" id="{121A4D9B-D52F-34B9-6840-7C5DC5430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5938" y="1093788"/>
            <a:ext cx="8750300" cy="4813300"/>
          </a:xfrm>
        </p:spPr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Costruire una rete nella quale entrano serialmente i bit di un codice decimale 8-4-2-1 a partire dal bit meno significativo e dalla quale esce un segnale impulsivo che individua se i quattro bit costituiscono o meno una delle 10 parole-codice previste </a:t>
            </a:r>
          </a:p>
          <a:p>
            <a:pPr algn="just"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8372" name="Rectangle 6">
            <a:extLst>
              <a:ext uri="{FF2B5EF4-FFF2-40B4-BE49-F238E27FC236}">
                <a16:creationId xmlns:a16="http://schemas.microsoft.com/office/drawing/2014/main" id="{45C14012-8137-5696-7F98-73A378751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5097463"/>
            <a:ext cx="3859212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it-IT" altLang="it-IT" sz="2000" i="1">
                <a:solidFill>
                  <a:schemeClr val="tx2"/>
                </a:solidFill>
              </a:rPr>
              <a:t>Riferimento: </a:t>
            </a:r>
            <a:r>
              <a:rPr lang="it-IT" altLang="it-IT" sz="2000">
                <a:solidFill>
                  <a:schemeClr val="tx2"/>
                </a:solidFill>
              </a:rPr>
              <a:t>“Reti logiche-Complementi ed Esercizi” CAP 5, es n.6</a:t>
            </a:r>
          </a:p>
        </p:txBody>
      </p:sp>
      <p:grpSp>
        <p:nvGrpSpPr>
          <p:cNvPr id="58373" name="Group 24">
            <a:extLst>
              <a:ext uri="{FF2B5EF4-FFF2-40B4-BE49-F238E27FC236}">
                <a16:creationId xmlns:a16="http://schemas.microsoft.com/office/drawing/2014/main" id="{89A58BF1-64C7-A8C3-87F8-85C397EA2BCF}"/>
              </a:ext>
            </a:extLst>
          </p:cNvPr>
          <p:cNvGrpSpPr>
            <a:grpSpLocks/>
          </p:cNvGrpSpPr>
          <p:nvPr/>
        </p:nvGrpSpPr>
        <p:grpSpPr bwMode="auto">
          <a:xfrm>
            <a:off x="360363" y="3429000"/>
            <a:ext cx="4211637" cy="2606675"/>
            <a:chOff x="-1001" y="1699"/>
            <a:chExt cx="3143" cy="1978"/>
          </a:xfrm>
        </p:grpSpPr>
        <p:grpSp>
          <p:nvGrpSpPr>
            <p:cNvPr id="58374" name="Group 22">
              <a:extLst>
                <a:ext uri="{FF2B5EF4-FFF2-40B4-BE49-F238E27FC236}">
                  <a16:creationId xmlns:a16="http://schemas.microsoft.com/office/drawing/2014/main" id="{F0FE4695-C3A6-7109-118E-D417F919E1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001" y="1699"/>
              <a:ext cx="3017" cy="1978"/>
              <a:chOff x="-1001" y="1699"/>
              <a:chExt cx="3017" cy="1978"/>
            </a:xfrm>
          </p:grpSpPr>
          <p:grpSp>
            <p:nvGrpSpPr>
              <p:cNvPr id="58376" name="Group 19">
                <a:extLst>
                  <a:ext uri="{FF2B5EF4-FFF2-40B4-BE49-F238E27FC236}">
                    <a16:creationId xmlns:a16="http://schemas.microsoft.com/office/drawing/2014/main" id="{FFD6F06B-7241-398E-5267-A5BB2CED46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001" y="1699"/>
                <a:ext cx="1353" cy="1978"/>
                <a:chOff x="-1001" y="1699"/>
                <a:chExt cx="1353" cy="1978"/>
              </a:xfrm>
            </p:grpSpPr>
            <p:graphicFrame>
              <p:nvGraphicFramePr>
                <p:cNvPr id="58378" name="Object 16">
                  <a:extLst>
                    <a:ext uri="{FF2B5EF4-FFF2-40B4-BE49-F238E27FC236}">
                      <a16:creationId xmlns:a16="http://schemas.microsoft.com/office/drawing/2014/main" id="{C192D38F-DBEE-53A2-0A32-4757A686878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-1001" y="1699"/>
                <a:ext cx="1353" cy="19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Immagine" r:id="rId2" imgW="0" imgH="0" progId="Word.Picture.8">
                        <p:embed/>
                      </p:oleObj>
                    </mc:Choice>
                    <mc:Fallback>
                      <p:oleObj name="Immagine" r:id="rId2" imgW="0" imgH="0" progId="Word.Picture.8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5435" t="12163" r="60976" b="3476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1001" y="1699"/>
                              <a:ext cx="1353" cy="19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8379" name="Line 18">
                  <a:extLst>
                    <a:ext uri="{FF2B5EF4-FFF2-40B4-BE49-F238E27FC236}">
                      <a16:creationId xmlns:a16="http://schemas.microsoft.com/office/drawing/2014/main" id="{D650A800-2EB8-927D-3039-E256E01148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001" y="1699"/>
                  <a:ext cx="13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8377" name="Line 21">
                <a:extLst>
                  <a:ext uri="{FF2B5EF4-FFF2-40B4-BE49-F238E27FC236}">
                    <a16:creationId xmlns:a16="http://schemas.microsoft.com/office/drawing/2014/main" id="{CA88BBFE-8D58-154F-7893-BC109A72F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166"/>
                <a:ext cx="0" cy="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375" name="Rectangle 23">
              <a:extLst>
                <a:ext uri="{FF2B5EF4-FFF2-40B4-BE49-F238E27FC236}">
                  <a16:creationId xmlns:a16="http://schemas.microsoft.com/office/drawing/2014/main" id="{51E78834-4459-151E-8D59-81FB2C1C6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130"/>
              <a:ext cx="1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08585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42875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177165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2288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6860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1432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6004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24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E014DED-7961-5FDA-2DED-099DF1E425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9180513" cy="503238"/>
          </a:xfrm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Esempio 1</a:t>
            </a:r>
            <a:endParaRPr lang="en-US" altLang="it-IT" sz="3600">
              <a:ea typeface="ＭＳ Ｐゴシック" panose="020B0600070205080204" pitchFamily="34" charset="-128"/>
            </a:endParaRP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A67A7682-3766-FC7B-9FB5-09DA06256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26988" y="1168400"/>
            <a:ext cx="8459788" cy="3667125"/>
          </a:xfrm>
        </p:spPr>
        <p:txBody>
          <a:bodyPr/>
          <a:lstStyle/>
          <a:p>
            <a:pPr eaLnBrk="1" hangingPunct="1"/>
            <a:r>
              <a:rPr lang="en-US" altLang="it-IT" sz="2400">
                <a:ea typeface="ＭＳ Ｐゴシック" panose="020B0600070205080204" pitchFamily="34" charset="-128"/>
              </a:rPr>
              <a:t>Procediamo per elencazione di tutti le possibili sequenze</a:t>
            </a:r>
            <a:r>
              <a:rPr lang="en-US" altLang="it-IT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Individuiamo tutti i possibili stati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Partizioniamo rispetto alle uscite</a:t>
            </a:r>
          </a:p>
        </p:txBody>
      </p:sp>
      <p:pic>
        <p:nvPicPr>
          <p:cNvPr id="59395" name="Picture 5">
            <a:extLst>
              <a:ext uri="{FF2B5EF4-FFF2-40B4-BE49-F238E27FC236}">
                <a16:creationId xmlns:a16="http://schemas.microsoft.com/office/drawing/2014/main" id="{274E8EFC-3072-E736-E785-2F32B10BD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113" y="1905000"/>
            <a:ext cx="272415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AutoShape 6">
            <a:extLst>
              <a:ext uri="{FF2B5EF4-FFF2-40B4-BE49-F238E27FC236}">
                <a16:creationId xmlns:a16="http://schemas.microsoft.com/office/drawing/2014/main" id="{AA1D7345-0C2F-DE14-A458-995A39DFE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1668463"/>
            <a:ext cx="1368425" cy="6477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59397" name="AutoShape 7">
            <a:extLst>
              <a:ext uri="{FF2B5EF4-FFF2-40B4-BE49-F238E27FC236}">
                <a16:creationId xmlns:a16="http://schemas.microsoft.com/office/drawing/2014/main" id="{65E10E51-B5D4-3ED0-C6F9-26D539462B20}"/>
              </a:ext>
            </a:extLst>
          </p:cNvPr>
          <p:cNvSpPr>
            <a:spLocks noChangeArrowheads="1"/>
          </p:cNvSpPr>
          <p:nvPr/>
        </p:nvSpPr>
        <p:spPr bwMode="auto">
          <a:xfrm rot="2512674">
            <a:off x="1744663" y="2855913"/>
            <a:ext cx="936625" cy="53975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pic>
        <p:nvPicPr>
          <p:cNvPr id="59398" name="Picture 8">
            <a:extLst>
              <a:ext uri="{FF2B5EF4-FFF2-40B4-BE49-F238E27FC236}">
                <a16:creationId xmlns:a16="http://schemas.microsoft.com/office/drawing/2014/main" id="{370D180B-A97A-B1B3-5BF0-F5D75E41E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2808288"/>
            <a:ext cx="2144712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29B35E78-B3CC-FDB7-AFBA-55E880EDF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9037638" cy="503238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Esempio 1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87EAC4C7-91A7-7758-A219-70C442655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463" y="1073150"/>
            <a:ext cx="8459787" cy="3667125"/>
          </a:xfrm>
        </p:spPr>
        <p:txBody>
          <a:bodyPr/>
          <a:lstStyle/>
          <a:p>
            <a:pPr eaLnBrk="1" hangingPunct="1"/>
            <a:r>
              <a:rPr lang="en-US" altLang="it-IT" sz="2800">
                <a:ea typeface="ＭＳ Ｐゴシック" panose="020B0600070205080204" pitchFamily="34" charset="-128"/>
              </a:rPr>
              <a:t>Eliminiamo le righe uguali </a:t>
            </a:r>
          </a:p>
          <a:p>
            <a:pPr lvl="1" eaLnBrk="1" hangingPunct="1"/>
            <a:r>
              <a:rPr lang="en-US" altLang="it-IT" sz="2400">
                <a:ea typeface="ＭＳ Ｐゴシック" panose="020B0600070205080204" pitchFamily="34" charset="-128"/>
              </a:rPr>
              <a:t>ne resta soltanto una e lo stato non eliminato (ad es. 7) viene sostituito a tutti quelli eliminati nella colonna degli stati futuri</a:t>
            </a:r>
          </a:p>
          <a:p>
            <a:pPr lvl="1" eaLnBrk="1" hangingPunct="1"/>
            <a:endParaRPr lang="en-US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60419" name="AutoShape 5">
            <a:extLst>
              <a:ext uri="{FF2B5EF4-FFF2-40B4-BE49-F238E27FC236}">
                <a16:creationId xmlns:a16="http://schemas.microsoft.com/office/drawing/2014/main" id="{C8C0F69C-EF40-D810-F8BC-BC68A6C87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887788"/>
            <a:ext cx="1368425" cy="6477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pic>
        <p:nvPicPr>
          <p:cNvPr id="60420" name="Picture 6">
            <a:extLst>
              <a:ext uri="{FF2B5EF4-FFF2-40B4-BE49-F238E27FC236}">
                <a16:creationId xmlns:a16="http://schemas.microsoft.com/office/drawing/2014/main" id="{A6A38CE5-7C6F-DA61-4A15-4DB142B7A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988" y="2879725"/>
            <a:ext cx="2262187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7">
            <a:extLst>
              <a:ext uri="{FF2B5EF4-FFF2-40B4-BE49-F238E27FC236}">
                <a16:creationId xmlns:a16="http://schemas.microsoft.com/office/drawing/2014/main" id="{37FB770C-9C36-17C7-98E3-034502C77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808288"/>
            <a:ext cx="2144713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Line 8">
            <a:extLst>
              <a:ext uri="{FF2B5EF4-FFF2-40B4-BE49-F238E27FC236}">
                <a16:creationId xmlns:a16="http://schemas.microsoft.com/office/drawing/2014/main" id="{43DCB037-DAAA-5FD3-264D-E2ED9B055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824413"/>
            <a:ext cx="2160587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3" name="Line 9">
            <a:extLst>
              <a:ext uri="{FF2B5EF4-FFF2-40B4-BE49-F238E27FC236}">
                <a16:creationId xmlns:a16="http://schemas.microsoft.com/office/drawing/2014/main" id="{DF2113F5-C9AD-B977-B8DC-9CFE9C97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5040313"/>
            <a:ext cx="2160587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4" name="Line 10">
            <a:extLst>
              <a:ext uri="{FF2B5EF4-FFF2-40B4-BE49-F238E27FC236}">
                <a16:creationId xmlns:a16="http://schemas.microsoft.com/office/drawing/2014/main" id="{1D0CE631-E6A8-37E9-2B65-DD45FC6BB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256213"/>
            <a:ext cx="2160588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5" name="Line 11">
            <a:extLst>
              <a:ext uri="{FF2B5EF4-FFF2-40B4-BE49-F238E27FC236}">
                <a16:creationId xmlns:a16="http://schemas.microsoft.com/office/drawing/2014/main" id="{378C8E88-B435-6172-5AFE-F1F2F95BC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472113"/>
            <a:ext cx="2160588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6" name="Line 12">
            <a:extLst>
              <a:ext uri="{FF2B5EF4-FFF2-40B4-BE49-F238E27FC236}">
                <a16:creationId xmlns:a16="http://schemas.microsoft.com/office/drawing/2014/main" id="{520ABD4C-4367-74B5-9290-D923227589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5688013"/>
            <a:ext cx="2160587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7" name="Line 13">
            <a:extLst>
              <a:ext uri="{FF2B5EF4-FFF2-40B4-BE49-F238E27FC236}">
                <a16:creationId xmlns:a16="http://schemas.microsoft.com/office/drawing/2014/main" id="{E7532CB5-9F09-6C24-CBBC-ABB63D1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6119813"/>
            <a:ext cx="2160588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8" name="Line 14">
            <a:extLst>
              <a:ext uri="{FF2B5EF4-FFF2-40B4-BE49-F238E27FC236}">
                <a16:creationId xmlns:a16="http://schemas.microsoft.com/office/drawing/2014/main" id="{8FBA08A1-2709-0440-2019-DA79BAF8F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9213" y="4824413"/>
            <a:ext cx="649287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9" name="Text Box 15">
            <a:extLst>
              <a:ext uri="{FF2B5EF4-FFF2-40B4-BE49-F238E27FC236}">
                <a16:creationId xmlns:a16="http://schemas.microsoft.com/office/drawing/2014/main" id="{2D9931FF-C9B7-FFED-B97E-B89B3D3A9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350" y="4679950"/>
            <a:ext cx="1079500" cy="371475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1800">
                <a:solidFill>
                  <a:srgbClr val="FF0000"/>
                </a:solidFill>
              </a:rPr>
              <a:t>non 14!! </a:t>
            </a:r>
          </a:p>
        </p:txBody>
      </p:sp>
      <p:sp>
        <p:nvSpPr>
          <p:cNvPr id="60430" name="Line 16">
            <a:extLst>
              <a:ext uri="{FF2B5EF4-FFF2-40B4-BE49-F238E27FC236}">
                <a16:creationId xmlns:a16="http://schemas.microsoft.com/office/drawing/2014/main" id="{E93F4B90-92CC-0656-F3FF-76DE73F9C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775" y="4032250"/>
            <a:ext cx="649288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31" name="Text Box 17">
            <a:extLst>
              <a:ext uri="{FF2B5EF4-FFF2-40B4-BE49-F238E27FC236}">
                <a16:creationId xmlns:a16="http://schemas.microsoft.com/office/drawing/2014/main" id="{29253807-8677-5900-DCD3-9BFF7309D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3887788"/>
            <a:ext cx="1079500" cy="40163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000">
                <a:solidFill>
                  <a:srgbClr val="FF0000"/>
                </a:solidFill>
              </a:rPr>
              <a:t>non 8!!* </a:t>
            </a:r>
          </a:p>
        </p:txBody>
      </p:sp>
      <p:sp>
        <p:nvSpPr>
          <p:cNvPr id="60432" name="Rettangolo 18">
            <a:extLst>
              <a:ext uri="{FF2B5EF4-FFF2-40B4-BE49-F238E27FC236}">
                <a16:creationId xmlns:a16="http://schemas.microsoft.com/office/drawing/2014/main" id="{A5CF09B3-1A69-2E75-1926-45053B351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5754688"/>
            <a:ext cx="48577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4161750" indent="-24161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2000">
                <a:solidFill>
                  <a:srgbClr val="FF0000"/>
                </a:solidFill>
              </a:rPr>
              <a:t>* Lo stesso vale per 9, 11, 12 e 13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BC646B42-FA9E-0D6F-1060-3C8F6C66C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9180513" cy="503238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Esempio 1</a:t>
            </a:r>
          </a:p>
        </p:txBody>
      </p:sp>
      <p:sp>
        <p:nvSpPr>
          <p:cNvPr id="61442" name="Rectangle 4">
            <a:extLst>
              <a:ext uri="{FF2B5EF4-FFF2-40B4-BE49-F238E27FC236}">
                <a16:creationId xmlns:a16="http://schemas.microsoft.com/office/drawing/2014/main" id="{7169235E-B06E-617E-A217-900A706D1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241425"/>
            <a:ext cx="8748713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it-IT" sz="2800">
                <a:solidFill>
                  <a:schemeClr val="tx2"/>
                </a:solidFill>
              </a:rPr>
              <a:t>Tracciamo la tabella delle implicazioni</a:t>
            </a:r>
            <a:endParaRPr lang="en-US" altLang="it-IT" sz="2400">
              <a:solidFill>
                <a:schemeClr val="tx2"/>
              </a:solidFill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endParaRPr lang="en-US" altLang="it-IT" sz="2800">
              <a:solidFill>
                <a:schemeClr val="tx2"/>
              </a:solidFill>
            </a:endParaRPr>
          </a:p>
        </p:txBody>
      </p:sp>
      <p:pic>
        <p:nvPicPr>
          <p:cNvPr id="61443" name="Picture 5">
            <a:extLst>
              <a:ext uri="{FF2B5EF4-FFF2-40B4-BE49-F238E27FC236}">
                <a16:creationId xmlns:a16="http://schemas.microsoft.com/office/drawing/2014/main" id="{F78FB786-BA82-50DF-5E41-6B539C4B66F7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2275" y="2232025"/>
            <a:ext cx="6965950" cy="3624263"/>
          </a:xfrm>
        </p:spPr>
      </p:pic>
      <p:grpSp>
        <p:nvGrpSpPr>
          <p:cNvPr id="61444" name="Group 6">
            <a:extLst>
              <a:ext uri="{FF2B5EF4-FFF2-40B4-BE49-F238E27FC236}">
                <a16:creationId xmlns:a16="http://schemas.microsoft.com/office/drawing/2014/main" id="{F06B901B-B049-4710-BB4E-F23969C4ABF9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4319588"/>
            <a:ext cx="647700" cy="431800"/>
            <a:chOff x="4513" y="1633"/>
            <a:chExt cx="408" cy="272"/>
          </a:xfrm>
        </p:grpSpPr>
        <p:sp>
          <p:nvSpPr>
            <p:cNvPr id="61496" name="Line 7">
              <a:extLst>
                <a:ext uri="{FF2B5EF4-FFF2-40B4-BE49-F238E27FC236}">
                  <a16:creationId xmlns:a16="http://schemas.microsoft.com/office/drawing/2014/main" id="{6607C506-C871-0FD3-5ACF-822A5B0C2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97" name="Line 8">
              <a:extLst>
                <a:ext uri="{FF2B5EF4-FFF2-40B4-BE49-F238E27FC236}">
                  <a16:creationId xmlns:a16="http://schemas.microsoft.com/office/drawing/2014/main" id="{5AC7A100-3458-987D-904E-D9FC284ECC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5" name="Group 9">
            <a:extLst>
              <a:ext uri="{FF2B5EF4-FFF2-40B4-BE49-F238E27FC236}">
                <a16:creationId xmlns:a16="http://schemas.microsoft.com/office/drawing/2014/main" id="{FDAF3C56-0F75-BB17-8DCC-41DBB4E4CA80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3887788"/>
            <a:ext cx="647700" cy="431800"/>
            <a:chOff x="4513" y="1633"/>
            <a:chExt cx="408" cy="272"/>
          </a:xfrm>
        </p:grpSpPr>
        <p:sp>
          <p:nvSpPr>
            <p:cNvPr id="61494" name="Line 10">
              <a:extLst>
                <a:ext uri="{FF2B5EF4-FFF2-40B4-BE49-F238E27FC236}">
                  <a16:creationId xmlns:a16="http://schemas.microsoft.com/office/drawing/2014/main" id="{AC4DC2B2-9944-5C7D-3F14-CC77CBB24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95" name="Line 11">
              <a:extLst>
                <a:ext uri="{FF2B5EF4-FFF2-40B4-BE49-F238E27FC236}">
                  <a16:creationId xmlns:a16="http://schemas.microsoft.com/office/drawing/2014/main" id="{27912D17-6640-DCEF-CB8A-0F9AF2F1A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6" name="Group 12">
            <a:extLst>
              <a:ext uri="{FF2B5EF4-FFF2-40B4-BE49-F238E27FC236}">
                <a16:creationId xmlns:a16="http://schemas.microsoft.com/office/drawing/2014/main" id="{F3FB9054-9D91-30BE-E176-C3219F84EE70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4319588"/>
            <a:ext cx="647700" cy="431800"/>
            <a:chOff x="4513" y="1633"/>
            <a:chExt cx="408" cy="272"/>
          </a:xfrm>
        </p:grpSpPr>
        <p:sp>
          <p:nvSpPr>
            <p:cNvPr id="61492" name="Line 13">
              <a:extLst>
                <a:ext uri="{FF2B5EF4-FFF2-40B4-BE49-F238E27FC236}">
                  <a16:creationId xmlns:a16="http://schemas.microsoft.com/office/drawing/2014/main" id="{C833FB8D-F7BA-611A-9C73-37D0A8AA4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93" name="Line 14">
              <a:extLst>
                <a:ext uri="{FF2B5EF4-FFF2-40B4-BE49-F238E27FC236}">
                  <a16:creationId xmlns:a16="http://schemas.microsoft.com/office/drawing/2014/main" id="{46B4AC09-B51B-8075-DF56-BF5E64F782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7" name="Group 15">
            <a:extLst>
              <a:ext uri="{FF2B5EF4-FFF2-40B4-BE49-F238E27FC236}">
                <a16:creationId xmlns:a16="http://schemas.microsoft.com/office/drawing/2014/main" id="{8914D27D-4FA7-AF8B-7E02-CE15DC994D30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4319588"/>
            <a:ext cx="647700" cy="431800"/>
            <a:chOff x="4513" y="1633"/>
            <a:chExt cx="408" cy="272"/>
          </a:xfrm>
        </p:grpSpPr>
        <p:sp>
          <p:nvSpPr>
            <p:cNvPr id="61490" name="Line 16">
              <a:extLst>
                <a:ext uri="{FF2B5EF4-FFF2-40B4-BE49-F238E27FC236}">
                  <a16:creationId xmlns:a16="http://schemas.microsoft.com/office/drawing/2014/main" id="{215CC695-D4E7-8CD1-1E7F-2163B32C3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91" name="Line 17">
              <a:extLst>
                <a:ext uri="{FF2B5EF4-FFF2-40B4-BE49-F238E27FC236}">
                  <a16:creationId xmlns:a16="http://schemas.microsoft.com/office/drawing/2014/main" id="{9568C963-9E76-A72F-ADD0-463F6D40C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8" name="Group 18">
            <a:extLst>
              <a:ext uri="{FF2B5EF4-FFF2-40B4-BE49-F238E27FC236}">
                <a16:creationId xmlns:a16="http://schemas.microsoft.com/office/drawing/2014/main" id="{E034F6EC-35F1-1DC4-352F-262D1F42F4BC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4319588"/>
            <a:ext cx="647700" cy="431800"/>
            <a:chOff x="4513" y="1633"/>
            <a:chExt cx="408" cy="272"/>
          </a:xfrm>
        </p:grpSpPr>
        <p:sp>
          <p:nvSpPr>
            <p:cNvPr id="61488" name="Line 19">
              <a:extLst>
                <a:ext uri="{FF2B5EF4-FFF2-40B4-BE49-F238E27FC236}">
                  <a16:creationId xmlns:a16="http://schemas.microsoft.com/office/drawing/2014/main" id="{45F5FE89-BE83-E2F0-F5D9-211945F50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9" name="Line 20">
              <a:extLst>
                <a:ext uri="{FF2B5EF4-FFF2-40B4-BE49-F238E27FC236}">
                  <a16:creationId xmlns:a16="http://schemas.microsoft.com/office/drawing/2014/main" id="{9C2DEDFE-2AAC-FA4C-BC02-0ECE1A16CD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9" name="Group 21">
            <a:extLst>
              <a:ext uri="{FF2B5EF4-FFF2-40B4-BE49-F238E27FC236}">
                <a16:creationId xmlns:a16="http://schemas.microsoft.com/office/drawing/2014/main" id="{30005ECD-9BB4-354E-2ED0-44F80A7FF004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4248150"/>
            <a:ext cx="647700" cy="431800"/>
            <a:chOff x="4513" y="1633"/>
            <a:chExt cx="408" cy="272"/>
          </a:xfrm>
        </p:grpSpPr>
        <p:sp>
          <p:nvSpPr>
            <p:cNvPr id="61486" name="Line 22">
              <a:extLst>
                <a:ext uri="{FF2B5EF4-FFF2-40B4-BE49-F238E27FC236}">
                  <a16:creationId xmlns:a16="http://schemas.microsoft.com/office/drawing/2014/main" id="{94BEC507-EAD6-AB4F-5AF9-538AF8AA1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7" name="Line 23">
              <a:extLst>
                <a:ext uri="{FF2B5EF4-FFF2-40B4-BE49-F238E27FC236}">
                  <a16:creationId xmlns:a16="http://schemas.microsoft.com/office/drawing/2014/main" id="{90A55A70-2DD5-13BF-E029-4CAB1E13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0" name="Group 24">
            <a:extLst>
              <a:ext uri="{FF2B5EF4-FFF2-40B4-BE49-F238E27FC236}">
                <a16:creationId xmlns:a16="http://schemas.microsoft.com/office/drawing/2014/main" id="{28C0200E-05C7-843A-5C3C-0D43DAACA22D}"/>
              </a:ext>
            </a:extLst>
          </p:cNvPr>
          <p:cNvGrpSpPr>
            <a:grpSpLocks/>
          </p:cNvGrpSpPr>
          <p:nvPr/>
        </p:nvGrpSpPr>
        <p:grpSpPr bwMode="auto">
          <a:xfrm>
            <a:off x="2627313" y="3887788"/>
            <a:ext cx="647700" cy="431800"/>
            <a:chOff x="4513" y="1633"/>
            <a:chExt cx="408" cy="272"/>
          </a:xfrm>
        </p:grpSpPr>
        <p:sp>
          <p:nvSpPr>
            <p:cNvPr id="61484" name="Line 25">
              <a:extLst>
                <a:ext uri="{FF2B5EF4-FFF2-40B4-BE49-F238E27FC236}">
                  <a16:creationId xmlns:a16="http://schemas.microsoft.com/office/drawing/2014/main" id="{4341008A-99FC-C064-2811-7C4D63B22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5" name="Line 26">
              <a:extLst>
                <a:ext uri="{FF2B5EF4-FFF2-40B4-BE49-F238E27FC236}">
                  <a16:creationId xmlns:a16="http://schemas.microsoft.com/office/drawing/2014/main" id="{74BBFDFA-F477-6D12-1414-E288344855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1" name="Group 27">
            <a:extLst>
              <a:ext uri="{FF2B5EF4-FFF2-40B4-BE49-F238E27FC236}">
                <a16:creationId xmlns:a16="http://schemas.microsoft.com/office/drawing/2014/main" id="{E560B93A-8675-8066-6BCD-40E254DC3589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3960813"/>
            <a:ext cx="647700" cy="431800"/>
            <a:chOff x="4513" y="1633"/>
            <a:chExt cx="408" cy="272"/>
          </a:xfrm>
        </p:grpSpPr>
        <p:sp>
          <p:nvSpPr>
            <p:cNvPr id="61482" name="Line 28">
              <a:extLst>
                <a:ext uri="{FF2B5EF4-FFF2-40B4-BE49-F238E27FC236}">
                  <a16:creationId xmlns:a16="http://schemas.microsoft.com/office/drawing/2014/main" id="{5B9A8E42-B881-B02F-C06F-180599E05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3" name="Line 29">
              <a:extLst>
                <a:ext uri="{FF2B5EF4-FFF2-40B4-BE49-F238E27FC236}">
                  <a16:creationId xmlns:a16="http://schemas.microsoft.com/office/drawing/2014/main" id="{6B3D9682-3BDC-0B95-B741-A3E14AD67C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2" name="Group 30">
            <a:extLst>
              <a:ext uri="{FF2B5EF4-FFF2-40B4-BE49-F238E27FC236}">
                <a16:creationId xmlns:a16="http://schemas.microsoft.com/office/drawing/2014/main" id="{D786CD2A-E09B-D509-AAA8-7D9D0AF735AE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3960813"/>
            <a:ext cx="647700" cy="431800"/>
            <a:chOff x="4513" y="1633"/>
            <a:chExt cx="408" cy="272"/>
          </a:xfrm>
        </p:grpSpPr>
        <p:sp>
          <p:nvSpPr>
            <p:cNvPr id="61480" name="Line 31">
              <a:extLst>
                <a:ext uri="{FF2B5EF4-FFF2-40B4-BE49-F238E27FC236}">
                  <a16:creationId xmlns:a16="http://schemas.microsoft.com/office/drawing/2014/main" id="{BEFEEC73-D0FD-256D-D1FE-A8B74FFC0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1" name="Line 32">
              <a:extLst>
                <a:ext uri="{FF2B5EF4-FFF2-40B4-BE49-F238E27FC236}">
                  <a16:creationId xmlns:a16="http://schemas.microsoft.com/office/drawing/2014/main" id="{0007AD0E-86B4-F5DB-F140-8DCAB7D3B7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3" name="Group 33">
            <a:extLst>
              <a:ext uri="{FF2B5EF4-FFF2-40B4-BE49-F238E27FC236}">
                <a16:creationId xmlns:a16="http://schemas.microsoft.com/office/drawing/2014/main" id="{0B657A76-7C07-30F7-E427-E57EB87AAFC0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2232025"/>
            <a:ext cx="647700" cy="431800"/>
            <a:chOff x="4513" y="1633"/>
            <a:chExt cx="408" cy="272"/>
          </a:xfrm>
        </p:grpSpPr>
        <p:sp>
          <p:nvSpPr>
            <p:cNvPr id="61478" name="Line 34">
              <a:extLst>
                <a:ext uri="{FF2B5EF4-FFF2-40B4-BE49-F238E27FC236}">
                  <a16:creationId xmlns:a16="http://schemas.microsoft.com/office/drawing/2014/main" id="{4A690AEA-30AA-821D-FAEB-1719CD80E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9" name="Line 35">
              <a:extLst>
                <a:ext uri="{FF2B5EF4-FFF2-40B4-BE49-F238E27FC236}">
                  <a16:creationId xmlns:a16="http://schemas.microsoft.com/office/drawing/2014/main" id="{1E0EAD2B-9476-4E53-875F-40F7B3783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4" name="Group 36">
            <a:extLst>
              <a:ext uri="{FF2B5EF4-FFF2-40B4-BE49-F238E27FC236}">
                <a16:creationId xmlns:a16="http://schemas.microsoft.com/office/drawing/2014/main" id="{35BE38DB-607C-B266-8823-5D20192343EE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3527425"/>
            <a:ext cx="647700" cy="431800"/>
            <a:chOff x="4513" y="1633"/>
            <a:chExt cx="408" cy="272"/>
          </a:xfrm>
        </p:grpSpPr>
        <p:sp>
          <p:nvSpPr>
            <p:cNvPr id="61476" name="Line 37">
              <a:extLst>
                <a:ext uri="{FF2B5EF4-FFF2-40B4-BE49-F238E27FC236}">
                  <a16:creationId xmlns:a16="http://schemas.microsoft.com/office/drawing/2014/main" id="{53D6DC2A-69E2-CEC7-35A1-DD0EDECB1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7" name="Line 38">
              <a:extLst>
                <a:ext uri="{FF2B5EF4-FFF2-40B4-BE49-F238E27FC236}">
                  <a16:creationId xmlns:a16="http://schemas.microsoft.com/office/drawing/2014/main" id="{5C47EE4A-4C99-9CF2-0398-FB8B60127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5" name="Group 39">
            <a:extLst>
              <a:ext uri="{FF2B5EF4-FFF2-40B4-BE49-F238E27FC236}">
                <a16:creationId xmlns:a16="http://schemas.microsoft.com/office/drawing/2014/main" id="{28D86F58-EEE1-12A7-5E2B-6EFDD752A3A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527425"/>
            <a:ext cx="647700" cy="431800"/>
            <a:chOff x="4513" y="1633"/>
            <a:chExt cx="408" cy="272"/>
          </a:xfrm>
        </p:grpSpPr>
        <p:sp>
          <p:nvSpPr>
            <p:cNvPr id="61474" name="Line 40">
              <a:extLst>
                <a:ext uri="{FF2B5EF4-FFF2-40B4-BE49-F238E27FC236}">
                  <a16:creationId xmlns:a16="http://schemas.microsoft.com/office/drawing/2014/main" id="{B5145A53-DA88-366E-8234-949A53F7F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5" name="Line 41">
              <a:extLst>
                <a:ext uri="{FF2B5EF4-FFF2-40B4-BE49-F238E27FC236}">
                  <a16:creationId xmlns:a16="http://schemas.microsoft.com/office/drawing/2014/main" id="{D0E0383B-527A-1AEE-8A2D-B1A43477F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6" name="Group 42">
            <a:extLst>
              <a:ext uri="{FF2B5EF4-FFF2-40B4-BE49-F238E27FC236}">
                <a16:creationId xmlns:a16="http://schemas.microsoft.com/office/drawing/2014/main" id="{EC837843-1DD8-10A3-7F35-3EF00BDB40C8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3527425"/>
            <a:ext cx="647700" cy="431800"/>
            <a:chOff x="4513" y="1633"/>
            <a:chExt cx="408" cy="272"/>
          </a:xfrm>
        </p:grpSpPr>
        <p:sp>
          <p:nvSpPr>
            <p:cNvPr id="61472" name="Line 43">
              <a:extLst>
                <a:ext uri="{FF2B5EF4-FFF2-40B4-BE49-F238E27FC236}">
                  <a16:creationId xmlns:a16="http://schemas.microsoft.com/office/drawing/2014/main" id="{92E6F2AA-C2D7-501E-0E56-7359407DE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3" name="Line 44">
              <a:extLst>
                <a:ext uri="{FF2B5EF4-FFF2-40B4-BE49-F238E27FC236}">
                  <a16:creationId xmlns:a16="http://schemas.microsoft.com/office/drawing/2014/main" id="{86CA0C69-EAB4-4527-FB8F-218DF47540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7" name="Group 45">
            <a:extLst>
              <a:ext uri="{FF2B5EF4-FFF2-40B4-BE49-F238E27FC236}">
                <a16:creationId xmlns:a16="http://schemas.microsoft.com/office/drawing/2014/main" id="{B906F8C3-050F-CDD9-34D9-F3CF40F471E8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3168650"/>
            <a:ext cx="647700" cy="431800"/>
            <a:chOff x="4513" y="1633"/>
            <a:chExt cx="408" cy="272"/>
          </a:xfrm>
        </p:grpSpPr>
        <p:sp>
          <p:nvSpPr>
            <p:cNvPr id="61470" name="Line 46">
              <a:extLst>
                <a:ext uri="{FF2B5EF4-FFF2-40B4-BE49-F238E27FC236}">
                  <a16:creationId xmlns:a16="http://schemas.microsoft.com/office/drawing/2014/main" id="{931F8B99-4D04-7309-B742-E8ED3F4B0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1" name="Line 47">
              <a:extLst>
                <a:ext uri="{FF2B5EF4-FFF2-40B4-BE49-F238E27FC236}">
                  <a16:creationId xmlns:a16="http://schemas.microsoft.com/office/drawing/2014/main" id="{404A1C54-83CE-BA47-12E9-D0955BD259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8" name="Group 48">
            <a:extLst>
              <a:ext uri="{FF2B5EF4-FFF2-40B4-BE49-F238E27FC236}">
                <a16:creationId xmlns:a16="http://schemas.microsoft.com/office/drawing/2014/main" id="{C4621A31-C441-9AC3-B2BA-8C4D54B59BC3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3168650"/>
            <a:ext cx="647700" cy="431800"/>
            <a:chOff x="4513" y="1633"/>
            <a:chExt cx="408" cy="272"/>
          </a:xfrm>
        </p:grpSpPr>
        <p:sp>
          <p:nvSpPr>
            <p:cNvPr id="61468" name="Line 49">
              <a:extLst>
                <a:ext uri="{FF2B5EF4-FFF2-40B4-BE49-F238E27FC236}">
                  <a16:creationId xmlns:a16="http://schemas.microsoft.com/office/drawing/2014/main" id="{17AA423C-ED06-F4A2-318E-CF434DD25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69" name="Line 50">
              <a:extLst>
                <a:ext uri="{FF2B5EF4-FFF2-40B4-BE49-F238E27FC236}">
                  <a16:creationId xmlns:a16="http://schemas.microsoft.com/office/drawing/2014/main" id="{2B4F132A-2C76-04F1-BE5A-CE42FDD7C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9" name="Group 51">
            <a:extLst>
              <a:ext uri="{FF2B5EF4-FFF2-40B4-BE49-F238E27FC236}">
                <a16:creationId xmlns:a16="http://schemas.microsoft.com/office/drawing/2014/main" id="{4C1C51D0-FB01-DB87-4340-23FA450F57F3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168650"/>
            <a:ext cx="647700" cy="431800"/>
            <a:chOff x="4513" y="1633"/>
            <a:chExt cx="408" cy="272"/>
          </a:xfrm>
        </p:grpSpPr>
        <p:sp>
          <p:nvSpPr>
            <p:cNvPr id="61466" name="Line 52">
              <a:extLst>
                <a:ext uri="{FF2B5EF4-FFF2-40B4-BE49-F238E27FC236}">
                  <a16:creationId xmlns:a16="http://schemas.microsoft.com/office/drawing/2014/main" id="{1923DA6F-B185-4F42-BC45-A011EDBB2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67" name="Line 53">
              <a:extLst>
                <a:ext uri="{FF2B5EF4-FFF2-40B4-BE49-F238E27FC236}">
                  <a16:creationId xmlns:a16="http://schemas.microsoft.com/office/drawing/2014/main" id="{07CC2FF1-E54B-F52C-C298-5601D9A05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60" name="Group 54">
            <a:extLst>
              <a:ext uri="{FF2B5EF4-FFF2-40B4-BE49-F238E27FC236}">
                <a16:creationId xmlns:a16="http://schemas.microsoft.com/office/drawing/2014/main" id="{08D85A2E-B884-86F9-5398-4C8C370F63CF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2735263"/>
            <a:ext cx="647700" cy="431800"/>
            <a:chOff x="4513" y="1633"/>
            <a:chExt cx="408" cy="272"/>
          </a:xfrm>
        </p:grpSpPr>
        <p:sp>
          <p:nvSpPr>
            <p:cNvPr id="61464" name="Line 55">
              <a:extLst>
                <a:ext uri="{FF2B5EF4-FFF2-40B4-BE49-F238E27FC236}">
                  <a16:creationId xmlns:a16="http://schemas.microsoft.com/office/drawing/2014/main" id="{6DF19406-BB7A-0E2F-9174-B7069ABC7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65" name="Line 56">
              <a:extLst>
                <a:ext uri="{FF2B5EF4-FFF2-40B4-BE49-F238E27FC236}">
                  <a16:creationId xmlns:a16="http://schemas.microsoft.com/office/drawing/2014/main" id="{46D358B9-B99D-D37B-DE14-1A50C014B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61" name="Group 57">
            <a:extLst>
              <a:ext uri="{FF2B5EF4-FFF2-40B4-BE49-F238E27FC236}">
                <a16:creationId xmlns:a16="http://schemas.microsoft.com/office/drawing/2014/main" id="{1D30EEA8-A890-071F-603D-1FA1901F4311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3743325"/>
            <a:ext cx="647700" cy="431800"/>
            <a:chOff x="4513" y="1633"/>
            <a:chExt cx="408" cy="272"/>
          </a:xfrm>
        </p:grpSpPr>
        <p:sp>
          <p:nvSpPr>
            <p:cNvPr id="61462" name="Line 58">
              <a:extLst>
                <a:ext uri="{FF2B5EF4-FFF2-40B4-BE49-F238E27FC236}">
                  <a16:creationId xmlns:a16="http://schemas.microsoft.com/office/drawing/2014/main" id="{5C61A2CA-719E-7DD7-2C68-88887CB99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63" name="Line 59">
              <a:extLst>
                <a:ext uri="{FF2B5EF4-FFF2-40B4-BE49-F238E27FC236}">
                  <a16:creationId xmlns:a16="http://schemas.microsoft.com/office/drawing/2014/main" id="{31A1152E-4160-85C5-9A59-CB33CB550E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666FC4C6-33D1-EF2F-93BA-E0C089F39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Esempio 1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31C77325-F3FB-DE29-9081-21601EE16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0213" y="1144588"/>
            <a:ext cx="8459787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Classi di equivalenza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Ricordando anche gli stati “fusi” in precedenza</a:t>
            </a:r>
          </a:p>
        </p:txBody>
      </p:sp>
      <p:pic>
        <p:nvPicPr>
          <p:cNvPr id="62467" name="Picture 5">
            <a:extLst>
              <a:ext uri="{FF2B5EF4-FFF2-40B4-BE49-F238E27FC236}">
                <a16:creationId xmlns:a16="http://schemas.microsoft.com/office/drawing/2014/main" id="{05D1EB18-B858-F29F-7CDC-6703C5C72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09" b="59262"/>
          <a:stretch>
            <a:fillRect/>
          </a:stretch>
        </p:blipFill>
        <p:spPr bwMode="auto">
          <a:xfrm>
            <a:off x="827088" y="2592388"/>
            <a:ext cx="2952750" cy="23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6">
            <a:extLst>
              <a:ext uri="{FF2B5EF4-FFF2-40B4-BE49-F238E27FC236}">
                <a16:creationId xmlns:a16="http://schemas.microsoft.com/office/drawing/2014/main" id="{063F0BB5-C0B7-D04C-9F58-A22697E24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7" r="28166"/>
          <a:stretch>
            <a:fillRect/>
          </a:stretch>
        </p:blipFill>
        <p:spPr bwMode="auto">
          <a:xfrm>
            <a:off x="5795963" y="2447925"/>
            <a:ext cx="34559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AutoShape 7">
            <a:extLst>
              <a:ext uri="{FF2B5EF4-FFF2-40B4-BE49-F238E27FC236}">
                <a16:creationId xmlns:a16="http://schemas.microsoft.com/office/drawing/2014/main" id="{439FB184-4150-547D-9C63-43D98EDB2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168650"/>
            <a:ext cx="1873250" cy="863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2470" name="AutoShape 8">
            <a:extLst>
              <a:ext uri="{FF2B5EF4-FFF2-40B4-BE49-F238E27FC236}">
                <a16:creationId xmlns:a16="http://schemas.microsoft.com/office/drawing/2014/main" id="{2FB08623-7F77-76CC-618D-E334AB8D3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5256213"/>
            <a:ext cx="2447925" cy="1079500"/>
          </a:xfrm>
          <a:prstGeom prst="wedgeEllipseCallout">
            <a:avLst>
              <a:gd name="adj1" fmla="val 48704"/>
              <a:gd name="adj2" fmla="val -100440"/>
            </a:avLst>
          </a:prstGeom>
          <a:solidFill>
            <a:schemeClr val="accent1"/>
          </a:solidFill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>
                <a:solidFill>
                  <a:srgbClr val="FF0000"/>
                </a:solidFill>
              </a:rPr>
              <a:t>Tabella degli stati ridotti</a:t>
            </a:r>
          </a:p>
        </p:txBody>
      </p:sp>
      <p:sp>
        <p:nvSpPr>
          <p:cNvPr id="62471" name="Rettangolo 10">
            <a:extLst>
              <a:ext uri="{FF2B5EF4-FFF2-40B4-BE49-F238E27FC236}">
                <a16:creationId xmlns:a16="http://schemas.microsoft.com/office/drawing/2014/main" id="{EEE6FBD7-EBB4-6F63-017E-5152C569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3940175"/>
            <a:ext cx="2760662" cy="4460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2300" b="1">
                <a:solidFill>
                  <a:srgbClr val="515151"/>
                </a:solidFill>
              </a:rPr>
              <a:t>(7,8,9,11,12,13),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egnaposto numero diapositiva 3">
            <a:extLst>
              <a:ext uri="{FF2B5EF4-FFF2-40B4-BE49-F238E27FC236}">
                <a16:creationId xmlns:a16="http://schemas.microsoft.com/office/drawing/2014/main" id="{F693DAAB-A1E8-13CC-2A5A-CF60BF9AD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A221C2-8C3B-4B83-892F-669763496ABD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A5A7D632-9DA2-1C64-9718-016D27110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Esempio 2: Riconoscitore di due sequenze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AFCE85D7-A18E-87CA-AD4F-35A5F7E5C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727200"/>
            <a:ext cx="8748712" cy="3152775"/>
          </a:xfrm>
        </p:spPr>
        <p:txBody>
          <a:bodyPr/>
          <a:lstStyle/>
          <a:p>
            <a:r>
              <a:rPr lang="it-IT" altLang="it-IT" sz="2000">
                <a:ea typeface="ＭＳ Ｐゴシック" panose="020B0600070205080204" pitchFamily="34" charset="-128"/>
              </a:rPr>
              <a:t>Rete sincrona con un solo ingresso X e in grado di riconoscere le due sequenze: 0110</a:t>
            </a:r>
            <a:r>
              <a:rPr lang="it-IT" altLang="it-IT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10 e 0110</a:t>
            </a:r>
            <a:r>
              <a:rPr lang="it-IT" altLang="it-IT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1</a:t>
            </a:r>
            <a:r>
              <a:rPr lang="it-IT" altLang="it-IT" sz="2000">
                <a:ea typeface="ＭＳ Ｐゴシック" panose="020B0600070205080204" pitchFamily="34" charset="-128"/>
              </a:rPr>
              <a:t>10 (riconoscimento dal bit più significativo, sequenze parzialmente sovrapposte)</a:t>
            </a:r>
          </a:p>
          <a:p>
            <a:r>
              <a:rPr lang="it-IT" altLang="it-IT" sz="2000">
                <a:solidFill>
                  <a:srgbClr val="00B050"/>
                </a:solidFill>
                <a:ea typeface="ＭＳ Ｐゴシック" panose="020B0600070205080204" pitchFamily="34" charset="-128"/>
              </a:rPr>
              <a:t>0110x10.  x = 0,1</a:t>
            </a:r>
          </a:p>
          <a:p>
            <a:r>
              <a:rPr lang="it-IT" altLang="it-IT" sz="2000">
                <a:ea typeface="ＭＳ Ｐゴシック" panose="020B0600070205080204" pitchFamily="34" charset="-128"/>
              </a:rPr>
              <a:t>Le uscite devono essere codificate in modo da distinguere i tre casi di possibile riconoscimento di sequenze:</a:t>
            </a:r>
            <a:r>
              <a:rPr lang="it-IT" altLang="it-IT" sz="240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it-IT" altLang="it-IT" sz="2000">
                <a:ea typeface="ＭＳ Ｐゴシック" panose="020B0600070205080204" pitchFamily="34" charset="-128"/>
              </a:rPr>
              <a:t>1) 0110010; 2) 0110110; 3) tutte le altre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lvl="2"/>
            <a:r>
              <a:rPr lang="it-IT" altLang="it-IT" sz="2000">
                <a:ea typeface="ＭＳ Ｐゴシック" panose="020B0600070205080204" pitchFamily="34" charset="-128"/>
              </a:rPr>
              <a:t>- </a:t>
            </a:r>
            <a:r>
              <a:rPr lang="it-IT" altLang="it-IT" sz="1800">
                <a:ea typeface="ＭＳ Ｐゴシック" panose="020B0600070205080204" pitchFamily="34" charset="-128"/>
              </a:rPr>
              <a:t>Y=0, Z=0: non è stata trovata nessuna sequenza;</a:t>
            </a:r>
          </a:p>
          <a:p>
            <a:pPr lvl="2"/>
            <a:r>
              <a:rPr lang="it-IT" altLang="it-IT" sz="1800">
                <a:ea typeface="ＭＳ Ｐゴシック" panose="020B0600070205080204" pitchFamily="34" charset="-128"/>
              </a:rPr>
              <a:t>- Y=1: Z=0 riconosciuta la sequenza 0110010;</a:t>
            </a:r>
          </a:p>
          <a:p>
            <a:pPr lvl="2"/>
            <a:r>
              <a:rPr lang="it-IT" altLang="it-IT" sz="1800">
                <a:ea typeface="ＭＳ Ｐゴシック" panose="020B0600070205080204" pitchFamily="34" charset="-128"/>
              </a:rPr>
              <a:t>- Z=1: Y=0 riconosciuta la sequenza 0110110;</a:t>
            </a:r>
          </a:p>
          <a:p>
            <a:pPr lvl="2"/>
            <a:r>
              <a:rPr lang="it-IT" altLang="it-IT" sz="1800">
                <a:ea typeface="ＭＳ Ｐゴシック" panose="020B0600070205080204" pitchFamily="34" charset="-128"/>
              </a:rPr>
              <a:t>- Y=Z=1: uscita non utilizzata </a:t>
            </a:r>
            <a:endParaRPr lang="en-US" altLang="it-IT" sz="1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advTm="40409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egnaposto numero diapositiva 3">
            <a:extLst>
              <a:ext uri="{FF2B5EF4-FFF2-40B4-BE49-F238E27FC236}">
                <a16:creationId xmlns:a16="http://schemas.microsoft.com/office/drawing/2014/main" id="{1D1966B8-7222-6393-E688-0EEE88B73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3CA0FEB-42F3-4B75-80D6-442B9C869DFD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7AA9B3D0-3A6F-0846-DB34-3A460EA71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Esempio 2: Riconoscitore di due sequenze</a:t>
            </a:r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0EDDEDA3-7356-0330-8BA1-3D6859463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382713"/>
            <a:ext cx="8748712" cy="455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q0 stato iniziale;</a:t>
            </a:r>
          </a:p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qi (i &lt; 5): riconosciuto un numero </a:t>
            </a:r>
            <a:r>
              <a:rPr lang="it-IT" altLang="it-IT" sz="2000" i="1">
                <a:solidFill>
                  <a:schemeClr val="tx1"/>
                </a:solidFill>
              </a:rPr>
              <a:t>i </a:t>
            </a:r>
            <a:r>
              <a:rPr lang="it-IT" altLang="it-IT" sz="2000">
                <a:solidFill>
                  <a:schemeClr val="tx1"/>
                </a:solidFill>
              </a:rPr>
              <a:t>di caratteri della seq.  </a:t>
            </a:r>
            <a:r>
              <a:rPr lang="it-IT" altLang="it-IT" sz="2000">
                <a:solidFill>
                  <a:schemeClr val="tx1"/>
                </a:solidFill>
                <a:latin typeface="Courier" pitchFamily="-112" charset="0"/>
              </a:rPr>
              <a:t>0110---</a:t>
            </a:r>
          </a:p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q</a:t>
            </a:r>
            <a:r>
              <a:rPr lang="it-IT" altLang="it-IT" sz="2000" baseline="30000">
                <a:solidFill>
                  <a:schemeClr val="tx1"/>
                </a:solidFill>
              </a:rPr>
              <a:t>0</a:t>
            </a:r>
            <a:r>
              <a:rPr lang="it-IT" altLang="it-IT" sz="2000">
                <a:solidFill>
                  <a:schemeClr val="tx1"/>
                </a:solidFill>
              </a:rPr>
              <a:t>i (i ≥ 5): riconosciuto un numero </a:t>
            </a:r>
            <a:r>
              <a:rPr lang="it-IT" altLang="it-IT" sz="2000" i="1">
                <a:solidFill>
                  <a:schemeClr val="tx1"/>
                </a:solidFill>
              </a:rPr>
              <a:t>i</a:t>
            </a:r>
            <a:r>
              <a:rPr lang="it-IT" altLang="it-IT" sz="2000">
                <a:solidFill>
                  <a:schemeClr val="tx1"/>
                </a:solidFill>
              </a:rPr>
              <a:t> di caratteri della seq.  </a:t>
            </a:r>
            <a:r>
              <a:rPr lang="it-IT" altLang="it-IT" sz="2000">
                <a:solidFill>
                  <a:schemeClr val="tx1"/>
                </a:solidFill>
                <a:latin typeface="Courier" pitchFamily="-112" charset="0"/>
              </a:rPr>
              <a:t>0110</a:t>
            </a:r>
            <a:r>
              <a:rPr lang="it-IT" altLang="it-IT" sz="2000">
                <a:solidFill>
                  <a:srgbClr val="FF6600"/>
                </a:solidFill>
                <a:latin typeface="Courier" pitchFamily="-112" charset="0"/>
              </a:rPr>
              <a:t>010</a:t>
            </a:r>
          </a:p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q</a:t>
            </a:r>
            <a:r>
              <a:rPr lang="it-IT" altLang="it-IT" sz="2000" baseline="30000">
                <a:solidFill>
                  <a:schemeClr val="tx1"/>
                </a:solidFill>
              </a:rPr>
              <a:t>1</a:t>
            </a:r>
            <a:r>
              <a:rPr lang="it-IT" altLang="it-IT" sz="2000">
                <a:solidFill>
                  <a:schemeClr val="tx1"/>
                </a:solidFill>
              </a:rPr>
              <a:t>i (i ≥ 5): riconosciuto un numero </a:t>
            </a:r>
            <a:r>
              <a:rPr lang="it-IT" altLang="it-IT" sz="2000" i="1">
                <a:solidFill>
                  <a:schemeClr val="tx1"/>
                </a:solidFill>
              </a:rPr>
              <a:t>i</a:t>
            </a:r>
            <a:r>
              <a:rPr lang="it-IT" altLang="it-IT" sz="2000">
                <a:solidFill>
                  <a:schemeClr val="tx1"/>
                </a:solidFill>
              </a:rPr>
              <a:t> di caratteri della seq.  </a:t>
            </a:r>
            <a:r>
              <a:rPr lang="it-IT" altLang="it-IT" sz="2000">
                <a:solidFill>
                  <a:schemeClr val="tx1"/>
                </a:solidFill>
                <a:latin typeface="Courier" pitchFamily="-112" charset="0"/>
              </a:rPr>
              <a:t>0110</a:t>
            </a:r>
            <a:r>
              <a:rPr lang="it-IT" altLang="it-IT" sz="2000" i="1">
                <a:solidFill>
                  <a:srgbClr val="FF6600"/>
                </a:solidFill>
                <a:latin typeface="Courier" pitchFamily="-112" charset="0"/>
              </a:rPr>
              <a:t>110</a:t>
            </a:r>
          </a:p>
        </p:txBody>
      </p:sp>
      <p:pic>
        <p:nvPicPr>
          <p:cNvPr id="65540" name="Picture 5">
            <a:extLst>
              <a:ext uri="{FF2B5EF4-FFF2-40B4-BE49-F238E27FC236}">
                <a16:creationId xmlns:a16="http://schemas.microsoft.com/office/drawing/2014/main" id="{4D22A000-42D7-4FD3-A0E1-611841802C63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413" y="3311525"/>
            <a:ext cx="5400675" cy="2379663"/>
          </a:xfrm>
          <a:noFill/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egnaposto numero diapositiva 3">
            <a:extLst>
              <a:ext uri="{FF2B5EF4-FFF2-40B4-BE49-F238E27FC236}">
                <a16:creationId xmlns:a16="http://schemas.microsoft.com/office/drawing/2014/main" id="{C01D9198-8851-F1B5-BD24-99BFABCD2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B255CF-3CAE-47DB-A0D3-7DF9B58E8F21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99E546BE-EC4F-EC38-363D-AF4FB3324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96838"/>
            <a:ext cx="8747125" cy="860425"/>
          </a:xfrm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Esempio 2: Riconoscitore di due sequenze </a:t>
            </a: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C7B05DBA-0E4C-41B2-F33F-A5B6D09F2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241425"/>
            <a:ext cx="8748713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Char char="•"/>
            </a:pPr>
            <a:endParaRPr lang="en-US" altLang="it-IT" sz="2000">
              <a:solidFill>
                <a:schemeClr val="tx1"/>
              </a:solidFill>
            </a:endParaRPr>
          </a:p>
        </p:txBody>
      </p:sp>
      <p:pic>
        <p:nvPicPr>
          <p:cNvPr id="67588" name="Picture 5">
            <a:extLst>
              <a:ext uri="{FF2B5EF4-FFF2-40B4-BE49-F238E27FC236}">
                <a16:creationId xmlns:a16="http://schemas.microsoft.com/office/drawing/2014/main" id="{97098E31-251D-0931-F57E-6198A477F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3" b="13989"/>
          <a:stretch>
            <a:fillRect/>
          </a:stretch>
        </p:blipFill>
        <p:spPr bwMode="auto">
          <a:xfrm>
            <a:off x="900113" y="1655763"/>
            <a:ext cx="7416800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9" name="AutoShape 6">
            <a:extLst>
              <a:ext uri="{FF2B5EF4-FFF2-40B4-BE49-F238E27FC236}">
                <a16:creationId xmlns:a16="http://schemas.microsoft.com/office/drawing/2014/main" id="{576037B0-A1CC-E18D-7627-5CFF71FB4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3122613"/>
            <a:ext cx="1708150" cy="66675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solidFill>
                  <a:schemeClr val="tx1"/>
                </a:solidFill>
              </a:rPr>
              <a:t>partizione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egnaposto numero diapositiva 3">
            <a:extLst>
              <a:ext uri="{FF2B5EF4-FFF2-40B4-BE49-F238E27FC236}">
                <a16:creationId xmlns:a16="http://schemas.microsoft.com/office/drawing/2014/main" id="{246186DA-7E33-73B7-01AA-A1C470486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9B7771-80CF-449F-BAA2-3918C2B4CB0C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D708606E-B6F0-CAFD-3334-995B9C1FB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96838"/>
            <a:ext cx="874712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3600">
                <a:solidFill>
                  <a:schemeClr val="tx1"/>
                </a:solidFill>
              </a:rPr>
              <a:t>Esempio 2: </a:t>
            </a:r>
            <a:r>
              <a:rPr lang="en-US" altLang="it-IT" sz="3600">
                <a:solidFill>
                  <a:srgbClr val="393939"/>
                </a:solidFill>
              </a:rPr>
              <a:t>Riconoscitore di due sequenze</a:t>
            </a:r>
          </a:p>
        </p:txBody>
      </p:sp>
      <p:pic>
        <p:nvPicPr>
          <p:cNvPr id="69635" name="Picture 4">
            <a:extLst>
              <a:ext uri="{FF2B5EF4-FFF2-40B4-BE49-F238E27FC236}">
                <a16:creationId xmlns:a16="http://schemas.microsoft.com/office/drawing/2014/main" id="{73555222-3453-6E47-CEDA-A2F92FEC7F46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584325"/>
            <a:ext cx="3787775" cy="3887788"/>
          </a:xfrm>
          <a:noFill/>
        </p:spPr>
      </p:pic>
      <p:pic>
        <p:nvPicPr>
          <p:cNvPr id="69636" name="Picture 5">
            <a:extLst>
              <a:ext uri="{FF2B5EF4-FFF2-40B4-BE49-F238E27FC236}">
                <a16:creationId xmlns:a16="http://schemas.microsoft.com/office/drawing/2014/main" id="{7FCC10F7-7654-AED3-F5FB-DBCDA0827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1655763"/>
            <a:ext cx="3652837" cy="389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AutoShape 6">
            <a:extLst>
              <a:ext uri="{FF2B5EF4-FFF2-40B4-BE49-F238E27FC236}">
                <a16:creationId xmlns:a16="http://schemas.microsoft.com/office/drawing/2014/main" id="{247AD731-E608-D7E5-F164-C84C87ABB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92388"/>
            <a:ext cx="1368425" cy="6477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9638" name="Text Box 7">
            <a:extLst>
              <a:ext uri="{FF2B5EF4-FFF2-40B4-BE49-F238E27FC236}">
                <a16:creationId xmlns:a16="http://schemas.microsoft.com/office/drawing/2014/main" id="{42279456-A284-0A84-EB21-6975753BC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730875"/>
            <a:ext cx="720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it-IT" sz="1800">
                <a:solidFill>
                  <a:schemeClr val="tx2"/>
                </a:solidFill>
              </a:rPr>
              <a:t>Non esistono stati compatibili! La tabella di flusso è già minima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egnaposto numero diapositiva 5">
            <a:extLst>
              <a:ext uri="{FF2B5EF4-FFF2-40B4-BE49-F238E27FC236}">
                <a16:creationId xmlns:a16="http://schemas.microsoft.com/office/drawing/2014/main" id="{73BCDECF-5D1A-16EC-A816-AA78801900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843DFC-3314-4765-9E03-C033877A8B0F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37E8F677-1AC3-2344-B36B-8B3DAA8D32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93663"/>
            <a:ext cx="8748713" cy="860425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Esempio 3: Algoritmo della suddivisione degli elementi della famiglia di presunta compatibilità</a:t>
            </a:r>
            <a:endParaRPr lang="en-US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167500E8-822D-43AD-DF04-68BC5C07FD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71684" name="AutoShape 10">
            <a:extLst>
              <a:ext uri="{FF2B5EF4-FFF2-40B4-BE49-F238E27FC236}">
                <a16:creationId xmlns:a16="http://schemas.microsoft.com/office/drawing/2014/main" id="{587E8A17-83B3-515A-253E-1AF0F90C56B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43326" y="2268537"/>
            <a:ext cx="1439862" cy="12239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graphicFrame>
        <p:nvGraphicFramePr>
          <p:cNvPr id="71685" name="Object 257">
            <a:extLst>
              <a:ext uri="{FF2B5EF4-FFF2-40B4-BE49-F238E27FC236}">
                <a16:creationId xmlns:a16="http://schemas.microsoft.com/office/drawing/2014/main" id="{9D6541C8-C75A-AEF8-990C-C1875899DAB8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323850" y="4032250"/>
          <a:ext cx="9217025" cy="220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5606"/>
                      <a:stretch>
                        <a:fillRect/>
                      </a:stretch>
                    </p:blipFill>
                    <p:spPr bwMode="auto">
                      <a:xfrm>
                        <a:off x="323850" y="4032250"/>
                        <a:ext cx="9217025" cy="220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Oval 259">
            <a:extLst>
              <a:ext uri="{FF2B5EF4-FFF2-40B4-BE49-F238E27FC236}">
                <a16:creationId xmlns:a16="http://schemas.microsoft.com/office/drawing/2014/main" id="{909CD138-1974-107A-3400-224AD58B5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679950"/>
            <a:ext cx="1439863" cy="1008063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1687" name="Text Box 260">
            <a:extLst>
              <a:ext uri="{FF2B5EF4-FFF2-40B4-BE49-F238E27FC236}">
                <a16:creationId xmlns:a16="http://schemas.microsoft.com/office/drawing/2014/main" id="{C287BA81-62CE-1C93-A1B9-E0C1A1240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2160588"/>
            <a:ext cx="302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400">
                <a:solidFill>
                  <a:schemeClr val="tx2"/>
                </a:solidFill>
              </a:rPr>
              <a:t>PASSI 1 e 2</a:t>
            </a:r>
          </a:p>
        </p:txBody>
      </p:sp>
      <p:sp>
        <p:nvSpPr>
          <p:cNvPr id="71688" name="Rectangle 271">
            <a:extLst>
              <a:ext uri="{FF2B5EF4-FFF2-40B4-BE49-F238E27FC236}">
                <a16:creationId xmlns:a16="http://schemas.microsoft.com/office/drawing/2014/main" id="{76BF810F-946C-7C80-D077-EBA98915E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59038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71689" name="Object 270">
            <a:extLst>
              <a:ext uri="{FF2B5EF4-FFF2-40B4-BE49-F238E27FC236}">
                <a16:creationId xmlns:a16="http://schemas.microsoft.com/office/drawing/2014/main" id="{3C3078BC-2E31-2A09-2F48-C150498345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152525"/>
          <a:ext cx="26035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4" imgW="0" imgH="0" progId="Word.Picture.8">
                  <p:embed/>
                </p:oleObj>
              </mc:Choice>
              <mc:Fallback>
                <p:oleObj name="Immagine" r:id="rId4" imgW="0" imgH="0" progId="Word.Picture.8">
                  <p:embed/>
                  <p:pic>
                    <p:nvPicPr>
                      <p:cNvPr id="0" name="Object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52525"/>
                        <a:ext cx="2603500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F1A8A360-0D6D-8CD9-B3EF-1FE8034D6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Esempio 3: Algoritmo della suddivisione degli elementi della famiglia di presunta compatibilità</a:t>
            </a:r>
            <a:endParaRPr lang="en-US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72706" name="Object 3">
            <a:extLst>
              <a:ext uri="{FF2B5EF4-FFF2-40B4-BE49-F238E27FC236}">
                <a16:creationId xmlns:a16="http://schemas.microsoft.com/office/drawing/2014/main" id="{08A50D69-B2CE-3D84-9308-DD5833396728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216025" y="1954213"/>
          <a:ext cx="7716838" cy="435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1536"/>
                      <a:stretch>
                        <a:fillRect/>
                      </a:stretch>
                    </p:blipFill>
                    <p:spPr bwMode="auto">
                      <a:xfrm>
                        <a:off x="1216025" y="1954213"/>
                        <a:ext cx="7716838" cy="435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7" name="Text Box 6">
            <a:extLst>
              <a:ext uri="{FF2B5EF4-FFF2-40B4-BE49-F238E27FC236}">
                <a16:creationId xmlns:a16="http://schemas.microsoft.com/office/drawing/2014/main" id="{C5FD1088-9393-344C-25C9-CE053339A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52525"/>
            <a:ext cx="954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400">
                <a:solidFill>
                  <a:schemeClr val="tx2"/>
                </a:solidFill>
              </a:rPr>
              <a:t>PASSO 3 – da ripetere fino a che non siano più presenti incompatibilità	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egnaposto numero diapositiva 5">
            <a:extLst>
              <a:ext uri="{FF2B5EF4-FFF2-40B4-BE49-F238E27FC236}">
                <a16:creationId xmlns:a16="http://schemas.microsoft.com/office/drawing/2014/main" id="{A3E50AE5-625F-9E3C-3CE6-E10857F970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2A904B-566E-4786-A7FD-E6724245FA18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73730" name="Rectangle 5">
            <a:extLst>
              <a:ext uri="{FF2B5EF4-FFF2-40B4-BE49-F238E27FC236}">
                <a16:creationId xmlns:a16="http://schemas.microsoft.com/office/drawing/2014/main" id="{1FC029BA-4D67-3A26-29B6-76BA3A56C2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Esempio 3: Algoritmo della suddivisione degli elementi della famiglia di presunta compatibilità – </a:t>
            </a:r>
            <a:endParaRPr lang="en-US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6B1F6199-A88A-F7BF-0E5C-EAE05B837E5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85775" y="1241425"/>
            <a:ext cx="8478838" cy="4878388"/>
          </a:xfrm>
        </p:spPr>
        <p:txBody>
          <a:bodyPr/>
          <a:lstStyle/>
          <a:p>
            <a:pPr eaLnBrk="1" hangingPunct="1"/>
            <a:r>
              <a:rPr lang="en-US" altLang="it-IT" sz="2400">
                <a:ea typeface="ＭＳ Ｐゴシック" panose="020B0600070205080204" pitchFamily="34" charset="-128"/>
              </a:rPr>
              <a:t>Famiglia degli insiemi compatibili massima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(1,2,3,4,6)  (5,6,7)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Verifica</a:t>
            </a: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Sarebbe stato possibile procedere anche in altro ordine</a:t>
            </a:r>
            <a:endParaRPr lang="en-US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38756D9D-F289-0961-AEA1-34362E7BCAFB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1042988" y="3024188"/>
          <a:ext cx="7610475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024188"/>
                        <a:ext cx="7610475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95FC447E-0D1E-D6AC-3FE6-6EDF44D97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900" y="96838"/>
            <a:ext cx="9101138" cy="8604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 3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1F3DAA21-F786-96D6-BA0F-B72BAF75E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382713"/>
            <a:ext cx="8459788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it-IT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74755" name="AutoShape 7">
            <a:extLst>
              <a:ext uri="{FF2B5EF4-FFF2-40B4-BE49-F238E27FC236}">
                <a16:creationId xmlns:a16="http://schemas.microsoft.com/office/drawing/2014/main" id="{3C658396-08D4-BF7E-0534-3BD7CA97A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808288"/>
            <a:ext cx="792162" cy="574675"/>
          </a:xfrm>
          <a:prstGeom prst="rightArrow">
            <a:avLst>
              <a:gd name="adj1" fmla="val 50000"/>
              <a:gd name="adj2" fmla="val 34461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4756" name="Rectangle 13">
            <a:extLst>
              <a:ext uri="{FF2B5EF4-FFF2-40B4-BE49-F238E27FC236}">
                <a16:creationId xmlns:a16="http://schemas.microsoft.com/office/drawing/2014/main" id="{872D0C41-2017-4281-0AB2-05FF86179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5467350"/>
            <a:ext cx="46132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PT" altLang="it-IT" sz="2400" i="1">
                <a:solidFill>
                  <a:schemeClr val="tx2"/>
                </a:solidFill>
              </a:rPr>
              <a:t>F = (S1, S2);  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PT" altLang="it-IT" sz="2400" i="1">
                <a:solidFill>
                  <a:schemeClr val="tx2"/>
                </a:solidFill>
              </a:rPr>
              <a:t>S1 = (q1, q2, q3, q4, q6);   S2 = (q5, q6, q7)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pt-PT" altLang="it-IT" sz="2400" i="1">
              <a:solidFill>
                <a:schemeClr val="tx2"/>
              </a:solidFill>
            </a:endParaRPr>
          </a:p>
        </p:txBody>
      </p:sp>
      <p:pic>
        <p:nvPicPr>
          <p:cNvPr id="74757" name="Picture 19">
            <a:extLst>
              <a:ext uri="{FF2B5EF4-FFF2-40B4-BE49-F238E27FC236}">
                <a16:creationId xmlns:a16="http://schemas.microsoft.com/office/drawing/2014/main" id="{18FD61CD-E877-728A-27D0-48B91A028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5" r="68739"/>
          <a:stretch>
            <a:fillRect/>
          </a:stretch>
        </p:blipFill>
        <p:spPr bwMode="auto">
          <a:xfrm>
            <a:off x="6156325" y="4391025"/>
            <a:ext cx="30956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8" name="Picture 20">
            <a:extLst>
              <a:ext uri="{FF2B5EF4-FFF2-40B4-BE49-F238E27FC236}">
                <a16:creationId xmlns:a16="http://schemas.microsoft.com/office/drawing/2014/main" id="{BDD9D001-1595-E70C-A3D1-DCB787B7F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r="11740"/>
          <a:stretch>
            <a:fillRect/>
          </a:stretch>
        </p:blipFill>
        <p:spPr bwMode="auto">
          <a:xfrm>
            <a:off x="4822825" y="2016125"/>
            <a:ext cx="4897438" cy="19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Oval 21">
            <a:extLst>
              <a:ext uri="{FF2B5EF4-FFF2-40B4-BE49-F238E27FC236}">
                <a16:creationId xmlns:a16="http://schemas.microsoft.com/office/drawing/2014/main" id="{2EE4EAC8-12E7-5D1D-65C0-4CDF9BF21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735263"/>
            <a:ext cx="792163" cy="360362"/>
          </a:xfrm>
          <a:prstGeom prst="ellips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4760" name="Oval 22">
            <a:extLst>
              <a:ext uri="{FF2B5EF4-FFF2-40B4-BE49-F238E27FC236}">
                <a16:creationId xmlns:a16="http://schemas.microsoft.com/office/drawing/2014/main" id="{9A51C09F-6725-ABE0-FB4B-910B52F93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527425"/>
            <a:ext cx="935037" cy="360363"/>
          </a:xfrm>
          <a:prstGeom prst="ellips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4761" name="Rectangle 26">
            <a:extLst>
              <a:ext uri="{FF2B5EF4-FFF2-40B4-BE49-F238E27FC236}">
                <a16:creationId xmlns:a16="http://schemas.microsoft.com/office/drawing/2014/main" id="{8A5CFA88-0C79-17DB-82BC-5782033D9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59038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74762" name="Object 25">
            <a:extLst>
              <a:ext uri="{FF2B5EF4-FFF2-40B4-BE49-F238E27FC236}">
                <a16:creationId xmlns:a16="http://schemas.microsoft.com/office/drawing/2014/main" id="{0D4DD29C-4EBD-1895-5E1B-8FBDD299C8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068513"/>
          <a:ext cx="3289300" cy="345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4" imgW="0" imgH="0" progId="Word.Picture.8">
                  <p:embed/>
                </p:oleObj>
              </mc:Choice>
              <mc:Fallback>
                <p:oleObj name="Immagine" r:id="rId4" imgW="0" imgH="0" progId="Word.Picture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068513"/>
                        <a:ext cx="3289300" cy="345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52FAF34D-E8AF-D267-7029-A890A878A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900" y="161925"/>
            <a:ext cx="9029700" cy="8604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 3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18DBD2D3-6521-FD08-4FDF-854FBFD71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775" y="1241425"/>
            <a:ext cx="8910638" cy="5022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t-IT" sz="2400">
                <a:ea typeface="ＭＳ Ｐゴシック" panose="020B0600070205080204" pitchFamily="34" charset="-128"/>
              </a:rPr>
              <a:t>Esempio (continua)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Indeterminazioni in corrispondenza di τ'(S1, i4) e τ'(S2, i4)  ciascuna con 2 alternative e quindi 4 possibili soluzioni.</a:t>
            </a: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La tecnica di perseguire insiemi disgiunti è impropria per macchine incomplete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In particolare può accadere che la macchina cui si perviene non mantenga la proprietà di chiusura</a:t>
            </a:r>
          </a:p>
        </p:txBody>
      </p:sp>
      <p:sp>
        <p:nvSpPr>
          <p:cNvPr id="75779" name="Rectangle 6">
            <a:extLst>
              <a:ext uri="{FF2B5EF4-FFF2-40B4-BE49-F238E27FC236}">
                <a16:creationId xmlns:a16="http://schemas.microsoft.com/office/drawing/2014/main" id="{2DCA6C22-5103-D9CD-91E0-180C6EE77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5275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pic>
        <p:nvPicPr>
          <p:cNvPr id="75780" name="Picture 8">
            <a:extLst>
              <a:ext uri="{FF2B5EF4-FFF2-40B4-BE49-F238E27FC236}">
                <a16:creationId xmlns:a16="http://schemas.microsoft.com/office/drawing/2014/main" id="{D42C4079-ADCD-D4B1-7377-67A3D8F80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376488"/>
            <a:ext cx="4176713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2DF3A0E3-0DCB-F1B4-194C-C5DE052CE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96838"/>
            <a:ext cx="9029700" cy="860425"/>
          </a:xfrm>
        </p:spPr>
        <p:txBody>
          <a:bodyPr/>
          <a:lstStyle/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Esempio 4: macchina incompletamente specificata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01CFE55E-81DF-4B98-F1A5-6D41A03BC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3088" y="1239838"/>
            <a:ext cx="8459787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Ricerca degli stati compatibili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76803" name="Picture 6">
            <a:extLst>
              <a:ext uri="{FF2B5EF4-FFF2-40B4-BE49-F238E27FC236}">
                <a16:creationId xmlns:a16="http://schemas.microsoft.com/office/drawing/2014/main" id="{C5A18BE5-821A-2250-66AA-4479C78CE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024188"/>
            <a:ext cx="183832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4" name="Picture 8">
            <a:extLst>
              <a:ext uri="{FF2B5EF4-FFF2-40B4-BE49-F238E27FC236}">
                <a16:creationId xmlns:a16="http://schemas.microsoft.com/office/drawing/2014/main" id="{AD51EBF2-C6B4-DE08-EE42-F14026740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3168650"/>
            <a:ext cx="30575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Picture 9">
            <a:extLst>
              <a:ext uri="{FF2B5EF4-FFF2-40B4-BE49-F238E27FC236}">
                <a16:creationId xmlns:a16="http://schemas.microsoft.com/office/drawing/2014/main" id="{F1161B0B-B183-4D22-4D91-8D9F6F6A1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811713"/>
            <a:ext cx="30575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AutoShape 10">
            <a:extLst>
              <a:ext uri="{FF2B5EF4-FFF2-40B4-BE49-F238E27FC236}">
                <a16:creationId xmlns:a16="http://schemas.microsoft.com/office/drawing/2014/main" id="{2D9AE191-DF06-A627-DE8E-D66624CD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527425"/>
            <a:ext cx="1296988" cy="647700"/>
          </a:xfrm>
          <a:prstGeom prst="rightArrow">
            <a:avLst>
              <a:gd name="adj1" fmla="val 50000"/>
              <a:gd name="adj2" fmla="val 50061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07" name="AutoShape 11">
            <a:extLst>
              <a:ext uri="{FF2B5EF4-FFF2-40B4-BE49-F238E27FC236}">
                <a16:creationId xmlns:a16="http://schemas.microsoft.com/office/drawing/2014/main" id="{8EF9FDA3-27B9-206A-2173-165A9477815E}"/>
              </a:ext>
            </a:extLst>
          </p:cNvPr>
          <p:cNvSpPr>
            <a:spLocks noChangeArrowheads="1"/>
          </p:cNvSpPr>
          <p:nvPr/>
        </p:nvSpPr>
        <p:spPr bwMode="auto">
          <a:xfrm rot="8402991">
            <a:off x="6551613" y="4933950"/>
            <a:ext cx="1296987" cy="647700"/>
          </a:xfrm>
          <a:prstGeom prst="rightArrow">
            <a:avLst>
              <a:gd name="adj1" fmla="val 50000"/>
              <a:gd name="adj2" fmla="val 50061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08" name="Oval 12">
            <a:extLst>
              <a:ext uri="{FF2B5EF4-FFF2-40B4-BE49-F238E27FC236}">
                <a16:creationId xmlns:a16="http://schemas.microsoft.com/office/drawing/2014/main" id="{0C314ADB-8142-7FA4-E9F9-D9656CC48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887788"/>
            <a:ext cx="504825" cy="287337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09" name="Oval 13">
            <a:extLst>
              <a:ext uri="{FF2B5EF4-FFF2-40B4-BE49-F238E27FC236}">
                <a16:creationId xmlns:a16="http://schemas.microsoft.com/office/drawing/2014/main" id="{8A4AF775-374E-C797-8A2B-308AC019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311525"/>
            <a:ext cx="503238" cy="287338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10" name="Oval 14">
            <a:extLst>
              <a:ext uri="{FF2B5EF4-FFF2-40B4-BE49-F238E27FC236}">
                <a16:creationId xmlns:a16="http://schemas.microsoft.com/office/drawing/2014/main" id="{30D224B8-7F31-B277-A85C-FF63B98E4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311525"/>
            <a:ext cx="576262" cy="287338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11" name="Oval 15">
            <a:extLst>
              <a:ext uri="{FF2B5EF4-FFF2-40B4-BE49-F238E27FC236}">
                <a16:creationId xmlns:a16="http://schemas.microsoft.com/office/drawing/2014/main" id="{62355AE3-8631-91BC-DE36-9F57CA7E6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887788"/>
            <a:ext cx="503237" cy="287337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12" name="Oval 16">
            <a:extLst>
              <a:ext uri="{FF2B5EF4-FFF2-40B4-BE49-F238E27FC236}">
                <a16:creationId xmlns:a16="http://schemas.microsoft.com/office/drawing/2014/main" id="{828DF81D-5F89-21F5-37CE-CBFDA13CE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2446338"/>
            <a:ext cx="2074863" cy="50641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400">
                <a:solidFill>
                  <a:schemeClr val="bg1"/>
                </a:solidFill>
              </a:rPr>
              <a:t>Compatibili!</a:t>
            </a:r>
          </a:p>
        </p:txBody>
      </p:sp>
      <p:cxnSp>
        <p:nvCxnSpPr>
          <p:cNvPr id="76813" name="AutoShape 17">
            <a:extLst>
              <a:ext uri="{FF2B5EF4-FFF2-40B4-BE49-F238E27FC236}">
                <a16:creationId xmlns:a16="http://schemas.microsoft.com/office/drawing/2014/main" id="{F419F722-CAD0-2891-43BA-96CA3D9F46D3}"/>
              </a:ext>
            </a:extLst>
          </p:cNvPr>
          <p:cNvCxnSpPr>
            <a:cxnSpLocks noChangeShapeType="1"/>
            <a:stCxn id="76810" idx="6"/>
            <a:endCxn id="76812" idx="3"/>
          </p:cNvCxnSpPr>
          <p:nvPr/>
        </p:nvCxnSpPr>
        <p:spPr bwMode="auto">
          <a:xfrm flipV="1">
            <a:off x="3222625" y="2890838"/>
            <a:ext cx="579438" cy="565150"/>
          </a:xfrm>
          <a:prstGeom prst="curvedConnector2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4" name="AutoShape 18">
            <a:extLst>
              <a:ext uri="{FF2B5EF4-FFF2-40B4-BE49-F238E27FC236}">
                <a16:creationId xmlns:a16="http://schemas.microsoft.com/office/drawing/2014/main" id="{559EBF52-4E98-4F5A-5EB6-8E17E8B3F2EB}"/>
              </a:ext>
            </a:extLst>
          </p:cNvPr>
          <p:cNvCxnSpPr>
            <a:cxnSpLocks noChangeShapeType="1"/>
            <a:stCxn id="76811" idx="6"/>
            <a:endCxn id="76812" idx="3"/>
          </p:cNvCxnSpPr>
          <p:nvPr/>
        </p:nvCxnSpPr>
        <p:spPr bwMode="auto">
          <a:xfrm flipV="1">
            <a:off x="3222625" y="2890838"/>
            <a:ext cx="579438" cy="1141412"/>
          </a:xfrm>
          <a:prstGeom prst="curvedConnector2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BB031F18-F99C-D18E-CFC8-9081F9402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96838"/>
            <a:ext cx="9101137" cy="860425"/>
          </a:xfrm>
        </p:spPr>
        <p:txBody>
          <a:bodyPr/>
          <a:lstStyle/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Esempio 4: macchina incompletamente specificata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35D80A8F-36E3-04AE-B179-974416F5F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775" y="1241425"/>
            <a:ext cx="9055100" cy="4551363"/>
          </a:xfrm>
        </p:spPr>
        <p:txBody>
          <a:bodyPr/>
          <a:lstStyle/>
          <a:p>
            <a:pPr marL="533400" indent="-533400" eaLnBrk="1" hangingPunct="1"/>
            <a:r>
              <a:rPr lang="en-US" altLang="it-IT">
                <a:ea typeface="ＭＳ Ｐゴシック" panose="020B0600070205080204" pitchFamily="34" charset="-128"/>
              </a:rPr>
              <a:t>Ricerca degli insiemi di compatibilità massimi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it-IT">
                <a:ea typeface="ＭＳ Ｐゴシック" panose="020B0600070205080204" pitchFamily="34" charset="-128"/>
              </a:rPr>
              <a:t>Costruzione del GRAFO DI COMPATIBILITA’</a:t>
            </a:r>
          </a:p>
          <a:p>
            <a:pPr marL="1295400" lvl="2" indent="-381000" eaLnBrk="1" hangingPunct="1">
              <a:buFont typeface="Wingdings" panose="05000000000000000000" pitchFamily="2" charset="2"/>
              <a:buChar char="n"/>
            </a:pPr>
            <a:r>
              <a:rPr lang="en-US" altLang="it-IT">
                <a:ea typeface="ＭＳ Ｐゴシック" panose="020B0600070205080204" pitchFamily="34" charset="-128"/>
              </a:rPr>
              <a:t>I nodi sono gli stati</a:t>
            </a:r>
          </a:p>
          <a:p>
            <a:pPr marL="1295400" lvl="2" indent="-381000" eaLnBrk="1" hangingPunct="1">
              <a:buFont typeface="Wingdings" panose="05000000000000000000" pitchFamily="2" charset="2"/>
              <a:buChar char="n"/>
            </a:pPr>
            <a:r>
              <a:rPr lang="en-US" altLang="it-IT">
                <a:ea typeface="ＭＳ Ｐゴシック" panose="020B0600070205080204" pitchFamily="34" charset="-128"/>
              </a:rPr>
              <a:t>Sugli archi sono specificati gli stati “condizionanti”</a:t>
            </a:r>
          </a:p>
        </p:txBody>
      </p:sp>
      <p:pic>
        <p:nvPicPr>
          <p:cNvPr id="77827" name="Picture 4">
            <a:extLst>
              <a:ext uri="{FF2B5EF4-FFF2-40B4-BE49-F238E27FC236}">
                <a16:creationId xmlns:a16="http://schemas.microsoft.com/office/drawing/2014/main" id="{0AD94343-A7BE-7D14-19C3-0BC29FBD4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7" t="7834" r="9003" b="8891"/>
          <a:stretch>
            <a:fillRect/>
          </a:stretch>
        </p:blipFill>
        <p:spPr bwMode="auto">
          <a:xfrm>
            <a:off x="5940425" y="3240088"/>
            <a:ext cx="3252788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5">
            <a:extLst>
              <a:ext uri="{FF2B5EF4-FFF2-40B4-BE49-F238E27FC236}">
                <a16:creationId xmlns:a16="http://schemas.microsoft.com/office/drawing/2014/main" id="{F8BB6071-8D3C-4E24-D5FB-D6A1C0F7D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455988"/>
            <a:ext cx="403225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AutoShape 6">
            <a:extLst>
              <a:ext uri="{FF2B5EF4-FFF2-40B4-BE49-F238E27FC236}">
                <a16:creationId xmlns:a16="http://schemas.microsoft.com/office/drawing/2014/main" id="{B378B1DF-634D-F419-E43A-9AC5F9B56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4752975"/>
            <a:ext cx="1296988" cy="647700"/>
          </a:xfrm>
          <a:prstGeom prst="rightArrow">
            <a:avLst>
              <a:gd name="adj1" fmla="val 50000"/>
              <a:gd name="adj2" fmla="val 50061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ordi scuri">
  <a:themeElements>
    <a:clrScheme name="Bordi scuri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Bordi scur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ordi scuri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i scuri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i scuri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i scuri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7" ma:contentTypeDescription="Create a new document." ma:contentTypeScope="" ma:versionID="ac12382b13ceaf092b54f0e0c65626fa">
  <xsd:schema xmlns:xsd="http://www.w3.org/2001/XMLSchema" xmlns:xs="http://www.w3.org/2001/XMLSchema" xmlns:p="http://schemas.microsoft.com/office/2006/metadata/properties" xmlns:ns2="6e71ac32-155a-4619-8d53-7abf123e0249" targetNamespace="http://schemas.microsoft.com/office/2006/metadata/properties" ma:root="true" ma:fieldsID="e5af121a0c3934511d7015a115c26a1d" ns2:_="">
    <xsd:import namespace="6e71ac32-155a-4619-8d53-7abf123e0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0A8C28-28CE-4917-8F25-89B66D961108}"/>
</file>

<file path=customXml/itemProps2.xml><?xml version="1.0" encoding="utf-8"?>
<ds:datastoreItem xmlns:ds="http://schemas.openxmlformats.org/officeDocument/2006/customXml" ds:itemID="{761BA2FA-C960-4189-951F-10D749F341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FD38C8-4F40-4782-8892-C109CAB98909}"/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Office\Templates\Presentation Designs\Bordi scuri.pot</Template>
  <TotalTime>29822</TotalTime>
  <Words>2885</Words>
  <Application>Microsoft Office PowerPoint</Application>
  <PresentationFormat>Custom</PresentationFormat>
  <Paragraphs>355</Paragraphs>
  <Slides>51</Slides>
  <Notes>10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Bordi scuri</vt:lpstr>
      <vt:lpstr>Corso di Reti Logiche</vt:lpstr>
      <vt:lpstr>Funzioni uscita e stato prossimo</vt:lpstr>
      <vt:lpstr>Macchine complete e incomplete</vt:lpstr>
      <vt:lpstr>Equivalenza</vt:lpstr>
      <vt:lpstr>Equivalenza</vt:lpstr>
      <vt:lpstr>Equivalenza: riassumendo</vt:lpstr>
      <vt:lpstr>Equivalenza</vt:lpstr>
      <vt:lpstr>Equivalenza e macchine incomplete</vt:lpstr>
      <vt:lpstr>Equivalenza: ricapitolando</vt:lpstr>
      <vt:lpstr>Compatibilità ed equivalenza</vt:lpstr>
      <vt:lpstr>Minimizzazione degli stati</vt:lpstr>
      <vt:lpstr>Minimizzazione degli stati</vt:lpstr>
      <vt:lpstr>Problema della Minimizzazione</vt:lpstr>
      <vt:lpstr>Problema della Minimizzazione</vt:lpstr>
      <vt:lpstr>Ricerca della famiglia F</vt:lpstr>
      <vt:lpstr>Algoritmo del partizionamento</vt:lpstr>
      <vt:lpstr>Algoritmo del partizionamento</vt:lpstr>
      <vt:lpstr>Metodo di Paull-Unger </vt:lpstr>
      <vt:lpstr>Metodo di Paull-Unger</vt:lpstr>
      <vt:lpstr>Metodo di Paull-Unger</vt:lpstr>
      <vt:lpstr>Esempio – Paull-Unger</vt:lpstr>
      <vt:lpstr>Esempio  - cont</vt:lpstr>
      <vt:lpstr>Metodo di Paull-Unger</vt:lpstr>
      <vt:lpstr>PowerPoint Presentation</vt:lpstr>
      <vt:lpstr>Stati compatibili</vt:lpstr>
      <vt:lpstr>Compatibilità</vt:lpstr>
      <vt:lpstr>Compatibilità</vt:lpstr>
      <vt:lpstr>Compatibilità: formalmente</vt:lpstr>
      <vt:lpstr>Macchina incompletamente specificata</vt:lpstr>
      <vt:lpstr>Macchina incompletamente specificata</vt:lpstr>
      <vt:lpstr>Algoritmo della suddivisione degli elementi della famiglia di presunta compatibilità</vt:lpstr>
      <vt:lpstr>Algoritmo della suddivisione degli elementi della famiglia di presunta compatibilità</vt:lpstr>
      <vt:lpstr>Macchina incompletamente specificata</vt:lpstr>
      <vt:lpstr>Macchina incompletamente specificata</vt:lpstr>
      <vt:lpstr>Esempi di minimizzazioni </vt:lpstr>
      <vt:lpstr>Esempio 1: Riconoscitore di codice 8-4-2-1</vt:lpstr>
      <vt:lpstr>Esempio 1</vt:lpstr>
      <vt:lpstr>Esempio 1</vt:lpstr>
      <vt:lpstr>Esempio 1</vt:lpstr>
      <vt:lpstr>Esempio 1</vt:lpstr>
      <vt:lpstr>Esempio 2: Riconoscitore di due sequenze</vt:lpstr>
      <vt:lpstr>Esempio 2: Riconoscitore di due sequenze</vt:lpstr>
      <vt:lpstr>Esempio 2: Riconoscitore di due sequenze </vt:lpstr>
      <vt:lpstr>PowerPoint Presentation</vt:lpstr>
      <vt:lpstr>Esempio 3: Algoritmo della suddivisione degli elementi della famiglia di presunta compatibilità</vt:lpstr>
      <vt:lpstr>Esempio 3: Algoritmo della suddivisione degli elementi della famiglia di presunta compatibilità</vt:lpstr>
      <vt:lpstr>Esempio 3: Algoritmo della suddivisione degli elementi della famiglia di presunta compatibilità – </vt:lpstr>
      <vt:lpstr>Esempio 3</vt:lpstr>
      <vt:lpstr>Esempio 3</vt:lpstr>
      <vt:lpstr>Esempio 4: macchina incompletamente specificata</vt:lpstr>
      <vt:lpstr>Esempio 4: macchina incompletamente specificata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Gerarchia delle Memorie</dc:title>
  <cp:lastModifiedBy>VALENTINA CASOLA</cp:lastModifiedBy>
  <cp:revision>234</cp:revision>
  <dcterms:created xsi:type="dcterms:W3CDTF">2012-03-19T23:02:19Z</dcterms:created>
  <dcterms:modified xsi:type="dcterms:W3CDTF">2026-03-23T15:55:44Z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0x0101005F36501F82A52044904E2AA776D592FE</vt:lpwstr>
  </property>
</Properties>
</file>