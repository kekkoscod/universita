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3"/>
  </p:sldMasterIdLst>
  <p:notesMasterIdLst>
    <p:notesMasterId r:id="rId55"/>
  </p:notesMasterIdLst>
  <p:handoutMasterIdLst>
    <p:handoutMasterId r:id="rId56"/>
  </p:handoutMasterIdLst>
  <p:sldIdLst>
    <p:sldId id="256" r:id="rId4"/>
    <p:sldId id="465" r:id="rId5"/>
    <p:sldId id="460" r:id="rId6"/>
    <p:sldId id="350" r:id="rId7"/>
    <p:sldId id="351" r:id="rId8"/>
    <p:sldId id="466" r:id="rId9"/>
    <p:sldId id="352" r:id="rId10"/>
    <p:sldId id="353" r:id="rId11"/>
    <p:sldId id="461" r:id="rId12"/>
    <p:sldId id="357" r:id="rId13"/>
    <p:sldId id="463" r:id="rId14"/>
    <p:sldId id="464" r:id="rId15"/>
    <p:sldId id="358" r:id="rId16"/>
    <p:sldId id="359" r:id="rId17"/>
    <p:sldId id="360" r:id="rId18"/>
    <p:sldId id="361" r:id="rId19"/>
    <p:sldId id="363" r:id="rId20"/>
    <p:sldId id="364" r:id="rId21"/>
    <p:sldId id="365" r:id="rId22"/>
    <p:sldId id="469" r:id="rId23"/>
    <p:sldId id="467" r:id="rId24"/>
    <p:sldId id="468" r:id="rId25"/>
    <p:sldId id="392" r:id="rId26"/>
    <p:sldId id="479" r:id="rId27"/>
    <p:sldId id="498" r:id="rId28"/>
    <p:sldId id="499" r:id="rId29"/>
    <p:sldId id="500" r:id="rId30"/>
    <p:sldId id="501" r:id="rId31"/>
    <p:sldId id="480" r:id="rId32"/>
    <p:sldId id="485" r:id="rId33"/>
    <p:sldId id="488" r:id="rId34"/>
    <p:sldId id="489" r:id="rId35"/>
    <p:sldId id="493" r:id="rId36"/>
    <p:sldId id="494" r:id="rId37"/>
    <p:sldId id="497" r:id="rId38"/>
    <p:sldId id="470" r:id="rId39"/>
    <p:sldId id="471" r:id="rId40"/>
    <p:sldId id="472" r:id="rId41"/>
    <p:sldId id="473" r:id="rId42"/>
    <p:sldId id="474" r:id="rId43"/>
    <p:sldId id="475" r:id="rId44"/>
    <p:sldId id="476" r:id="rId45"/>
    <p:sldId id="477" r:id="rId46"/>
    <p:sldId id="478" r:id="rId47"/>
    <p:sldId id="490" r:id="rId48"/>
    <p:sldId id="491" r:id="rId49"/>
    <p:sldId id="492" r:id="rId50"/>
    <p:sldId id="486" r:id="rId51"/>
    <p:sldId id="487" r:id="rId52"/>
    <p:sldId id="495" r:id="rId53"/>
    <p:sldId id="496" r:id="rId54"/>
  </p:sldIdLst>
  <p:sldSz cx="9720263" cy="6480175"/>
  <p:notesSz cx="7300913" cy="95869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82">
          <p15:clr>
            <a:srgbClr val="A4A3A4"/>
          </p15:clr>
        </p15:guide>
        <p15:guide id="2" pos="208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>
      <p:cViewPr>
        <p:scale>
          <a:sx n="110" d="100"/>
          <a:sy n="110" d="100"/>
        </p:scale>
        <p:origin x="1480" y="2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3064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582"/>
        <p:guide pos="208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customXml" Target="../customXml/item3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D4E48AE2-2606-BC7E-5A77-DEE5166739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619" tIns="42309" rIns="84619" bIns="42309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1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8EC3F99F-4F0A-8BD9-E63E-797EE35F01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5438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619" tIns="42309" rIns="84619" bIns="4230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1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92516" name="Rectangle 4">
            <a:extLst>
              <a:ext uri="{FF2B5EF4-FFF2-40B4-BE49-F238E27FC236}">
                <a16:creationId xmlns:a16="http://schemas.microsoft.com/office/drawing/2014/main" id="{CDF3156D-295F-74C1-27E0-88041D01EA6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590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619" tIns="42309" rIns="84619" bIns="42309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1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92517" name="Rectangle 5">
            <a:extLst>
              <a:ext uri="{FF2B5EF4-FFF2-40B4-BE49-F238E27FC236}">
                <a16:creationId xmlns:a16="http://schemas.microsoft.com/office/drawing/2014/main" id="{8D32E16E-7DAC-57A1-EF9E-D5C54C33785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5438" y="910590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619" tIns="42309" rIns="84619" bIns="4230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1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7E248EC-EBBC-4168-B3E8-CB1BE8145145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>
            <a:extLst>
              <a:ext uri="{FF2B5EF4-FFF2-40B4-BE49-F238E27FC236}">
                <a16:creationId xmlns:a16="http://schemas.microsoft.com/office/drawing/2014/main" id="{60CE9B3C-4C88-7E53-89AC-36C03F1C488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xfrm>
            <a:off x="1162050" y="920750"/>
            <a:ext cx="4976813" cy="33178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12995407-2317-A392-6772-051475F04E6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30300" y="4560888"/>
            <a:ext cx="5046663" cy="368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 altLang="it-IT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1" charset="-128"/>
        <a:cs typeface="ＭＳ Ｐゴシック" pitchFamily="-111" charset="-128"/>
      </a:defRPr>
    </a:lvl1pPr>
    <a:lvl2pPr marL="37931725" indent="-37474525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1" charset="-128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1" charset="-128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1" charset="-128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>
            <a:extLst>
              <a:ext uri="{FF2B5EF4-FFF2-40B4-BE49-F238E27FC236}">
                <a16:creationId xmlns:a16="http://schemas.microsoft.com/office/drawing/2014/main" id="{D58BEDD7-9EBF-2E8D-F2B2-9396EC04838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3E8CF02-6DAE-FF34-AA77-8508B3D11563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9BB2C9EB-4A7C-2CEC-3B92-1739E285868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E4996384-4B79-96D1-6236-4966A998E6BC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1377AACA-792F-0C7E-1BD2-7D3753A8C94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EFA2F2E3-3D8A-CC6B-6846-04C4A4A19FC9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DED63594-4254-2C28-A915-301C58390E2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15699F6E-EBC2-BBD6-89DC-DE15C697C0DD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C1525EEB-6F03-EA8D-0490-3F43EB69604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B1A7B789-6B76-6F24-F484-CAC69F61891A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A149973A-031E-9EEB-BB61-5A38B718BD2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8" name="Text Box 3">
            <a:extLst>
              <a:ext uri="{FF2B5EF4-FFF2-40B4-BE49-F238E27FC236}">
                <a16:creationId xmlns:a16="http://schemas.microsoft.com/office/drawing/2014/main" id="{CD34AC91-A928-C1FA-1EF6-94A4C1855EEE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M?, non M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3DF08CE1-9E25-C344-C353-085D5BE55FE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CA4EB5C1-CEFE-7879-4F68-F8DF34CB40F5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A53F7C6B-89BA-DA33-5821-FBB029BC813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BEAE1C19-D34C-C863-A790-55FE5EA88D6B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5A4350EA-17FA-8BBC-FE77-89DFFEEC0AF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BDC3FD56-E53D-46F7-9310-7B19A4B3B447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EF48058C-2EC6-3B05-457F-F5CDBBAD19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54088" y="719138"/>
            <a:ext cx="5392737" cy="3595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84058BAB-5B10-4A9F-436D-18C87D6EE60B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0">
            <a:extLst>
              <a:ext uri="{FF2B5EF4-FFF2-40B4-BE49-F238E27FC236}">
                <a16:creationId xmlns:a16="http://schemas.microsoft.com/office/drawing/2014/main" id="{99A2EA54-B339-C028-E8F7-6A36F8766E0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998663"/>
            <a:ext cx="9893300" cy="304800"/>
            <a:chOff x="0" y="624"/>
            <a:chExt cx="6232" cy="192"/>
          </a:xfrm>
        </p:grpSpPr>
        <p:sp>
          <p:nvSpPr>
            <p:cNvPr id="3" name="Rectangle 111">
              <a:extLst>
                <a:ext uri="{FF2B5EF4-FFF2-40B4-BE49-F238E27FC236}">
                  <a16:creationId xmlns:a16="http://schemas.microsoft.com/office/drawing/2014/main" id="{CA2AFAC4-9B2C-0982-D646-FD36B5FD2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  <p:sp>
          <p:nvSpPr>
            <p:cNvPr id="4" name="Rectangle 112">
              <a:extLst>
                <a:ext uri="{FF2B5EF4-FFF2-40B4-BE49-F238E27FC236}">
                  <a16:creationId xmlns:a16="http://schemas.microsoft.com/office/drawing/2014/main" id="{1786E0B1-F994-77C6-7119-73DBE8E1B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</p:grpSp>
      <p:sp>
        <p:nvSpPr>
          <p:cNvPr id="10557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243013" y="989013"/>
            <a:ext cx="7845425" cy="957262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0557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665288" y="2546350"/>
            <a:ext cx="7083425" cy="28289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5" name="Rectangle 103">
            <a:extLst>
              <a:ext uri="{FF2B5EF4-FFF2-40B4-BE49-F238E27FC236}">
                <a16:creationId xmlns:a16="http://schemas.microsoft.com/office/drawing/2014/main" id="{CAFE2873-3617-C967-6DE9-CF195A28DD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474788" y="6007100"/>
            <a:ext cx="2025650" cy="4318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104">
            <a:extLst>
              <a:ext uri="{FF2B5EF4-FFF2-40B4-BE49-F238E27FC236}">
                <a16:creationId xmlns:a16="http://schemas.microsoft.com/office/drawing/2014/main" id="{BE2066E4-906B-38A3-56ED-31B3C6287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957638" y="6007100"/>
            <a:ext cx="2414587" cy="4318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" name="Rectangle 105">
            <a:extLst>
              <a:ext uri="{FF2B5EF4-FFF2-40B4-BE49-F238E27FC236}">
                <a16:creationId xmlns:a16="http://schemas.microsoft.com/office/drawing/2014/main" id="{B1AC6164-DA2D-463E-40AD-DD3443163E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72288" y="6010275"/>
            <a:ext cx="2025650" cy="431800"/>
          </a:xfrm>
        </p:spPr>
        <p:txBody>
          <a:bodyPr/>
          <a:lstStyle>
            <a:lvl1pPr>
              <a:defRPr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FD55349-FEEF-4BE8-9B59-6C211E3EF3AD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00599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E4698681-5A71-186C-D550-5C82ED9BF80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628A39-CBF1-48A2-8C1C-4A1EC4FB8509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478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68350" y="4164013"/>
            <a:ext cx="8261350" cy="12874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68350" y="2746375"/>
            <a:ext cx="8261350" cy="141763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56C441B8-3064-AE70-626D-31BB2981F10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5CD23B-9E7E-46C2-AD59-00939C1CB8C8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5364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4213" y="1727200"/>
            <a:ext cx="4152900" cy="3667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89513" y="1727200"/>
            <a:ext cx="4154487" cy="3667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id="{10CD737D-A58F-D86F-7C15-DDFF177E6AD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D7C115-74ED-4F76-AEA8-5A13165AA906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53893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85775" y="258763"/>
            <a:ext cx="8748713" cy="1081087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85775" y="1450975"/>
            <a:ext cx="4295775" cy="6048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85775" y="2055813"/>
            <a:ext cx="4295775" cy="37322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937125" y="1450975"/>
            <a:ext cx="4297363" cy="6048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937125" y="2055813"/>
            <a:ext cx="4297363" cy="37322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110">
            <a:extLst>
              <a:ext uri="{FF2B5EF4-FFF2-40B4-BE49-F238E27FC236}">
                <a16:creationId xmlns:a16="http://schemas.microsoft.com/office/drawing/2014/main" id="{69250DB8-5763-0900-18DF-0C57F32DFAE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80077-05BC-4B92-9C3E-84C4E20518A1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19415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110">
            <a:extLst>
              <a:ext uri="{FF2B5EF4-FFF2-40B4-BE49-F238E27FC236}">
                <a16:creationId xmlns:a16="http://schemas.microsoft.com/office/drawing/2014/main" id="{0DEAACF0-58A4-14EA-8D5B-5C84CCA2EE1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3B0BB7-020F-4B9E-B97B-A0258EA82D9A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19223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0">
            <a:extLst>
              <a:ext uri="{FF2B5EF4-FFF2-40B4-BE49-F238E27FC236}">
                <a16:creationId xmlns:a16="http://schemas.microsoft.com/office/drawing/2014/main" id="{17A159B4-FACE-D244-3375-78FFAB885C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CAF0F-1461-44C5-8D5F-0E24AEF23C1F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95091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85775" y="258763"/>
            <a:ext cx="3198813" cy="10969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00475" y="258763"/>
            <a:ext cx="5434013" cy="5529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85775" y="1355725"/>
            <a:ext cx="3198813" cy="44323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id="{D149610C-7378-69A8-FE2F-1B01C37FB4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EF8AF1-D805-423C-8A93-10F6C23B1A6F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0142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05000" y="4535488"/>
            <a:ext cx="5832475" cy="5365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05000" y="579438"/>
            <a:ext cx="5832475" cy="38877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05000" y="5072063"/>
            <a:ext cx="5832475" cy="760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id="{FD8DFC59-5534-94CB-B3C7-2D2FBE59D86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BB6984-2297-4B77-B9EE-F7D10F360C69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61845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06534BBE-D65C-7F6B-5F13-B1DE639672A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4A13E6-87A6-4725-8CC5-F2786C4692B2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83016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938963" y="215900"/>
            <a:ext cx="2205037" cy="51784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323850" y="215900"/>
            <a:ext cx="6462713" cy="51784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A41387BC-B8B8-45C5-769E-7F6A901E29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6A4A24-11E8-404A-AE24-24228103DDEF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78938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39738" y="161925"/>
            <a:ext cx="8748712" cy="8604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485775" y="1241425"/>
            <a:ext cx="4297363" cy="45513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35538" y="1241425"/>
            <a:ext cx="4298950" cy="45513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20252-5BF9-0257-B1A8-815A42E0774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860675" y="5921375"/>
            <a:ext cx="4441825" cy="4333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/>
            </a:lvl1pPr>
          </a:lstStyle>
          <a:p>
            <a:pPr>
              <a:defRPr/>
            </a:pPr>
            <a:r>
              <a:rPr lang="it-IT" altLang="it-IT"/>
              <a:t>bruno.fadini@unina.it</a:t>
            </a:r>
          </a:p>
          <a:p>
            <a:pPr>
              <a:defRPr/>
            </a:pPr>
            <a:r>
              <a:rPr lang="it-IT" altLang="it-IT"/>
              <a:t>Università degli Studi di Napoli FEDERICO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06322-8110-92BE-6A6E-B7F8B779E64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08ED69C-0E51-4C63-861D-8B02071AE973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3530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7">
            <a:extLst>
              <a:ext uri="{FF2B5EF4-FFF2-40B4-BE49-F238E27FC236}">
                <a16:creationId xmlns:a16="http://schemas.microsoft.com/office/drawing/2014/main" id="{0176DD2A-294B-6330-4161-38962B135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727200"/>
            <a:ext cx="8459787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7" name="Rectangle 111">
            <a:extLst>
              <a:ext uri="{FF2B5EF4-FFF2-40B4-BE49-F238E27FC236}">
                <a16:creationId xmlns:a16="http://schemas.microsoft.com/office/drawing/2014/main" id="{C8C539AC-572B-DB21-A133-13A7BC14B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784383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grpSp>
        <p:nvGrpSpPr>
          <p:cNvPr id="1028" name="Group 112">
            <a:extLst>
              <a:ext uri="{FF2B5EF4-FFF2-40B4-BE49-F238E27FC236}">
                <a16:creationId xmlns:a16="http://schemas.microsoft.com/office/drawing/2014/main" id="{85C96196-DBD1-68B5-3885-134D3B6E0C4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887413"/>
            <a:ext cx="9893300" cy="304800"/>
            <a:chOff x="0" y="624"/>
            <a:chExt cx="6232" cy="192"/>
          </a:xfrm>
        </p:grpSpPr>
        <p:sp>
          <p:nvSpPr>
            <p:cNvPr id="104561" name="Rectangle 113">
              <a:extLst>
                <a:ext uri="{FF2B5EF4-FFF2-40B4-BE49-F238E27FC236}">
                  <a16:creationId xmlns:a16="http://schemas.microsoft.com/office/drawing/2014/main" id="{B92C1AF2-8E47-E983-838D-B8B17BF71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  <p:sp>
          <p:nvSpPr>
            <p:cNvPr id="104562" name="Rectangle 114">
              <a:extLst>
                <a:ext uri="{FF2B5EF4-FFF2-40B4-BE49-F238E27FC236}">
                  <a16:creationId xmlns:a16="http://schemas.microsoft.com/office/drawing/2014/main" id="{20202ED5-4653-777C-9B62-3AC9E8F03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</p:grpSp>
      <p:sp>
        <p:nvSpPr>
          <p:cNvPr id="104558" name="Rectangle 110">
            <a:extLst>
              <a:ext uri="{FF2B5EF4-FFF2-40B4-BE49-F238E27FC236}">
                <a16:creationId xmlns:a16="http://schemas.microsoft.com/office/drawing/2014/main" id="{15319CD6-B2E2-F222-20B6-2AD4029DF44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05638" y="6026150"/>
            <a:ext cx="23320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folHlink"/>
                </a:solidFill>
              </a:defRPr>
            </a:lvl1pPr>
          </a:lstStyle>
          <a:p>
            <a:pPr>
              <a:defRPr/>
            </a:pPr>
            <a:fld id="{D3A529D2-9E9D-41EC-885A-A088CC9581D0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1" r:id="rId12"/>
  </p:sldLayoutIdLst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1" charset="-128"/>
          <a:cs typeface="ＭＳ Ｐゴシック" pitchFamily="-111" charset="-128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1" charset="-128"/>
          <a:cs typeface="ＭＳ Ｐゴシック" pitchFamily="-111" charset="-128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1" charset="-128"/>
          <a:cs typeface="ＭＳ Ｐゴシック" pitchFamily="-111" charset="-128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1" charset="-128"/>
          <a:cs typeface="ＭＳ Ｐゴシック" pitchFamily="-111" charset="-128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1" charset="-128"/>
          <a:cs typeface="ＭＳ Ｐゴシック" pitchFamily="-111" charset="-128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3200">
          <a:solidFill>
            <a:srgbClr val="000000"/>
          </a:solidFill>
          <a:latin typeface="+mn-lt"/>
          <a:ea typeface="ＭＳ Ｐゴシック" pitchFamily="-111" charset="-128"/>
          <a:cs typeface="ＭＳ Ｐゴシック" pitchFamily="-11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>
          <a:solidFill>
            <a:srgbClr val="000000"/>
          </a:solidFill>
          <a:latin typeface="+mn-lt"/>
          <a:ea typeface="ＭＳ Ｐゴシック" pitchFamily="-111" charset="-128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l"/>
        <a:defRPr sz="2400">
          <a:solidFill>
            <a:srgbClr val="000000"/>
          </a:solidFill>
          <a:latin typeface="+mn-lt"/>
          <a:ea typeface="ＭＳ Ｐゴシック" pitchFamily="-111" charset="-128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sz="2000">
          <a:solidFill>
            <a:srgbClr val="000000"/>
          </a:solidFill>
          <a:latin typeface="+mn-lt"/>
          <a:ea typeface="ＭＳ Ｐゴシック" pitchFamily="-111" charset="-128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sz="2000">
          <a:solidFill>
            <a:srgbClr val="000000"/>
          </a:solidFill>
          <a:latin typeface="+mn-lt"/>
          <a:ea typeface="ＭＳ Ｐゴシック" pitchFamily="-111" charset="-128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3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6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05">
            <a:extLst>
              <a:ext uri="{FF2B5EF4-FFF2-40B4-BE49-F238E27FC236}">
                <a16:creationId xmlns:a16="http://schemas.microsoft.com/office/drawing/2014/main" id="{4A1560D2-439C-FF73-DD63-1F32CD3092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349A5E5-3AD9-4475-9842-B231E3B00EA0}" type="slidenum">
              <a:rPr lang="it-IT" altLang="it-IT" sz="1400">
                <a:solidFill>
                  <a:schemeClr val="folHlink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it-IT" altLang="it-IT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6" name="Rectangle 8">
            <a:extLst>
              <a:ext uri="{FF2B5EF4-FFF2-40B4-BE49-F238E27FC236}">
                <a16:creationId xmlns:a16="http://schemas.microsoft.com/office/drawing/2014/main" id="{35B0C560-2C5C-0A2F-4FE3-E83D6E521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2667000"/>
            <a:ext cx="80899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chemeClr val="tx1"/>
                </a:solidFill>
              </a:rPr>
              <a:t>Macchine Sequenziali</a:t>
            </a:r>
            <a:endParaRPr lang="it-IT" altLang="it-IT" sz="2400">
              <a:solidFill>
                <a:schemeClr val="tx1"/>
              </a:solidFill>
            </a:endParaRPr>
          </a:p>
          <a:p>
            <a:pPr algn="ctr">
              <a:buClrTx/>
              <a:buFontTx/>
              <a:buNone/>
            </a:pPr>
            <a:endParaRPr lang="it-IT" altLang="it-IT" sz="1800">
              <a:solidFill>
                <a:schemeClr val="tx1"/>
              </a:solidFill>
            </a:endParaRPr>
          </a:p>
          <a:p>
            <a:pPr algn="ctr">
              <a:buClrTx/>
              <a:buFontTx/>
              <a:buNone/>
            </a:pPr>
            <a:endParaRPr lang="it-IT" altLang="it-IT" sz="1800">
              <a:solidFill>
                <a:schemeClr val="tx1"/>
              </a:solidFill>
            </a:endParaRPr>
          </a:p>
          <a:p>
            <a:pPr algn="ctr">
              <a:buClrTx/>
              <a:buFontTx/>
              <a:buNone/>
            </a:pPr>
            <a:endParaRPr lang="it-IT" altLang="it-IT" sz="1800">
              <a:solidFill>
                <a:schemeClr val="tx1"/>
              </a:solidFill>
            </a:endParaRPr>
          </a:p>
          <a:p>
            <a:pPr algn="ctr">
              <a:buClrTx/>
              <a:buFontTx/>
              <a:buNone/>
            </a:pPr>
            <a:r>
              <a:rPr lang="it-IT" altLang="it-IT" sz="1800">
                <a:solidFill>
                  <a:schemeClr val="tx1"/>
                </a:solidFill>
              </a:rPr>
              <a:t>Dipartimento di Informatica e Sistemistica</a:t>
            </a:r>
          </a:p>
          <a:p>
            <a:pPr algn="ctr">
              <a:buClrTx/>
              <a:buFontTx/>
              <a:buNone/>
            </a:pPr>
            <a:r>
              <a:rPr lang="it-IT" altLang="it-IT" sz="1800">
                <a:solidFill>
                  <a:schemeClr val="tx1"/>
                </a:solidFill>
              </a:rPr>
              <a:t>Università degli Studi di Napoli Federico II</a:t>
            </a:r>
          </a:p>
        </p:txBody>
      </p:sp>
      <p:sp>
        <p:nvSpPr>
          <p:cNvPr id="16387" name="Rectangle 12">
            <a:extLst>
              <a:ext uri="{FF2B5EF4-FFF2-40B4-BE49-F238E27FC236}">
                <a16:creationId xmlns:a16="http://schemas.microsoft.com/office/drawing/2014/main" id="{3E8C9622-0D10-BF6E-663F-ADA2314E45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74725" y="989013"/>
            <a:ext cx="7845425" cy="957262"/>
          </a:xfrm>
        </p:spPr>
        <p:txBody>
          <a:bodyPr/>
          <a:lstStyle/>
          <a:p>
            <a:pPr eaLnBrk="1" hangingPunct="1"/>
            <a:r>
              <a:rPr lang="en-US" altLang="it-IT" sz="3600">
                <a:ea typeface="ＭＳ Ｐゴシック" panose="020B0600070205080204" pitchFamily="34" charset="-128"/>
              </a:rPr>
              <a:t>Corso di Reti Logiche</a:t>
            </a:r>
            <a:endParaRPr lang="it-IT" altLang="it-IT" sz="36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med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91509075-3F8C-D48E-722B-79CCFF041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215900"/>
            <a:ext cx="7843837" cy="503238"/>
          </a:xfrm>
        </p:spPr>
        <p:txBody>
          <a:bodyPr/>
          <a:lstStyle/>
          <a:p>
            <a:pPr eaLnBrk="1" hangingPunct="1"/>
            <a:r>
              <a:rPr lang="it-IT" altLang="it-IT" sz="3600">
                <a:ea typeface="ＭＳ Ｐゴシック" panose="020B0600070205080204" pitchFamily="34" charset="-128"/>
              </a:rPr>
              <a:t>Funzioni uscita e stato prossimo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62D8F9EA-E39C-EC74-05E7-FB9E218575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511300"/>
            <a:ext cx="8461375" cy="43926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800">
                <a:ea typeface="ＭＳ Ｐゴシック" panose="020B0600070205080204" pitchFamily="34" charset="-128"/>
              </a:rPr>
              <a:t>L’uscita e lo stato prossimo sono funzioni della sequenza di ingressi applicata a partire da uno “stato iniziale”: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sz="2800" i="1">
                <a:ea typeface="ＭＳ Ｐゴシック" panose="020B0600070205080204" pitchFamily="34" charset="-128"/>
              </a:rPr>
              <a:t>		u</a:t>
            </a:r>
            <a:r>
              <a:rPr lang="it-IT" altLang="it-IT" sz="2800" baseline="-25000">
                <a:ea typeface="ＭＳ Ｐゴシック" panose="020B0600070205080204" pitchFamily="34" charset="-128"/>
              </a:rPr>
              <a:t>k </a:t>
            </a:r>
            <a:r>
              <a:rPr lang="it-IT" altLang="it-IT" sz="2800" i="1">
                <a:ea typeface="ＭＳ Ｐゴシック" panose="020B0600070205080204" pitchFamily="34" charset="-128"/>
              </a:rPr>
              <a:t>= </a:t>
            </a:r>
            <a:r>
              <a:rPr lang="fr-FR" altLang="it-IT" sz="2800" i="1">
                <a:ea typeface="ＭＳ Ｐゴシック" panose="020B0600070205080204" pitchFamily="34" charset="-128"/>
              </a:rPr>
              <a:t>λ</a:t>
            </a:r>
            <a:r>
              <a:rPr lang="it-IT" altLang="it-IT" sz="2800" i="1">
                <a:ea typeface="ＭＳ Ｐゴシック" panose="020B0600070205080204" pitchFamily="34" charset="-128"/>
              </a:rPr>
              <a:t>(q</a:t>
            </a:r>
            <a:r>
              <a:rPr lang="it-IT" altLang="it-IT" sz="2800" i="1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800" i="1">
                <a:ea typeface="ＭＳ Ｐゴシック" panose="020B0600070205080204" pitchFamily="34" charset="-128"/>
              </a:rPr>
              <a:t>, J</a:t>
            </a:r>
            <a:r>
              <a:rPr lang="it-IT" altLang="it-IT" sz="2800" i="1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2800" i="1">
                <a:ea typeface="ＭＳ Ｐゴシック" panose="020B0600070205080204" pitchFamily="34" charset="-128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sz="2800" i="1">
                <a:ea typeface="ＭＳ Ｐゴシック" panose="020B0600070205080204" pitchFamily="34" charset="-128"/>
              </a:rPr>
              <a:t>		q</a:t>
            </a:r>
            <a:r>
              <a:rPr lang="it-IT" altLang="it-IT" sz="2800" i="1" baseline="-25000">
                <a:ea typeface="ＭＳ Ｐゴシック" panose="020B0600070205080204" pitchFamily="34" charset="-128"/>
              </a:rPr>
              <a:t>k+1</a:t>
            </a:r>
            <a:r>
              <a:rPr lang="it-IT" altLang="it-IT" sz="2800" i="1">
                <a:ea typeface="ＭＳ Ｐゴシック" panose="020B0600070205080204" pitchFamily="34" charset="-128"/>
              </a:rPr>
              <a:t> = δ(q</a:t>
            </a:r>
            <a:r>
              <a:rPr lang="it-IT" altLang="it-IT" sz="2800" i="1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800" i="1">
                <a:ea typeface="ＭＳ Ｐゴシック" panose="020B0600070205080204" pitchFamily="34" charset="-128"/>
              </a:rPr>
              <a:t>, J</a:t>
            </a:r>
            <a:r>
              <a:rPr lang="it-IT" altLang="it-IT" sz="2800" i="1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2800" i="1">
                <a:ea typeface="ＭＳ Ｐゴシック" panose="020B0600070205080204" pitchFamily="34" charset="-128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 sz="2800">
              <a:solidFill>
                <a:srgbClr val="FF6600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egnaposto numero diapositiva 3">
            <a:extLst>
              <a:ext uri="{FF2B5EF4-FFF2-40B4-BE49-F238E27FC236}">
                <a16:creationId xmlns:a16="http://schemas.microsoft.com/office/drawing/2014/main" id="{C0CE881B-6B16-9EE6-B080-FF76236F34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2744BB-89E8-4852-9C75-5E5395966B97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6CD11BE6-A3FF-A3EC-C4F9-4D0DDA5D1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600">
                <a:ea typeface="ＭＳ Ｐゴシック" panose="020B0600070205080204" pitchFamily="34" charset="-128"/>
              </a:rPr>
              <a:t>Macchine complete e incomplete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1B6C653-F83F-8230-BAE2-5EBC44B84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0213" y="1454150"/>
            <a:ext cx="8461375" cy="3962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Applicabilità di una sequenza</a:t>
            </a:r>
            <a:endParaRPr lang="it-IT" altLang="it-IT" sz="1800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Una sequenza di ingressi J è </a:t>
            </a:r>
            <a:r>
              <a:rPr lang="it-IT" altLang="it-IT" sz="2400" i="1">
                <a:ea typeface="ＭＳ Ｐゴシック" panose="020B0600070205080204" pitchFamily="34" charset="-128"/>
              </a:rPr>
              <a:t>applicabile</a:t>
            </a:r>
            <a:r>
              <a:rPr lang="it-IT" altLang="it-IT" sz="2400">
                <a:ea typeface="ＭＳ Ｐゴシック" panose="020B0600070205080204" pitchFamily="34" charset="-128"/>
              </a:rPr>
              <a:t> a M in q - </a:t>
            </a:r>
            <a:r>
              <a:rPr lang="it-IT" altLang="it-IT" sz="2400" i="1">
                <a:ea typeface="ＭＳ Ｐゴシック" panose="020B0600070205080204" pitchFamily="34" charset="-128"/>
              </a:rPr>
              <a:t>si dice a M(q) </a:t>
            </a:r>
            <a:r>
              <a:rPr lang="it-IT" altLang="it-IT" sz="2400">
                <a:ea typeface="ＭＳ Ｐゴシック" panose="020B0600070205080204" pitchFamily="34" charset="-128"/>
              </a:rPr>
              <a:t>- se è definita </a:t>
            </a:r>
            <a:r>
              <a:rPr lang="it-IT" altLang="it-IT" sz="2400" i="1">
                <a:ea typeface="ＭＳ Ｐゴシック" panose="020B0600070205080204" pitchFamily="34" charset="-128"/>
              </a:rPr>
              <a:t>u=</a:t>
            </a:r>
            <a:r>
              <a:rPr lang="fr-FR" altLang="it-IT" sz="2400" i="1">
                <a:ea typeface="ＭＳ Ｐゴシック" panose="020B0600070205080204" pitchFamily="34" charset="-128"/>
              </a:rPr>
              <a:t>λ</a:t>
            </a:r>
            <a:r>
              <a:rPr lang="it-IT" altLang="it-IT" sz="2400" i="1">
                <a:ea typeface="ＭＳ Ｐゴシック" panose="020B0600070205080204" pitchFamily="34" charset="-128"/>
              </a:rPr>
              <a:t>(q, J), la funzione che fornisce l’uscita u che si ottiene applicando alla macchina la sequenza di ingressi J a partire da uno “stato iniziale” q.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Se la funzione di uscita </a:t>
            </a:r>
            <a:r>
              <a:rPr lang="fr-FR" altLang="it-IT" sz="2400" i="1">
                <a:ea typeface="ＭＳ Ｐゴシック" panose="020B0600070205080204" pitchFamily="34" charset="-128"/>
              </a:rPr>
              <a:t>λ</a:t>
            </a:r>
            <a:r>
              <a:rPr lang="it-IT" altLang="it-IT" sz="2400">
                <a:ea typeface="ＭＳ Ｐゴシック" panose="020B0600070205080204" pitchFamily="34" charset="-128"/>
              </a:rPr>
              <a:t> è definita ovunque, la macchina si dice </a:t>
            </a:r>
            <a:r>
              <a:rPr lang="it-IT" altLang="it-IT" sz="2400" b="1">
                <a:solidFill>
                  <a:srgbClr val="FF6600"/>
                </a:solidFill>
                <a:ea typeface="ＭＳ Ｐゴシック" panose="020B0600070205080204" pitchFamily="34" charset="-128"/>
              </a:rPr>
              <a:t>completa</a:t>
            </a:r>
            <a:r>
              <a:rPr lang="it-IT" altLang="it-IT" sz="2400">
                <a:solidFill>
                  <a:srgbClr val="FF6600"/>
                </a:solidFill>
                <a:ea typeface="ＭＳ Ｐゴシック" panose="020B0600070205080204" pitchFamily="34" charset="-128"/>
              </a:rPr>
              <a:t>, </a:t>
            </a:r>
            <a:r>
              <a:rPr lang="it-IT" altLang="it-IT" sz="2400" b="1">
                <a:solidFill>
                  <a:srgbClr val="FF6600"/>
                </a:solidFill>
                <a:ea typeface="ＭＳ Ｐゴシック" panose="020B0600070205080204" pitchFamily="34" charset="-128"/>
              </a:rPr>
              <a:t>incompleta</a:t>
            </a:r>
            <a:r>
              <a:rPr lang="it-IT" altLang="it-IT" sz="2400">
                <a:solidFill>
                  <a:schemeClr val="hlink"/>
                </a:solidFill>
                <a:ea typeface="ＭＳ Ｐゴシック" panose="020B0600070205080204" pitchFamily="34" charset="-128"/>
              </a:rPr>
              <a:t> altrimenti</a:t>
            </a:r>
          </a:p>
          <a:p>
            <a:pPr eaLnBrk="1" hangingPunct="1"/>
            <a:r>
              <a:rPr lang="it-IT" altLang="it-IT" sz="2400" b="1">
                <a:solidFill>
                  <a:schemeClr val="hlink"/>
                </a:solidFill>
                <a:ea typeface="ＭＳ Ｐゴシック" panose="020B0600070205080204" pitchFamily="34" charset="-128"/>
              </a:rPr>
              <a:t>Per le macchine incomplete esistono sequenze non applicabili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Sequenza </a:t>
            </a:r>
            <a:r>
              <a:rPr lang="it-IT" altLang="it-IT" sz="2000" i="1">
                <a:ea typeface="ＭＳ Ｐゴシック" panose="020B0600070205080204" pitchFamily="34" charset="-128"/>
              </a:rPr>
              <a:t>J</a:t>
            </a:r>
            <a:r>
              <a:rPr lang="it-IT" altLang="it-IT" sz="2000" i="1" baseline="-25000">
                <a:ea typeface="ＭＳ Ｐゴシック" panose="020B0600070205080204" pitchFamily="34" charset="-128"/>
              </a:rPr>
              <a:t>j</a:t>
            </a:r>
            <a:r>
              <a:rPr lang="it-IT" altLang="it-IT" sz="2000" i="1">
                <a:ea typeface="ＭＳ Ｐゴシック" panose="020B0600070205080204" pitchFamily="34" charset="-128"/>
              </a:rPr>
              <a:t> non applicabile</a:t>
            </a:r>
            <a:r>
              <a:rPr lang="it-IT" altLang="it-IT" sz="2000">
                <a:ea typeface="ＭＳ Ｐゴシック" panose="020B0600070205080204" pitchFamily="34" charset="-128"/>
              </a:rPr>
              <a:t> in q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000">
                <a:ea typeface="ＭＳ Ｐゴシック" panose="020B0600070205080204" pitchFamily="34" charset="-128"/>
              </a:rPr>
              <a:t>: </a:t>
            </a:r>
            <a:r>
              <a:rPr lang="fr-FR" altLang="it-IT" sz="2000" i="1">
                <a:ea typeface="ＭＳ Ｐゴシック" panose="020B0600070205080204" pitchFamily="34" charset="-128"/>
              </a:rPr>
              <a:t>λ</a:t>
            </a:r>
            <a:r>
              <a:rPr lang="it-IT" altLang="it-IT" sz="2000">
                <a:ea typeface="ＭＳ Ｐゴシック" panose="020B0600070205080204" pitchFamily="34" charset="-128"/>
              </a:rPr>
              <a:t> non definita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600">
                <a:ea typeface="ＭＳ Ｐゴシック" panose="020B0600070205080204" pitchFamily="34" charset="-128"/>
              </a:rPr>
              <a:t>Potrebbe essere applicabile una sequenza più lunga</a:t>
            </a:r>
          </a:p>
          <a:p>
            <a:pPr eaLnBrk="1" hangingPunct="1"/>
            <a:endParaRPr lang="it-IT" altLang="it-IT" sz="2400" b="1">
              <a:solidFill>
                <a:srgbClr val="FF6600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advTm="53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egnaposto numero diapositiva 3">
            <a:extLst>
              <a:ext uri="{FF2B5EF4-FFF2-40B4-BE49-F238E27FC236}">
                <a16:creationId xmlns:a16="http://schemas.microsoft.com/office/drawing/2014/main" id="{2CA84FC7-086C-FB1C-06FB-D86F084D4A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F8AC43-ECDF-470C-B6D6-BE177D25193E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D16582E7-6D11-A272-04DD-7FDF635F77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Equivalenza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F0A0E81-8518-7EFF-DED4-E21EFA6B00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4525" y="1525588"/>
            <a:ext cx="8459788" cy="3667125"/>
          </a:xfrm>
        </p:spPr>
        <p:txBody>
          <a:bodyPr/>
          <a:lstStyle/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Occorre formalizzare il fatto che due macchine possano avere lo stesso funzionamento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sz="2800">
                <a:ea typeface="ＭＳ Ｐゴシック" panose="020B0600070205080204" pitchFamily="34" charset="-128"/>
              </a:rPr>
              <a:t>	</a:t>
            </a:r>
            <a:r>
              <a:rPr lang="it-IT" altLang="it-IT" sz="2800">
                <a:ea typeface="ＭＳ Ｐゴシック" panose="020B0600070205080204" pitchFamily="34" charset="-128"/>
                <a:sym typeface="Wingdings" panose="05000000000000000000" pitchFamily="2" charset="2"/>
              </a:rPr>
              <a:t> reagire nello stesso modo (con le stesse uscite) alle stesse sequenze di ingressi</a:t>
            </a:r>
          </a:p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Definizione di </a:t>
            </a:r>
            <a:r>
              <a:rPr lang="it-IT" altLang="it-IT" sz="2800" b="1" i="1">
                <a:ea typeface="ＭＳ Ｐゴシック" panose="020B0600070205080204" pitchFamily="34" charset="-128"/>
              </a:rPr>
              <a:t>stati equivalenti </a:t>
            </a:r>
            <a:r>
              <a:rPr lang="it-IT" altLang="it-IT" sz="2800">
                <a:ea typeface="ＭＳ Ｐゴシック" panose="020B0600070205080204" pitchFamily="34" charset="-128"/>
              </a:rPr>
              <a:t>in macchine complete</a:t>
            </a:r>
            <a:r>
              <a:rPr lang="it-IT" altLang="it-IT" sz="2800" i="1">
                <a:ea typeface="ＭＳ Ｐゴシック" panose="020B0600070205080204" pitchFamily="34" charset="-128"/>
              </a:rPr>
              <a:t>:</a:t>
            </a:r>
          </a:p>
          <a:p>
            <a:pPr lvl="1" eaLnBrk="1" hangingPunct="1"/>
            <a:r>
              <a:rPr lang="it-IT" altLang="it-IT" sz="2400" b="1">
                <a:solidFill>
                  <a:srgbClr val="FF6600"/>
                </a:solidFill>
                <a:ea typeface="ＭＳ Ｐゴシック" panose="020B0600070205080204" pitchFamily="34" charset="-128"/>
              </a:rPr>
              <a:t>Producono la stessa sequenza di uscite per qualsiasi sequenza di ingressi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egnaposto numero diapositiva 3">
            <a:extLst>
              <a:ext uri="{FF2B5EF4-FFF2-40B4-BE49-F238E27FC236}">
                <a16:creationId xmlns:a16="http://schemas.microsoft.com/office/drawing/2014/main" id="{98AADE82-9599-47B0-A737-114AD533B2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7D8B00-3CA6-47BD-8CA2-A0758367D161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3CEA52B4-20B1-8EE1-5AAF-8F4F55E0C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Equivalenza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27F764A-C5BE-BF79-3B54-F6BA971BA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54150"/>
            <a:ext cx="8459787" cy="4033838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Un modo per riconoscere stati equivalenti (fondamentale negli algoritmi che vedremo) è usare la proprietà ricorsiva degli stati equivalenti: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i="1">
                <a:ea typeface="ＭＳ Ｐゴシック" panose="020B0600070205080204" pitchFamily="34" charset="-128"/>
              </a:rPr>
              <a:t>	</a:t>
            </a:r>
            <a:r>
              <a:rPr lang="it-IT" altLang="it-IT" b="1" i="1">
                <a:solidFill>
                  <a:srgbClr val="FF6600"/>
                </a:solidFill>
                <a:ea typeface="ＭＳ Ｐゴシック" panose="020B0600070205080204" pitchFamily="34" charset="-128"/>
              </a:rPr>
              <a:t>Due stati sono equivalenti se lo sono tutte le possibili coppie di </a:t>
            </a:r>
            <a:r>
              <a:rPr lang="it-IT" altLang="it-IT" b="1" i="1" u="sng">
                <a:solidFill>
                  <a:srgbClr val="FF6600"/>
                </a:solidFill>
                <a:ea typeface="ＭＳ Ｐゴシック" panose="020B0600070205080204" pitchFamily="34" charset="-128"/>
              </a:rPr>
              <a:t>stati successivi</a:t>
            </a:r>
            <a:r>
              <a:rPr lang="it-IT" altLang="it-IT" b="1" i="1">
                <a:solidFill>
                  <a:srgbClr val="FF6600"/>
                </a:solidFill>
                <a:ea typeface="ＭＳ Ｐゴシック" panose="020B0600070205080204" pitchFamily="34" charset="-128"/>
              </a:rPr>
              <a:t>, e sono uguali tutte le possibili </a:t>
            </a:r>
            <a:r>
              <a:rPr lang="it-IT" altLang="it-IT" b="1" i="1" u="sng">
                <a:solidFill>
                  <a:srgbClr val="FF6600"/>
                </a:solidFill>
                <a:ea typeface="ＭＳ Ｐゴシック" panose="020B0600070205080204" pitchFamily="34" charset="-128"/>
              </a:rPr>
              <a:t>uscite successive.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17FCDAA9-16AD-6A2B-9FCC-B87B501D6F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800">
                <a:ea typeface="ＭＳ Ｐゴシック" panose="020B0600070205080204" pitchFamily="34" charset="-128"/>
              </a:rPr>
              <a:t>Equivalenza: riassumendo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217D81B8-611D-3C62-8DC8-6E1B82662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1650" y="1311275"/>
            <a:ext cx="8431213" cy="3667125"/>
          </a:xfrm>
        </p:spPr>
        <p:txBody>
          <a:bodyPr/>
          <a:lstStyle/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Concetto di equivalenza: </a:t>
            </a:r>
            <a:r>
              <a:rPr lang="it-IT" altLang="it-IT" sz="2800" u="sng">
                <a:ea typeface="ＭＳ Ｐゴシック" panose="020B0600070205080204" pitchFamily="34" charset="-128"/>
              </a:rPr>
              <a:t>avere lo stesso funzionamento “esterno”</a:t>
            </a:r>
          </a:p>
          <a:p>
            <a:pPr lvl="1" eaLnBrk="1" hangingPunct="1"/>
            <a:r>
              <a:rPr lang="it-IT" altLang="it-IT" sz="2400">
                <a:ea typeface="ＭＳ Ｐゴシック" panose="020B0600070205080204" pitchFamily="34" charset="-128"/>
                <a:sym typeface="Wingdings" panose="05000000000000000000" pitchFamily="2" charset="2"/>
              </a:rPr>
              <a:t>Reagire nello stesso modo (con le stesse uscite) alle stesse sequenze di ingressi</a:t>
            </a:r>
          </a:p>
          <a:p>
            <a:pPr lvl="1" eaLnBrk="1" hangingPunct="1"/>
            <a:r>
              <a:rPr lang="it-IT" altLang="it-IT" sz="2400">
                <a:ea typeface="ＭＳ Ｐゴシック" panose="020B0600070205080204" pitchFamily="34" charset="-128"/>
                <a:sym typeface="Wingdings" panose="05000000000000000000" pitchFamily="2" charset="2"/>
              </a:rPr>
              <a:t>Due stati sono equivalenti se, per ciascun ingresso:</a:t>
            </a:r>
          </a:p>
          <a:p>
            <a:pPr lvl="2" eaLnBrk="1" hangingPunct="1">
              <a:buClr>
                <a:schemeClr val="bg2"/>
              </a:buClr>
              <a:buSzPct val="75000"/>
            </a:pPr>
            <a:r>
              <a:rPr lang="it-IT" altLang="it-IT" sz="1800">
                <a:ea typeface="ＭＳ Ｐゴシック" panose="020B0600070205080204" pitchFamily="34" charset="-128"/>
                <a:sym typeface="Wingdings" panose="05000000000000000000" pitchFamily="2" charset="2"/>
              </a:rPr>
              <a:t>sono eguali le uscite</a:t>
            </a:r>
          </a:p>
          <a:p>
            <a:pPr lvl="2" eaLnBrk="1" hangingPunct="1">
              <a:buClr>
                <a:schemeClr val="bg2"/>
              </a:buClr>
              <a:buSzPct val="75000"/>
            </a:pPr>
            <a:r>
              <a:rPr lang="it-IT" altLang="it-IT" sz="1800">
                <a:ea typeface="ＭＳ Ｐゴシック" panose="020B0600070205080204" pitchFamily="34" charset="-128"/>
                <a:sym typeface="Wingdings" panose="05000000000000000000" pitchFamily="2" charset="2"/>
              </a:rPr>
              <a:t>sono equivalenti gli stati successivi</a:t>
            </a:r>
          </a:p>
          <a:p>
            <a:pPr lvl="1" eaLnBrk="1" hangingPunct="1"/>
            <a:r>
              <a:rPr lang="it-IT" altLang="it-IT" sz="2400">
                <a:ea typeface="ＭＳ Ｐゴシック" panose="020B0600070205080204" pitchFamily="34" charset="-128"/>
              </a:rPr>
              <a:t>Definizione di </a:t>
            </a:r>
            <a:r>
              <a:rPr lang="it-IT" altLang="it-IT" sz="2400" i="1">
                <a:ea typeface="ＭＳ Ｐゴシック" panose="020B0600070205080204" pitchFamily="34" charset="-128"/>
              </a:rPr>
              <a:t>stati equivalenti </a:t>
            </a:r>
            <a:r>
              <a:rPr lang="it-IT" altLang="it-IT" sz="2400">
                <a:ea typeface="ＭＳ Ｐゴシック" panose="020B0600070205080204" pitchFamily="34" charset="-128"/>
              </a:rPr>
              <a:t>in macchine </a:t>
            </a:r>
            <a:r>
              <a:rPr lang="it-IT" altLang="it-IT" sz="2400" b="1">
                <a:solidFill>
                  <a:srgbClr val="FF6600"/>
                </a:solidFill>
                <a:ea typeface="ＭＳ Ｐゴシック" panose="020B0600070205080204" pitchFamily="34" charset="-128"/>
              </a:rPr>
              <a:t>complete</a:t>
            </a:r>
            <a:r>
              <a:rPr lang="it-IT" altLang="it-IT" sz="2400" i="1">
                <a:ea typeface="ＭＳ Ｐゴシック" panose="020B0600070205080204" pitchFamily="34" charset="-128"/>
              </a:rPr>
              <a:t>:</a:t>
            </a:r>
          </a:p>
          <a:p>
            <a:pPr lvl="2" eaLnBrk="1" hangingPunct="1"/>
            <a:r>
              <a:rPr lang="it-IT" altLang="it-IT" sz="1800">
                <a:ea typeface="ＭＳ Ｐゴシック" panose="020B0600070205080204" pitchFamily="34" charset="-128"/>
              </a:rPr>
              <a:t>Producono la stessa sequenza di uscite per qualsiasi sequenza di ingressi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egnaposto numero diapositiva 3">
            <a:extLst>
              <a:ext uri="{FF2B5EF4-FFF2-40B4-BE49-F238E27FC236}">
                <a16:creationId xmlns:a16="http://schemas.microsoft.com/office/drawing/2014/main" id="{B7305B71-8919-689A-1FEC-B7E2FAC25D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2E183A2-AC25-459D-8211-5151DF70F957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53E0D77A-F5E6-ABEE-C3F5-833369D0C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Equivalenza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516C78A-E1A9-65D7-C22A-21C01D91A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 due stati possono appartenere anche non alla stessa macchina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Due macchine </a:t>
            </a:r>
            <a:r>
              <a:rPr lang="it-IT" altLang="it-IT" i="1">
                <a:ea typeface="ＭＳ Ｐゴシック" panose="020B0600070205080204" pitchFamily="34" charset="-128"/>
              </a:rPr>
              <a:t>complete</a:t>
            </a:r>
            <a:r>
              <a:rPr lang="it-IT" altLang="it-IT">
                <a:ea typeface="ＭＳ Ｐゴシック" panose="020B0600070205080204" pitchFamily="34" charset="-128"/>
              </a:rPr>
              <a:t> M e M' sono equivalenti se per ciascuno stato q di M esiste almeno uno stato q’ di M’ ad esso equivalente e, viceversa</a:t>
            </a: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egnaposto numero diapositiva 3">
            <a:extLst>
              <a:ext uri="{FF2B5EF4-FFF2-40B4-BE49-F238E27FC236}">
                <a16:creationId xmlns:a16="http://schemas.microsoft.com/office/drawing/2014/main" id="{83118357-F1AE-D3B4-6E0B-21F2217123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D5938AE-1B07-4743-9849-682B6CBB0F3C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D14CE2EA-3897-5BA5-54DD-A7FC75EFA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15900"/>
            <a:ext cx="8569325" cy="503238"/>
          </a:xfrm>
        </p:spPr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Equivalenza e macchine incomplete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6873866-3705-0210-2A1A-D1561420F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La definizione precedente non può essere applicata così com’è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	</a:t>
            </a:r>
            <a:r>
              <a:rPr lang="it-IT" altLang="it-IT">
                <a:ea typeface="ＭＳ Ｐゴシック" panose="020B0600070205080204" pitchFamily="34" charset="-128"/>
                <a:sym typeface="Wingdings" panose="05000000000000000000" pitchFamily="2" charset="2"/>
              </a:rPr>
              <a:t> non tutte le possibili sequenze sono applicabili a tutti gli stati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introducono i concetti di: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b="1" i="1">
                <a:solidFill>
                  <a:srgbClr val="FF6600"/>
                </a:solidFill>
                <a:ea typeface="ＭＳ Ｐゴシック" panose="020B0600070205080204" pitchFamily="34" charset="-128"/>
              </a:rPr>
              <a:t>Compatibilità</a:t>
            </a:r>
            <a:r>
              <a:rPr lang="it-IT" altLang="it-IT" i="1">
                <a:ea typeface="ＭＳ Ｐゴシック" panose="020B0600070205080204" pitchFamily="34" charset="-128"/>
              </a:rPr>
              <a:t> </a:t>
            </a:r>
            <a:r>
              <a:rPr lang="it-IT" altLang="it-IT">
                <a:ea typeface="ＭＳ Ｐゴシック" panose="020B0600070205080204" pitchFamily="34" charset="-128"/>
              </a:rPr>
              <a:t>tra stati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b="1" i="1">
                <a:solidFill>
                  <a:srgbClr val="FF6600"/>
                </a:solidFill>
                <a:ea typeface="ＭＳ Ｐゴシック" panose="020B0600070205080204" pitchFamily="34" charset="-128"/>
              </a:rPr>
              <a:t>Inclusione</a:t>
            </a:r>
            <a:r>
              <a:rPr lang="it-IT" altLang="it-IT">
                <a:ea typeface="ＭＳ Ｐゴシック" panose="020B0600070205080204" pitchFamily="34" charset="-128"/>
              </a:rPr>
              <a:t> tra macchine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egnaposto numero diapositiva 3">
            <a:extLst>
              <a:ext uri="{FF2B5EF4-FFF2-40B4-BE49-F238E27FC236}">
                <a16:creationId xmlns:a16="http://schemas.microsoft.com/office/drawing/2014/main" id="{F85D3DD3-5568-46FF-F27A-7EF165C8D8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233C742-708B-4542-96C3-B826B332BD14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FECA1BFC-65B4-79BB-579E-DA91C0837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Equivalenza: ricapitolando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C7BA7AB-11E0-3B2E-77B3-A854078984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11300"/>
            <a:ext cx="8748712" cy="42846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Stati equivalenti</a:t>
            </a:r>
            <a:r>
              <a:rPr lang="it-IT" altLang="it-IT" b="1">
                <a:ea typeface="ＭＳ Ｐゴシック" panose="020B0600070205080204" pitchFamily="34" charset="-128"/>
              </a:rPr>
              <a:t> </a:t>
            </a:r>
            <a:r>
              <a:rPr lang="it-IT" altLang="it-IT" sz="2000" b="1">
                <a:ea typeface="ＭＳ Ｐゴシック" panose="020B0600070205080204" pitchFamily="34" charset="-128"/>
              </a:rPr>
              <a:t>(macchine complete)</a:t>
            </a:r>
            <a:endParaRPr lang="it-IT" altLang="it-IT" sz="20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Due  stati (della stessa macchina o di macchine diverse) sono equivalenti</a:t>
            </a:r>
            <a:r>
              <a:rPr lang="it-IT" altLang="it-IT" sz="1800" i="1">
                <a:ea typeface="ＭＳ Ｐゴシック" panose="020B0600070205080204" pitchFamily="34" charset="-128"/>
              </a:rPr>
              <a:t> </a:t>
            </a:r>
            <a:r>
              <a:rPr lang="it-IT" altLang="it-IT" sz="1800">
                <a:ea typeface="ＭＳ Ｐゴシック" panose="020B0600070205080204" pitchFamily="34" charset="-128"/>
              </a:rPr>
              <a:t>se producono la stessa sequenza di uscite per qualsiasi sequenza di ingressi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Definizione ricorsiva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1600">
                <a:ea typeface="ＭＳ Ｐゴシック" panose="020B0600070205080204" pitchFamily="34" charset="-128"/>
              </a:rPr>
              <a:t>Due stati sono equivalenti se, per ciascun ingresso sono eguali le uscite e sono equivalenti gli stati successivi</a:t>
            </a:r>
            <a:endParaRPr lang="it-IT" altLang="it-IT" sz="2400" b="1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Macchine equivalenti</a:t>
            </a:r>
            <a:r>
              <a:rPr lang="it-IT" altLang="it-IT" sz="1800">
                <a:ea typeface="ＭＳ Ｐゴシック" panose="020B0600070205080204" pitchFamily="34" charset="-128"/>
              </a:rPr>
              <a:t> </a:t>
            </a:r>
            <a:r>
              <a:rPr lang="it-IT" altLang="it-IT" sz="2000" b="1">
                <a:ea typeface="ＭＳ Ｐゴシック" panose="020B0600070205080204" pitchFamily="34" charset="-128"/>
              </a:rPr>
              <a:t>(complete)</a:t>
            </a:r>
            <a:endParaRPr lang="it-IT" altLang="it-IT" sz="1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Due macchine complete M e M' sono equivalenti se per ciascuno stato q di M esiste almeno uno stato q’ di M’ ad esso equivalente e viceversa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Macchine equivalenti</a:t>
            </a:r>
            <a:r>
              <a:rPr lang="it-IT" altLang="it-IT" sz="1800">
                <a:ea typeface="ＭＳ Ｐゴシック" panose="020B0600070205080204" pitchFamily="34" charset="-128"/>
              </a:rPr>
              <a:t> </a:t>
            </a:r>
            <a:r>
              <a:rPr lang="it-IT" altLang="it-IT" sz="2000" b="1">
                <a:ea typeface="ＭＳ Ｐゴシック" panose="020B0600070205080204" pitchFamily="34" charset="-128"/>
              </a:rPr>
              <a:t>(incomplete):</a:t>
            </a:r>
            <a:r>
              <a:rPr lang="it-IT" altLang="it-IT" sz="2000">
                <a:ea typeface="ＭＳ Ｐゴシック" panose="020B0600070205080204" pitchFamily="34" charset="-128"/>
              </a:rPr>
              <a:t> n</a:t>
            </a:r>
            <a:r>
              <a:rPr lang="it-IT" altLang="it-IT" sz="1800">
                <a:ea typeface="ＭＳ Ｐゴシック" panose="020B0600070205080204" pitchFamily="34" charset="-128"/>
              </a:rPr>
              <a:t>on tutte le sequenze di ingresso sono applicabili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it-IT" altLang="it-IT" sz="2000">
                <a:ea typeface="ＭＳ Ｐゴシック" panose="020B0600070205080204" pitchFamily="34" charset="-128"/>
              </a:rPr>
              <a:t>il concetto è sostituito da quelli di </a:t>
            </a:r>
            <a:r>
              <a:rPr lang="it-IT" altLang="it-IT" sz="1800" b="1">
                <a:ea typeface="ＭＳ Ｐゴシック" panose="020B0600070205080204" pitchFamily="34" charset="-128"/>
              </a:rPr>
              <a:t>Compatibilità </a:t>
            </a:r>
            <a:r>
              <a:rPr lang="it-IT" altLang="it-IT" sz="1800">
                <a:ea typeface="ＭＳ Ｐゴシック" panose="020B0600070205080204" pitchFamily="34" charset="-128"/>
              </a:rPr>
              <a:t>tra stati ed </a:t>
            </a:r>
            <a:r>
              <a:rPr lang="it-IT" altLang="it-IT" sz="1800" b="1">
                <a:ea typeface="ＭＳ Ｐゴシック" panose="020B0600070205080204" pitchFamily="34" charset="-128"/>
              </a:rPr>
              <a:t>Inclusione</a:t>
            </a:r>
            <a:r>
              <a:rPr lang="it-IT" altLang="it-IT" sz="1800">
                <a:ea typeface="ＭＳ Ｐゴシック" panose="020B0600070205080204" pitchFamily="34" charset="-128"/>
              </a:rPr>
              <a:t> tra macchine</a:t>
            </a:r>
          </a:p>
        </p:txBody>
      </p:sp>
    </p:spTree>
  </p:cSld>
  <p:clrMapOvr>
    <a:masterClrMapping/>
  </p:clrMapOvr>
  <p:transition advTm="86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egnaposto numero diapositiva 3">
            <a:extLst>
              <a:ext uri="{FF2B5EF4-FFF2-40B4-BE49-F238E27FC236}">
                <a16:creationId xmlns:a16="http://schemas.microsoft.com/office/drawing/2014/main" id="{7B07BFDF-7D3C-2719-8B95-8C9063C93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8BB64D3-4A67-44AD-A7EC-9FA83640A263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C3D6BC98-858E-A771-BB90-88AEC583CA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Compatibilità ed equivalenza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ED94C60-F35E-2A5D-0238-F00CBF999D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Nel caso di macchine complete le due definizioni coincidono.</a:t>
            </a:r>
          </a:p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Tra due macchine equivalenti, conviene scegliere quella con meno stati</a:t>
            </a:r>
          </a:p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  <a:sym typeface="Wingdings" panose="05000000000000000000" pitchFamily="2" charset="2"/>
              </a:rPr>
              <a:t> problema di minimizzazione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sz="2800">
                <a:ea typeface="ＭＳ Ｐゴシック" panose="020B0600070205080204" pitchFamily="34" charset="-128"/>
                <a:sym typeface="Wingdings" panose="05000000000000000000" pitchFamily="2" charset="2"/>
              </a:rPr>
              <a:t>	individuare la macchina con il minor numero di stati tra tutte le possibili macchine equivalenti</a:t>
            </a:r>
            <a:endParaRPr lang="it-IT" altLang="it-IT" sz="28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8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egnaposto numero diapositiva 3">
            <a:extLst>
              <a:ext uri="{FF2B5EF4-FFF2-40B4-BE49-F238E27FC236}">
                <a16:creationId xmlns:a16="http://schemas.microsoft.com/office/drawing/2014/main" id="{782DE7BC-0D50-3DB2-4C40-9E3F0FA04F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2C320D3-55E8-47A4-B6C5-03723832508C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E888DBB3-E2EF-EADC-4798-50C05D492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Minimizzazione degli stati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208D28A4-EAC5-2815-BA8F-FA51C3FC7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727200"/>
            <a:ext cx="8748712" cy="4241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Minimizzazione e classi di equivalenza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</a:pPr>
            <a:r>
              <a:rPr lang="it-IT" altLang="it-IT" sz="2000">
                <a:ea typeface="ＭＳ Ｐゴシック" panose="020B0600070205080204" pitchFamily="34" charset="-128"/>
              </a:rPr>
              <a:t>Data una macchina M se ne vuole trovare una equivalente, M’, con un numero minimo di stati.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000" b="1" u="sng">
                <a:ea typeface="ＭＳ Ｐゴシック" panose="020B0600070205080204" pitchFamily="34" charset="-128"/>
              </a:rPr>
              <a:t>La famiglia delle classi di equivalenza degli stati di M è la soluzione</a:t>
            </a:r>
            <a:r>
              <a:rPr lang="it-IT" altLang="it-IT" sz="2000">
                <a:ea typeface="ＭＳ Ｐゴシック" panose="020B0600070205080204" pitchFamily="34" charset="-128"/>
              </a:rPr>
              <a:t>: M’ ha uno stato per ogni elemento C della famiglia con: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b="1">
                <a:ea typeface="ＭＳ Ｐゴシック" panose="020B0600070205080204" pitchFamily="34" charset="-128"/>
              </a:rPr>
              <a:t>uscita:</a:t>
            </a:r>
            <a:r>
              <a:rPr lang="it-IT" altLang="it-IT" sz="2000">
                <a:ea typeface="ＭＳ Ｐゴシック" panose="020B0600070205080204" pitchFamily="34" charset="-128"/>
              </a:rPr>
              <a:t> pari alla uscita degli elementi di C, tutti eguali per essere questi equivalenti fra loro,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b="1">
                <a:ea typeface="ＭＳ Ｐゴシック" panose="020B0600070205080204" pitchFamily="34" charset="-128"/>
              </a:rPr>
              <a:t>stato seguente:</a:t>
            </a:r>
            <a:r>
              <a:rPr lang="it-IT" altLang="it-IT" sz="2000">
                <a:ea typeface="ＭＳ Ｐゴシック" panose="020B0600070205080204" pitchFamily="34" charset="-128"/>
              </a:rPr>
              <a:t> quello determinato da C stesso; essendo infatti gli stati di C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>
                <a:ea typeface="ＭＳ Ｐゴシック" panose="020B0600070205080204" pitchFamily="34" charset="-128"/>
              </a:rPr>
              <a:t> equivalenti fra loro, devono avere tutti per seguenti stati equivalenti e quindi appartenere ad un unico elemento C’ della famiglia delle classi di equivalenza.</a:t>
            </a:r>
          </a:p>
          <a:p>
            <a:pPr lvl="1" eaLnBrk="1" hangingPunct="1">
              <a:lnSpc>
                <a:spcPct val="8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b="1">
                <a:solidFill>
                  <a:srgbClr val="FF6600"/>
                </a:solidFill>
                <a:ea typeface="ＭＳ Ｐゴシック" panose="020B0600070205080204" pitchFamily="34" charset="-128"/>
              </a:rPr>
              <a:t>M’ ha un numero di stati minimo, per le proprietà delle classi di equivalenza</a:t>
            </a:r>
            <a:r>
              <a:rPr lang="it-IT" altLang="it-IT" sz="2000"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  <p:transition advTm="95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egnaposto numero diapositiva 3">
            <a:extLst>
              <a:ext uri="{FF2B5EF4-FFF2-40B4-BE49-F238E27FC236}">
                <a16:creationId xmlns:a16="http://schemas.microsoft.com/office/drawing/2014/main" id="{8550C324-FEEE-481A-4E81-81DB787E6A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BD05D99-5019-4ECA-A792-75B508E6FBD5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3E17AC7C-6793-2E3F-18C3-FA2D20D84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Minimizzazione degli stati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F2BD9EC-05D6-90D6-0D1C-BB172FEFEB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944688"/>
            <a:ext cx="8748712" cy="35083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Minimizzazione e classi di compatibilità massime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Per le macchine incomplete, proprietà analoghe a quelle delle classi di equivalenza, ma più complesse, hanno le classi di compatibilità massime </a:t>
            </a:r>
          </a:p>
          <a:p>
            <a:pPr eaLnBrk="1" hangingPunct="1">
              <a:lnSpc>
                <a:spcPct val="8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Si procede analogamente, con le seguenti peculiarità: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M’ include M (non è equivalente)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La soluzione potrebbe non essere minima, ma in generale presenta una macchina a “stati ridotti”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Si possono avere più soluzioni, potendo uno “stato seguente” essere incluso in più elementi distinti della famiglia di compatibilità massima</a:t>
            </a:r>
          </a:p>
          <a:p>
            <a:pPr lvl="1" eaLnBrk="1" hangingPunct="1">
              <a:lnSpc>
                <a:spcPct val="8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advTm="83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egnaposto numero diapositiva 3">
            <a:extLst>
              <a:ext uri="{FF2B5EF4-FFF2-40B4-BE49-F238E27FC236}">
                <a16:creationId xmlns:a16="http://schemas.microsoft.com/office/drawing/2014/main" id="{99696627-78F3-C43A-6ACE-07FE095D56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02854B-B0CC-495A-9BD6-AA72AD1FB864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678DC159-FE58-5C32-BF4C-2A0A2D626E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Problema della Minimizzazione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599117B-D016-C6E5-4882-3E5B2C11B7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Partendo da una macchina </a:t>
            </a:r>
            <a:r>
              <a:rPr lang="it-IT" altLang="it-IT" i="1">
                <a:ea typeface="ＭＳ Ｐゴシック" panose="020B0600070205080204" pitchFamily="34" charset="-128"/>
              </a:rPr>
              <a:t>M(Q,I,U,τ,ω)</a:t>
            </a:r>
            <a:r>
              <a:rPr lang="it-IT" altLang="it-IT">
                <a:ea typeface="ＭＳ Ｐゴシック" panose="020B0600070205080204" pitchFamily="34" charset="-128"/>
              </a:rPr>
              <a:t> , ne vogliamo trovare a macchina </a:t>
            </a:r>
            <a:r>
              <a:rPr lang="it-IT" altLang="it-IT" i="1">
                <a:ea typeface="ＭＳ Ｐゴシック" panose="020B0600070205080204" pitchFamily="34" charset="-128"/>
              </a:rPr>
              <a:t>M’(Q’,I,U,τ’,ω’)</a:t>
            </a:r>
            <a:r>
              <a:rPr lang="it-IT" altLang="it-IT">
                <a:ea typeface="ＭＳ Ｐゴシック" panose="020B0600070205080204" pitchFamily="34" charset="-128"/>
              </a:rPr>
              <a:t> equivalente ad M e con il minor numero di stati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Partiamo dalla famiglia di insiemi di stati compatibili massimi </a:t>
            </a:r>
            <a:r>
              <a:rPr lang="it-IT" altLang="it-IT" i="1">
                <a:ea typeface="ＭＳ Ｐゴシック" panose="020B0600070205080204" pitchFamily="34" charset="-128"/>
              </a:rPr>
              <a:t>F=(S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1</a:t>
            </a:r>
            <a:r>
              <a:rPr lang="it-IT" altLang="it-IT" i="1">
                <a:ea typeface="ＭＳ Ｐゴシック" panose="020B0600070205080204" pitchFamily="34" charset="-128"/>
              </a:rPr>
              <a:t>,S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2</a:t>
            </a:r>
            <a:r>
              <a:rPr lang="it-IT" altLang="it-IT" i="1">
                <a:ea typeface="ＭＳ Ｐゴシック" panose="020B0600070205080204" pitchFamily="34" charset="-128"/>
              </a:rPr>
              <a:t>,...,S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n</a:t>
            </a:r>
            <a:r>
              <a:rPr lang="it-IT" altLang="it-IT" i="1">
                <a:ea typeface="ＭＳ Ｐゴシック" panose="020B0600070205080204" pitchFamily="34" charset="-128"/>
              </a:rPr>
              <a:t>)</a:t>
            </a:r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egnaposto numero diapositiva 3">
            <a:extLst>
              <a:ext uri="{FF2B5EF4-FFF2-40B4-BE49-F238E27FC236}">
                <a16:creationId xmlns:a16="http://schemas.microsoft.com/office/drawing/2014/main" id="{CACE273C-3040-AB38-8E7A-FAA952E61F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B386E23-55EA-44AA-84D3-BC6792598454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9506AA60-E82B-E4AE-56C1-138EA00C8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Problema della Minimizzazione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636AFBF-E9A9-9890-1C76-A2608AB323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La F gode delle seguenti proprietà, essenziali nei metodi di minimizzazione: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Gli elementi S di F sono disgiunti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Gli elementi S di F coprono l’insieme degli stati Q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Tutti gli stati di un elemento S di F portano alla stessa uscita (eventualmente non definita)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F è chiusa: da due stati di uno stesso elemento S di F si arriva a due stati che appartengono ad una stessa S’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Ricerchiamo la </a:t>
            </a:r>
            <a:r>
              <a:rPr lang="it-IT" altLang="it-IT" sz="2400" i="1">
                <a:ea typeface="ＭＳ Ｐゴシック" panose="020B0600070205080204" pitchFamily="34" charset="-128"/>
              </a:rPr>
              <a:t>M'(F,I,U,τ’,ω')</a:t>
            </a:r>
            <a:r>
              <a:rPr lang="it-IT" altLang="it-IT" sz="240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</a:rPr>
              <a:t>	</a:t>
            </a:r>
            <a:r>
              <a:rPr lang="it-IT" altLang="it-IT" sz="2400">
                <a:ea typeface="ＭＳ Ｐゴシック" panose="020B0600070205080204" pitchFamily="34" charset="-128"/>
                <a:sym typeface="Wingdings" panose="05000000000000000000" pitchFamily="2" charset="2"/>
              </a:rPr>
              <a:t> M’ ha un numero di stati non superiore a M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egnaposto numero diapositiva 3">
            <a:extLst>
              <a:ext uri="{FF2B5EF4-FFF2-40B4-BE49-F238E27FC236}">
                <a16:creationId xmlns:a16="http://schemas.microsoft.com/office/drawing/2014/main" id="{82E55D1B-D9E7-2E6D-4EBD-EF4830C4F4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650311-4C9E-4052-90ED-C6E2521E40B0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B73D93F5-C022-BA18-3327-0325081E9C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Ricerca della famiglia F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6B7845C-2C1B-0F5C-E71E-CBFB744F38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Algoritmo del partizionamento 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Metodo tabellare di Paull-Unger </a:t>
            </a:r>
          </a:p>
          <a:p>
            <a:pPr eaLnBrk="1" hangingPunct="1">
              <a:lnSpc>
                <a:spcPct val="90000"/>
              </a:lnSpc>
            </a:pPr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Procedono per “eliminazione”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Partono da una presunta F (inizialmente coincidente con Q) e cercano di individuare incompatibilità fin quando è possibile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egnaposto numero diapositiva 3">
            <a:extLst>
              <a:ext uri="{FF2B5EF4-FFF2-40B4-BE49-F238E27FC236}">
                <a16:creationId xmlns:a16="http://schemas.microsoft.com/office/drawing/2014/main" id="{7B01A187-1110-FF01-977E-5CAEF7FD4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CC6B97-8F72-467C-9AF3-25D0E2F1235E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90946C9C-F67C-25A1-5E5D-63152AF977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Algoritmo del partizionamento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57F049C5-2B71-DB38-4208-0D929CF8CF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Si individuano gli stati incompatibili rispetto alle uscite per ciascun ingresso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Le partizioni individuate si esaminano rispetto allo stato prossimo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Si itera fintantoché tutte le partizioni non verificano la definizione di compatibilità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egnaposto numero diapositiva 3">
            <a:extLst>
              <a:ext uri="{FF2B5EF4-FFF2-40B4-BE49-F238E27FC236}">
                <a16:creationId xmlns:a16="http://schemas.microsoft.com/office/drawing/2014/main" id="{EAC2F6DB-0D40-350A-0BA9-BAC6E3C841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A96111B-93ED-456F-A1E2-A2BB9180C707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895F08D9-B0E7-4F9E-D1B8-89440B90EF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Algoritmo del partizionamento</a:t>
            </a:r>
          </a:p>
        </p:txBody>
      </p:sp>
      <p:pic>
        <p:nvPicPr>
          <p:cNvPr id="37891" name="Picture 4">
            <a:extLst>
              <a:ext uri="{FF2B5EF4-FFF2-40B4-BE49-F238E27FC236}">
                <a16:creationId xmlns:a16="http://schemas.microsoft.com/office/drawing/2014/main" id="{B14CA7A5-7152-425D-FBA6-2458BDAD8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" t="67563" r="41159" b="15187"/>
          <a:stretch>
            <a:fillRect/>
          </a:stretch>
        </p:blipFill>
        <p:spPr bwMode="auto">
          <a:xfrm>
            <a:off x="2549525" y="3816350"/>
            <a:ext cx="7062788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>
            <a:extLst>
              <a:ext uri="{FF2B5EF4-FFF2-40B4-BE49-F238E27FC236}">
                <a16:creationId xmlns:a16="http://schemas.microsoft.com/office/drawing/2014/main" id="{38C75FCB-7E27-F645-741B-1AADBD3E3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" t="25958" r="41159" b="57355"/>
          <a:stretch>
            <a:fillRect/>
          </a:stretch>
        </p:blipFill>
        <p:spPr bwMode="auto">
          <a:xfrm>
            <a:off x="2549525" y="2303463"/>
            <a:ext cx="7062788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6">
            <a:extLst>
              <a:ext uri="{FF2B5EF4-FFF2-40B4-BE49-F238E27FC236}">
                <a16:creationId xmlns:a16="http://schemas.microsoft.com/office/drawing/2014/main" id="{25C8FA3C-C2AE-D059-A818-152A3841E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47" t="27417" r="62904" b="41583"/>
          <a:stretch>
            <a:fillRect/>
          </a:stretch>
        </p:blipFill>
        <p:spPr bwMode="auto">
          <a:xfrm>
            <a:off x="0" y="1727200"/>
            <a:ext cx="2287588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egnaposto numero diapositiva 3">
            <a:extLst>
              <a:ext uri="{FF2B5EF4-FFF2-40B4-BE49-F238E27FC236}">
                <a16:creationId xmlns:a16="http://schemas.microsoft.com/office/drawing/2014/main" id="{45DFDCA5-DB95-4905-A3DF-CE8325E74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2E36BA-D8A1-4A78-A6EB-06F621B71184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9F31E08C-6A88-82DF-2E82-4A574552C6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Metodo di Paull-Unger 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F421116-217C-DD98-7884-28AF8B7A6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Riorganizza il procedimento visto prima in forma di matrice diagonale</a:t>
            </a:r>
          </a:p>
        </p:txBody>
      </p:sp>
      <p:pic>
        <p:nvPicPr>
          <p:cNvPr id="38916" name="Picture 4">
            <a:extLst>
              <a:ext uri="{FF2B5EF4-FFF2-40B4-BE49-F238E27FC236}">
                <a16:creationId xmlns:a16="http://schemas.microsoft.com/office/drawing/2014/main" id="{C0AF9FD9-D403-1AAB-D574-DC9114B56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1" t="49374" r="59375" b="25104"/>
          <a:stretch>
            <a:fillRect/>
          </a:stretch>
        </p:blipFill>
        <p:spPr bwMode="auto">
          <a:xfrm>
            <a:off x="2627313" y="2952750"/>
            <a:ext cx="3743325" cy="283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Oval 5">
            <a:extLst>
              <a:ext uri="{FF2B5EF4-FFF2-40B4-BE49-F238E27FC236}">
                <a16:creationId xmlns:a16="http://schemas.microsoft.com/office/drawing/2014/main" id="{8AF06953-8630-B83A-D9CC-B076EFE80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032250"/>
            <a:ext cx="504825" cy="431800"/>
          </a:xfrm>
          <a:prstGeom prst="ellips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38918" name="Line 6">
            <a:extLst>
              <a:ext uri="{FF2B5EF4-FFF2-40B4-BE49-F238E27FC236}">
                <a16:creationId xmlns:a16="http://schemas.microsoft.com/office/drawing/2014/main" id="{87D78D05-CF28-455E-50A0-1ACFBC7F40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48263" y="3744913"/>
            <a:ext cx="1584325" cy="4318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8919" name="Line 7">
            <a:extLst>
              <a:ext uri="{FF2B5EF4-FFF2-40B4-BE49-F238E27FC236}">
                <a16:creationId xmlns:a16="http://schemas.microsoft.com/office/drawing/2014/main" id="{6E390E02-4DBC-3A06-1F3F-865B56ABDA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0563" y="2879725"/>
            <a:ext cx="1943100" cy="865188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8920" name="Line 8">
            <a:extLst>
              <a:ext uri="{FF2B5EF4-FFF2-40B4-BE49-F238E27FC236}">
                <a16:creationId xmlns:a16="http://schemas.microsoft.com/office/drawing/2014/main" id="{E1AAB526-1CF8-B77C-6B32-78C1FA2091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2275" y="3384550"/>
            <a:ext cx="1008063" cy="1008063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8921" name="Line 9">
            <a:extLst>
              <a:ext uri="{FF2B5EF4-FFF2-40B4-BE49-F238E27FC236}">
                <a16:creationId xmlns:a16="http://schemas.microsoft.com/office/drawing/2014/main" id="{9028E1C3-4C2F-94E0-26B8-B332A72834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250" y="4608513"/>
            <a:ext cx="1296988" cy="8636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8922" name="Text Box 10">
            <a:extLst>
              <a:ext uri="{FF2B5EF4-FFF2-40B4-BE49-F238E27FC236}">
                <a16:creationId xmlns:a16="http://schemas.microsoft.com/office/drawing/2014/main" id="{121E94FC-3DE5-2D14-B457-C1CDED9B6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381635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stati</a:t>
            </a:r>
          </a:p>
        </p:txBody>
      </p:sp>
      <p:sp>
        <p:nvSpPr>
          <p:cNvPr id="38923" name="Text Box 12">
            <a:extLst>
              <a:ext uri="{FF2B5EF4-FFF2-40B4-BE49-F238E27FC236}">
                <a16:creationId xmlns:a16="http://schemas.microsoft.com/office/drawing/2014/main" id="{7137A893-2B55-F1D4-580A-E7FA6835D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2592388"/>
            <a:ext cx="2305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incompatibilità</a:t>
            </a:r>
          </a:p>
        </p:txBody>
      </p:sp>
      <p:sp>
        <p:nvSpPr>
          <p:cNvPr id="38924" name="Text Box 13">
            <a:extLst>
              <a:ext uri="{FF2B5EF4-FFF2-40B4-BE49-F238E27FC236}">
                <a16:creationId xmlns:a16="http://schemas.microsoft.com/office/drawing/2014/main" id="{3CBA915E-DAAB-2E0B-B166-B8C4DFEB6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3600450"/>
            <a:ext cx="26638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400">
                <a:solidFill>
                  <a:schemeClr val="tx1"/>
                </a:solidFill>
              </a:rPr>
              <a:t>Possibili coppie di stati prossimi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egnaposto numero diapositiva 3">
            <a:extLst>
              <a:ext uri="{FF2B5EF4-FFF2-40B4-BE49-F238E27FC236}">
                <a16:creationId xmlns:a16="http://schemas.microsoft.com/office/drawing/2014/main" id="{877F6E82-0B55-78FD-023A-CFA6089C53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60FA63-D961-4F06-AA1B-265B9F3F1BC7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CB8E5233-B97D-DFC8-E9DD-5FED7BF2E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Metodo di Paull-Unger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EBCC228-FE69-2851-89F7-C031F1573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marcano come incompatibili le coppie di stati che portano ad uscite differenti per almeno un ingresso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indicano le coppie di possibili stati prossimi in ogni casella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continua iterativamente il procedimento partizionando rispetto agli stati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E9211366-A8FA-CC66-9547-A37B7C1E8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161925"/>
            <a:ext cx="8885237" cy="860425"/>
          </a:xfrm>
        </p:spPr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Metodo di Paull-Unger</a:t>
            </a:r>
            <a:endParaRPr lang="en-US" altLang="it-IT" sz="4000">
              <a:ea typeface="ＭＳ Ｐゴシック" panose="020B0600070205080204" pitchFamily="34" charset="-128"/>
            </a:endParaRP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F8B201EF-E6DE-3CAF-B6C0-188CD2F0FC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463" y="1331913"/>
            <a:ext cx="9055100" cy="4551362"/>
          </a:xfrm>
        </p:spPr>
        <p:txBody>
          <a:bodyPr/>
          <a:lstStyle/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Ogni elemento della Tabella delle Implicazioni contiene:</a:t>
            </a:r>
          </a:p>
          <a:p>
            <a:pPr lvl="2" eaLnBrk="1" hangingPunct="1"/>
            <a:r>
              <a:rPr lang="en-US" altLang="it-IT">
                <a:ea typeface="ＭＳ Ｐゴシック" panose="020B0600070205080204" pitchFamily="34" charset="-128"/>
              </a:rPr>
              <a:t>Il simbolo di non equivalenza (X) </a:t>
            </a:r>
          </a:p>
          <a:p>
            <a:pPr lvl="2" eaLnBrk="1" hangingPunct="1"/>
            <a:r>
              <a:rPr lang="en-US" altLang="it-IT">
                <a:ea typeface="ＭＳ Ｐゴシック" panose="020B0600070205080204" pitchFamily="34" charset="-128"/>
              </a:rPr>
              <a:t>Il simbolo di equivalenza (~)</a:t>
            </a:r>
          </a:p>
          <a:p>
            <a:pPr lvl="2" eaLnBrk="1" hangingPunct="1"/>
            <a:r>
              <a:rPr lang="en-US" altLang="it-IT">
                <a:ea typeface="ＭＳ Ｐゴシック" panose="020B0600070205080204" pitchFamily="34" charset="-128"/>
              </a:rPr>
              <a:t>La coppia di stati </a:t>
            </a:r>
            <a:r>
              <a:rPr lang="en-US" altLang="it-IT" i="1">
                <a:ea typeface="ＭＳ Ｐゴシック" panose="020B0600070205080204" pitchFamily="34" charset="-128"/>
              </a:rPr>
              <a:t>condizionanti</a:t>
            </a:r>
            <a:r>
              <a:rPr lang="en-US" altLang="it-IT">
                <a:ea typeface="ＭＳ Ｐゴシック" panose="020B0600070205080204" pitchFamily="34" charset="-128"/>
              </a:rPr>
              <a:t> se non è possible stabilire immediatamente l’equivalenza (o non equivalenza)</a:t>
            </a:r>
          </a:p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pic>
        <p:nvPicPr>
          <p:cNvPr id="40963" name="Picture 4">
            <a:extLst>
              <a:ext uri="{FF2B5EF4-FFF2-40B4-BE49-F238E27FC236}">
                <a16:creationId xmlns:a16="http://schemas.microsoft.com/office/drawing/2014/main" id="{334681E4-3693-E561-1386-BBBC2A94D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8" y="4168775"/>
            <a:ext cx="49657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egnaposto numero diapositiva 4">
            <a:extLst>
              <a:ext uri="{FF2B5EF4-FFF2-40B4-BE49-F238E27FC236}">
                <a16:creationId xmlns:a16="http://schemas.microsoft.com/office/drawing/2014/main" id="{ABAA190A-EBD3-E6B3-B38D-FAF04F5F95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7413" y="136525"/>
            <a:ext cx="2268537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C1D71A-F6C5-414E-BE32-FF4F3134DBCF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FA03557B-555C-ECC0-F8A9-35D8DE06C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Esempio – Paull-Unger</a:t>
            </a:r>
          </a:p>
        </p:txBody>
      </p:sp>
      <p:pic>
        <p:nvPicPr>
          <p:cNvPr id="41987" name="Picture 4">
            <a:extLst>
              <a:ext uri="{FF2B5EF4-FFF2-40B4-BE49-F238E27FC236}">
                <a16:creationId xmlns:a16="http://schemas.microsoft.com/office/drawing/2014/main" id="{3E659868-9309-CF8B-341D-1DF865742984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9900" y="1295400"/>
            <a:ext cx="6877050" cy="4116388"/>
          </a:xfrm>
          <a:noFill/>
        </p:spPr>
      </p:pic>
      <p:sp>
        <p:nvSpPr>
          <p:cNvPr id="41988" name="Oval 6">
            <a:extLst>
              <a:ext uri="{FF2B5EF4-FFF2-40B4-BE49-F238E27FC236}">
                <a16:creationId xmlns:a16="http://schemas.microsoft.com/office/drawing/2014/main" id="{7DB7E6F3-A7A1-7EDA-1091-74688DB48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311525"/>
            <a:ext cx="647700" cy="576263"/>
          </a:xfrm>
          <a:prstGeom prst="ellipse">
            <a:avLst/>
          </a:prstGeom>
          <a:gradFill rotWithShape="1">
            <a:gsLst>
              <a:gs pos="0">
                <a:srgbClr val="66CCFF">
                  <a:alpha val="60001"/>
                </a:srgbClr>
              </a:gs>
              <a:gs pos="100000">
                <a:schemeClr val="bg1"/>
              </a:gs>
            </a:gsLst>
            <a:lin ang="5400000" scaled="1"/>
          </a:gradFill>
          <a:ln w="25400">
            <a:solidFill>
              <a:srgbClr val="FF6600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51671D2E-3083-2E04-34ED-7DB87B81C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1295400"/>
            <a:ext cx="2808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it-IT" sz="2400">
              <a:solidFill>
                <a:schemeClr val="tx1"/>
              </a:solidFill>
            </a:endParaRPr>
          </a:p>
        </p:txBody>
      </p:sp>
      <p:sp>
        <p:nvSpPr>
          <p:cNvPr id="41990" name="AutoShape 7">
            <a:extLst>
              <a:ext uri="{FF2B5EF4-FFF2-40B4-BE49-F238E27FC236}">
                <a16:creationId xmlns:a16="http://schemas.microsoft.com/office/drawing/2014/main" id="{0D070AEC-DB07-2AE1-C0CB-14B75FAEA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008063"/>
            <a:ext cx="4319588" cy="792162"/>
          </a:xfrm>
          <a:prstGeom prst="wedgeEllipseCallout">
            <a:avLst>
              <a:gd name="adj1" fmla="val -74843"/>
              <a:gd name="adj2" fmla="val 272444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600">
                <a:solidFill>
                  <a:schemeClr val="bg1"/>
                </a:solidFill>
              </a:rPr>
              <a:t>“e” ed “a” hanno le stesse uscite per ogni ingresso</a:t>
            </a:r>
          </a:p>
        </p:txBody>
      </p:sp>
      <p:sp>
        <p:nvSpPr>
          <p:cNvPr id="41991" name="Oval 10">
            <a:extLst>
              <a:ext uri="{FF2B5EF4-FFF2-40B4-BE49-F238E27FC236}">
                <a16:creationId xmlns:a16="http://schemas.microsoft.com/office/drawing/2014/main" id="{0DD7F86F-E0B6-675D-FB6E-6973549FA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4392613"/>
            <a:ext cx="647700" cy="576262"/>
          </a:xfrm>
          <a:prstGeom prst="ellipse">
            <a:avLst/>
          </a:prstGeom>
          <a:gradFill rotWithShape="1">
            <a:gsLst>
              <a:gs pos="0">
                <a:srgbClr val="66CCFF">
                  <a:alpha val="60001"/>
                </a:srgbClr>
              </a:gs>
              <a:gs pos="100000">
                <a:schemeClr val="bg1"/>
              </a:gs>
            </a:gsLst>
            <a:lin ang="5400000" scaled="1"/>
          </a:gradFill>
          <a:ln w="25400">
            <a:solidFill>
              <a:srgbClr val="FF6600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41992" name="AutoShape 11">
            <a:extLst>
              <a:ext uri="{FF2B5EF4-FFF2-40B4-BE49-F238E27FC236}">
                <a16:creationId xmlns:a16="http://schemas.microsoft.com/office/drawing/2014/main" id="{06C40560-DD45-0F0C-F93C-3A9C00B08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2376488"/>
            <a:ext cx="3887788" cy="792162"/>
          </a:xfrm>
          <a:prstGeom prst="wedgeEllipseCallout">
            <a:avLst>
              <a:gd name="adj1" fmla="val -22028"/>
              <a:gd name="adj2" fmla="val 227153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600">
                <a:solidFill>
                  <a:schemeClr val="bg1"/>
                </a:solidFill>
              </a:rPr>
              <a:t>“g” ed “f” sono equivalenti se lo sono “a” e “d”</a:t>
            </a:r>
          </a:p>
        </p:txBody>
      </p:sp>
      <p:sp>
        <p:nvSpPr>
          <p:cNvPr id="41993" name="Oval 12">
            <a:extLst>
              <a:ext uri="{FF2B5EF4-FFF2-40B4-BE49-F238E27FC236}">
                <a16:creationId xmlns:a16="http://schemas.microsoft.com/office/drawing/2014/main" id="{E358804F-1BBE-C8CE-8337-B5B6CE56E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4392613"/>
            <a:ext cx="647700" cy="576262"/>
          </a:xfrm>
          <a:prstGeom prst="ellipse">
            <a:avLst/>
          </a:prstGeom>
          <a:gradFill rotWithShape="1">
            <a:gsLst>
              <a:gs pos="0">
                <a:srgbClr val="66CCFF">
                  <a:alpha val="60001"/>
                </a:srgbClr>
              </a:gs>
              <a:gs pos="100000">
                <a:schemeClr val="bg1"/>
              </a:gs>
            </a:gsLst>
            <a:lin ang="5400000" scaled="1"/>
          </a:gradFill>
          <a:ln w="25400">
            <a:solidFill>
              <a:srgbClr val="FF6600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41994" name="AutoShape 14">
            <a:extLst>
              <a:ext uri="{FF2B5EF4-FFF2-40B4-BE49-F238E27FC236}">
                <a16:creationId xmlns:a16="http://schemas.microsoft.com/office/drawing/2014/main" id="{003C1454-C7A3-38C0-FF81-06D388AA4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545138"/>
            <a:ext cx="3887788" cy="792162"/>
          </a:xfrm>
          <a:prstGeom prst="wedgeEllipseCallout">
            <a:avLst>
              <a:gd name="adj1" fmla="val 26889"/>
              <a:gd name="adj2" fmla="val -135171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600">
                <a:solidFill>
                  <a:schemeClr val="bg1"/>
                </a:solidFill>
              </a:rPr>
              <a:t>“g” e “b” hanno uscite differenti (con rif ad uno stesso ingresso)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egnaposto numero diapositiva 4">
            <a:extLst>
              <a:ext uri="{FF2B5EF4-FFF2-40B4-BE49-F238E27FC236}">
                <a16:creationId xmlns:a16="http://schemas.microsoft.com/office/drawing/2014/main" id="{B5ABB953-F7FB-2B30-FD9B-C07B92D623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7413" y="136525"/>
            <a:ext cx="2268537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EBD71B-2204-42BD-8F1B-DCADA0EC1EA9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D77D92B2-0A01-8CCF-FC92-39AA87DDC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Esempio  - cont</a:t>
            </a:r>
            <a:endParaRPr lang="en-US" altLang="it-IT">
              <a:ea typeface="ＭＳ Ｐゴシック" panose="020B0600070205080204" pitchFamily="34" charset="-128"/>
            </a:endParaRPr>
          </a:p>
        </p:txBody>
      </p:sp>
      <p:pic>
        <p:nvPicPr>
          <p:cNvPr id="43011" name="Picture 5">
            <a:extLst>
              <a:ext uri="{FF2B5EF4-FFF2-40B4-BE49-F238E27FC236}">
                <a16:creationId xmlns:a16="http://schemas.microsoft.com/office/drawing/2014/main" id="{FE4B7C19-75A6-8AE9-D41E-58EE7AED0F59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813" y="2592388"/>
            <a:ext cx="3316287" cy="3068637"/>
          </a:xfrm>
          <a:noFill/>
        </p:spPr>
      </p:pic>
      <p:sp>
        <p:nvSpPr>
          <p:cNvPr id="43012" name="Rectangle 6">
            <a:extLst>
              <a:ext uri="{FF2B5EF4-FFF2-40B4-BE49-F238E27FC236}">
                <a16:creationId xmlns:a16="http://schemas.microsoft.com/office/drawing/2014/main" id="{72E5AF5C-B42D-A0B1-D9B6-A4FBDFA75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1241425"/>
            <a:ext cx="8748713" cy="455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r>
              <a:rPr lang="en-US" altLang="it-IT" sz="2800">
                <a:solidFill>
                  <a:schemeClr val="tx2"/>
                </a:solidFill>
              </a:rPr>
              <a:t>Procedendo iterativamente si giunge a determinare le classi di equivalenza</a:t>
            </a:r>
            <a:endParaRPr lang="en-US" altLang="it-IT" sz="2400">
              <a:solidFill>
                <a:schemeClr val="tx2"/>
              </a:solidFill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endParaRPr lang="en-US" altLang="it-IT" sz="2800">
              <a:solidFill>
                <a:schemeClr val="tx2"/>
              </a:solidFill>
            </a:endParaRPr>
          </a:p>
        </p:txBody>
      </p:sp>
      <p:pic>
        <p:nvPicPr>
          <p:cNvPr id="43013" name="Picture 11">
            <a:extLst>
              <a:ext uri="{FF2B5EF4-FFF2-40B4-BE49-F238E27FC236}">
                <a16:creationId xmlns:a16="http://schemas.microsoft.com/office/drawing/2014/main" id="{DAE5ABAD-300D-3564-C4AD-1E429B173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8"/>
          <a:stretch>
            <a:fillRect/>
          </a:stretch>
        </p:blipFill>
        <p:spPr bwMode="auto">
          <a:xfrm>
            <a:off x="5795963" y="2519363"/>
            <a:ext cx="2881312" cy="181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egnaposto numero diapositiva 4">
            <a:extLst>
              <a:ext uri="{FF2B5EF4-FFF2-40B4-BE49-F238E27FC236}">
                <a16:creationId xmlns:a16="http://schemas.microsoft.com/office/drawing/2014/main" id="{3C79D4E8-1877-6569-7790-C883AF1129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64C328-E750-4AAA-83D4-A83E5363C9AF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44034" name="Rectangle 97">
            <a:extLst>
              <a:ext uri="{FF2B5EF4-FFF2-40B4-BE49-F238E27FC236}">
                <a16:creationId xmlns:a16="http://schemas.microsoft.com/office/drawing/2014/main" id="{8E552AFF-E1FD-85B1-AB32-5A524112C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Metodo di Paull-Unger</a:t>
            </a:r>
          </a:p>
        </p:txBody>
      </p:sp>
      <p:graphicFrame>
        <p:nvGraphicFramePr>
          <p:cNvPr id="287805" name="Group 61">
            <a:extLst>
              <a:ext uri="{FF2B5EF4-FFF2-40B4-BE49-F238E27FC236}">
                <a16:creationId xmlns:a16="http://schemas.microsoft.com/office/drawing/2014/main" id="{D5E34823-D163-B8E5-2A4C-4702A81D36C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3995738" y="2597150"/>
          <a:ext cx="4152900" cy="3667125"/>
        </p:xfrm>
        <a:graphic>
          <a:graphicData uri="http://schemas.openxmlformats.org/drawingml/2006/table">
            <a:tbl>
              <a:tblPr/>
              <a:tblGrid>
                <a:gridCol w="69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1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6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tabLst>
                          <a:tab pos="2413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tabLst>
                          <a:tab pos="2413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413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41300" algn="l"/>
                        </a:tabLst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87840" name="Group 96">
            <a:extLst>
              <a:ext uri="{FF2B5EF4-FFF2-40B4-BE49-F238E27FC236}">
                <a16:creationId xmlns:a16="http://schemas.microsoft.com/office/drawing/2014/main" id="{45232D1E-17B5-161D-7F24-5CE291B1D6E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27088" y="1655763"/>
          <a:ext cx="2606675" cy="3667125"/>
        </p:xfrm>
        <a:graphic>
          <a:graphicData uri="http://schemas.openxmlformats.org/drawingml/2006/table">
            <a:tbl>
              <a:tblPr/>
              <a:tblGrid>
                <a:gridCol w="868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i</a:t>
                      </a:r>
                      <a:r>
                        <a:rPr kumimoji="0" lang="it-IT" altLang="it-IT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i</a:t>
                      </a:r>
                      <a:r>
                        <a:rPr kumimoji="0" lang="it-IT" altLang="it-IT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2/A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4/B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3/B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5/A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5/A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4/B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2/B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2/B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2/B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5/A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3/A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5/B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4118" name="Text Box 99">
            <a:extLst>
              <a:ext uri="{FF2B5EF4-FFF2-40B4-BE49-F238E27FC236}">
                <a16:creationId xmlns:a16="http://schemas.microsoft.com/office/drawing/2014/main" id="{203DAB07-EB1D-1345-FE31-15EFE7B93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75" y="1152525"/>
            <a:ext cx="377983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chemeClr val="tx1"/>
                </a:solidFill>
              </a:rPr>
              <a:t>Ogni stato è confrontato con tutti gli altri, ma solo una volta: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chemeClr val="tx1"/>
                </a:solidFill>
              </a:rPr>
              <a:t>1 è confrontato con 2…6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chemeClr val="tx1"/>
                </a:solidFill>
              </a:rPr>
              <a:t>2 è confrontato con 3…6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chemeClr val="tx1"/>
                </a:solidFill>
              </a:rPr>
              <a:t>etc etc.</a:t>
            </a:r>
          </a:p>
        </p:txBody>
      </p:sp>
      <p:sp>
        <p:nvSpPr>
          <p:cNvPr id="44119" name="AutoShape 101">
            <a:extLst>
              <a:ext uri="{FF2B5EF4-FFF2-40B4-BE49-F238E27FC236}">
                <a16:creationId xmlns:a16="http://schemas.microsoft.com/office/drawing/2014/main" id="{6256DFC1-9A39-FDBD-3984-A667CCAC6244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5112544" y="1620044"/>
            <a:ext cx="574675" cy="1223963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4678 h 21600"/>
              <a:gd name="T14" fmla="*/ 20209 w 21600"/>
              <a:gd name="T15" fmla="*/ 748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564" y="0"/>
                </a:lnTo>
                <a:lnTo>
                  <a:pt x="15564" y="4678"/>
                </a:lnTo>
                <a:lnTo>
                  <a:pt x="12427" y="4678"/>
                </a:lnTo>
                <a:cubicBezTo>
                  <a:pt x="5564" y="4678"/>
                  <a:pt x="0" y="8027"/>
                  <a:pt x="0" y="12158"/>
                </a:cubicBezTo>
                <a:lnTo>
                  <a:pt x="0" y="21600"/>
                </a:lnTo>
                <a:lnTo>
                  <a:pt x="2864" y="21600"/>
                </a:lnTo>
                <a:lnTo>
                  <a:pt x="2864" y="12158"/>
                </a:lnTo>
                <a:cubicBezTo>
                  <a:pt x="2864" y="9574"/>
                  <a:pt x="7146" y="7480"/>
                  <a:pt x="12427" y="7480"/>
                </a:cubicBezTo>
                <a:lnTo>
                  <a:pt x="15564" y="7480"/>
                </a:lnTo>
                <a:lnTo>
                  <a:pt x="15564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44120" name="AutoShape 102">
            <a:extLst>
              <a:ext uri="{FF2B5EF4-FFF2-40B4-BE49-F238E27FC236}">
                <a16:creationId xmlns:a16="http://schemas.microsoft.com/office/drawing/2014/main" id="{7FA09504-38AE-BBCD-19FF-20386EC34F8E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5364163" y="2447925"/>
            <a:ext cx="719137" cy="576263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4678 h 21600"/>
              <a:gd name="T14" fmla="*/ 20209 w 21600"/>
              <a:gd name="T15" fmla="*/ 748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564" y="0"/>
                </a:lnTo>
                <a:lnTo>
                  <a:pt x="15564" y="4678"/>
                </a:lnTo>
                <a:lnTo>
                  <a:pt x="12427" y="4678"/>
                </a:lnTo>
                <a:cubicBezTo>
                  <a:pt x="5564" y="4678"/>
                  <a:pt x="0" y="8027"/>
                  <a:pt x="0" y="12158"/>
                </a:cubicBezTo>
                <a:lnTo>
                  <a:pt x="0" y="21600"/>
                </a:lnTo>
                <a:lnTo>
                  <a:pt x="2864" y="21600"/>
                </a:lnTo>
                <a:lnTo>
                  <a:pt x="2864" y="12158"/>
                </a:lnTo>
                <a:cubicBezTo>
                  <a:pt x="2864" y="9574"/>
                  <a:pt x="7146" y="7480"/>
                  <a:pt x="12427" y="7480"/>
                </a:cubicBezTo>
                <a:lnTo>
                  <a:pt x="15564" y="7480"/>
                </a:lnTo>
                <a:lnTo>
                  <a:pt x="15564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olo 1">
            <a:extLst>
              <a:ext uri="{FF2B5EF4-FFF2-40B4-BE49-F238E27FC236}">
                <a16:creationId xmlns:a16="http://schemas.microsoft.com/office/drawing/2014/main" id="{D452FC23-7EAB-9D5A-9F00-5486E33C97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45058" name="Segnaposto contenuto 2">
            <a:extLst>
              <a:ext uri="{FF2B5EF4-FFF2-40B4-BE49-F238E27FC236}">
                <a16:creationId xmlns:a16="http://schemas.microsoft.com/office/drawing/2014/main" id="{E69B5C31-C075-D174-4CDE-DD464BF682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it-IT" altLang="it-IT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it-IT" altLang="it-IT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it-IT" altLang="it-IT">
              <a:ea typeface="ＭＳ Ｐゴシック" panose="020B0600070205080204" pitchFamily="34" charset="-128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it-IT" altLang="it-IT" b="1">
                <a:ea typeface="ＭＳ Ｐゴシック" panose="020B0600070205080204" pitchFamily="34" charset="-128"/>
              </a:rPr>
              <a:t>Macchine Incompletamente Specificate</a:t>
            </a:r>
          </a:p>
        </p:txBody>
      </p:sp>
      <p:sp>
        <p:nvSpPr>
          <p:cNvPr id="45059" name="Segnaposto numero diapositiva 3">
            <a:extLst>
              <a:ext uri="{FF2B5EF4-FFF2-40B4-BE49-F238E27FC236}">
                <a16:creationId xmlns:a16="http://schemas.microsoft.com/office/drawing/2014/main" id="{DE1C1C2B-6D57-7FC5-5D0B-19C1EE34B9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78EEC6F-3024-475C-A8B9-253D02BA6320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egnaposto numero diapositiva 3">
            <a:extLst>
              <a:ext uri="{FF2B5EF4-FFF2-40B4-BE49-F238E27FC236}">
                <a16:creationId xmlns:a16="http://schemas.microsoft.com/office/drawing/2014/main" id="{26F8B0B3-E1B0-BDC6-B24C-097104071F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C3F4D8-93F7-48C5-9144-06E201D2CABB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FCD21674-7AFA-24DB-8C54-0CE1F42AF7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Stati compatibili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EA92413-8AAF-46EB-00F1-F26C5FE893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4525" y="1454150"/>
            <a:ext cx="8459788" cy="36671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tabLst>
                <a:tab pos="8166100" algn="l"/>
              </a:tabLst>
            </a:pPr>
            <a:r>
              <a:rPr lang="it-IT" altLang="it-IT" sz="2400">
                <a:ea typeface="ＭＳ Ｐゴシック" panose="020B0600070205080204" pitchFamily="34" charset="-128"/>
              </a:rPr>
              <a:t>Due stati sono </a:t>
            </a:r>
            <a:r>
              <a:rPr lang="it-IT" altLang="it-IT" sz="2400" b="1">
                <a:solidFill>
                  <a:srgbClr val="FF6600"/>
                </a:solidFill>
                <a:ea typeface="ＭＳ Ｐゴシック" panose="020B0600070205080204" pitchFamily="34" charset="-128"/>
              </a:rPr>
              <a:t>compatibili </a:t>
            </a:r>
            <a:r>
              <a:rPr lang="it-IT" altLang="it-IT" sz="2400">
                <a:ea typeface="ＭＳ Ｐゴシック" panose="020B0600070205080204" pitchFamily="34" charset="-128"/>
              </a:rPr>
              <a:t>se </a:t>
            </a:r>
            <a:r>
              <a:rPr lang="it-IT" altLang="it-IT" sz="2400" i="1" u="sng">
                <a:ea typeface="ＭＳ Ｐゴシック" panose="020B0600070205080204" pitchFamily="34" charset="-128"/>
              </a:rPr>
              <a:t>per ogni </a:t>
            </a:r>
            <a:r>
              <a:rPr lang="it-IT" altLang="it-IT" sz="2400" u="sng">
                <a:ea typeface="ＭＳ Ｐゴシック" panose="020B0600070205080204" pitchFamily="34" charset="-128"/>
              </a:rPr>
              <a:t>sequenza di ingressi applicabili ad </a:t>
            </a:r>
            <a:r>
              <a:rPr lang="it-IT" altLang="it-IT" sz="2400" i="1" u="sng">
                <a:ea typeface="ＭＳ Ｐゴシック" panose="020B0600070205080204" pitchFamily="34" charset="-128"/>
              </a:rPr>
              <a:t>entrambi, </a:t>
            </a:r>
            <a:r>
              <a:rPr lang="it-IT" altLang="it-IT" sz="2400" u="sng">
                <a:ea typeface="ＭＳ Ｐゴシック" panose="020B0600070205080204" pitchFamily="34" charset="-128"/>
              </a:rPr>
              <a:t>le uscite prodotte sono identiche</a:t>
            </a:r>
          </a:p>
          <a:p>
            <a:pPr eaLnBrk="1" hangingPunct="1">
              <a:lnSpc>
                <a:spcPct val="80000"/>
              </a:lnSpc>
              <a:tabLst>
                <a:tab pos="8166100" algn="l"/>
              </a:tabLst>
            </a:pPr>
            <a:r>
              <a:rPr lang="it-IT" altLang="it-IT" sz="2400">
                <a:ea typeface="ＭＳ Ｐゴシック" panose="020B0600070205080204" pitchFamily="34" charset="-128"/>
              </a:rPr>
              <a:t>A differenza della relazione vista prima per macchine complete, la compatibilità </a:t>
            </a:r>
            <a:r>
              <a:rPr lang="it-IT" altLang="it-IT" sz="2400" b="1">
                <a:ea typeface="ＭＳ Ｐゴシック" panose="020B0600070205080204" pitchFamily="34" charset="-128"/>
              </a:rPr>
              <a:t>NON </a:t>
            </a:r>
            <a:r>
              <a:rPr lang="it-IT" altLang="it-IT" sz="2400">
                <a:ea typeface="ＭＳ Ｐゴシック" panose="020B0600070205080204" pitchFamily="34" charset="-128"/>
              </a:rPr>
              <a:t>è una relazione di equivalenza: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8166100" algn="l"/>
              </a:tabLst>
            </a:pPr>
            <a:r>
              <a:rPr lang="it-IT" altLang="it-IT" sz="2400">
                <a:ea typeface="ＭＳ Ｐゴシック" panose="020B0600070205080204" pitchFamily="34" charset="-128"/>
              </a:rPr>
              <a:t>	Gode delle proprietà</a:t>
            </a:r>
          </a:p>
          <a:p>
            <a:pPr lvl="1" eaLnBrk="1" hangingPunct="1">
              <a:lnSpc>
                <a:spcPct val="80000"/>
              </a:lnSpc>
              <a:tabLst>
                <a:tab pos="8166100" algn="l"/>
              </a:tabLst>
            </a:pPr>
            <a:r>
              <a:rPr lang="it-IT" altLang="it-IT" sz="2000">
                <a:ea typeface="ＭＳ Ｐゴシック" panose="020B0600070205080204" pitchFamily="34" charset="-128"/>
              </a:rPr>
              <a:t>Riflessiva</a:t>
            </a:r>
          </a:p>
          <a:p>
            <a:pPr lvl="1" eaLnBrk="1" hangingPunct="1">
              <a:lnSpc>
                <a:spcPct val="80000"/>
              </a:lnSpc>
              <a:tabLst>
                <a:tab pos="8166100" algn="l"/>
              </a:tabLst>
            </a:pPr>
            <a:r>
              <a:rPr lang="it-IT" altLang="it-IT" sz="2000">
                <a:ea typeface="ＭＳ Ｐゴシック" panose="020B0600070205080204" pitchFamily="34" charset="-128"/>
              </a:rPr>
              <a:t>Simmetrica</a:t>
            </a:r>
          </a:p>
          <a:p>
            <a:pPr lvl="1" eaLnBrk="1" hangingPunct="1">
              <a:lnSpc>
                <a:spcPct val="80000"/>
              </a:lnSpc>
              <a:tabLst>
                <a:tab pos="8166100" algn="l"/>
              </a:tabLst>
            </a:pPr>
            <a:r>
              <a:rPr lang="it-IT" altLang="it-IT" sz="2000">
                <a:ea typeface="ＭＳ Ｐゴシック" panose="020B0600070205080204" pitchFamily="34" charset="-128"/>
              </a:rPr>
              <a:t>Ma NON di quella transitiva</a:t>
            </a:r>
          </a:p>
          <a:p>
            <a:pPr lvl="2" eaLnBrk="1" hangingPunct="1">
              <a:lnSpc>
                <a:spcPct val="80000"/>
              </a:lnSpc>
              <a:tabLst>
                <a:tab pos="8166100" algn="l"/>
              </a:tabLst>
            </a:pPr>
            <a:r>
              <a:rPr lang="it-IT" altLang="it-IT" sz="1600">
                <a:ea typeface="ＭＳ Ｐゴシック" panose="020B0600070205080204" pitchFamily="34" charset="-128"/>
              </a:rPr>
              <a:t>p.e.: q1~q2,  q2~q3, </a:t>
            </a:r>
            <a:r>
              <a:rPr lang="it-IT" altLang="it-IT" sz="1600">
                <a:latin typeface="Symbol" panose="05050102010706020507" pitchFamily="18" charset="2"/>
                <a:ea typeface="ＭＳ Ｐゴシック" panose="020B0600070205080204" pitchFamily="34" charset="-128"/>
              </a:rPr>
              <a:t>l</a:t>
            </a:r>
            <a:r>
              <a:rPr lang="it-IT" altLang="it-IT" sz="1600">
                <a:ea typeface="ＭＳ Ｐゴシック" panose="020B0600070205080204" pitchFamily="34" charset="-128"/>
              </a:rPr>
              <a:t>(q1,J)=a, , </a:t>
            </a:r>
            <a:r>
              <a:rPr lang="it-IT" altLang="it-IT" sz="1600">
                <a:latin typeface="Symbol" panose="05050102010706020507" pitchFamily="18" charset="2"/>
                <a:ea typeface="ＭＳ Ｐゴシック" panose="020B0600070205080204" pitchFamily="34" charset="-128"/>
              </a:rPr>
              <a:t>l</a:t>
            </a:r>
            <a:r>
              <a:rPr lang="it-IT" altLang="it-IT" sz="1600">
                <a:ea typeface="ＭＳ Ｐゴシック" panose="020B0600070205080204" pitchFamily="34" charset="-128"/>
              </a:rPr>
              <a:t>(q2,J)=-, </a:t>
            </a:r>
            <a:r>
              <a:rPr lang="it-IT" altLang="it-IT" sz="1600">
                <a:latin typeface="Symbol" panose="05050102010706020507" pitchFamily="18" charset="2"/>
                <a:ea typeface="ＭＳ Ｐゴシック" panose="020B0600070205080204" pitchFamily="34" charset="-128"/>
              </a:rPr>
              <a:t>l</a:t>
            </a:r>
            <a:r>
              <a:rPr lang="it-IT" altLang="it-IT" sz="1600">
                <a:ea typeface="ＭＳ Ｐゴシック" panose="020B0600070205080204" pitchFamily="34" charset="-128"/>
              </a:rPr>
              <a:t>(q3,J)=b</a:t>
            </a:r>
          </a:p>
          <a:p>
            <a:pPr eaLnBrk="1" hangingPunct="1">
              <a:lnSpc>
                <a:spcPct val="80000"/>
              </a:lnSpc>
              <a:tabLst>
                <a:tab pos="8166100" algn="l"/>
              </a:tabLst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tabLst>
                <a:tab pos="8166100" algn="l"/>
              </a:tabLst>
            </a:pPr>
            <a:r>
              <a:rPr lang="it-IT" altLang="it-IT" sz="2400">
                <a:ea typeface="ＭＳ Ｐゴシック" panose="020B0600070205080204" pitchFamily="34" charset="-128"/>
              </a:rPr>
              <a:t>Ciò complica la ricerca di macchine equivalenti minime</a:t>
            </a:r>
          </a:p>
          <a:p>
            <a:pPr lvl="1" eaLnBrk="1" hangingPunct="1">
              <a:lnSpc>
                <a:spcPct val="80000"/>
              </a:lnSpc>
              <a:tabLst>
                <a:tab pos="8166100" algn="l"/>
              </a:tabLst>
            </a:pPr>
            <a:endParaRPr lang="it-IT" altLang="it-IT" sz="2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egnaposto numero diapositiva 3">
            <a:extLst>
              <a:ext uri="{FF2B5EF4-FFF2-40B4-BE49-F238E27FC236}">
                <a16:creationId xmlns:a16="http://schemas.microsoft.com/office/drawing/2014/main" id="{545316E8-C92B-F7C8-5A20-69775AEDCF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E84620D-D54B-40CE-922B-501C69D66EAF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E2B43E6D-4165-3450-E087-440D2B4FDC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Compatibilità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5EBB00E6-F80F-EE19-1534-252909627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Così come l’equivalenza, anche la compatibilità può essere definita ricorsivamente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 b="1">
                <a:solidFill>
                  <a:srgbClr val="FF6600"/>
                </a:solidFill>
                <a:ea typeface="ＭＳ Ｐゴシック" panose="020B0600070205080204" pitchFamily="34" charset="-128"/>
              </a:rPr>
              <a:t>Due stati sono compatibili se tutti i possibili stati prossimi sono compatibili, e tutte le possibili uscite prossime sono uguali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Non essendo una relazione di equivalenza, non è possibile utilizzare le proprietà delle classi di equivalenza.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Si generalizza con il concetto di </a:t>
            </a:r>
            <a:r>
              <a:rPr lang="it-IT" altLang="it-IT" sz="2400" i="1">
                <a:solidFill>
                  <a:srgbClr val="FF6600"/>
                </a:solidFill>
                <a:ea typeface="ＭＳ Ｐゴシック" panose="020B0600070205080204" pitchFamily="34" charset="-128"/>
              </a:rPr>
              <a:t>famiglia di insiemi di stati compatibili massimi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egnaposto numero diapositiva 3">
            <a:extLst>
              <a:ext uri="{FF2B5EF4-FFF2-40B4-BE49-F238E27FC236}">
                <a16:creationId xmlns:a16="http://schemas.microsoft.com/office/drawing/2014/main" id="{B66A0683-500B-8021-BDB1-40B09CE8B9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BF82D0-2DC0-436D-9D66-6BD294F5E8C8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77B90A85-9D1C-29EE-74BB-928616794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Compatibilità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16B593C1-A9D1-0132-AB69-A914FCDCCB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0213" y="1454150"/>
            <a:ext cx="8931275" cy="40338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800">
                <a:ea typeface="ＭＳ Ｐゴシック" panose="020B0600070205080204" pitchFamily="34" charset="-128"/>
              </a:rPr>
              <a:t>Per le macchine incomplete, non si parla quindi di equivalenza, ma di inclusione: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Una macchina M’ ne include una M, </a:t>
            </a:r>
            <a:r>
              <a:rPr lang="it-IT" altLang="it-IT" sz="2400" i="1">
                <a:ea typeface="ＭＳ Ｐゴシック" panose="020B0600070205080204" pitchFamily="34" charset="-128"/>
              </a:rPr>
              <a:t>in una coppia di stati q </a:t>
            </a:r>
            <a:r>
              <a:rPr lang="it-IT" altLang="it-IT" sz="2400">
                <a:ea typeface="ＭＳ Ｐゴシック" panose="020B0600070205080204" pitchFamily="34" charset="-128"/>
              </a:rPr>
              <a:t>e </a:t>
            </a:r>
            <a:r>
              <a:rPr lang="it-IT" altLang="it-IT" sz="2400" i="1">
                <a:ea typeface="ＭＳ Ｐゴシック" panose="020B0600070205080204" pitchFamily="34" charset="-128"/>
              </a:rPr>
              <a:t>q’ , </a:t>
            </a:r>
            <a:r>
              <a:rPr lang="it-IT" altLang="it-IT" sz="2400">
                <a:ea typeface="ＭＳ Ｐゴシック" panose="020B0600070205080204" pitchFamily="34" charset="-128"/>
              </a:rPr>
              <a:t>se tutte le sequenze di ingressi applicabili ad M a partire da q lo sono anche per M’ a partire da q’ producendo la stessa uscita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Se è possibile trovare per ciascuno stato di M uno q che soddisfa la precedente definizione, allora M’ include M</a:t>
            </a:r>
            <a:br>
              <a:rPr lang="it-IT" altLang="it-IT" sz="2400">
                <a:ea typeface="ＭＳ Ｐゴシック" panose="020B0600070205080204" pitchFamily="34" charset="-128"/>
              </a:rPr>
            </a:br>
            <a:r>
              <a:rPr lang="it-IT" altLang="it-IT" sz="2400">
                <a:ea typeface="ＭＳ Ｐゴシック" panose="020B0600070205080204" pitchFamily="34" charset="-128"/>
                <a:sym typeface="Wingdings" panose="05000000000000000000" pitchFamily="2" charset="2"/>
              </a:rPr>
              <a:t> è possibile usare M’ in luogo della M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M ed M’ possono includersi l’un l’altra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</a:rPr>
              <a:t>	</a:t>
            </a:r>
            <a:r>
              <a:rPr lang="it-IT" altLang="it-IT" sz="2400">
                <a:ea typeface="ＭＳ Ｐゴシック" panose="020B0600070205080204" pitchFamily="34" charset="-128"/>
                <a:sym typeface="Wingdings" panose="05000000000000000000" pitchFamily="2" charset="2"/>
              </a:rPr>
              <a:t> diremo in questo caso che le due macchine sono equivalenti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 sz="2800">
              <a:ea typeface="ＭＳ Ｐゴシック" panose="020B0600070205080204" pitchFamily="34" charset="-128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egnaposto numero diapositiva 3">
            <a:extLst>
              <a:ext uri="{FF2B5EF4-FFF2-40B4-BE49-F238E27FC236}">
                <a16:creationId xmlns:a16="http://schemas.microsoft.com/office/drawing/2014/main" id="{B76259F7-B538-D657-A41C-6EBE753AFA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F1EEABE-AFA0-4728-8634-D54033CCBC13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BD84A4A9-7E02-124E-C6F4-DA612B5C8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215900"/>
            <a:ext cx="7843837" cy="503238"/>
          </a:xfrm>
        </p:spPr>
        <p:txBody>
          <a:bodyPr/>
          <a:lstStyle/>
          <a:p>
            <a:pPr eaLnBrk="1" hangingPunct="1"/>
            <a:r>
              <a:rPr lang="it-IT" altLang="it-IT" sz="3600">
                <a:ea typeface="ＭＳ Ｐゴシック" panose="020B0600070205080204" pitchFamily="34" charset="-128"/>
              </a:rPr>
              <a:t>Compatibilità: formalmente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113D3A3D-694A-040C-FFC2-53B5AB279E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00225"/>
            <a:ext cx="8785225" cy="1797050"/>
          </a:xfrm>
        </p:spPr>
        <p:txBody>
          <a:bodyPr/>
          <a:lstStyle/>
          <a:p>
            <a:pPr eaLnBrk="1" hangingPunct="1">
              <a:buFontTx/>
              <a:buNone/>
              <a:tabLst>
                <a:tab pos="8166100" algn="l"/>
              </a:tabLst>
            </a:pPr>
            <a:r>
              <a:rPr lang="it-IT" altLang="it-IT" sz="2400" b="1">
                <a:ea typeface="ＭＳ Ｐゴシック" panose="020B0600070205080204" pitchFamily="34" charset="-128"/>
              </a:rPr>
              <a:t>Inclusione fra macchine</a:t>
            </a:r>
          </a:p>
          <a:p>
            <a:pPr eaLnBrk="1" hangingPunct="1">
              <a:tabLst>
                <a:tab pos="8166100" algn="l"/>
              </a:tabLst>
            </a:pPr>
            <a:r>
              <a:rPr lang="it-IT" altLang="it-IT" sz="2000" b="1">
                <a:ea typeface="ＭＳ Ｐゴシック" panose="020B0600070205080204" pitchFamily="34" charset="-128"/>
              </a:rPr>
              <a:t>Concettualmente:</a:t>
            </a:r>
            <a:r>
              <a:rPr lang="it-IT" altLang="it-IT" sz="2000">
                <a:ea typeface="ＭＳ Ｐゴシック" panose="020B0600070205080204" pitchFamily="34" charset="-128"/>
              </a:rPr>
              <a:t> una macchina include un’altra se “fa qualcosa in più”</a:t>
            </a:r>
          </a:p>
          <a:p>
            <a:pPr eaLnBrk="1" hangingPunct="1">
              <a:lnSpc>
                <a:spcPct val="90000"/>
              </a:lnSpc>
              <a:tabLst>
                <a:tab pos="8166100" algn="l"/>
              </a:tabLst>
            </a:pPr>
            <a:endParaRPr lang="it-IT" altLang="it-IT" sz="2000" b="1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tabLst>
                <a:tab pos="8166100" algn="l"/>
              </a:tabLst>
            </a:pPr>
            <a:r>
              <a:rPr lang="it-IT" altLang="it-IT" sz="2000" b="1">
                <a:ea typeface="ＭＳ Ｐゴシック" panose="020B0600070205080204" pitchFamily="34" charset="-128"/>
              </a:rPr>
              <a:t>Formalmente: </a:t>
            </a:r>
          </a:p>
          <a:p>
            <a:pPr lvl="1" eaLnBrk="1" hangingPunct="1">
              <a:lnSpc>
                <a:spcPct val="90000"/>
              </a:lnSpc>
              <a:tabLst>
                <a:tab pos="8166100" algn="l"/>
              </a:tabLst>
            </a:pPr>
            <a:r>
              <a:rPr lang="it-IT" altLang="it-IT" sz="2000">
                <a:ea typeface="ＭＳ Ｐゴシック" panose="020B0600070205080204" pitchFamily="34" charset="-128"/>
              </a:rPr>
              <a:t>M’(q’) include M(q):</a:t>
            </a:r>
          </a:p>
        </p:txBody>
      </p:sp>
      <p:pic>
        <p:nvPicPr>
          <p:cNvPr id="49156" name="Picture 6">
            <a:extLst>
              <a:ext uri="{FF2B5EF4-FFF2-40B4-BE49-F238E27FC236}">
                <a16:creationId xmlns:a16="http://schemas.microsoft.com/office/drawing/2014/main" id="{B7365E9D-4329-1B2B-E7F3-7C91794DF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708400"/>
            <a:ext cx="6769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Rectangle 8">
            <a:extLst>
              <a:ext uri="{FF2B5EF4-FFF2-40B4-BE49-F238E27FC236}">
                <a16:creationId xmlns:a16="http://schemas.microsoft.com/office/drawing/2014/main" id="{445FFCDB-3BE5-5BE9-FB4A-06AC31F3A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089400"/>
            <a:ext cx="6624638" cy="4206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4161750" indent="-24161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tabLst>
                <a:tab pos="81661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81661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tabLst>
                <a:tab pos="81661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tabLst>
                <a:tab pos="81661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81661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81661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81661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81661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81661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lnSpc>
                <a:spcPct val="9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>
                <a:solidFill>
                  <a:schemeClr val="tx1"/>
                </a:solidFill>
              </a:rPr>
              <a:t>M’ include</a:t>
            </a:r>
            <a:r>
              <a:rPr lang="it-IT" altLang="it-IT" sz="2400">
                <a:solidFill>
                  <a:schemeClr val="tx1"/>
                </a:solidFill>
              </a:rPr>
              <a:t> M</a:t>
            </a:r>
          </a:p>
        </p:txBody>
      </p:sp>
      <p:grpSp>
        <p:nvGrpSpPr>
          <p:cNvPr id="49158" name="Group 16">
            <a:extLst>
              <a:ext uri="{FF2B5EF4-FFF2-40B4-BE49-F238E27FC236}">
                <a16:creationId xmlns:a16="http://schemas.microsoft.com/office/drawing/2014/main" id="{315E288B-DB01-A5DF-1526-0D7EE4541D49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4545013"/>
            <a:ext cx="5832475" cy="481012"/>
            <a:chOff x="1020" y="2691"/>
            <a:chExt cx="3674" cy="303"/>
          </a:xfrm>
        </p:grpSpPr>
        <p:pic>
          <p:nvPicPr>
            <p:cNvPr id="49159" name="Picture 7">
              <a:extLst>
                <a:ext uri="{FF2B5EF4-FFF2-40B4-BE49-F238E27FC236}">
                  <a16:creationId xmlns:a16="http://schemas.microsoft.com/office/drawing/2014/main" id="{A6B16433-FA4C-5FEB-46FD-041FAA95A2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2750"/>
              <a:ext cx="3674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60" name="Text Box 15">
              <a:extLst>
                <a:ext uri="{FF2B5EF4-FFF2-40B4-BE49-F238E27FC236}">
                  <a16:creationId xmlns:a16="http://schemas.microsoft.com/office/drawing/2014/main" id="{C2214DC7-F3F7-4C0F-04A9-A357DD1E6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1" y="2691"/>
              <a:ext cx="31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08585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42875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177165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2288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6860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1432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6004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it-IT" sz="1600">
                  <a:solidFill>
                    <a:schemeClr val="tx1"/>
                  </a:solidFill>
                  <a:latin typeface="Monotype Corsiva" panose="03010101010201010101" pitchFamily="66" charset="0"/>
                </a:rPr>
                <a:t>‘</a:t>
              </a:r>
            </a:p>
          </p:txBody>
        </p:sp>
      </p:grpSp>
    </p:spTree>
  </p:cSld>
  <p:clrMapOvr>
    <a:masterClrMapping/>
  </p:clrMapOvr>
  <p:transition advTm="1030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B792AA56-D2FC-6743-56A6-A42BA34EF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8" y="25400"/>
            <a:ext cx="9467850" cy="860425"/>
          </a:xfrm>
        </p:spPr>
        <p:txBody>
          <a:bodyPr/>
          <a:lstStyle/>
          <a:p>
            <a:pPr eaLnBrk="1" hangingPunct="1"/>
            <a:r>
              <a:rPr lang="en-US" altLang="it-IT" sz="3600">
                <a:ea typeface="ＭＳ Ｐゴシック" panose="020B0600070205080204" pitchFamily="34" charset="-128"/>
              </a:rPr>
              <a:t>Macchina incompletamente specificata</a:t>
            </a:r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26D55DEB-B333-4EF0-CE11-3F10519ABF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4525" y="1382713"/>
            <a:ext cx="8459788" cy="3667125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Compatibilità: si ricorda che…</a:t>
            </a:r>
          </a:p>
          <a:p>
            <a:pPr lvl="1" algn="just" eaLnBrk="1" hangingPunct="1"/>
            <a:r>
              <a:rPr lang="en-US" altLang="it-IT" sz="2000">
                <a:ea typeface="ＭＳ Ｐゴシック" panose="020B0600070205080204" pitchFamily="34" charset="-128"/>
              </a:rPr>
              <a:t>Due stati </a:t>
            </a:r>
            <a:r>
              <a:rPr lang="en-US" altLang="it-IT" sz="2000" b="1">
                <a:solidFill>
                  <a:srgbClr val="FF0000"/>
                </a:solidFill>
                <a:ea typeface="ＭＳ Ｐゴシック" panose="020B0600070205080204" pitchFamily="34" charset="-128"/>
              </a:rPr>
              <a:t>si</a:t>
            </a:r>
            <a:r>
              <a:rPr lang="en-US" altLang="it-IT" sz="2000">
                <a:ea typeface="ＭＳ Ｐゴシック" panose="020B0600070205080204" pitchFamily="34" charset="-128"/>
              </a:rPr>
              <a:t> e </a:t>
            </a:r>
            <a:r>
              <a:rPr lang="en-US" altLang="it-IT" sz="2000" b="1">
                <a:solidFill>
                  <a:srgbClr val="FF0000"/>
                </a:solidFill>
                <a:ea typeface="ＭＳ Ｐゴシック" panose="020B0600070205080204" pitchFamily="34" charset="-128"/>
              </a:rPr>
              <a:t>sj</a:t>
            </a:r>
            <a:r>
              <a:rPr lang="en-US" altLang="it-IT" sz="2000">
                <a:ea typeface="ＭＳ Ｐゴシック" panose="020B0600070205080204" pitchFamily="34" charset="-128"/>
              </a:rPr>
              <a:t> si dicono compatibili se partendo da essi ed applicando ogni possibile sequenza di ingresso applicabile </a:t>
            </a:r>
            <a:r>
              <a:rPr lang="en-US" altLang="it-IT" sz="2000" b="1">
                <a:solidFill>
                  <a:srgbClr val="FF0000"/>
                </a:solidFill>
                <a:ea typeface="ＭＳ Ｐゴシック" panose="020B0600070205080204" pitchFamily="34" charset="-128"/>
              </a:rPr>
              <a:t>Iα</a:t>
            </a:r>
            <a:r>
              <a:rPr lang="en-US" altLang="it-IT" sz="2000">
                <a:ea typeface="ＭＳ Ｐゴシック" panose="020B0600070205080204" pitchFamily="34" charset="-128"/>
              </a:rPr>
              <a:t> si ottengono le stesse sequenze d'uscita, ovunque queste siano specificate.</a:t>
            </a:r>
          </a:p>
          <a:p>
            <a:pPr lvl="1" algn="just" eaLnBrk="1" hangingPunct="1"/>
            <a:r>
              <a:rPr lang="en-US" altLang="it-IT" sz="2000">
                <a:ea typeface="ＭＳ Ｐゴシック" panose="020B0600070205080204" pitchFamily="34" charset="-128"/>
              </a:rPr>
              <a:t>La relazione di compatibilità non è transitiva!!!</a:t>
            </a:r>
          </a:p>
          <a:p>
            <a:pPr lvl="1" algn="just" eaLnBrk="1" hangingPunct="1"/>
            <a:r>
              <a:rPr lang="en-US" altLang="it-IT" sz="2000">
                <a:ea typeface="ＭＳ Ｐゴシック" panose="020B0600070205080204" pitchFamily="34" charset="-128"/>
              </a:rPr>
              <a:t>Le classi di compatibilità NON sono disgiunte</a:t>
            </a:r>
          </a:p>
          <a:p>
            <a:pPr lvl="1" algn="just" eaLnBrk="1" hangingPunct="1"/>
            <a:r>
              <a:rPr lang="en-US" altLang="it-IT" sz="2000">
                <a:ea typeface="ＭＳ Ｐゴシック" panose="020B0600070205080204" pitchFamily="34" charset="-128"/>
              </a:rPr>
              <a:t>Non  è possibile applicare il metodo della fusione delle righe (row merging)</a:t>
            </a:r>
          </a:p>
          <a:p>
            <a:pPr algn="just"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it-IT" sz="2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05E4E3CA-1869-0657-0DA7-00ED5D3557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161925"/>
            <a:ext cx="9029700" cy="860425"/>
          </a:xfrm>
        </p:spPr>
        <p:txBody>
          <a:bodyPr/>
          <a:lstStyle/>
          <a:p>
            <a:pPr eaLnBrk="1" hangingPunct="1"/>
            <a:r>
              <a:rPr lang="en-US" altLang="it-IT" sz="4000">
                <a:ea typeface="ＭＳ Ｐゴシック" panose="020B0600070205080204" pitchFamily="34" charset="-128"/>
              </a:rPr>
              <a:t>Macchina incompletamente specificata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E8A7C4E1-8F1B-8971-8DEE-45E021F36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5775" y="1241425"/>
            <a:ext cx="8983663" cy="4551363"/>
          </a:xfrm>
        </p:spPr>
        <p:txBody>
          <a:bodyPr/>
          <a:lstStyle/>
          <a:p>
            <a:pPr lvl="1" eaLnBrk="1" hangingPunct="1"/>
            <a:endParaRPr lang="en-US" altLang="it-IT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it-IT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52227" name="Rectangle 4">
            <a:extLst>
              <a:ext uri="{FF2B5EF4-FFF2-40B4-BE49-F238E27FC236}">
                <a16:creationId xmlns:a16="http://schemas.microsoft.com/office/drawing/2014/main" id="{55251992-8F8E-5165-80DA-2CBBBA6FB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1241425"/>
            <a:ext cx="8661400" cy="495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295400" indent="-3810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r>
              <a:rPr lang="it-IT" altLang="it-IT" sz="2800">
                <a:solidFill>
                  <a:schemeClr val="tx2"/>
                </a:solidFill>
              </a:rPr>
              <a:t>Costruzione della macchina minima o a stati ridotti </a:t>
            </a:r>
          </a:p>
          <a:p>
            <a:pPr lvl="1" algn="just" eaLnBrk="1" hangingPunct="1">
              <a:buClr>
                <a:schemeClr val="tx2"/>
              </a:buClr>
              <a:buSzPct val="75000"/>
            </a:pPr>
            <a:r>
              <a:rPr lang="it-IT" altLang="it-IT" sz="2400">
                <a:solidFill>
                  <a:schemeClr val="tx2"/>
                </a:solidFill>
              </a:rPr>
              <a:t>E’ più complessa che nel caso delle macchine completamente specificate.</a:t>
            </a:r>
          </a:p>
          <a:p>
            <a:pPr lvl="1" algn="just" eaLnBrk="1" hangingPunct="1">
              <a:buClr>
                <a:schemeClr val="tx2"/>
              </a:buClr>
              <a:buSzPct val="75000"/>
            </a:pPr>
            <a:r>
              <a:rPr lang="it-IT" altLang="it-IT" sz="2400">
                <a:solidFill>
                  <a:schemeClr val="tx2"/>
                </a:solidFill>
              </a:rPr>
              <a:t>Gli insiemi di F non sono disgiunti!</a:t>
            </a:r>
          </a:p>
          <a:p>
            <a:pPr lvl="1" algn="just" eaLnBrk="1" hangingPunct="1">
              <a:buClr>
                <a:schemeClr val="tx2"/>
              </a:buClr>
              <a:buSzPct val="75000"/>
            </a:pPr>
            <a:r>
              <a:rPr lang="it-IT" altLang="it-IT" sz="2400">
                <a:solidFill>
                  <a:schemeClr val="tx2"/>
                </a:solidFill>
              </a:rPr>
              <a:t>Un insieme T può essere incluso in più di un insieme di F</a:t>
            </a:r>
          </a:p>
          <a:p>
            <a:pPr lvl="2" algn="just" eaLnBrk="1" hangingPunct="1"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it-IT" altLang="it-IT">
                <a:solidFill>
                  <a:schemeClr val="tx2"/>
                </a:solidFill>
              </a:rPr>
              <a:t>la macchina che si ottiene associando uno stato ad ogni distinto insieme della famiglia F non è necessariamente una macchina a numero minimo di stati</a:t>
            </a:r>
            <a:r>
              <a:rPr lang="it-IT" altLang="it-IT" sz="2800">
                <a:solidFill>
                  <a:schemeClr val="tx2"/>
                </a:solidFill>
              </a:rPr>
              <a:t>.</a:t>
            </a:r>
          </a:p>
          <a:p>
            <a:pPr lvl="1" algn="just" eaLnBrk="1" hangingPunct="1"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endParaRPr lang="it-IT" altLang="it-IT" sz="32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81D3C42D-9281-2CD6-A998-B79416290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200">
                <a:ea typeface="ＭＳ Ｐゴシック" panose="020B0600070205080204" pitchFamily="34" charset="-128"/>
              </a:rPr>
              <a:t>Algoritmo della suddivisione degli elementi della famiglia di presunta compatibilità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EFF70D8E-EC3B-662A-9B0D-6CFE6EA161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0213" y="1239838"/>
            <a:ext cx="8713787" cy="3667125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Analogo al metodo del partizionamento visto per reti complete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Data una famiglia, si esaminano singolarmente gli insiemi presumibilmente compatibili 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se in uno di questi, S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2000">
                <a:ea typeface="ＭＳ Ｐゴシック" panose="020B0600070205080204" pitchFamily="34" charset="-128"/>
              </a:rPr>
              <a:t>, si identificano due stati incompatibili, qi e qi, Sk viene sostituito da due nuovi insiemi, l'uno contenente tutti gli elementi tranne q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>
                <a:ea typeface="ＭＳ Ｐゴシック" panose="020B0600070205080204" pitchFamily="34" charset="-128"/>
              </a:rPr>
              <a:t> e l'altro tutti tranne q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j</a:t>
            </a:r>
            <a:r>
              <a:rPr lang="it-IT" altLang="it-IT" sz="2000">
                <a:ea typeface="ＭＳ Ｐゴシック" panose="020B0600070205080204" pitchFamily="34" charset="-128"/>
              </a:rPr>
              <a:t>, dando così luogo ad una nuova famiglia 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Ad es.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2000">
                <a:ea typeface="ＭＳ Ｐゴシック" panose="020B0600070205080204" pitchFamily="34" charset="-128"/>
              </a:rPr>
              <a:t> = (q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l</a:t>
            </a:r>
            <a:r>
              <a:rPr lang="it-IT" altLang="it-IT" sz="2000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2</a:t>
            </a:r>
            <a:r>
              <a:rPr lang="it-IT" altLang="it-IT" sz="2000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3</a:t>
            </a:r>
            <a:r>
              <a:rPr lang="it-IT" altLang="it-IT" sz="2000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4</a:t>
            </a:r>
            <a:r>
              <a:rPr lang="it-IT" altLang="it-IT" sz="2000">
                <a:ea typeface="ＭＳ Ｐゴシック" panose="020B0600070205080204" pitchFamily="34" charset="-128"/>
              </a:rPr>
              <a:t>) ;   se successivamente si verifica che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1  </a:t>
            </a:r>
            <a:r>
              <a:rPr lang="it-IT" altLang="it-IT" sz="1800">
                <a:ea typeface="ＭＳ Ｐゴシック" panose="020B0600070205080204" pitchFamily="34" charset="-128"/>
              </a:rPr>
              <a:t>e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  </a:t>
            </a:r>
            <a:r>
              <a:rPr lang="it-IT" altLang="it-IT" sz="2000">
                <a:ea typeface="ＭＳ Ｐゴシック" panose="020B0600070205080204" pitchFamily="34" charset="-128"/>
              </a:rPr>
              <a:t>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2 </a:t>
            </a:r>
            <a:r>
              <a:rPr lang="it-IT" altLang="it-IT" sz="2000">
                <a:ea typeface="ＭＳ Ｐゴシック" panose="020B0600070205080204" pitchFamily="34" charset="-128"/>
              </a:rPr>
              <a:t> sono incompatibili</a:t>
            </a:r>
          </a:p>
          <a:p>
            <a:pPr lvl="1" eaLnBrk="1" hangingPunct="1"/>
            <a:endParaRPr lang="it-IT" altLang="it-IT" sz="2000">
              <a:ea typeface="ＭＳ Ｐゴシック" panose="020B0600070205080204" pitchFamily="34" charset="-128"/>
            </a:endParaRPr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it-IT" altLang="it-IT" sz="2000">
                <a:ea typeface="ＭＳ Ｐゴシック" panose="020B0600070205080204" pitchFamily="34" charset="-128"/>
              </a:rPr>
              <a:t>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k1</a:t>
            </a:r>
            <a:r>
              <a:rPr lang="it-IT" altLang="it-IT" sz="2000">
                <a:ea typeface="ＭＳ Ｐゴシック" panose="020B0600070205080204" pitchFamily="34" charset="-128"/>
              </a:rPr>
              <a:t> = (q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l</a:t>
            </a:r>
            <a:r>
              <a:rPr lang="it-IT" altLang="it-IT" sz="2000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3</a:t>
            </a:r>
            <a:r>
              <a:rPr lang="it-IT" altLang="it-IT" sz="2000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4</a:t>
            </a:r>
            <a:r>
              <a:rPr lang="it-IT" altLang="it-IT" sz="2000">
                <a:ea typeface="ＭＳ Ｐゴシック" panose="020B0600070205080204" pitchFamily="34" charset="-128"/>
              </a:rPr>
              <a:t>)  ; 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k2</a:t>
            </a:r>
            <a:r>
              <a:rPr lang="it-IT" altLang="it-IT" sz="2000">
                <a:ea typeface="ＭＳ Ｐゴシック" panose="020B0600070205080204" pitchFamily="34" charset="-128"/>
              </a:rPr>
              <a:t> = (q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2</a:t>
            </a:r>
            <a:r>
              <a:rPr lang="it-IT" altLang="it-IT" sz="2000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3</a:t>
            </a:r>
            <a:r>
              <a:rPr lang="it-IT" altLang="it-IT" sz="2000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4</a:t>
            </a:r>
            <a:r>
              <a:rPr lang="it-IT" altLang="it-IT" sz="2000">
                <a:ea typeface="ＭＳ Ｐゴシック" panose="020B0600070205080204" pitchFamily="34" charset="-128"/>
              </a:rPr>
              <a:t>) </a:t>
            </a:r>
          </a:p>
        </p:txBody>
      </p:sp>
      <p:sp>
        <p:nvSpPr>
          <p:cNvPr id="53251" name="Line 4">
            <a:extLst>
              <a:ext uri="{FF2B5EF4-FFF2-40B4-BE49-F238E27FC236}">
                <a16:creationId xmlns:a16="http://schemas.microsoft.com/office/drawing/2014/main" id="{1D33C326-A687-16B2-F58D-F74C9A67C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968875"/>
            <a:ext cx="1584325" cy="4318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53252" name="Line 5">
            <a:extLst>
              <a:ext uri="{FF2B5EF4-FFF2-40B4-BE49-F238E27FC236}">
                <a16:creationId xmlns:a16="http://schemas.microsoft.com/office/drawing/2014/main" id="{A957FFC3-A887-9DE2-7585-D9B7DEEFAE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968875"/>
            <a:ext cx="2952750" cy="358775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4FAD69A7-E526-12B1-A21F-D833403584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Algoritmo della suddivisione degli elementi della famiglia di presunta compatibilità</a:t>
            </a:r>
            <a:endParaRPr lang="en-US" altLang="it-IT" sz="2800">
              <a:ea typeface="ＭＳ Ｐゴシック" panose="020B0600070205080204" pitchFamily="34" charset="-128"/>
            </a:endParaRP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00F1D90F-F9A4-82C8-C63C-67BE63433C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241425"/>
            <a:ext cx="8910638" cy="5022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TRE PASSI: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i="1">
                <a:ea typeface="ＭＳ Ｐゴシック" panose="020B0600070205080204" pitchFamily="34" charset="-128"/>
              </a:rPr>
              <a:t>Passo</a:t>
            </a: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  <a:r>
              <a:rPr lang="it-IT" altLang="it-IT" sz="2000" i="1">
                <a:ea typeface="ＭＳ Ｐゴシック" panose="020B0600070205080204" pitchFamily="34" charset="-128"/>
              </a:rPr>
              <a:t>1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Si eliminano le incompatibilità immediatamente evidenti, (per tutti gli ingressi i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1800">
                <a:ea typeface="ＭＳ Ｐゴシック" panose="020B0600070205080204" pitchFamily="34" charset="-128"/>
              </a:rPr>
              <a:t>).</a:t>
            </a:r>
            <a:endParaRPr lang="it-IT" altLang="it-IT" sz="1800" i="1">
              <a:ea typeface="ＭＳ Ｐゴシック" panose="020B0600070205080204" pitchFamily="34" charset="-128"/>
            </a:endParaRPr>
          </a:p>
          <a:p>
            <a:pPr lvl="2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sz="1800">
                <a:ea typeface="ＭＳ Ｐゴシック" panose="020B0600070205080204" pitchFamily="34" charset="-128"/>
              </a:rPr>
              <a:t>ω(q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1800">
                <a:ea typeface="ＭＳ Ｐゴシック" panose="020B0600070205080204" pitchFamily="34" charset="-128"/>
              </a:rPr>
              <a:t>, i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1800">
                <a:ea typeface="ＭＳ Ｐゴシック" panose="020B0600070205080204" pitchFamily="34" charset="-128"/>
              </a:rPr>
              <a:t>) ≠ ω(q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j</a:t>
            </a:r>
            <a:r>
              <a:rPr lang="it-IT" altLang="it-IT" sz="1800">
                <a:ea typeface="ＭＳ Ｐゴシック" panose="020B0600070205080204" pitchFamily="34" charset="-128"/>
              </a:rPr>
              <a:t>, i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1800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  <a:r>
              <a:rPr lang="it-IT" altLang="it-IT" sz="2000" i="1">
                <a:ea typeface="ＭＳ Ｐゴシック" panose="020B0600070205080204" pitchFamily="34" charset="-128"/>
              </a:rPr>
              <a:t>Passo</a:t>
            </a: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  <a:r>
              <a:rPr lang="it-IT" altLang="it-IT" sz="2000" i="1">
                <a:ea typeface="ＭＳ Ｐゴシック" panose="020B0600070205080204" pitchFamily="34" charset="-128"/>
              </a:rPr>
              <a:t>2</a:t>
            </a: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  <a:r>
              <a:rPr lang="it-IT" altLang="it-IT" sz="2000" i="1">
                <a:ea typeface="ＭＳ Ｐゴシック" panose="020B0600070205080204" pitchFamily="34" charset="-128"/>
              </a:rPr>
              <a:t>(aggiunto rispetto al partizionamento)</a:t>
            </a: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Si individua una famiglia di insiemi "presumibilmente compatibili", </a:t>
            </a:r>
          </a:p>
          <a:p>
            <a:pPr lvl="2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sz="1800" i="1">
                <a:ea typeface="ＭＳ Ｐゴシック" panose="020B0600070205080204" pitchFamily="34" charset="-128"/>
              </a:rPr>
              <a:t>F= (S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1</a:t>
            </a:r>
            <a:r>
              <a:rPr lang="it-IT" altLang="it-IT" sz="1800" i="1">
                <a:ea typeface="ＭＳ Ｐゴシック" panose="020B0600070205080204" pitchFamily="34" charset="-128"/>
              </a:rPr>
              <a:t>,S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2</a:t>
            </a:r>
            <a:r>
              <a:rPr lang="it-IT" altLang="it-IT" sz="1800" i="1">
                <a:ea typeface="ＭＳ Ｐゴシック" panose="020B0600070205080204" pitchFamily="34" charset="-128"/>
              </a:rPr>
              <a:t>,...,S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m</a:t>
            </a:r>
            <a:r>
              <a:rPr lang="it-IT" altLang="it-IT" sz="1800" i="1">
                <a:ea typeface="ＭＳ Ｐゴシック" panose="020B0600070205080204" pitchFamily="34" charset="-128"/>
              </a:rPr>
              <a:t>),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sz="1800">
                <a:ea typeface="ＭＳ Ｐゴシック" panose="020B0600070205080204" pitchFamily="34" charset="-128"/>
              </a:rPr>
              <a:t>eliminando gli elementi inclusi in altri</a:t>
            </a:r>
            <a:endParaRPr lang="it-IT" altLang="it-IT" sz="1800" i="1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i="1">
                <a:ea typeface="ＭＳ Ｐゴシック" panose="020B0600070205080204" pitchFamily="34" charset="-128"/>
              </a:rPr>
              <a:t>Passo 3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Si eliminano le incompatibilità dovute ad incompatibilità negli stati seguenti. Per ciascun ingresso ik e ciascun insieme </a:t>
            </a:r>
            <a:r>
              <a:rPr lang="it-IT" altLang="it-IT" sz="1800" i="1">
                <a:ea typeface="ＭＳ Ｐゴシック" panose="020B0600070205080204" pitchFamily="34" charset="-128"/>
              </a:rPr>
              <a:t>Si = (q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il</a:t>
            </a:r>
            <a:r>
              <a:rPr lang="it-IT" altLang="it-IT" sz="1800" i="1">
                <a:ea typeface="ＭＳ Ｐゴシック" panose="020B0600070205080204" pitchFamily="34" charset="-128"/>
              </a:rPr>
              <a:t>, 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i2</a:t>
            </a:r>
            <a:r>
              <a:rPr lang="it-IT" altLang="it-IT" sz="1800" i="1">
                <a:ea typeface="ＭＳ Ｐゴシック" panose="020B0600070205080204" pitchFamily="34" charset="-128"/>
              </a:rPr>
              <a:t>,...,q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in</a:t>
            </a:r>
            <a:r>
              <a:rPr lang="it-IT" altLang="it-IT" sz="1800" i="1">
                <a:ea typeface="ＭＳ Ｐゴシック" panose="020B0600070205080204" pitchFamily="34" charset="-128"/>
              </a:rPr>
              <a:t>), </a:t>
            </a:r>
            <a:r>
              <a:rPr lang="it-IT" altLang="it-IT" sz="1800">
                <a:ea typeface="ＭＳ Ｐゴシック" panose="020B0600070205080204" pitchFamily="34" charset="-128"/>
              </a:rPr>
              <a:t>si forma l'insieme degli stati seguenti</a:t>
            </a:r>
            <a:endParaRPr lang="nl-NL" altLang="it-IT" sz="1800" i="1">
              <a:ea typeface="ＭＳ Ｐゴシック" panose="020B0600070205080204" pitchFamily="34" charset="-128"/>
            </a:endParaRPr>
          </a:p>
          <a:p>
            <a:pPr lvl="2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nl-NL" altLang="it-IT" sz="1800" i="1">
                <a:ea typeface="ＭＳ Ｐゴシック" panose="020B0600070205080204" pitchFamily="34" charset="-128"/>
              </a:rPr>
              <a:t>T(S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i</a:t>
            </a:r>
            <a:r>
              <a:rPr lang="nl-NL" altLang="it-IT" sz="1800" i="1">
                <a:ea typeface="ＭＳ Ｐゴシック" panose="020B0600070205080204" pitchFamily="34" charset="-128"/>
              </a:rPr>
              <a:t>, i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nl-NL" altLang="it-IT" sz="1800" i="1">
                <a:ea typeface="ＭＳ Ｐゴシック" panose="020B0600070205080204" pitchFamily="34" charset="-128"/>
              </a:rPr>
              <a:t>) = (</a:t>
            </a:r>
            <a:r>
              <a:rPr lang="fr-FR" altLang="it-IT" sz="1800" i="1">
                <a:ea typeface="ＭＳ Ｐゴシック" panose="020B0600070205080204" pitchFamily="34" charset="-128"/>
              </a:rPr>
              <a:t>τ</a:t>
            </a:r>
            <a:r>
              <a:rPr lang="nl-NL" altLang="it-IT" sz="1800" i="1">
                <a:ea typeface="ＭＳ Ｐゴシック" panose="020B0600070205080204" pitchFamily="34" charset="-128"/>
              </a:rPr>
              <a:t>(q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i1</a:t>
            </a:r>
            <a:r>
              <a:rPr lang="nl-NL" altLang="it-IT" sz="1800" i="1">
                <a:ea typeface="ＭＳ Ｐゴシック" panose="020B0600070205080204" pitchFamily="34" charset="-128"/>
              </a:rPr>
              <a:t>, i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nl-NL" altLang="it-IT" sz="1800" i="1">
                <a:ea typeface="ＭＳ Ｐゴシック" panose="020B0600070205080204" pitchFamily="34" charset="-128"/>
              </a:rPr>
              <a:t>), </a:t>
            </a:r>
            <a:r>
              <a:rPr lang="fr-FR" altLang="it-IT" sz="1800" i="1">
                <a:ea typeface="ＭＳ Ｐゴシック" panose="020B0600070205080204" pitchFamily="34" charset="-128"/>
              </a:rPr>
              <a:t>τ</a:t>
            </a:r>
            <a:r>
              <a:rPr lang="nl-NL" altLang="it-IT" sz="1800" i="1">
                <a:ea typeface="ＭＳ Ｐゴシック" panose="020B0600070205080204" pitchFamily="34" charset="-128"/>
              </a:rPr>
              <a:t>(q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i2</a:t>
            </a:r>
            <a:r>
              <a:rPr lang="nl-NL" altLang="it-IT" sz="1800" i="1">
                <a:ea typeface="ＭＳ Ｐゴシック" panose="020B0600070205080204" pitchFamily="34" charset="-128"/>
              </a:rPr>
              <a:t>, i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nl-NL" altLang="it-IT" sz="1800" i="1">
                <a:ea typeface="ＭＳ Ｐゴシック" panose="020B0600070205080204" pitchFamily="34" charset="-128"/>
              </a:rPr>
              <a:t>),...,</a:t>
            </a:r>
            <a:r>
              <a:rPr lang="fr-FR" altLang="it-IT" sz="1800" i="1">
                <a:ea typeface="ＭＳ Ｐゴシック" panose="020B0600070205080204" pitchFamily="34" charset="-128"/>
              </a:rPr>
              <a:t>τ</a:t>
            </a:r>
            <a:r>
              <a:rPr lang="nl-NL" altLang="it-IT" sz="1800" i="1">
                <a:ea typeface="ＭＳ Ｐゴシック" panose="020B0600070205080204" pitchFamily="34" charset="-128"/>
              </a:rPr>
              <a:t>(q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in</a:t>
            </a:r>
            <a:r>
              <a:rPr lang="nl-NL" altLang="it-IT" sz="1800" i="1">
                <a:ea typeface="ＭＳ Ｐゴシック" panose="020B0600070205080204" pitchFamily="34" charset="-128"/>
              </a:rPr>
              <a:t>, i</a:t>
            </a:r>
            <a:r>
              <a:rPr lang="nl-NL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nl-NL" altLang="it-IT" sz="1800" i="1">
                <a:ea typeface="ＭＳ Ｐゴシック" panose="020B0600070205080204" pitchFamily="34" charset="-128"/>
              </a:rPr>
              <a:t>))</a:t>
            </a:r>
            <a:endParaRPr lang="it-IT" altLang="it-IT" sz="1800">
              <a:ea typeface="ＭＳ Ｐゴシック" panose="020B0600070205080204" pitchFamily="34" charset="-128"/>
            </a:endParaRP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Se </a:t>
            </a:r>
            <a:r>
              <a:rPr lang="it-IT" altLang="it-IT" sz="1800" i="1">
                <a:ea typeface="ＭＳ Ｐゴシック" panose="020B0600070205080204" pitchFamily="34" charset="-128"/>
              </a:rPr>
              <a:t>T(S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1800" i="1">
                <a:ea typeface="ＭＳ Ｐゴシック" panose="020B0600070205080204" pitchFamily="34" charset="-128"/>
              </a:rPr>
              <a:t>, i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1800" i="1">
                <a:ea typeface="ＭＳ Ｐゴシック" panose="020B0600070205080204" pitchFamily="34" charset="-128"/>
              </a:rPr>
              <a:t>)</a:t>
            </a:r>
            <a:r>
              <a:rPr lang="it-IT" altLang="it-IT" sz="1800" i="1">
                <a:ea typeface="ＭＳ Ｐゴシック" panose="020B0600070205080204" pitchFamily="34" charset="-128"/>
                <a:sym typeface="Symbol" panose="05050102010706020507" pitchFamily="18" charset="2"/>
              </a:rPr>
              <a:t></a:t>
            </a:r>
            <a:r>
              <a:rPr lang="it-IT" altLang="it-IT" sz="1800" i="1">
                <a:ea typeface="ＭＳ Ｐゴシック" panose="020B0600070205080204" pitchFamily="34" charset="-128"/>
              </a:rPr>
              <a:t>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j</a:t>
            </a:r>
            <a:r>
              <a:rPr lang="it-IT" altLang="it-IT" sz="1800">
                <a:ea typeface="ＭＳ Ｐゴシック" panose="020B0600070205080204" pitchFamily="34" charset="-128"/>
              </a:rPr>
              <a:t>, si individua l'incompatibilità, si procede alla suddivisione di </a:t>
            </a:r>
            <a:r>
              <a:rPr lang="it-IT" altLang="it-IT" sz="1800" i="1">
                <a:ea typeface="ＭＳ Ｐゴシック" panose="020B0600070205080204" pitchFamily="34" charset="-128"/>
              </a:rPr>
              <a:t>Si</a:t>
            </a:r>
            <a:r>
              <a:rPr lang="it-IT" altLang="it-IT" sz="1800">
                <a:ea typeface="ＭＳ Ｐゴシック" panose="020B0600070205080204" pitchFamily="34" charset="-128"/>
              </a:rPr>
              <a:t> e si ritorna al passo 2.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Se </a:t>
            </a:r>
            <a:r>
              <a:rPr lang="it-IT" altLang="it-IT" sz="1800" i="1">
                <a:ea typeface="ＭＳ Ｐゴシック" panose="020B0600070205080204" pitchFamily="34" charset="-128"/>
              </a:rPr>
              <a:t>T(S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1800" i="1">
                <a:ea typeface="ＭＳ Ｐゴシック" panose="020B0600070205080204" pitchFamily="34" charset="-128"/>
              </a:rPr>
              <a:t>, i</a:t>
            </a:r>
            <a:r>
              <a:rPr lang="it-IT" altLang="it-IT" sz="18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1800" i="1">
                <a:ea typeface="ＭＳ Ｐゴシック" panose="020B0600070205080204" pitchFamily="34" charset="-128"/>
              </a:rPr>
              <a:t>)</a:t>
            </a:r>
            <a:r>
              <a:rPr lang="it-IT" altLang="it-IT" sz="1800" i="1">
                <a:ea typeface="ＭＳ Ｐゴシック" panose="020B0600070205080204" pitchFamily="34" charset="-128"/>
                <a:sym typeface="Symbol" panose="05050102010706020507" pitchFamily="18" charset="2"/>
              </a:rPr>
              <a:t></a:t>
            </a:r>
            <a:r>
              <a:rPr lang="it-IT" altLang="it-IT" sz="1800" i="1">
                <a:ea typeface="ＭＳ Ｐゴシック" panose="020B0600070205080204" pitchFamily="34" charset="-128"/>
              </a:rPr>
              <a:t>S </a:t>
            </a:r>
            <a:r>
              <a:rPr lang="it-IT" altLang="it-IT" sz="1800">
                <a:ea typeface="ＭＳ Ｐゴシック" panose="020B0600070205080204" pitchFamily="34" charset="-128"/>
              </a:rPr>
              <a:t>per tutti gli elementi di F e per tutti gli ingressi, il procedimento ha termine.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7F802354-C6A7-E59F-E1F8-02CB09DDE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338" y="96838"/>
            <a:ext cx="9280525" cy="860425"/>
          </a:xfrm>
        </p:spPr>
        <p:txBody>
          <a:bodyPr/>
          <a:lstStyle/>
          <a:p>
            <a:pPr eaLnBrk="1" hangingPunct="1"/>
            <a:r>
              <a:rPr lang="en-US" altLang="it-IT" sz="4000">
                <a:ea typeface="ＭＳ Ｐゴシック" panose="020B0600070205080204" pitchFamily="34" charset="-128"/>
              </a:rPr>
              <a:t>Macchina incompletamente specificata</a:t>
            </a:r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C9BE3469-957B-C5A6-1B98-4CD3D9C6E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900" y="1096963"/>
            <a:ext cx="9217025" cy="3667125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Paull Unger esteso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Le relazioni di compatibilità possono essere ricavate dalla </a:t>
            </a:r>
            <a:r>
              <a:rPr lang="en-US" altLang="it-IT" b="1">
                <a:ea typeface="ＭＳ Ｐゴシック" panose="020B0600070205080204" pitchFamily="34" charset="-128"/>
              </a:rPr>
              <a:t>Tabella delle implicazioni</a:t>
            </a:r>
          </a:p>
          <a:p>
            <a:pPr lvl="2" eaLnBrk="1" hangingPunct="1"/>
            <a:r>
              <a:rPr lang="en-US" altLang="it-IT">
                <a:ea typeface="ＭＳ Ｐゴシック" panose="020B0600070205080204" pitchFamily="34" charset="-128"/>
              </a:rPr>
              <a:t>viene compilata come avviene nel caso delle macchine completamente specificate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Ogni elemento della tabella contiene:</a:t>
            </a:r>
          </a:p>
          <a:p>
            <a:pPr lvl="2" eaLnBrk="1" hangingPunct="1"/>
            <a:r>
              <a:rPr lang="en-US" altLang="it-IT">
                <a:ea typeface="ＭＳ Ｐゴシック" panose="020B0600070205080204" pitchFamily="34" charset="-128"/>
              </a:rPr>
              <a:t>Il simbolo di compatibilità se gli stati corrispondenti sono compatibili</a:t>
            </a:r>
          </a:p>
          <a:p>
            <a:pPr lvl="2" eaLnBrk="1" hangingPunct="1"/>
            <a:r>
              <a:rPr lang="en-US" altLang="it-IT">
                <a:ea typeface="ＭＳ Ｐゴシック" panose="020B0600070205080204" pitchFamily="34" charset="-128"/>
              </a:rPr>
              <a:t>Il simbolo di non compatibilità se gli stati corrispondenti non sono compatibili</a:t>
            </a:r>
          </a:p>
          <a:p>
            <a:pPr lvl="2" eaLnBrk="1" hangingPunct="1"/>
            <a:r>
              <a:rPr lang="en-US" altLang="it-IT">
                <a:ea typeface="ＭＳ Ｐゴシック" panose="020B0600070205080204" pitchFamily="34" charset="-128"/>
              </a:rPr>
              <a:t>Le coppie di stati a cui si rimanda la verifica se non è possibile stabilire la compatibilità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F010276D-ED1F-2EB9-E02A-A029FF865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96838"/>
            <a:ext cx="9029700" cy="860425"/>
          </a:xfrm>
        </p:spPr>
        <p:txBody>
          <a:bodyPr/>
          <a:lstStyle/>
          <a:p>
            <a:pPr eaLnBrk="1" hangingPunct="1"/>
            <a:r>
              <a:rPr lang="en-US" altLang="it-IT" sz="4000">
                <a:ea typeface="ＭＳ Ｐゴシック" panose="020B0600070205080204" pitchFamily="34" charset="-128"/>
              </a:rPr>
              <a:t>Macchina incompletamente specificata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0CA6D47F-AD1E-9E92-E92D-9CF6D328D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900" y="1241425"/>
            <a:ext cx="9504363" cy="4735513"/>
          </a:xfrm>
        </p:spPr>
        <p:txBody>
          <a:bodyPr/>
          <a:lstStyle/>
          <a:p>
            <a:pPr marL="381000" indent="-381000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Passi:</a:t>
            </a:r>
          </a:p>
          <a:p>
            <a:pPr marL="800100" lvl="1" indent="-3429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it-IT" altLang="it-IT">
                <a:ea typeface="ＭＳ Ｐゴシック" panose="020B0600070205080204" pitchFamily="34" charset="-128"/>
              </a:rPr>
              <a:t>Si barrano le caselle i cui stati seguenti sono incompatibili (piuttosto che disequivalenti)</a:t>
            </a:r>
          </a:p>
          <a:p>
            <a:pPr marL="800100" lvl="1" indent="-3429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it-IT" altLang="it-IT">
                <a:ea typeface="ＭＳ Ｐゴシック" panose="020B0600070205080204" pitchFamily="34" charset="-128"/>
              </a:rPr>
              <a:t>Si determinano le coppie compatibili come per le macchine complete</a:t>
            </a:r>
          </a:p>
          <a:p>
            <a:pPr marL="800100" lvl="1" indent="-3429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it-IT" altLang="it-IT" b="1" i="1">
                <a:ea typeface="ＭＳ Ｐゴシック" panose="020B0600070205080204" pitchFamily="34" charset="-128"/>
              </a:rPr>
              <a:t>Si costruisce la famiglia degli insiemi massimi (F)</a:t>
            </a:r>
          </a:p>
          <a:p>
            <a:pPr marL="1219200" lvl="2" indent="-3048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it-IT" altLang="it-IT">
                <a:ea typeface="ＭＳ Ｐゴシック" panose="020B0600070205080204" pitchFamily="34" charset="-128"/>
              </a:rPr>
              <a:t>Si prendono in esame ordinatamente tutti gli stati della macchina e, per ciascuno di essi (q):</a:t>
            </a:r>
          </a:p>
          <a:p>
            <a:pPr marL="1638300" lvl="3" indent="-266700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aggiungono ad F tutte le coppie di compatibilità di q;</a:t>
            </a:r>
          </a:p>
          <a:p>
            <a:pPr marL="1638300" lvl="3" indent="-266700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q viene confrontato con tutti gli stati di ciascun elemento E di F e se compatibile con tutti, E si accresce di q, se compatibile solo con alcuni, si genera un nuovo elemento di F </a:t>
            </a:r>
          </a:p>
          <a:p>
            <a:pPr marL="1638300" lvl="3" indent="-266700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eliminano da F gli elementi inclusi in altri</a:t>
            </a:r>
            <a:endParaRPr lang="en-US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olo 4">
            <a:extLst>
              <a:ext uri="{FF2B5EF4-FFF2-40B4-BE49-F238E27FC236}">
                <a16:creationId xmlns:a16="http://schemas.microsoft.com/office/drawing/2014/main" id="{C643533A-178C-08BB-248C-5096B490A8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43013" y="877888"/>
            <a:ext cx="7845425" cy="957262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Esempi di minimizzazioni</a:t>
            </a:r>
            <a:br>
              <a:rPr lang="it-IT" altLang="it-IT">
                <a:ea typeface="ＭＳ Ｐゴシック" panose="020B0600070205080204" pitchFamily="34" charset="-128"/>
              </a:rPr>
            </a:b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57346" name="Sottotitolo 5">
            <a:extLst>
              <a:ext uri="{FF2B5EF4-FFF2-40B4-BE49-F238E27FC236}">
                <a16:creationId xmlns:a16="http://schemas.microsoft.com/office/drawing/2014/main" id="{4C082733-158B-D720-5BF7-09DD30132A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55725" y="2546350"/>
            <a:ext cx="7392988" cy="282892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Macchine completamente specificate</a:t>
            </a: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Macchine incompletamente specificate</a:t>
            </a:r>
          </a:p>
          <a:p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57347" name="Segnaposto numero diapositiva 3">
            <a:extLst>
              <a:ext uri="{FF2B5EF4-FFF2-40B4-BE49-F238E27FC236}">
                <a16:creationId xmlns:a16="http://schemas.microsoft.com/office/drawing/2014/main" id="{3DEA8653-4FD0-4D3F-CE3F-E36A67299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4D61A14-A303-41B5-ACA2-A8EB9BAF937D}" type="slidenum">
              <a:rPr lang="it-IT" altLang="it-IT" sz="1400">
                <a:solidFill>
                  <a:schemeClr val="folHlink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it-IT" altLang="it-IT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EB31C1E2-C34C-7D8D-D852-48AAF54215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9738" y="161925"/>
            <a:ext cx="9029700" cy="860425"/>
          </a:xfrm>
          <a:noFill/>
        </p:spPr>
        <p:txBody>
          <a:bodyPr/>
          <a:lstStyle/>
          <a:p>
            <a:pPr eaLnBrk="1" hangingPunct="1"/>
            <a:r>
              <a:rPr lang="it-IT" altLang="it-IT" sz="3600">
                <a:ea typeface="ＭＳ Ｐゴシック" panose="020B0600070205080204" pitchFamily="34" charset="-128"/>
              </a:rPr>
              <a:t>Esempio 1: Riconoscitore di codice 8-4-2-1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84A310D7-EB35-A9A3-AEB3-5921EA76A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58371" name="Rectangle 5">
            <a:extLst>
              <a:ext uri="{FF2B5EF4-FFF2-40B4-BE49-F238E27FC236}">
                <a16:creationId xmlns:a16="http://schemas.microsoft.com/office/drawing/2014/main" id="{224DA872-F292-4C57-7AE4-BB56B3417E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5938" y="1093788"/>
            <a:ext cx="8750300" cy="4813300"/>
          </a:xfrm>
        </p:spPr>
        <p:txBody>
          <a:bodyPr/>
          <a:lstStyle/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Costruire una rete nella quale entrano serialmente i bit di un codice decimale 8-4-2-1 a partire dal bit meno significativo e dalla quale esce un segnale impulsivo che individua se i quattro bit costituiscono o meno una delle 10 parole-codice previste </a:t>
            </a:r>
          </a:p>
          <a:p>
            <a:pPr algn="just"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58372" name="Rectangle 6">
            <a:extLst>
              <a:ext uri="{FF2B5EF4-FFF2-40B4-BE49-F238E27FC236}">
                <a16:creationId xmlns:a16="http://schemas.microsoft.com/office/drawing/2014/main" id="{DF3929D8-BFB9-E9F2-C73B-F1FD1FC1C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5097463"/>
            <a:ext cx="3859212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it-IT" altLang="it-IT" sz="2000" i="1">
                <a:solidFill>
                  <a:schemeClr val="tx2"/>
                </a:solidFill>
              </a:rPr>
              <a:t>Riferimento: </a:t>
            </a:r>
            <a:r>
              <a:rPr lang="it-IT" altLang="it-IT" sz="2000">
                <a:solidFill>
                  <a:schemeClr val="tx2"/>
                </a:solidFill>
              </a:rPr>
              <a:t>“Reti logiche-Complementi ed Esercizi” CAP 5, es n.6</a:t>
            </a:r>
          </a:p>
        </p:txBody>
      </p:sp>
      <p:grpSp>
        <p:nvGrpSpPr>
          <p:cNvPr id="58373" name="Group 24">
            <a:extLst>
              <a:ext uri="{FF2B5EF4-FFF2-40B4-BE49-F238E27FC236}">
                <a16:creationId xmlns:a16="http://schemas.microsoft.com/office/drawing/2014/main" id="{33A472BD-4FCA-C87B-B6A2-450DB72C23B0}"/>
              </a:ext>
            </a:extLst>
          </p:cNvPr>
          <p:cNvGrpSpPr>
            <a:grpSpLocks/>
          </p:cNvGrpSpPr>
          <p:nvPr/>
        </p:nvGrpSpPr>
        <p:grpSpPr bwMode="auto">
          <a:xfrm>
            <a:off x="360363" y="3429000"/>
            <a:ext cx="4211637" cy="2606675"/>
            <a:chOff x="-1001" y="1699"/>
            <a:chExt cx="3143" cy="1978"/>
          </a:xfrm>
        </p:grpSpPr>
        <p:grpSp>
          <p:nvGrpSpPr>
            <p:cNvPr id="58374" name="Group 22">
              <a:extLst>
                <a:ext uri="{FF2B5EF4-FFF2-40B4-BE49-F238E27FC236}">
                  <a16:creationId xmlns:a16="http://schemas.microsoft.com/office/drawing/2014/main" id="{D0AA14D9-D22D-283F-ABB2-27D701A0EC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001" y="1699"/>
              <a:ext cx="3017" cy="1978"/>
              <a:chOff x="-1001" y="1699"/>
              <a:chExt cx="3017" cy="1978"/>
            </a:xfrm>
          </p:grpSpPr>
          <p:grpSp>
            <p:nvGrpSpPr>
              <p:cNvPr id="58376" name="Group 19">
                <a:extLst>
                  <a:ext uri="{FF2B5EF4-FFF2-40B4-BE49-F238E27FC236}">
                    <a16:creationId xmlns:a16="http://schemas.microsoft.com/office/drawing/2014/main" id="{E9E82760-9E92-BF35-266F-D9C71BBC4B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001" y="1699"/>
                <a:ext cx="1353" cy="1978"/>
                <a:chOff x="-1001" y="1699"/>
                <a:chExt cx="1353" cy="1978"/>
              </a:xfrm>
            </p:grpSpPr>
            <p:graphicFrame>
              <p:nvGraphicFramePr>
                <p:cNvPr id="58378" name="Object 16">
                  <a:extLst>
                    <a:ext uri="{FF2B5EF4-FFF2-40B4-BE49-F238E27FC236}">
                      <a16:creationId xmlns:a16="http://schemas.microsoft.com/office/drawing/2014/main" id="{51645652-6564-F07E-8583-10D2AEF2599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-1001" y="1699"/>
                <a:ext cx="1353" cy="19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Immagine" r:id="rId2" imgW="0" imgH="0" progId="Word.Picture.8">
                        <p:embed/>
                      </p:oleObj>
                    </mc:Choice>
                    <mc:Fallback>
                      <p:oleObj name="Immagine" r:id="rId2" imgW="0" imgH="0" progId="Word.Picture.8">
                        <p:embed/>
                        <p:pic>
                          <p:nvPicPr>
                            <p:cNvPr id="0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 l="5435" t="12163" r="60976" b="3476"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-1001" y="1699"/>
                              <a:ext cx="1353" cy="19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8379" name="Line 18">
                  <a:extLst>
                    <a:ext uri="{FF2B5EF4-FFF2-40B4-BE49-F238E27FC236}">
                      <a16:creationId xmlns:a16="http://schemas.microsoft.com/office/drawing/2014/main" id="{30E3F444-017E-89A1-BB7F-56A8CF1B24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001" y="1699"/>
                  <a:ext cx="13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8377" name="Line 21">
                <a:extLst>
                  <a:ext uri="{FF2B5EF4-FFF2-40B4-BE49-F238E27FC236}">
                    <a16:creationId xmlns:a16="http://schemas.microsoft.com/office/drawing/2014/main" id="{17B53263-A16E-8E3E-CD22-0972498260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166"/>
                <a:ext cx="0" cy="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375" name="Rectangle 23">
              <a:extLst>
                <a:ext uri="{FF2B5EF4-FFF2-40B4-BE49-F238E27FC236}">
                  <a16:creationId xmlns:a16="http://schemas.microsoft.com/office/drawing/2014/main" id="{D76B70E8-8759-52D4-B452-4F26CDBFC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2130"/>
              <a:ext cx="1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w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08585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42875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1771650" indent="-22860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2288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6860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1432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60045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24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58AFC4A3-180E-7568-9068-A6E3D8DC3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15900"/>
            <a:ext cx="9180513" cy="503238"/>
          </a:xfrm>
        </p:spPr>
        <p:txBody>
          <a:bodyPr/>
          <a:lstStyle/>
          <a:p>
            <a:pPr eaLnBrk="1" hangingPunct="1"/>
            <a:r>
              <a:rPr lang="it-IT" altLang="it-IT" sz="3600">
                <a:ea typeface="ＭＳ Ｐゴシック" panose="020B0600070205080204" pitchFamily="34" charset="-128"/>
              </a:rPr>
              <a:t>Esempio 1</a:t>
            </a:r>
            <a:endParaRPr lang="en-US" altLang="it-IT" sz="3600">
              <a:ea typeface="ＭＳ Ｐゴシック" panose="020B0600070205080204" pitchFamily="34" charset="-128"/>
            </a:endParaRP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DD2FDD39-B095-FF54-8656-6A27C495F4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26988" y="1168400"/>
            <a:ext cx="8459788" cy="3667125"/>
          </a:xfrm>
        </p:spPr>
        <p:txBody>
          <a:bodyPr/>
          <a:lstStyle/>
          <a:p>
            <a:pPr eaLnBrk="1" hangingPunct="1"/>
            <a:r>
              <a:rPr lang="en-US" altLang="it-IT" sz="2400">
                <a:ea typeface="ＭＳ Ｐゴシック" panose="020B0600070205080204" pitchFamily="34" charset="-128"/>
              </a:rPr>
              <a:t>Procediamo per elencazione di tutti le possibili sequenze</a:t>
            </a:r>
            <a:r>
              <a:rPr lang="en-US" altLang="it-IT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Individuiamo tutti i possibili stati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Partizioniamo rispetto alle uscite</a:t>
            </a:r>
          </a:p>
        </p:txBody>
      </p:sp>
      <p:pic>
        <p:nvPicPr>
          <p:cNvPr id="59395" name="Picture 5">
            <a:extLst>
              <a:ext uri="{FF2B5EF4-FFF2-40B4-BE49-F238E27FC236}">
                <a16:creationId xmlns:a16="http://schemas.microsoft.com/office/drawing/2014/main" id="{F15B3353-7EA2-E541-9CD1-BB44B68D6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113" y="1905000"/>
            <a:ext cx="2724150" cy="45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AutoShape 6">
            <a:extLst>
              <a:ext uri="{FF2B5EF4-FFF2-40B4-BE49-F238E27FC236}">
                <a16:creationId xmlns:a16="http://schemas.microsoft.com/office/drawing/2014/main" id="{7D8E2933-D2FF-97F4-753C-F69AF9750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050" y="1668463"/>
            <a:ext cx="1368425" cy="6477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59397" name="AutoShape 7">
            <a:extLst>
              <a:ext uri="{FF2B5EF4-FFF2-40B4-BE49-F238E27FC236}">
                <a16:creationId xmlns:a16="http://schemas.microsoft.com/office/drawing/2014/main" id="{36DA77DF-0EEE-C997-AB23-FDF11CB807BE}"/>
              </a:ext>
            </a:extLst>
          </p:cNvPr>
          <p:cNvSpPr>
            <a:spLocks noChangeArrowheads="1"/>
          </p:cNvSpPr>
          <p:nvPr/>
        </p:nvSpPr>
        <p:spPr bwMode="auto">
          <a:xfrm rot="2512674">
            <a:off x="1744663" y="2855913"/>
            <a:ext cx="936625" cy="53975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pic>
        <p:nvPicPr>
          <p:cNvPr id="59398" name="Picture 8">
            <a:extLst>
              <a:ext uri="{FF2B5EF4-FFF2-40B4-BE49-F238E27FC236}">
                <a16:creationId xmlns:a16="http://schemas.microsoft.com/office/drawing/2014/main" id="{81F08176-63F0-389B-91FF-0CF31577D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2808288"/>
            <a:ext cx="2144712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8C38CC75-F81E-8DF4-91CF-8EB347E18F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15900"/>
            <a:ext cx="9037638" cy="503238"/>
          </a:xfrm>
        </p:spPr>
        <p:txBody>
          <a:bodyPr/>
          <a:lstStyle/>
          <a:p>
            <a:pPr eaLnBrk="1" hangingPunct="1"/>
            <a:r>
              <a:rPr lang="en-US" altLang="it-IT" sz="3600">
                <a:ea typeface="ＭＳ Ｐゴシック" panose="020B0600070205080204" pitchFamily="34" charset="-128"/>
              </a:rPr>
              <a:t>Esempio 1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1E5F901B-4B49-7657-7DE1-387E479886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463" y="1073150"/>
            <a:ext cx="8459787" cy="3667125"/>
          </a:xfrm>
        </p:spPr>
        <p:txBody>
          <a:bodyPr/>
          <a:lstStyle/>
          <a:p>
            <a:pPr eaLnBrk="1" hangingPunct="1"/>
            <a:r>
              <a:rPr lang="en-US" altLang="it-IT" sz="2800">
                <a:ea typeface="ＭＳ Ｐゴシック" panose="020B0600070205080204" pitchFamily="34" charset="-128"/>
              </a:rPr>
              <a:t>Eliminiamo le righe uguali </a:t>
            </a:r>
          </a:p>
          <a:p>
            <a:pPr lvl="1" eaLnBrk="1" hangingPunct="1"/>
            <a:r>
              <a:rPr lang="en-US" altLang="it-IT" sz="2400">
                <a:ea typeface="ＭＳ Ｐゴシック" panose="020B0600070205080204" pitchFamily="34" charset="-128"/>
              </a:rPr>
              <a:t>ne resta soltanto una e lo stato non eliminato (ad es. 7) viene sostituito a tutti quelli eliminati nella colonna degli stati futuri</a:t>
            </a:r>
          </a:p>
          <a:p>
            <a:pPr lvl="1" eaLnBrk="1" hangingPunct="1"/>
            <a:endParaRPr lang="en-US" altLang="it-IT" sz="2400">
              <a:ea typeface="ＭＳ Ｐゴシック" panose="020B0600070205080204" pitchFamily="34" charset="-128"/>
            </a:endParaRPr>
          </a:p>
        </p:txBody>
      </p:sp>
      <p:sp>
        <p:nvSpPr>
          <p:cNvPr id="60419" name="AutoShape 5">
            <a:extLst>
              <a:ext uri="{FF2B5EF4-FFF2-40B4-BE49-F238E27FC236}">
                <a16:creationId xmlns:a16="http://schemas.microsoft.com/office/drawing/2014/main" id="{03374007-B70D-A541-8E82-CD6A46057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887788"/>
            <a:ext cx="1368425" cy="6477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pic>
        <p:nvPicPr>
          <p:cNvPr id="60420" name="Picture 6">
            <a:extLst>
              <a:ext uri="{FF2B5EF4-FFF2-40B4-BE49-F238E27FC236}">
                <a16:creationId xmlns:a16="http://schemas.microsoft.com/office/drawing/2014/main" id="{21FFDBBA-2E87-D426-52BB-DA3636797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988" y="2879725"/>
            <a:ext cx="2262187" cy="277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1" name="Picture 7">
            <a:extLst>
              <a:ext uri="{FF2B5EF4-FFF2-40B4-BE49-F238E27FC236}">
                <a16:creationId xmlns:a16="http://schemas.microsoft.com/office/drawing/2014/main" id="{90B77FC2-C877-F587-DB0A-2A34F21A3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808288"/>
            <a:ext cx="2144713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2" name="Line 8">
            <a:extLst>
              <a:ext uri="{FF2B5EF4-FFF2-40B4-BE49-F238E27FC236}">
                <a16:creationId xmlns:a16="http://schemas.microsoft.com/office/drawing/2014/main" id="{55ED530D-9CCC-DF37-577E-32C70CB73E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4824413"/>
            <a:ext cx="2160587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23" name="Line 9">
            <a:extLst>
              <a:ext uri="{FF2B5EF4-FFF2-40B4-BE49-F238E27FC236}">
                <a16:creationId xmlns:a16="http://schemas.microsoft.com/office/drawing/2014/main" id="{235CA4D8-479A-EC52-89C9-D03E17A72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5040313"/>
            <a:ext cx="2160587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24" name="Line 10">
            <a:extLst>
              <a:ext uri="{FF2B5EF4-FFF2-40B4-BE49-F238E27FC236}">
                <a16:creationId xmlns:a16="http://schemas.microsoft.com/office/drawing/2014/main" id="{ACB25864-93D2-CA81-209F-942B81F502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5256213"/>
            <a:ext cx="2160588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25" name="Line 11">
            <a:extLst>
              <a:ext uri="{FF2B5EF4-FFF2-40B4-BE49-F238E27FC236}">
                <a16:creationId xmlns:a16="http://schemas.microsoft.com/office/drawing/2014/main" id="{9307836D-FFF4-A06D-B9AD-8290DFE875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5472113"/>
            <a:ext cx="2160588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26" name="Line 12">
            <a:extLst>
              <a:ext uri="{FF2B5EF4-FFF2-40B4-BE49-F238E27FC236}">
                <a16:creationId xmlns:a16="http://schemas.microsoft.com/office/drawing/2014/main" id="{DEDA7AAC-06F7-04A9-F5C4-CAF8ED7290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5688013"/>
            <a:ext cx="2160587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27" name="Line 13">
            <a:extLst>
              <a:ext uri="{FF2B5EF4-FFF2-40B4-BE49-F238E27FC236}">
                <a16:creationId xmlns:a16="http://schemas.microsoft.com/office/drawing/2014/main" id="{1CA60380-A1C5-A58E-4282-26910CCFB5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6119813"/>
            <a:ext cx="2160588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28" name="Line 14">
            <a:extLst>
              <a:ext uri="{FF2B5EF4-FFF2-40B4-BE49-F238E27FC236}">
                <a16:creationId xmlns:a16="http://schemas.microsoft.com/office/drawing/2014/main" id="{C9F87940-7D30-DCED-A861-EE2B65E22D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9213" y="4824413"/>
            <a:ext cx="649287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29" name="Text Box 15">
            <a:extLst>
              <a:ext uri="{FF2B5EF4-FFF2-40B4-BE49-F238E27FC236}">
                <a16:creationId xmlns:a16="http://schemas.microsoft.com/office/drawing/2014/main" id="{90E85BC9-087D-288A-B57C-62A5C8DB6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8350" y="4679950"/>
            <a:ext cx="1079500" cy="371475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it-IT" sz="1800">
                <a:solidFill>
                  <a:srgbClr val="FF0000"/>
                </a:solidFill>
              </a:rPr>
              <a:t>non 14!! </a:t>
            </a:r>
          </a:p>
        </p:txBody>
      </p:sp>
      <p:sp>
        <p:nvSpPr>
          <p:cNvPr id="60430" name="Line 16">
            <a:extLst>
              <a:ext uri="{FF2B5EF4-FFF2-40B4-BE49-F238E27FC236}">
                <a16:creationId xmlns:a16="http://schemas.microsoft.com/office/drawing/2014/main" id="{D0DB006C-906C-D057-1C50-B76A0AB952C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7775" y="4032250"/>
            <a:ext cx="649288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0431" name="Text Box 17">
            <a:extLst>
              <a:ext uri="{FF2B5EF4-FFF2-40B4-BE49-F238E27FC236}">
                <a16:creationId xmlns:a16="http://schemas.microsoft.com/office/drawing/2014/main" id="{4929A665-98A1-86E5-6547-72C4E72A5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6913" y="3887788"/>
            <a:ext cx="1079500" cy="401637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it-IT" sz="2000">
                <a:solidFill>
                  <a:srgbClr val="FF0000"/>
                </a:solidFill>
              </a:rPr>
              <a:t>non 8!!* </a:t>
            </a:r>
          </a:p>
        </p:txBody>
      </p:sp>
      <p:sp>
        <p:nvSpPr>
          <p:cNvPr id="60432" name="Rettangolo 18">
            <a:extLst>
              <a:ext uri="{FF2B5EF4-FFF2-40B4-BE49-F238E27FC236}">
                <a16:creationId xmlns:a16="http://schemas.microsoft.com/office/drawing/2014/main" id="{66938C96-EA8A-21E4-F2E8-99BF01725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88" y="5754688"/>
            <a:ext cx="48577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4161750" indent="-24161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2000">
                <a:solidFill>
                  <a:srgbClr val="FF0000"/>
                </a:solidFill>
              </a:rPr>
              <a:t>* Lo stesso vale per 9, 11, 12 e 13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92DA5DA3-280A-B5A5-8E7A-10F1492A8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15900"/>
            <a:ext cx="9180513" cy="503238"/>
          </a:xfrm>
        </p:spPr>
        <p:txBody>
          <a:bodyPr/>
          <a:lstStyle/>
          <a:p>
            <a:pPr eaLnBrk="1" hangingPunct="1"/>
            <a:r>
              <a:rPr lang="en-US" altLang="it-IT" sz="3600">
                <a:ea typeface="ＭＳ Ｐゴシック" panose="020B0600070205080204" pitchFamily="34" charset="-128"/>
              </a:rPr>
              <a:t>Esempio 1</a:t>
            </a:r>
          </a:p>
        </p:txBody>
      </p:sp>
      <p:sp>
        <p:nvSpPr>
          <p:cNvPr id="61442" name="Rectangle 4">
            <a:extLst>
              <a:ext uri="{FF2B5EF4-FFF2-40B4-BE49-F238E27FC236}">
                <a16:creationId xmlns:a16="http://schemas.microsoft.com/office/drawing/2014/main" id="{676C08C5-B4E5-DB82-304E-8EC7ADB14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1241425"/>
            <a:ext cx="8748713" cy="455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r>
              <a:rPr lang="en-US" altLang="it-IT" sz="2800">
                <a:solidFill>
                  <a:schemeClr val="tx2"/>
                </a:solidFill>
              </a:rPr>
              <a:t>Tracciamo la tabella delle implicazioni</a:t>
            </a:r>
            <a:endParaRPr lang="en-US" altLang="it-IT" sz="2400">
              <a:solidFill>
                <a:schemeClr val="tx2"/>
              </a:solidFill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endParaRPr lang="en-US" altLang="it-IT" sz="2800">
              <a:solidFill>
                <a:schemeClr val="tx2"/>
              </a:solidFill>
            </a:endParaRPr>
          </a:p>
        </p:txBody>
      </p:sp>
      <p:pic>
        <p:nvPicPr>
          <p:cNvPr id="61443" name="Picture 5">
            <a:extLst>
              <a:ext uri="{FF2B5EF4-FFF2-40B4-BE49-F238E27FC236}">
                <a16:creationId xmlns:a16="http://schemas.microsoft.com/office/drawing/2014/main" id="{9D717D79-6F02-D045-DDAD-29BBBBD65D3D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92275" y="2232025"/>
            <a:ext cx="6965950" cy="3624263"/>
          </a:xfrm>
        </p:spPr>
      </p:pic>
      <p:grpSp>
        <p:nvGrpSpPr>
          <p:cNvPr id="61444" name="Group 6">
            <a:extLst>
              <a:ext uri="{FF2B5EF4-FFF2-40B4-BE49-F238E27FC236}">
                <a16:creationId xmlns:a16="http://schemas.microsoft.com/office/drawing/2014/main" id="{35EC3B0E-E9AA-8693-BAB7-2F331BB8A234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4319588"/>
            <a:ext cx="647700" cy="431800"/>
            <a:chOff x="4513" y="1633"/>
            <a:chExt cx="408" cy="272"/>
          </a:xfrm>
        </p:grpSpPr>
        <p:sp>
          <p:nvSpPr>
            <p:cNvPr id="61496" name="Line 7">
              <a:extLst>
                <a:ext uri="{FF2B5EF4-FFF2-40B4-BE49-F238E27FC236}">
                  <a16:creationId xmlns:a16="http://schemas.microsoft.com/office/drawing/2014/main" id="{7112A11D-05AC-C666-C74B-40DC32BC3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97" name="Line 8">
              <a:extLst>
                <a:ext uri="{FF2B5EF4-FFF2-40B4-BE49-F238E27FC236}">
                  <a16:creationId xmlns:a16="http://schemas.microsoft.com/office/drawing/2014/main" id="{42797468-D783-5BBA-749E-F5B0106239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45" name="Group 9">
            <a:extLst>
              <a:ext uri="{FF2B5EF4-FFF2-40B4-BE49-F238E27FC236}">
                <a16:creationId xmlns:a16="http://schemas.microsoft.com/office/drawing/2014/main" id="{A02F5B0F-87F9-D318-1C10-D3B3CFBAE918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3887788"/>
            <a:ext cx="647700" cy="431800"/>
            <a:chOff x="4513" y="1633"/>
            <a:chExt cx="408" cy="272"/>
          </a:xfrm>
        </p:grpSpPr>
        <p:sp>
          <p:nvSpPr>
            <p:cNvPr id="61494" name="Line 10">
              <a:extLst>
                <a:ext uri="{FF2B5EF4-FFF2-40B4-BE49-F238E27FC236}">
                  <a16:creationId xmlns:a16="http://schemas.microsoft.com/office/drawing/2014/main" id="{F3A8785A-EB46-61DD-7E35-B4A69BB30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95" name="Line 11">
              <a:extLst>
                <a:ext uri="{FF2B5EF4-FFF2-40B4-BE49-F238E27FC236}">
                  <a16:creationId xmlns:a16="http://schemas.microsoft.com/office/drawing/2014/main" id="{E7859591-6B07-6F09-F588-F44BD1FA1B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46" name="Group 12">
            <a:extLst>
              <a:ext uri="{FF2B5EF4-FFF2-40B4-BE49-F238E27FC236}">
                <a16:creationId xmlns:a16="http://schemas.microsoft.com/office/drawing/2014/main" id="{CEADC632-5C58-E8C9-8B99-0E8A3FCB3187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4319588"/>
            <a:ext cx="647700" cy="431800"/>
            <a:chOff x="4513" y="1633"/>
            <a:chExt cx="408" cy="272"/>
          </a:xfrm>
        </p:grpSpPr>
        <p:sp>
          <p:nvSpPr>
            <p:cNvPr id="61492" name="Line 13">
              <a:extLst>
                <a:ext uri="{FF2B5EF4-FFF2-40B4-BE49-F238E27FC236}">
                  <a16:creationId xmlns:a16="http://schemas.microsoft.com/office/drawing/2014/main" id="{0B0044E1-31C6-4D4A-9EFF-C4EFE77C3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93" name="Line 14">
              <a:extLst>
                <a:ext uri="{FF2B5EF4-FFF2-40B4-BE49-F238E27FC236}">
                  <a16:creationId xmlns:a16="http://schemas.microsoft.com/office/drawing/2014/main" id="{54816509-52F1-6F04-BAD5-E6A2C22619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47" name="Group 15">
            <a:extLst>
              <a:ext uri="{FF2B5EF4-FFF2-40B4-BE49-F238E27FC236}">
                <a16:creationId xmlns:a16="http://schemas.microsoft.com/office/drawing/2014/main" id="{1C9006EE-EF3D-B1FB-C0D7-D87C2084A740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4319588"/>
            <a:ext cx="647700" cy="431800"/>
            <a:chOff x="4513" y="1633"/>
            <a:chExt cx="408" cy="272"/>
          </a:xfrm>
        </p:grpSpPr>
        <p:sp>
          <p:nvSpPr>
            <p:cNvPr id="61490" name="Line 16">
              <a:extLst>
                <a:ext uri="{FF2B5EF4-FFF2-40B4-BE49-F238E27FC236}">
                  <a16:creationId xmlns:a16="http://schemas.microsoft.com/office/drawing/2014/main" id="{AFF6602A-158B-6344-D858-B32B11986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91" name="Line 17">
              <a:extLst>
                <a:ext uri="{FF2B5EF4-FFF2-40B4-BE49-F238E27FC236}">
                  <a16:creationId xmlns:a16="http://schemas.microsoft.com/office/drawing/2014/main" id="{9048FF77-B8EB-1738-7FE3-75231204C7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48" name="Group 18">
            <a:extLst>
              <a:ext uri="{FF2B5EF4-FFF2-40B4-BE49-F238E27FC236}">
                <a16:creationId xmlns:a16="http://schemas.microsoft.com/office/drawing/2014/main" id="{967AB50D-C911-0054-E8FE-D13D8C423F45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4319588"/>
            <a:ext cx="647700" cy="431800"/>
            <a:chOff x="4513" y="1633"/>
            <a:chExt cx="408" cy="272"/>
          </a:xfrm>
        </p:grpSpPr>
        <p:sp>
          <p:nvSpPr>
            <p:cNvPr id="61488" name="Line 19">
              <a:extLst>
                <a:ext uri="{FF2B5EF4-FFF2-40B4-BE49-F238E27FC236}">
                  <a16:creationId xmlns:a16="http://schemas.microsoft.com/office/drawing/2014/main" id="{1625BCED-6334-A277-F447-E8EB86D8D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89" name="Line 20">
              <a:extLst>
                <a:ext uri="{FF2B5EF4-FFF2-40B4-BE49-F238E27FC236}">
                  <a16:creationId xmlns:a16="http://schemas.microsoft.com/office/drawing/2014/main" id="{C2CED920-0638-932E-B09F-2C2C08D5F0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49" name="Group 21">
            <a:extLst>
              <a:ext uri="{FF2B5EF4-FFF2-40B4-BE49-F238E27FC236}">
                <a16:creationId xmlns:a16="http://schemas.microsoft.com/office/drawing/2014/main" id="{0D3AA511-42DF-BB6C-9F42-3CBB3D8079D5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4248150"/>
            <a:ext cx="647700" cy="431800"/>
            <a:chOff x="4513" y="1633"/>
            <a:chExt cx="408" cy="272"/>
          </a:xfrm>
        </p:grpSpPr>
        <p:sp>
          <p:nvSpPr>
            <p:cNvPr id="61486" name="Line 22">
              <a:extLst>
                <a:ext uri="{FF2B5EF4-FFF2-40B4-BE49-F238E27FC236}">
                  <a16:creationId xmlns:a16="http://schemas.microsoft.com/office/drawing/2014/main" id="{0CFE65B1-375D-C0BC-E89E-51CACCCB0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87" name="Line 23">
              <a:extLst>
                <a:ext uri="{FF2B5EF4-FFF2-40B4-BE49-F238E27FC236}">
                  <a16:creationId xmlns:a16="http://schemas.microsoft.com/office/drawing/2014/main" id="{446EE906-7CD1-B352-38DB-4095C946B4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0" name="Group 24">
            <a:extLst>
              <a:ext uri="{FF2B5EF4-FFF2-40B4-BE49-F238E27FC236}">
                <a16:creationId xmlns:a16="http://schemas.microsoft.com/office/drawing/2014/main" id="{4742D6E6-3283-1558-B8A7-0F9DE5B2B72C}"/>
              </a:ext>
            </a:extLst>
          </p:cNvPr>
          <p:cNvGrpSpPr>
            <a:grpSpLocks/>
          </p:cNvGrpSpPr>
          <p:nvPr/>
        </p:nvGrpSpPr>
        <p:grpSpPr bwMode="auto">
          <a:xfrm>
            <a:off x="2627313" y="3887788"/>
            <a:ext cx="647700" cy="431800"/>
            <a:chOff x="4513" y="1633"/>
            <a:chExt cx="408" cy="272"/>
          </a:xfrm>
        </p:grpSpPr>
        <p:sp>
          <p:nvSpPr>
            <p:cNvPr id="61484" name="Line 25">
              <a:extLst>
                <a:ext uri="{FF2B5EF4-FFF2-40B4-BE49-F238E27FC236}">
                  <a16:creationId xmlns:a16="http://schemas.microsoft.com/office/drawing/2014/main" id="{E4E03DEB-B99A-374A-A376-447A3B2D5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85" name="Line 26">
              <a:extLst>
                <a:ext uri="{FF2B5EF4-FFF2-40B4-BE49-F238E27FC236}">
                  <a16:creationId xmlns:a16="http://schemas.microsoft.com/office/drawing/2014/main" id="{3FAA48AF-30B2-8E8D-CF5D-AD3046149C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1" name="Group 27">
            <a:extLst>
              <a:ext uri="{FF2B5EF4-FFF2-40B4-BE49-F238E27FC236}">
                <a16:creationId xmlns:a16="http://schemas.microsoft.com/office/drawing/2014/main" id="{EAD1A470-A4D8-F91F-85D2-870B8333040B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3960813"/>
            <a:ext cx="647700" cy="431800"/>
            <a:chOff x="4513" y="1633"/>
            <a:chExt cx="408" cy="272"/>
          </a:xfrm>
        </p:grpSpPr>
        <p:sp>
          <p:nvSpPr>
            <p:cNvPr id="61482" name="Line 28">
              <a:extLst>
                <a:ext uri="{FF2B5EF4-FFF2-40B4-BE49-F238E27FC236}">
                  <a16:creationId xmlns:a16="http://schemas.microsoft.com/office/drawing/2014/main" id="{2B7A877A-AD46-3152-DB0C-09CF6974C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83" name="Line 29">
              <a:extLst>
                <a:ext uri="{FF2B5EF4-FFF2-40B4-BE49-F238E27FC236}">
                  <a16:creationId xmlns:a16="http://schemas.microsoft.com/office/drawing/2014/main" id="{AB5122DF-3739-C491-E807-918AC3882F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2" name="Group 30">
            <a:extLst>
              <a:ext uri="{FF2B5EF4-FFF2-40B4-BE49-F238E27FC236}">
                <a16:creationId xmlns:a16="http://schemas.microsoft.com/office/drawing/2014/main" id="{77DB5B82-DA31-2523-8C2F-768EF5D0B669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3960813"/>
            <a:ext cx="647700" cy="431800"/>
            <a:chOff x="4513" y="1633"/>
            <a:chExt cx="408" cy="272"/>
          </a:xfrm>
        </p:grpSpPr>
        <p:sp>
          <p:nvSpPr>
            <p:cNvPr id="61480" name="Line 31">
              <a:extLst>
                <a:ext uri="{FF2B5EF4-FFF2-40B4-BE49-F238E27FC236}">
                  <a16:creationId xmlns:a16="http://schemas.microsoft.com/office/drawing/2014/main" id="{DF523108-3889-9406-1772-B446FF70AB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81" name="Line 32">
              <a:extLst>
                <a:ext uri="{FF2B5EF4-FFF2-40B4-BE49-F238E27FC236}">
                  <a16:creationId xmlns:a16="http://schemas.microsoft.com/office/drawing/2014/main" id="{BB6E09FE-A991-CA27-3609-7CA4F35A5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3" name="Group 33">
            <a:extLst>
              <a:ext uri="{FF2B5EF4-FFF2-40B4-BE49-F238E27FC236}">
                <a16:creationId xmlns:a16="http://schemas.microsoft.com/office/drawing/2014/main" id="{BE128FBE-E39E-12AC-F563-083C911AB075}"/>
              </a:ext>
            </a:extLst>
          </p:cNvPr>
          <p:cNvGrpSpPr>
            <a:grpSpLocks/>
          </p:cNvGrpSpPr>
          <p:nvPr/>
        </p:nvGrpSpPr>
        <p:grpSpPr bwMode="auto">
          <a:xfrm>
            <a:off x="2484438" y="2232025"/>
            <a:ext cx="647700" cy="431800"/>
            <a:chOff x="4513" y="1633"/>
            <a:chExt cx="408" cy="272"/>
          </a:xfrm>
        </p:grpSpPr>
        <p:sp>
          <p:nvSpPr>
            <p:cNvPr id="61478" name="Line 34">
              <a:extLst>
                <a:ext uri="{FF2B5EF4-FFF2-40B4-BE49-F238E27FC236}">
                  <a16:creationId xmlns:a16="http://schemas.microsoft.com/office/drawing/2014/main" id="{F4F8EA13-5B53-3CF7-E2A5-EFA8722AB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79" name="Line 35">
              <a:extLst>
                <a:ext uri="{FF2B5EF4-FFF2-40B4-BE49-F238E27FC236}">
                  <a16:creationId xmlns:a16="http://schemas.microsoft.com/office/drawing/2014/main" id="{BFCB480C-A568-C7B5-B0AB-DC5E77BE14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4" name="Group 36">
            <a:extLst>
              <a:ext uri="{FF2B5EF4-FFF2-40B4-BE49-F238E27FC236}">
                <a16:creationId xmlns:a16="http://schemas.microsoft.com/office/drawing/2014/main" id="{9334AEAD-4FB5-9482-D408-F55361F427BD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3527425"/>
            <a:ext cx="647700" cy="431800"/>
            <a:chOff x="4513" y="1633"/>
            <a:chExt cx="408" cy="272"/>
          </a:xfrm>
        </p:grpSpPr>
        <p:sp>
          <p:nvSpPr>
            <p:cNvPr id="61476" name="Line 37">
              <a:extLst>
                <a:ext uri="{FF2B5EF4-FFF2-40B4-BE49-F238E27FC236}">
                  <a16:creationId xmlns:a16="http://schemas.microsoft.com/office/drawing/2014/main" id="{2E05BFB0-A2E9-5C00-828D-1A6E92410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77" name="Line 38">
              <a:extLst>
                <a:ext uri="{FF2B5EF4-FFF2-40B4-BE49-F238E27FC236}">
                  <a16:creationId xmlns:a16="http://schemas.microsoft.com/office/drawing/2014/main" id="{2926B238-317C-EB6E-6B86-4B0F29BE39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5" name="Group 39">
            <a:extLst>
              <a:ext uri="{FF2B5EF4-FFF2-40B4-BE49-F238E27FC236}">
                <a16:creationId xmlns:a16="http://schemas.microsoft.com/office/drawing/2014/main" id="{7010C9BA-DFA8-C905-F763-4F53938083DF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527425"/>
            <a:ext cx="647700" cy="431800"/>
            <a:chOff x="4513" y="1633"/>
            <a:chExt cx="408" cy="272"/>
          </a:xfrm>
        </p:grpSpPr>
        <p:sp>
          <p:nvSpPr>
            <p:cNvPr id="61474" name="Line 40">
              <a:extLst>
                <a:ext uri="{FF2B5EF4-FFF2-40B4-BE49-F238E27FC236}">
                  <a16:creationId xmlns:a16="http://schemas.microsoft.com/office/drawing/2014/main" id="{65A38629-C61E-14A4-6868-235F74EE3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75" name="Line 41">
              <a:extLst>
                <a:ext uri="{FF2B5EF4-FFF2-40B4-BE49-F238E27FC236}">
                  <a16:creationId xmlns:a16="http://schemas.microsoft.com/office/drawing/2014/main" id="{D1C719D4-77A7-D9BE-5EDC-47C6BFFB0E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6" name="Group 42">
            <a:extLst>
              <a:ext uri="{FF2B5EF4-FFF2-40B4-BE49-F238E27FC236}">
                <a16:creationId xmlns:a16="http://schemas.microsoft.com/office/drawing/2014/main" id="{908A5A28-88B0-0F88-FD15-01E6F3B9C407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3527425"/>
            <a:ext cx="647700" cy="431800"/>
            <a:chOff x="4513" y="1633"/>
            <a:chExt cx="408" cy="272"/>
          </a:xfrm>
        </p:grpSpPr>
        <p:sp>
          <p:nvSpPr>
            <p:cNvPr id="61472" name="Line 43">
              <a:extLst>
                <a:ext uri="{FF2B5EF4-FFF2-40B4-BE49-F238E27FC236}">
                  <a16:creationId xmlns:a16="http://schemas.microsoft.com/office/drawing/2014/main" id="{D7C5931B-EBEB-2343-A7B6-F39FCA34F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73" name="Line 44">
              <a:extLst>
                <a:ext uri="{FF2B5EF4-FFF2-40B4-BE49-F238E27FC236}">
                  <a16:creationId xmlns:a16="http://schemas.microsoft.com/office/drawing/2014/main" id="{BE7E7033-6530-2827-134F-47AEDA65AD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7" name="Group 45">
            <a:extLst>
              <a:ext uri="{FF2B5EF4-FFF2-40B4-BE49-F238E27FC236}">
                <a16:creationId xmlns:a16="http://schemas.microsoft.com/office/drawing/2014/main" id="{C3175D7A-5C10-7111-865D-1F4FE3295E92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3168650"/>
            <a:ext cx="647700" cy="431800"/>
            <a:chOff x="4513" y="1633"/>
            <a:chExt cx="408" cy="272"/>
          </a:xfrm>
        </p:grpSpPr>
        <p:sp>
          <p:nvSpPr>
            <p:cNvPr id="61470" name="Line 46">
              <a:extLst>
                <a:ext uri="{FF2B5EF4-FFF2-40B4-BE49-F238E27FC236}">
                  <a16:creationId xmlns:a16="http://schemas.microsoft.com/office/drawing/2014/main" id="{024F6B77-4B25-60B3-F498-77DC0FA09E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71" name="Line 47">
              <a:extLst>
                <a:ext uri="{FF2B5EF4-FFF2-40B4-BE49-F238E27FC236}">
                  <a16:creationId xmlns:a16="http://schemas.microsoft.com/office/drawing/2014/main" id="{7AF6E668-EEFC-7E10-FF49-DE9F46C867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8" name="Group 48">
            <a:extLst>
              <a:ext uri="{FF2B5EF4-FFF2-40B4-BE49-F238E27FC236}">
                <a16:creationId xmlns:a16="http://schemas.microsoft.com/office/drawing/2014/main" id="{3BA85AF8-2390-E521-6BA5-3DABDD4895E9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3168650"/>
            <a:ext cx="647700" cy="431800"/>
            <a:chOff x="4513" y="1633"/>
            <a:chExt cx="408" cy="272"/>
          </a:xfrm>
        </p:grpSpPr>
        <p:sp>
          <p:nvSpPr>
            <p:cNvPr id="61468" name="Line 49">
              <a:extLst>
                <a:ext uri="{FF2B5EF4-FFF2-40B4-BE49-F238E27FC236}">
                  <a16:creationId xmlns:a16="http://schemas.microsoft.com/office/drawing/2014/main" id="{AA1D1F8E-5B44-449B-45FF-22D5BE97C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69" name="Line 50">
              <a:extLst>
                <a:ext uri="{FF2B5EF4-FFF2-40B4-BE49-F238E27FC236}">
                  <a16:creationId xmlns:a16="http://schemas.microsoft.com/office/drawing/2014/main" id="{05256402-070A-AE98-417F-2EC9AA8EEA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9" name="Group 51">
            <a:extLst>
              <a:ext uri="{FF2B5EF4-FFF2-40B4-BE49-F238E27FC236}">
                <a16:creationId xmlns:a16="http://schemas.microsoft.com/office/drawing/2014/main" id="{E4F34BDF-4FDA-676D-4DA9-A324239AF08A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3168650"/>
            <a:ext cx="647700" cy="431800"/>
            <a:chOff x="4513" y="1633"/>
            <a:chExt cx="408" cy="272"/>
          </a:xfrm>
        </p:grpSpPr>
        <p:sp>
          <p:nvSpPr>
            <p:cNvPr id="61466" name="Line 52">
              <a:extLst>
                <a:ext uri="{FF2B5EF4-FFF2-40B4-BE49-F238E27FC236}">
                  <a16:creationId xmlns:a16="http://schemas.microsoft.com/office/drawing/2014/main" id="{13D8D5B1-7B47-B6B3-83F5-1BC68B030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67" name="Line 53">
              <a:extLst>
                <a:ext uri="{FF2B5EF4-FFF2-40B4-BE49-F238E27FC236}">
                  <a16:creationId xmlns:a16="http://schemas.microsoft.com/office/drawing/2014/main" id="{DDEAF4ED-0CD4-20A4-2A80-97140022F4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60" name="Group 54">
            <a:extLst>
              <a:ext uri="{FF2B5EF4-FFF2-40B4-BE49-F238E27FC236}">
                <a16:creationId xmlns:a16="http://schemas.microsoft.com/office/drawing/2014/main" id="{4A454725-11CB-2685-3B5B-165A1DDBC186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2735263"/>
            <a:ext cx="647700" cy="431800"/>
            <a:chOff x="4513" y="1633"/>
            <a:chExt cx="408" cy="272"/>
          </a:xfrm>
        </p:grpSpPr>
        <p:sp>
          <p:nvSpPr>
            <p:cNvPr id="61464" name="Line 55">
              <a:extLst>
                <a:ext uri="{FF2B5EF4-FFF2-40B4-BE49-F238E27FC236}">
                  <a16:creationId xmlns:a16="http://schemas.microsoft.com/office/drawing/2014/main" id="{22941B3A-4557-6700-E4CE-D3F24078A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65" name="Line 56">
              <a:extLst>
                <a:ext uri="{FF2B5EF4-FFF2-40B4-BE49-F238E27FC236}">
                  <a16:creationId xmlns:a16="http://schemas.microsoft.com/office/drawing/2014/main" id="{5829A702-E133-8F7C-4F5C-44B817CAB0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61" name="Group 57">
            <a:extLst>
              <a:ext uri="{FF2B5EF4-FFF2-40B4-BE49-F238E27FC236}">
                <a16:creationId xmlns:a16="http://schemas.microsoft.com/office/drawing/2014/main" id="{B2959723-0C37-B68C-276D-F5E77BAC9E55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3743325"/>
            <a:ext cx="647700" cy="431800"/>
            <a:chOff x="4513" y="1633"/>
            <a:chExt cx="408" cy="272"/>
          </a:xfrm>
        </p:grpSpPr>
        <p:sp>
          <p:nvSpPr>
            <p:cNvPr id="61462" name="Line 58">
              <a:extLst>
                <a:ext uri="{FF2B5EF4-FFF2-40B4-BE49-F238E27FC236}">
                  <a16:creationId xmlns:a16="http://schemas.microsoft.com/office/drawing/2014/main" id="{6A02DA37-93AE-4F8A-5B08-EC781AF0FC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33"/>
              <a:ext cx="408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61463" name="Line 59">
              <a:extLst>
                <a:ext uri="{FF2B5EF4-FFF2-40B4-BE49-F238E27FC236}">
                  <a16:creationId xmlns:a16="http://schemas.microsoft.com/office/drawing/2014/main" id="{298E174C-86D4-F16A-7448-ABAF3A31F1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1633"/>
              <a:ext cx="363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475EE879-6F68-5D79-2F23-0DB71318E3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 sz="3200">
                <a:ea typeface="ＭＳ Ｐゴシック" panose="020B0600070205080204" pitchFamily="34" charset="-128"/>
              </a:rPr>
              <a:t>Esempio 1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A29B512E-5E8F-3508-3250-04F747F38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0213" y="1144588"/>
            <a:ext cx="8459787" cy="3667125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Classi di equivalenza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Ricordando anche gli stati “fusi” in precedenza</a:t>
            </a:r>
          </a:p>
        </p:txBody>
      </p:sp>
      <p:pic>
        <p:nvPicPr>
          <p:cNvPr id="62467" name="Picture 5">
            <a:extLst>
              <a:ext uri="{FF2B5EF4-FFF2-40B4-BE49-F238E27FC236}">
                <a16:creationId xmlns:a16="http://schemas.microsoft.com/office/drawing/2014/main" id="{42F83FA9-A6F3-2F3F-5DAF-D535E32E5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209" b="59262"/>
          <a:stretch>
            <a:fillRect/>
          </a:stretch>
        </p:blipFill>
        <p:spPr bwMode="auto">
          <a:xfrm>
            <a:off x="827088" y="2592388"/>
            <a:ext cx="2952750" cy="237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8" name="Picture 6">
            <a:extLst>
              <a:ext uri="{FF2B5EF4-FFF2-40B4-BE49-F238E27FC236}">
                <a16:creationId xmlns:a16="http://schemas.microsoft.com/office/drawing/2014/main" id="{3A308FAD-441C-9893-58A8-124B3F78A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7" r="28166"/>
          <a:stretch>
            <a:fillRect/>
          </a:stretch>
        </p:blipFill>
        <p:spPr bwMode="auto">
          <a:xfrm>
            <a:off x="5795963" y="2447925"/>
            <a:ext cx="3455987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9" name="AutoShape 7">
            <a:extLst>
              <a:ext uri="{FF2B5EF4-FFF2-40B4-BE49-F238E27FC236}">
                <a16:creationId xmlns:a16="http://schemas.microsoft.com/office/drawing/2014/main" id="{137674F4-924D-5640-29CF-111782641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168650"/>
            <a:ext cx="1873250" cy="863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2470" name="AutoShape 8">
            <a:extLst>
              <a:ext uri="{FF2B5EF4-FFF2-40B4-BE49-F238E27FC236}">
                <a16:creationId xmlns:a16="http://schemas.microsoft.com/office/drawing/2014/main" id="{AB8C15E1-2A17-CA35-1F9F-309BBC84C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5256213"/>
            <a:ext cx="2447925" cy="1079500"/>
          </a:xfrm>
          <a:prstGeom prst="wedgeEllipseCallout">
            <a:avLst>
              <a:gd name="adj1" fmla="val 48704"/>
              <a:gd name="adj2" fmla="val -100440"/>
            </a:avLst>
          </a:prstGeom>
          <a:solidFill>
            <a:schemeClr val="accent1"/>
          </a:solidFill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2000">
                <a:solidFill>
                  <a:srgbClr val="FF0000"/>
                </a:solidFill>
              </a:rPr>
              <a:t>Tabella degli stati ridotti</a:t>
            </a:r>
          </a:p>
        </p:txBody>
      </p:sp>
      <p:sp>
        <p:nvSpPr>
          <p:cNvPr id="62471" name="Rettangolo 10">
            <a:extLst>
              <a:ext uri="{FF2B5EF4-FFF2-40B4-BE49-F238E27FC236}">
                <a16:creationId xmlns:a16="http://schemas.microsoft.com/office/drawing/2014/main" id="{88B0B98A-006D-AB2D-3575-415CE80A6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63" y="3940175"/>
            <a:ext cx="2760662" cy="4460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4161750" indent="-24161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2300" b="1">
                <a:solidFill>
                  <a:srgbClr val="515151"/>
                </a:solidFill>
              </a:rPr>
              <a:t>(7,8,9,11,12,13),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egnaposto numero diapositiva 3">
            <a:extLst>
              <a:ext uri="{FF2B5EF4-FFF2-40B4-BE49-F238E27FC236}">
                <a16:creationId xmlns:a16="http://schemas.microsoft.com/office/drawing/2014/main" id="{E15F1647-9730-20EA-9D37-4893CBFBF1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D897011-3A14-49C0-90AD-C8987E35988D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6C96A8C5-3B5F-2A79-686C-2178D8DB22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Esempio 2: Riconoscitore di due sequenze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C5563CFE-5B94-75C1-E588-75C060D3FB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727200"/>
            <a:ext cx="8748712" cy="3152775"/>
          </a:xfrm>
        </p:spPr>
        <p:txBody>
          <a:bodyPr/>
          <a:lstStyle/>
          <a:p>
            <a:r>
              <a:rPr lang="it-IT" altLang="it-IT" sz="2000">
                <a:ea typeface="ＭＳ Ｐゴシック" panose="020B0600070205080204" pitchFamily="34" charset="-128"/>
              </a:rPr>
              <a:t>Rete sincrona con un solo ingresso X e in grado di riconoscere le due sequenze: 0110</a:t>
            </a:r>
            <a:r>
              <a:rPr lang="it-IT" altLang="it-IT" sz="2000">
                <a:solidFill>
                  <a:srgbClr val="FF3300"/>
                </a:solidFill>
                <a:ea typeface="ＭＳ Ｐゴシック" panose="020B0600070205080204" pitchFamily="34" charset="-128"/>
              </a:rPr>
              <a:t>0</a:t>
            </a:r>
            <a:r>
              <a:rPr lang="it-IT" altLang="it-IT" sz="2000">
                <a:ea typeface="ＭＳ Ｐゴシック" panose="020B0600070205080204" pitchFamily="34" charset="-128"/>
              </a:rPr>
              <a:t>10 e 0110</a:t>
            </a:r>
            <a:r>
              <a:rPr lang="it-IT" altLang="it-IT" sz="2000">
                <a:solidFill>
                  <a:srgbClr val="FF3300"/>
                </a:solidFill>
                <a:ea typeface="ＭＳ Ｐゴシック" panose="020B0600070205080204" pitchFamily="34" charset="-128"/>
              </a:rPr>
              <a:t>1</a:t>
            </a:r>
            <a:r>
              <a:rPr lang="it-IT" altLang="it-IT" sz="2000">
                <a:ea typeface="ＭＳ Ｐゴシック" panose="020B0600070205080204" pitchFamily="34" charset="-128"/>
              </a:rPr>
              <a:t>10 (riconoscimento dal bit più significativo, sequenze parzialmente sovrapposte)</a:t>
            </a:r>
          </a:p>
          <a:p>
            <a:r>
              <a:rPr lang="it-IT" altLang="it-IT" sz="2000">
                <a:solidFill>
                  <a:srgbClr val="00B050"/>
                </a:solidFill>
                <a:ea typeface="ＭＳ Ｐゴシック" panose="020B0600070205080204" pitchFamily="34" charset="-128"/>
              </a:rPr>
              <a:t>0110x10.  x = 0,1</a:t>
            </a:r>
          </a:p>
          <a:p>
            <a:r>
              <a:rPr lang="it-IT" altLang="it-IT" sz="2000">
                <a:ea typeface="ＭＳ Ｐゴシック" panose="020B0600070205080204" pitchFamily="34" charset="-128"/>
              </a:rPr>
              <a:t>Le uscite devono essere codificate in modo da distinguere i tre casi di possibile riconoscimento di sequenze:</a:t>
            </a:r>
            <a:r>
              <a:rPr lang="it-IT" altLang="it-IT" sz="240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it-IT" altLang="it-IT" sz="2000">
                <a:ea typeface="ＭＳ Ｐゴシック" panose="020B0600070205080204" pitchFamily="34" charset="-128"/>
              </a:rPr>
              <a:t>1) 0110010; 2) 0110110; 3) tutte le altre</a:t>
            </a:r>
            <a:endParaRPr lang="it-IT" altLang="it-IT" sz="2400">
              <a:ea typeface="ＭＳ Ｐゴシック" panose="020B0600070205080204" pitchFamily="34" charset="-128"/>
            </a:endParaRPr>
          </a:p>
          <a:p>
            <a:pPr lvl="2"/>
            <a:r>
              <a:rPr lang="it-IT" altLang="it-IT" sz="2000">
                <a:ea typeface="ＭＳ Ｐゴシック" panose="020B0600070205080204" pitchFamily="34" charset="-128"/>
              </a:rPr>
              <a:t>- </a:t>
            </a:r>
            <a:r>
              <a:rPr lang="it-IT" altLang="it-IT" sz="1800">
                <a:ea typeface="ＭＳ Ｐゴシック" panose="020B0600070205080204" pitchFamily="34" charset="-128"/>
              </a:rPr>
              <a:t>Y=0, Z=0: non è stata trovata nessuna sequenza;</a:t>
            </a:r>
          </a:p>
          <a:p>
            <a:pPr lvl="2"/>
            <a:r>
              <a:rPr lang="it-IT" altLang="it-IT" sz="1800">
                <a:ea typeface="ＭＳ Ｐゴシック" panose="020B0600070205080204" pitchFamily="34" charset="-128"/>
              </a:rPr>
              <a:t>- Y=1: Z=0 riconosciuta la sequenza 0110010;</a:t>
            </a:r>
          </a:p>
          <a:p>
            <a:pPr lvl="2"/>
            <a:r>
              <a:rPr lang="it-IT" altLang="it-IT" sz="1800">
                <a:ea typeface="ＭＳ Ｐゴシック" panose="020B0600070205080204" pitchFamily="34" charset="-128"/>
              </a:rPr>
              <a:t>- Z=1: Y=0 riconosciuta la sequenza 0110110;</a:t>
            </a:r>
          </a:p>
          <a:p>
            <a:pPr lvl="2"/>
            <a:r>
              <a:rPr lang="it-IT" altLang="it-IT" sz="1800">
                <a:ea typeface="ＭＳ Ｐゴシック" panose="020B0600070205080204" pitchFamily="34" charset="-128"/>
              </a:rPr>
              <a:t>- Y=Z=1: uscita non utilizzata </a:t>
            </a:r>
            <a:endParaRPr lang="en-US" altLang="it-IT" sz="18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advTm="40409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egnaposto numero diapositiva 3">
            <a:extLst>
              <a:ext uri="{FF2B5EF4-FFF2-40B4-BE49-F238E27FC236}">
                <a16:creationId xmlns:a16="http://schemas.microsoft.com/office/drawing/2014/main" id="{6187D50E-BD48-6B26-0892-F0501BF066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741C007-3F54-47EF-9F91-F498D9FB0EEA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BC740FF5-61D9-ED6D-D899-EC673488FF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Esempio 2: Riconoscitore di due sequenze</a:t>
            </a:r>
          </a:p>
        </p:txBody>
      </p:sp>
      <p:sp>
        <p:nvSpPr>
          <p:cNvPr id="65539" name="Rectangle 4">
            <a:extLst>
              <a:ext uri="{FF2B5EF4-FFF2-40B4-BE49-F238E27FC236}">
                <a16:creationId xmlns:a16="http://schemas.microsoft.com/office/drawing/2014/main" id="{98317400-164F-CE03-ED4C-9776DBBD6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382713"/>
            <a:ext cx="8748712" cy="455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FontTx/>
              <a:buChar char="•"/>
            </a:pPr>
            <a:r>
              <a:rPr lang="it-IT" altLang="it-IT" sz="2000">
                <a:solidFill>
                  <a:schemeClr val="tx1"/>
                </a:solidFill>
              </a:rPr>
              <a:t>q0 stato iniziale;</a:t>
            </a:r>
          </a:p>
          <a:p>
            <a:pPr algn="just" eaLnBrk="1" hangingPunct="1">
              <a:buClrTx/>
              <a:buFontTx/>
              <a:buChar char="•"/>
            </a:pPr>
            <a:r>
              <a:rPr lang="it-IT" altLang="it-IT" sz="2000">
                <a:solidFill>
                  <a:schemeClr val="tx1"/>
                </a:solidFill>
              </a:rPr>
              <a:t>qi (i &lt; 5): riconosciuto un numero </a:t>
            </a:r>
            <a:r>
              <a:rPr lang="it-IT" altLang="it-IT" sz="2000" i="1">
                <a:solidFill>
                  <a:schemeClr val="tx1"/>
                </a:solidFill>
              </a:rPr>
              <a:t>i </a:t>
            </a:r>
            <a:r>
              <a:rPr lang="it-IT" altLang="it-IT" sz="2000">
                <a:solidFill>
                  <a:schemeClr val="tx1"/>
                </a:solidFill>
              </a:rPr>
              <a:t>di caratteri della seq.  </a:t>
            </a:r>
            <a:r>
              <a:rPr lang="it-IT" altLang="it-IT" sz="2000">
                <a:solidFill>
                  <a:schemeClr val="tx1"/>
                </a:solidFill>
                <a:latin typeface="Courier" pitchFamily="-112" charset="0"/>
              </a:rPr>
              <a:t>0110---</a:t>
            </a:r>
          </a:p>
          <a:p>
            <a:pPr algn="just" eaLnBrk="1" hangingPunct="1">
              <a:buClrTx/>
              <a:buFontTx/>
              <a:buChar char="•"/>
            </a:pPr>
            <a:r>
              <a:rPr lang="it-IT" altLang="it-IT" sz="2000">
                <a:solidFill>
                  <a:schemeClr val="tx1"/>
                </a:solidFill>
              </a:rPr>
              <a:t>q</a:t>
            </a:r>
            <a:r>
              <a:rPr lang="it-IT" altLang="it-IT" sz="2000" baseline="30000">
                <a:solidFill>
                  <a:schemeClr val="tx1"/>
                </a:solidFill>
              </a:rPr>
              <a:t>0</a:t>
            </a:r>
            <a:r>
              <a:rPr lang="it-IT" altLang="it-IT" sz="2000">
                <a:solidFill>
                  <a:schemeClr val="tx1"/>
                </a:solidFill>
              </a:rPr>
              <a:t>i (i ≥ 5): riconosciuto un numero </a:t>
            </a:r>
            <a:r>
              <a:rPr lang="it-IT" altLang="it-IT" sz="2000" i="1">
                <a:solidFill>
                  <a:schemeClr val="tx1"/>
                </a:solidFill>
              </a:rPr>
              <a:t>i</a:t>
            </a:r>
            <a:r>
              <a:rPr lang="it-IT" altLang="it-IT" sz="2000">
                <a:solidFill>
                  <a:schemeClr val="tx1"/>
                </a:solidFill>
              </a:rPr>
              <a:t> di caratteri della seq.  </a:t>
            </a:r>
            <a:r>
              <a:rPr lang="it-IT" altLang="it-IT" sz="2000">
                <a:solidFill>
                  <a:schemeClr val="tx1"/>
                </a:solidFill>
                <a:latin typeface="Courier" pitchFamily="-112" charset="0"/>
              </a:rPr>
              <a:t>0110</a:t>
            </a:r>
            <a:r>
              <a:rPr lang="it-IT" altLang="it-IT" sz="2000">
                <a:solidFill>
                  <a:srgbClr val="FF6600"/>
                </a:solidFill>
                <a:latin typeface="Courier" pitchFamily="-112" charset="0"/>
              </a:rPr>
              <a:t>010</a:t>
            </a:r>
          </a:p>
          <a:p>
            <a:pPr algn="just" eaLnBrk="1" hangingPunct="1">
              <a:buClrTx/>
              <a:buFontTx/>
              <a:buChar char="•"/>
            </a:pPr>
            <a:r>
              <a:rPr lang="it-IT" altLang="it-IT" sz="2000">
                <a:solidFill>
                  <a:schemeClr val="tx1"/>
                </a:solidFill>
              </a:rPr>
              <a:t>q</a:t>
            </a:r>
            <a:r>
              <a:rPr lang="it-IT" altLang="it-IT" sz="2000" baseline="30000">
                <a:solidFill>
                  <a:schemeClr val="tx1"/>
                </a:solidFill>
              </a:rPr>
              <a:t>1</a:t>
            </a:r>
            <a:r>
              <a:rPr lang="it-IT" altLang="it-IT" sz="2000">
                <a:solidFill>
                  <a:schemeClr val="tx1"/>
                </a:solidFill>
              </a:rPr>
              <a:t>i (i ≥ 5): riconosciuto un numero </a:t>
            </a:r>
            <a:r>
              <a:rPr lang="it-IT" altLang="it-IT" sz="2000" i="1">
                <a:solidFill>
                  <a:schemeClr val="tx1"/>
                </a:solidFill>
              </a:rPr>
              <a:t>i</a:t>
            </a:r>
            <a:r>
              <a:rPr lang="it-IT" altLang="it-IT" sz="2000">
                <a:solidFill>
                  <a:schemeClr val="tx1"/>
                </a:solidFill>
              </a:rPr>
              <a:t> di caratteri della seq.  </a:t>
            </a:r>
            <a:r>
              <a:rPr lang="it-IT" altLang="it-IT" sz="2000">
                <a:solidFill>
                  <a:schemeClr val="tx1"/>
                </a:solidFill>
                <a:latin typeface="Courier" pitchFamily="-112" charset="0"/>
              </a:rPr>
              <a:t>0110</a:t>
            </a:r>
            <a:r>
              <a:rPr lang="it-IT" altLang="it-IT" sz="2000" i="1">
                <a:solidFill>
                  <a:srgbClr val="FF6600"/>
                </a:solidFill>
                <a:latin typeface="Courier" pitchFamily="-112" charset="0"/>
              </a:rPr>
              <a:t>110</a:t>
            </a:r>
          </a:p>
        </p:txBody>
      </p:sp>
      <p:pic>
        <p:nvPicPr>
          <p:cNvPr id="65540" name="Picture 5">
            <a:extLst>
              <a:ext uri="{FF2B5EF4-FFF2-40B4-BE49-F238E27FC236}">
                <a16:creationId xmlns:a16="http://schemas.microsoft.com/office/drawing/2014/main" id="{BF25D4FD-9E54-BBFA-C5A9-0FA34EBE8695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11413" y="3311525"/>
            <a:ext cx="5400675" cy="2379663"/>
          </a:xfrm>
          <a:noFill/>
        </p:spPr>
      </p:pic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egnaposto numero diapositiva 3">
            <a:extLst>
              <a:ext uri="{FF2B5EF4-FFF2-40B4-BE49-F238E27FC236}">
                <a16:creationId xmlns:a16="http://schemas.microsoft.com/office/drawing/2014/main" id="{43599922-21D7-0F37-83A0-D8C5800D67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EB9972E-B075-4E53-AA86-1CFAE79A9FF3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7FBA6803-AB8F-909D-CB5E-1CA92FBC0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96838"/>
            <a:ext cx="8747125" cy="860425"/>
          </a:xfrm>
        </p:spPr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Esempio 2: Riconoscitore di due sequenze </a:t>
            </a:r>
          </a:p>
        </p:txBody>
      </p:sp>
      <p:sp>
        <p:nvSpPr>
          <p:cNvPr id="67587" name="Rectangle 4">
            <a:extLst>
              <a:ext uri="{FF2B5EF4-FFF2-40B4-BE49-F238E27FC236}">
                <a16:creationId xmlns:a16="http://schemas.microsoft.com/office/drawing/2014/main" id="{08106FED-2F80-E550-CFB3-A2D736B73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1241425"/>
            <a:ext cx="8748713" cy="455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FontTx/>
              <a:buChar char="•"/>
            </a:pPr>
            <a:endParaRPr lang="en-US" altLang="it-IT" sz="2000">
              <a:solidFill>
                <a:schemeClr val="tx1"/>
              </a:solidFill>
            </a:endParaRPr>
          </a:p>
        </p:txBody>
      </p:sp>
      <p:pic>
        <p:nvPicPr>
          <p:cNvPr id="67588" name="Picture 5">
            <a:extLst>
              <a:ext uri="{FF2B5EF4-FFF2-40B4-BE49-F238E27FC236}">
                <a16:creationId xmlns:a16="http://schemas.microsoft.com/office/drawing/2014/main" id="{5C930DD2-6422-4A78-2799-3D5BB5842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3" b="13989"/>
          <a:stretch>
            <a:fillRect/>
          </a:stretch>
        </p:blipFill>
        <p:spPr bwMode="auto">
          <a:xfrm>
            <a:off x="900113" y="1655763"/>
            <a:ext cx="7416800" cy="324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9" name="AutoShape 6">
            <a:extLst>
              <a:ext uri="{FF2B5EF4-FFF2-40B4-BE49-F238E27FC236}">
                <a16:creationId xmlns:a16="http://schemas.microsoft.com/office/drawing/2014/main" id="{CA999FF4-8FA8-74E2-6C2F-E8D304281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3122613"/>
            <a:ext cx="1708150" cy="66675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800">
                <a:solidFill>
                  <a:schemeClr val="tx1"/>
                </a:solidFill>
              </a:rPr>
              <a:t>partizione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egnaposto numero diapositiva 3">
            <a:extLst>
              <a:ext uri="{FF2B5EF4-FFF2-40B4-BE49-F238E27FC236}">
                <a16:creationId xmlns:a16="http://schemas.microsoft.com/office/drawing/2014/main" id="{5946E2DE-AC57-E5BA-4B74-18EEF45DF7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A1B146-F23A-47F2-A3CA-E5701363B36F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040D1CE7-E971-2C41-D152-ABA66DA94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96838"/>
            <a:ext cx="8747125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3600">
                <a:solidFill>
                  <a:schemeClr val="tx1"/>
                </a:solidFill>
              </a:rPr>
              <a:t>Esempio 2: </a:t>
            </a:r>
            <a:r>
              <a:rPr lang="en-US" altLang="it-IT" sz="3600">
                <a:solidFill>
                  <a:srgbClr val="393939"/>
                </a:solidFill>
              </a:rPr>
              <a:t>Riconoscitore di due sequenze</a:t>
            </a:r>
          </a:p>
        </p:txBody>
      </p:sp>
      <p:pic>
        <p:nvPicPr>
          <p:cNvPr id="69635" name="Picture 4">
            <a:extLst>
              <a:ext uri="{FF2B5EF4-FFF2-40B4-BE49-F238E27FC236}">
                <a16:creationId xmlns:a16="http://schemas.microsoft.com/office/drawing/2014/main" id="{D9CDC4F1-32E9-E567-A951-44399D7E8A7D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1584325"/>
            <a:ext cx="3787775" cy="3887788"/>
          </a:xfrm>
          <a:noFill/>
        </p:spPr>
      </p:pic>
      <p:pic>
        <p:nvPicPr>
          <p:cNvPr id="69636" name="Picture 5">
            <a:extLst>
              <a:ext uri="{FF2B5EF4-FFF2-40B4-BE49-F238E27FC236}">
                <a16:creationId xmlns:a16="http://schemas.microsoft.com/office/drawing/2014/main" id="{A9D5CB6C-379C-C0DA-A85A-D3F657E6A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1655763"/>
            <a:ext cx="3652837" cy="389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AutoShape 6">
            <a:extLst>
              <a:ext uri="{FF2B5EF4-FFF2-40B4-BE49-F238E27FC236}">
                <a16:creationId xmlns:a16="http://schemas.microsoft.com/office/drawing/2014/main" id="{407E6CB4-D507-1E45-B59F-737C20553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592388"/>
            <a:ext cx="1368425" cy="6477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69638" name="Text Box 7">
            <a:extLst>
              <a:ext uri="{FF2B5EF4-FFF2-40B4-BE49-F238E27FC236}">
                <a16:creationId xmlns:a16="http://schemas.microsoft.com/office/drawing/2014/main" id="{DAF56955-D155-B396-36EE-8DA296BAC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730875"/>
            <a:ext cx="720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it-IT" sz="1800">
                <a:solidFill>
                  <a:schemeClr val="tx2"/>
                </a:solidFill>
              </a:rPr>
              <a:t>Non esistono stati compatibili! La tabella di flusso è già minima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egnaposto numero diapositiva 5">
            <a:extLst>
              <a:ext uri="{FF2B5EF4-FFF2-40B4-BE49-F238E27FC236}">
                <a16:creationId xmlns:a16="http://schemas.microsoft.com/office/drawing/2014/main" id="{19096242-3552-FDBA-E36A-471F2E4EDF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6900AD-52B0-4D12-B5D4-FD4C5A8C553F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2F5FB51D-B0E9-C1C4-9C47-2C55EB5F7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93663"/>
            <a:ext cx="8748713" cy="860425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Esempio 3: Algoritmo della suddivisione degli elementi della famiglia di presunta compatibilità</a:t>
            </a:r>
            <a:endParaRPr lang="en-US" altLang="it-IT" sz="2400">
              <a:ea typeface="ＭＳ Ｐゴシック" panose="020B0600070205080204" pitchFamily="34" charset="-128"/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147D3FCB-D8C1-22B6-CE26-B56A1DB3BCB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it-IT" sz="2400">
              <a:ea typeface="ＭＳ Ｐゴシック" panose="020B0600070205080204" pitchFamily="34" charset="-128"/>
            </a:endParaRPr>
          </a:p>
        </p:txBody>
      </p:sp>
      <p:sp>
        <p:nvSpPr>
          <p:cNvPr id="71684" name="AutoShape 10">
            <a:extLst>
              <a:ext uri="{FF2B5EF4-FFF2-40B4-BE49-F238E27FC236}">
                <a16:creationId xmlns:a16="http://schemas.microsoft.com/office/drawing/2014/main" id="{E2E20F06-B767-3613-271D-BA44C73C76B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43326" y="2268537"/>
            <a:ext cx="1439862" cy="1223963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graphicFrame>
        <p:nvGraphicFramePr>
          <p:cNvPr id="71685" name="Object 257">
            <a:extLst>
              <a:ext uri="{FF2B5EF4-FFF2-40B4-BE49-F238E27FC236}">
                <a16:creationId xmlns:a16="http://schemas.microsoft.com/office/drawing/2014/main" id="{041787DC-6FF7-BBFC-A516-9E0315682624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323850" y="4032250"/>
          <a:ext cx="9217025" cy="220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0" imgH="0" progId="Word.Document.8">
                  <p:embed/>
                </p:oleObj>
              </mc:Choice>
              <mc:Fallback>
                <p:oleObj name="Documento" r:id="rId2" imgW="0" imgH="0" progId="Word.Document.8">
                  <p:embed/>
                  <p:pic>
                    <p:nvPicPr>
                      <p:cNvPr id="0" name="Object 2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5606"/>
                      <a:stretch>
                        <a:fillRect/>
                      </a:stretch>
                    </p:blipFill>
                    <p:spPr bwMode="auto">
                      <a:xfrm>
                        <a:off x="323850" y="4032250"/>
                        <a:ext cx="9217025" cy="220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Oval 259">
            <a:extLst>
              <a:ext uri="{FF2B5EF4-FFF2-40B4-BE49-F238E27FC236}">
                <a16:creationId xmlns:a16="http://schemas.microsoft.com/office/drawing/2014/main" id="{88366320-94B1-3148-68A2-1E11FFC6D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679950"/>
            <a:ext cx="1439863" cy="1008063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1687" name="Text Box 260">
            <a:extLst>
              <a:ext uri="{FF2B5EF4-FFF2-40B4-BE49-F238E27FC236}">
                <a16:creationId xmlns:a16="http://schemas.microsoft.com/office/drawing/2014/main" id="{96021A82-6F33-DC69-E2B6-113CF7584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2160588"/>
            <a:ext cx="302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it-IT" sz="2400">
                <a:solidFill>
                  <a:schemeClr val="tx2"/>
                </a:solidFill>
              </a:rPr>
              <a:t>PASSI 1 e 2</a:t>
            </a:r>
          </a:p>
        </p:txBody>
      </p:sp>
      <p:sp>
        <p:nvSpPr>
          <p:cNvPr id="71688" name="Rectangle 271">
            <a:extLst>
              <a:ext uri="{FF2B5EF4-FFF2-40B4-BE49-F238E27FC236}">
                <a16:creationId xmlns:a16="http://schemas.microsoft.com/office/drawing/2014/main" id="{E0D2F4E4-EAE0-9642-DC17-9B394A219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59038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graphicFrame>
        <p:nvGraphicFramePr>
          <p:cNvPr id="71689" name="Object 270">
            <a:extLst>
              <a:ext uri="{FF2B5EF4-FFF2-40B4-BE49-F238E27FC236}">
                <a16:creationId xmlns:a16="http://schemas.microsoft.com/office/drawing/2014/main" id="{A50C4D6F-05F7-590C-A35D-1D1C570687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152525"/>
          <a:ext cx="26035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4" imgW="0" imgH="0" progId="Word.Picture.8">
                  <p:embed/>
                </p:oleObj>
              </mc:Choice>
              <mc:Fallback>
                <p:oleObj name="Immagine" r:id="rId4" imgW="0" imgH="0" progId="Word.Picture.8">
                  <p:embed/>
                  <p:pic>
                    <p:nvPicPr>
                      <p:cNvPr id="0" name="Object 2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152525"/>
                        <a:ext cx="2603500" cy="273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4513B051-E120-A110-4704-EB2A273FCB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Esempio 3: Algoritmo della suddivisione degli elementi della famiglia di presunta compatibilità</a:t>
            </a:r>
            <a:endParaRPr lang="en-US" altLang="it-IT" sz="2400">
              <a:ea typeface="ＭＳ Ｐゴシック" panose="020B0600070205080204" pitchFamily="34" charset="-128"/>
            </a:endParaRPr>
          </a:p>
        </p:txBody>
      </p:sp>
      <p:graphicFrame>
        <p:nvGraphicFramePr>
          <p:cNvPr id="72706" name="Object 3">
            <a:extLst>
              <a:ext uri="{FF2B5EF4-FFF2-40B4-BE49-F238E27FC236}">
                <a16:creationId xmlns:a16="http://schemas.microsoft.com/office/drawing/2014/main" id="{C5303DB5-DEF1-7BB9-BEC5-F996BA33CF4D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1216025" y="1954213"/>
          <a:ext cx="7716838" cy="435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0" imgH="0" progId="Word.Document.8">
                  <p:embed/>
                </p:oleObj>
              </mc:Choice>
              <mc:Fallback>
                <p:oleObj name="Documento" r:id="rId2" imgW="0" imgH="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1536"/>
                      <a:stretch>
                        <a:fillRect/>
                      </a:stretch>
                    </p:blipFill>
                    <p:spPr bwMode="auto">
                      <a:xfrm>
                        <a:off x="1216025" y="1954213"/>
                        <a:ext cx="7716838" cy="435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7" name="Text Box 6">
            <a:extLst>
              <a:ext uri="{FF2B5EF4-FFF2-40B4-BE49-F238E27FC236}">
                <a16:creationId xmlns:a16="http://schemas.microsoft.com/office/drawing/2014/main" id="{60FC4607-EED1-1408-A6CC-D57E02919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52525"/>
            <a:ext cx="9540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it-IT" sz="2400">
                <a:solidFill>
                  <a:schemeClr val="tx2"/>
                </a:solidFill>
              </a:rPr>
              <a:t>PASSO 3 – da ripetere fino a che non siano più presenti incompatibilità	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egnaposto numero diapositiva 5">
            <a:extLst>
              <a:ext uri="{FF2B5EF4-FFF2-40B4-BE49-F238E27FC236}">
                <a16:creationId xmlns:a16="http://schemas.microsoft.com/office/drawing/2014/main" id="{9CD5EED6-AF26-A2AE-2BCD-CADD4B33F8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4E6867-0749-4246-A9A3-99B2CBBBE447}" type="slidenum">
              <a:rPr lang="it-IT" altLang="it-IT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73730" name="Rectangle 5">
            <a:extLst>
              <a:ext uri="{FF2B5EF4-FFF2-40B4-BE49-F238E27FC236}">
                <a16:creationId xmlns:a16="http://schemas.microsoft.com/office/drawing/2014/main" id="{946BA4BC-2992-6C70-8F2D-E3E0E10435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Esempio 3: Algoritmo della suddivisione degli elementi della famiglia di presunta compatibilità – </a:t>
            </a:r>
            <a:endParaRPr lang="en-US" altLang="it-IT" sz="2400">
              <a:ea typeface="ＭＳ Ｐゴシック" panose="020B0600070205080204" pitchFamily="34" charset="-128"/>
            </a:endParaRP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21B0EB08-C2B2-4C19-5C3A-D4E39E9C0EC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85775" y="1241425"/>
            <a:ext cx="8478838" cy="4878388"/>
          </a:xfrm>
        </p:spPr>
        <p:txBody>
          <a:bodyPr/>
          <a:lstStyle/>
          <a:p>
            <a:pPr eaLnBrk="1" hangingPunct="1"/>
            <a:r>
              <a:rPr lang="en-US" altLang="it-IT" sz="2400">
                <a:ea typeface="ＭＳ Ｐゴシック" panose="020B0600070205080204" pitchFamily="34" charset="-128"/>
              </a:rPr>
              <a:t>Famiglia degli insiemi compatibili massima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</a:rPr>
              <a:t>(1,2,3,4,6)  (5,6,7)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Verifica</a:t>
            </a: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Sarebbe stato possibile procedere anche in altro ordine</a:t>
            </a:r>
            <a:endParaRPr lang="en-US" altLang="it-IT" sz="2400">
              <a:ea typeface="ＭＳ Ｐゴシック" panose="020B0600070205080204" pitchFamily="34" charset="-128"/>
            </a:endParaRPr>
          </a:p>
        </p:txBody>
      </p:sp>
      <p:graphicFrame>
        <p:nvGraphicFramePr>
          <p:cNvPr id="73732" name="Object 4">
            <a:extLst>
              <a:ext uri="{FF2B5EF4-FFF2-40B4-BE49-F238E27FC236}">
                <a16:creationId xmlns:a16="http://schemas.microsoft.com/office/drawing/2014/main" id="{D5730BED-4B1E-81F0-E40A-E30A841DF108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1042988" y="3024188"/>
          <a:ext cx="7610475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0" imgH="0" progId="Word.Document.8">
                  <p:embed/>
                </p:oleObj>
              </mc:Choice>
              <mc:Fallback>
                <p:oleObj name="Documento" r:id="rId2" imgW="0" imgH="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024188"/>
                        <a:ext cx="7610475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194F12BA-E208-5F3D-0CD5-C5F66E10DC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900" y="96838"/>
            <a:ext cx="9101138" cy="860425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Esempio 3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7B4A3F06-41F9-B23A-2F15-E261905684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4525" y="1382713"/>
            <a:ext cx="8459788" cy="3667125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Esempio: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it-IT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74755" name="AutoShape 7">
            <a:extLst>
              <a:ext uri="{FF2B5EF4-FFF2-40B4-BE49-F238E27FC236}">
                <a16:creationId xmlns:a16="http://schemas.microsoft.com/office/drawing/2014/main" id="{0B160F8B-736D-8B5D-C796-E187DB402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808288"/>
            <a:ext cx="792162" cy="574675"/>
          </a:xfrm>
          <a:prstGeom prst="rightArrow">
            <a:avLst>
              <a:gd name="adj1" fmla="val 50000"/>
              <a:gd name="adj2" fmla="val 34461"/>
            </a:avLst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4756" name="Rectangle 13">
            <a:extLst>
              <a:ext uri="{FF2B5EF4-FFF2-40B4-BE49-F238E27FC236}">
                <a16:creationId xmlns:a16="http://schemas.microsoft.com/office/drawing/2014/main" id="{7AF9F348-FFC6-0EE2-0332-4759A4ACA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5467350"/>
            <a:ext cx="461327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PT" altLang="it-IT" sz="2400" i="1">
                <a:solidFill>
                  <a:schemeClr val="tx2"/>
                </a:solidFill>
              </a:rPr>
              <a:t>F = (S1, S2);  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PT" altLang="it-IT" sz="2400" i="1">
                <a:solidFill>
                  <a:schemeClr val="tx2"/>
                </a:solidFill>
              </a:rPr>
              <a:t>S1 = (q1, q2, q3, q4, q6);   S2 = (q5, q6, q7)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pt-PT" altLang="it-IT" sz="2400" i="1">
              <a:solidFill>
                <a:schemeClr val="tx2"/>
              </a:solidFill>
            </a:endParaRPr>
          </a:p>
        </p:txBody>
      </p:sp>
      <p:pic>
        <p:nvPicPr>
          <p:cNvPr id="74757" name="Picture 19">
            <a:extLst>
              <a:ext uri="{FF2B5EF4-FFF2-40B4-BE49-F238E27FC236}">
                <a16:creationId xmlns:a16="http://schemas.microsoft.com/office/drawing/2014/main" id="{A64A220C-86C3-2554-88B0-17F8E90CF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5" r="68739"/>
          <a:stretch>
            <a:fillRect/>
          </a:stretch>
        </p:blipFill>
        <p:spPr bwMode="auto">
          <a:xfrm>
            <a:off x="6156325" y="4391025"/>
            <a:ext cx="30956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8" name="Picture 20">
            <a:extLst>
              <a:ext uri="{FF2B5EF4-FFF2-40B4-BE49-F238E27FC236}">
                <a16:creationId xmlns:a16="http://schemas.microsoft.com/office/drawing/2014/main" id="{22E88BC0-A6F5-453C-48D7-26E3D49F9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r="11740"/>
          <a:stretch>
            <a:fillRect/>
          </a:stretch>
        </p:blipFill>
        <p:spPr bwMode="auto">
          <a:xfrm>
            <a:off x="4822825" y="2016125"/>
            <a:ext cx="4897438" cy="199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9" name="Oval 21">
            <a:extLst>
              <a:ext uri="{FF2B5EF4-FFF2-40B4-BE49-F238E27FC236}">
                <a16:creationId xmlns:a16="http://schemas.microsoft.com/office/drawing/2014/main" id="{1D56C85C-788D-2C16-9E35-B0EBCD35D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735263"/>
            <a:ext cx="792163" cy="360362"/>
          </a:xfrm>
          <a:prstGeom prst="ellipse">
            <a:avLst/>
          </a:pr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4760" name="Oval 22">
            <a:extLst>
              <a:ext uri="{FF2B5EF4-FFF2-40B4-BE49-F238E27FC236}">
                <a16:creationId xmlns:a16="http://schemas.microsoft.com/office/drawing/2014/main" id="{47DCA0F3-4367-CDEC-92B4-85A90E7EA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3527425"/>
            <a:ext cx="935037" cy="360363"/>
          </a:xfrm>
          <a:prstGeom prst="ellipse">
            <a:avLst/>
          </a:pr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4761" name="Rectangle 26">
            <a:extLst>
              <a:ext uri="{FF2B5EF4-FFF2-40B4-BE49-F238E27FC236}">
                <a16:creationId xmlns:a16="http://schemas.microsoft.com/office/drawing/2014/main" id="{D879AEF9-951C-52A1-9CAA-4F8CD38B8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59038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graphicFrame>
        <p:nvGraphicFramePr>
          <p:cNvPr id="74762" name="Object 25">
            <a:extLst>
              <a:ext uri="{FF2B5EF4-FFF2-40B4-BE49-F238E27FC236}">
                <a16:creationId xmlns:a16="http://schemas.microsoft.com/office/drawing/2014/main" id="{3D2D0DB6-A3AA-71FD-3AA3-943B11EA9D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068513"/>
          <a:ext cx="3289300" cy="345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4" imgW="0" imgH="0" progId="Word.Picture.8">
                  <p:embed/>
                </p:oleObj>
              </mc:Choice>
              <mc:Fallback>
                <p:oleObj name="Immagine" r:id="rId4" imgW="0" imgH="0" progId="Word.Picture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068513"/>
                        <a:ext cx="3289300" cy="345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7CD86C55-CA43-B18A-73D6-176BDDDC49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900" y="161925"/>
            <a:ext cx="9029700" cy="860425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Esempio 3</a:t>
            </a:r>
          </a:p>
        </p:txBody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1777D7D2-46CC-E85E-2729-6535636984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5775" y="1241425"/>
            <a:ext cx="8910638" cy="50228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it-IT" sz="2400">
                <a:ea typeface="ＭＳ Ｐゴシック" panose="020B0600070205080204" pitchFamily="34" charset="-128"/>
              </a:rPr>
              <a:t>Esempio (continua)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Indeterminazioni in corrispondenza di τ'(S1, i4) e τ'(S2, i4)  ciascuna con 2 alternative e quindi 4 possibili soluzioni.</a:t>
            </a:r>
          </a:p>
          <a:p>
            <a:pPr lvl="1" eaLnBrk="1" hangingPunct="1">
              <a:lnSpc>
                <a:spcPct val="9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La tecnica di perseguire insiemi disgiunti è impropria per macchine incomplete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In particolare può accadere che la macchina cui si perviene non mantenga la proprietà di chiusura</a:t>
            </a:r>
          </a:p>
        </p:txBody>
      </p:sp>
      <p:sp>
        <p:nvSpPr>
          <p:cNvPr id="75779" name="Rectangle 6">
            <a:extLst>
              <a:ext uri="{FF2B5EF4-FFF2-40B4-BE49-F238E27FC236}">
                <a16:creationId xmlns:a16="http://schemas.microsoft.com/office/drawing/2014/main" id="{8874268E-D66B-C80D-D1CD-DC6DCEF10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5275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pic>
        <p:nvPicPr>
          <p:cNvPr id="75780" name="Picture 8">
            <a:extLst>
              <a:ext uri="{FF2B5EF4-FFF2-40B4-BE49-F238E27FC236}">
                <a16:creationId xmlns:a16="http://schemas.microsoft.com/office/drawing/2014/main" id="{15839E49-8D91-D16A-804D-8E306A451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376488"/>
            <a:ext cx="4176713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D29D3677-CD57-78CE-DC63-68E61BF19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96838"/>
            <a:ext cx="9029700" cy="860425"/>
          </a:xfrm>
        </p:spPr>
        <p:txBody>
          <a:bodyPr/>
          <a:lstStyle/>
          <a:p>
            <a:pPr eaLnBrk="1" hangingPunct="1"/>
            <a:r>
              <a:rPr lang="en-US" altLang="it-IT" sz="3200">
                <a:ea typeface="ＭＳ Ｐゴシック" panose="020B0600070205080204" pitchFamily="34" charset="-128"/>
              </a:rPr>
              <a:t>Esempio 4: macchina incompletamente specificata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5637E7DD-38D6-63CB-8C0A-FC41C243B5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3088" y="1239838"/>
            <a:ext cx="8459787" cy="3667125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Esempio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Ricerca degli stati compatibili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it-IT">
              <a:ea typeface="ＭＳ Ｐゴシック" panose="020B0600070205080204" pitchFamily="34" charset="-128"/>
            </a:endParaRPr>
          </a:p>
        </p:txBody>
      </p:sp>
      <p:pic>
        <p:nvPicPr>
          <p:cNvPr id="76803" name="Picture 6">
            <a:extLst>
              <a:ext uri="{FF2B5EF4-FFF2-40B4-BE49-F238E27FC236}">
                <a16:creationId xmlns:a16="http://schemas.microsoft.com/office/drawing/2014/main" id="{E2E3DA41-085E-74C5-EDB9-7CC7A4B15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3024188"/>
            <a:ext cx="1838325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4" name="Picture 8">
            <a:extLst>
              <a:ext uri="{FF2B5EF4-FFF2-40B4-BE49-F238E27FC236}">
                <a16:creationId xmlns:a16="http://schemas.microsoft.com/office/drawing/2014/main" id="{DA650292-2142-2F83-73DC-3C8D4F15B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3168650"/>
            <a:ext cx="305752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5" name="Picture 9">
            <a:extLst>
              <a:ext uri="{FF2B5EF4-FFF2-40B4-BE49-F238E27FC236}">
                <a16:creationId xmlns:a16="http://schemas.microsoft.com/office/drawing/2014/main" id="{BF61D749-5431-F346-2690-F5A18222F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4811713"/>
            <a:ext cx="305752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6" name="AutoShape 10">
            <a:extLst>
              <a:ext uri="{FF2B5EF4-FFF2-40B4-BE49-F238E27FC236}">
                <a16:creationId xmlns:a16="http://schemas.microsoft.com/office/drawing/2014/main" id="{06B94827-2D02-7823-66D5-1C03CB9A3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527425"/>
            <a:ext cx="1296988" cy="647700"/>
          </a:xfrm>
          <a:prstGeom prst="rightArrow">
            <a:avLst>
              <a:gd name="adj1" fmla="val 50000"/>
              <a:gd name="adj2" fmla="val 50061"/>
            </a:avLst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6807" name="AutoShape 11">
            <a:extLst>
              <a:ext uri="{FF2B5EF4-FFF2-40B4-BE49-F238E27FC236}">
                <a16:creationId xmlns:a16="http://schemas.microsoft.com/office/drawing/2014/main" id="{EA25E584-972C-42A4-6DCA-37BA6E9BAFE5}"/>
              </a:ext>
            </a:extLst>
          </p:cNvPr>
          <p:cNvSpPr>
            <a:spLocks noChangeArrowheads="1"/>
          </p:cNvSpPr>
          <p:nvPr/>
        </p:nvSpPr>
        <p:spPr bwMode="auto">
          <a:xfrm rot="8402991">
            <a:off x="6551613" y="4933950"/>
            <a:ext cx="1296987" cy="647700"/>
          </a:xfrm>
          <a:prstGeom prst="rightArrow">
            <a:avLst>
              <a:gd name="adj1" fmla="val 50000"/>
              <a:gd name="adj2" fmla="val 50061"/>
            </a:avLst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6808" name="Oval 12">
            <a:extLst>
              <a:ext uri="{FF2B5EF4-FFF2-40B4-BE49-F238E27FC236}">
                <a16:creationId xmlns:a16="http://schemas.microsoft.com/office/drawing/2014/main" id="{A815A49F-09C3-9DF4-AD57-E657ED764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3887788"/>
            <a:ext cx="504825" cy="287337"/>
          </a:xfrm>
          <a:prstGeom prst="ellips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6809" name="Oval 13">
            <a:extLst>
              <a:ext uri="{FF2B5EF4-FFF2-40B4-BE49-F238E27FC236}">
                <a16:creationId xmlns:a16="http://schemas.microsoft.com/office/drawing/2014/main" id="{B8B5C5C1-E0C2-7736-3360-1AD896F4B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3311525"/>
            <a:ext cx="503238" cy="287338"/>
          </a:xfrm>
          <a:prstGeom prst="ellips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6810" name="Oval 14">
            <a:extLst>
              <a:ext uri="{FF2B5EF4-FFF2-40B4-BE49-F238E27FC236}">
                <a16:creationId xmlns:a16="http://schemas.microsoft.com/office/drawing/2014/main" id="{07C29F1B-2E7D-2603-5F31-F38E4D9F3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3311525"/>
            <a:ext cx="576262" cy="287338"/>
          </a:xfrm>
          <a:prstGeom prst="ellips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6811" name="Oval 15">
            <a:extLst>
              <a:ext uri="{FF2B5EF4-FFF2-40B4-BE49-F238E27FC236}">
                <a16:creationId xmlns:a16="http://schemas.microsoft.com/office/drawing/2014/main" id="{7DEE0DB7-DD5D-5658-CA86-A2424148D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3887788"/>
            <a:ext cx="503237" cy="287337"/>
          </a:xfrm>
          <a:prstGeom prst="ellips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  <p:sp>
        <p:nvSpPr>
          <p:cNvPr id="76812" name="Oval 16">
            <a:extLst>
              <a:ext uri="{FF2B5EF4-FFF2-40B4-BE49-F238E27FC236}">
                <a16:creationId xmlns:a16="http://schemas.microsoft.com/office/drawing/2014/main" id="{E27DED73-2D25-0503-276A-7CE49BBA8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850" y="2446338"/>
            <a:ext cx="2074863" cy="50641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2400">
                <a:solidFill>
                  <a:schemeClr val="bg1"/>
                </a:solidFill>
              </a:rPr>
              <a:t>Compatibili!</a:t>
            </a:r>
          </a:p>
        </p:txBody>
      </p:sp>
      <p:cxnSp>
        <p:nvCxnSpPr>
          <p:cNvPr id="76813" name="AutoShape 17">
            <a:extLst>
              <a:ext uri="{FF2B5EF4-FFF2-40B4-BE49-F238E27FC236}">
                <a16:creationId xmlns:a16="http://schemas.microsoft.com/office/drawing/2014/main" id="{F0F4C7B6-3393-66F9-7334-2A9145F79947}"/>
              </a:ext>
            </a:extLst>
          </p:cNvPr>
          <p:cNvCxnSpPr>
            <a:cxnSpLocks noChangeShapeType="1"/>
            <a:stCxn id="76810" idx="6"/>
            <a:endCxn id="76812" idx="3"/>
          </p:cNvCxnSpPr>
          <p:nvPr/>
        </p:nvCxnSpPr>
        <p:spPr bwMode="auto">
          <a:xfrm flipV="1">
            <a:off x="3222625" y="2890838"/>
            <a:ext cx="579438" cy="565150"/>
          </a:xfrm>
          <a:prstGeom prst="curvedConnector2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14" name="AutoShape 18">
            <a:extLst>
              <a:ext uri="{FF2B5EF4-FFF2-40B4-BE49-F238E27FC236}">
                <a16:creationId xmlns:a16="http://schemas.microsoft.com/office/drawing/2014/main" id="{74861BDA-4342-3FA5-3351-FED745BFEA92}"/>
              </a:ext>
            </a:extLst>
          </p:cNvPr>
          <p:cNvCxnSpPr>
            <a:cxnSpLocks noChangeShapeType="1"/>
            <a:stCxn id="76811" idx="6"/>
            <a:endCxn id="76812" idx="3"/>
          </p:cNvCxnSpPr>
          <p:nvPr/>
        </p:nvCxnSpPr>
        <p:spPr bwMode="auto">
          <a:xfrm flipV="1">
            <a:off x="3222625" y="2890838"/>
            <a:ext cx="579438" cy="1141412"/>
          </a:xfrm>
          <a:prstGeom prst="curvedConnector2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19387EF4-DBA9-29F9-FBA0-4ED39EB346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463" y="96838"/>
            <a:ext cx="9101137" cy="860425"/>
          </a:xfrm>
        </p:spPr>
        <p:txBody>
          <a:bodyPr/>
          <a:lstStyle/>
          <a:p>
            <a:pPr eaLnBrk="1" hangingPunct="1"/>
            <a:r>
              <a:rPr lang="en-US" altLang="it-IT" sz="3200">
                <a:ea typeface="ＭＳ Ｐゴシック" panose="020B0600070205080204" pitchFamily="34" charset="-128"/>
              </a:rPr>
              <a:t>Esempio 4: macchina incompletamente specificata</a:t>
            </a:r>
          </a:p>
        </p:txBody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E70DEEF2-EBD7-28F4-FCF7-233BFD1AD0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5775" y="1241425"/>
            <a:ext cx="9055100" cy="4551363"/>
          </a:xfrm>
        </p:spPr>
        <p:txBody>
          <a:bodyPr/>
          <a:lstStyle/>
          <a:p>
            <a:pPr marL="533400" indent="-533400" eaLnBrk="1" hangingPunct="1"/>
            <a:r>
              <a:rPr lang="en-US" altLang="it-IT">
                <a:ea typeface="ＭＳ Ｐゴシック" panose="020B0600070205080204" pitchFamily="34" charset="-128"/>
              </a:rPr>
              <a:t>Ricerca degli insiemi di compatibilità massimi</a:t>
            </a: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it-IT">
                <a:ea typeface="ＭＳ Ｐゴシック" panose="020B0600070205080204" pitchFamily="34" charset="-128"/>
              </a:rPr>
              <a:t>Costruzione del GRAFO DI COMPATIBILITA’</a:t>
            </a:r>
          </a:p>
          <a:p>
            <a:pPr marL="1295400" lvl="2" indent="-381000" eaLnBrk="1" hangingPunct="1">
              <a:buFont typeface="Wingdings" panose="05000000000000000000" pitchFamily="2" charset="2"/>
              <a:buChar char="n"/>
            </a:pPr>
            <a:r>
              <a:rPr lang="en-US" altLang="it-IT">
                <a:ea typeface="ＭＳ Ｐゴシック" panose="020B0600070205080204" pitchFamily="34" charset="-128"/>
              </a:rPr>
              <a:t>I nodi sono gli stati</a:t>
            </a:r>
          </a:p>
          <a:p>
            <a:pPr marL="1295400" lvl="2" indent="-381000" eaLnBrk="1" hangingPunct="1">
              <a:buFont typeface="Wingdings" panose="05000000000000000000" pitchFamily="2" charset="2"/>
              <a:buChar char="n"/>
            </a:pPr>
            <a:r>
              <a:rPr lang="en-US" altLang="it-IT">
                <a:ea typeface="ＭＳ Ｐゴシック" panose="020B0600070205080204" pitchFamily="34" charset="-128"/>
              </a:rPr>
              <a:t>Sugli archi sono specificati gli stati “condizionanti”</a:t>
            </a:r>
          </a:p>
        </p:txBody>
      </p:sp>
      <p:pic>
        <p:nvPicPr>
          <p:cNvPr id="77827" name="Picture 4">
            <a:extLst>
              <a:ext uri="{FF2B5EF4-FFF2-40B4-BE49-F238E27FC236}">
                <a16:creationId xmlns:a16="http://schemas.microsoft.com/office/drawing/2014/main" id="{A92DDCF5-F64A-8372-2763-C67FE4480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7" t="7834" r="9003" b="8891"/>
          <a:stretch>
            <a:fillRect/>
          </a:stretch>
        </p:blipFill>
        <p:spPr bwMode="auto">
          <a:xfrm>
            <a:off x="5940425" y="3240088"/>
            <a:ext cx="3252788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8" name="Picture 5">
            <a:extLst>
              <a:ext uri="{FF2B5EF4-FFF2-40B4-BE49-F238E27FC236}">
                <a16:creationId xmlns:a16="http://schemas.microsoft.com/office/drawing/2014/main" id="{E5E6CB7B-8E06-1E3A-2F8F-1D6673211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455988"/>
            <a:ext cx="4032250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AutoShape 6">
            <a:extLst>
              <a:ext uri="{FF2B5EF4-FFF2-40B4-BE49-F238E27FC236}">
                <a16:creationId xmlns:a16="http://schemas.microsoft.com/office/drawing/2014/main" id="{C5963E1C-68A3-3BAB-1C2C-231E74EFC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4752975"/>
            <a:ext cx="1296988" cy="647700"/>
          </a:xfrm>
          <a:prstGeom prst="rightArrow">
            <a:avLst>
              <a:gd name="adj1" fmla="val 50000"/>
              <a:gd name="adj2" fmla="val 50061"/>
            </a:avLst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2875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77165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ordi scuri">
  <a:themeElements>
    <a:clrScheme name="Bordi scuri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Bordi scur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ordi scuri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i scuri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i scuri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i scuri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36501F82A52044904E2AA776D592FE" ma:contentTypeVersion="7" ma:contentTypeDescription="Create a new document." ma:contentTypeScope="" ma:versionID="ac12382b13ceaf092b54f0e0c65626fa">
  <xsd:schema xmlns:xsd="http://www.w3.org/2001/XMLSchema" xmlns:xs="http://www.w3.org/2001/XMLSchema" xmlns:p="http://schemas.microsoft.com/office/2006/metadata/properties" xmlns:ns2="6e71ac32-155a-4619-8d53-7abf123e0249" targetNamespace="http://schemas.microsoft.com/office/2006/metadata/properties" ma:root="true" ma:fieldsID="e5af121a0c3934511d7015a115c26a1d" ns2:_="">
    <xsd:import namespace="6e71ac32-155a-4619-8d53-7abf123e02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1ac32-155a-4619-8d53-7abf123e02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6496E0-93CB-4817-8218-8C82549E28A2}"/>
</file>

<file path=customXml/itemProps2.xml><?xml version="1.0" encoding="utf-8"?>
<ds:datastoreItem xmlns:ds="http://schemas.openxmlformats.org/officeDocument/2006/customXml" ds:itemID="{761BA2FA-C960-4189-951F-10D749F341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0D3884-35EE-4D1B-9FDD-4ED9206F20B5}"/>
</file>

<file path=docProps/app.xml><?xml version="1.0" encoding="utf-8"?>
<Properties xmlns="http://schemas.openxmlformats.org/officeDocument/2006/extended-properties" xmlns:vt="http://schemas.openxmlformats.org/officeDocument/2006/docPropsVTypes">
  <Template>C:\Programmi\Microsoft Office\Templates\Presentation Designs\Bordi scuri.pot</Template>
  <TotalTime>29822</TotalTime>
  <Words>2885</Words>
  <Application>Microsoft Office PowerPoint</Application>
  <PresentationFormat>Custom</PresentationFormat>
  <Paragraphs>355</Paragraphs>
  <Slides>51</Slides>
  <Notes>10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Bordi scuri</vt:lpstr>
      <vt:lpstr>Corso di Reti Logiche</vt:lpstr>
      <vt:lpstr>Funzioni uscita e stato prossimo</vt:lpstr>
      <vt:lpstr>Macchine complete e incomplete</vt:lpstr>
      <vt:lpstr>Equivalenza</vt:lpstr>
      <vt:lpstr>Equivalenza</vt:lpstr>
      <vt:lpstr>Equivalenza: riassumendo</vt:lpstr>
      <vt:lpstr>Equivalenza</vt:lpstr>
      <vt:lpstr>Equivalenza e macchine incomplete</vt:lpstr>
      <vt:lpstr>Equivalenza: ricapitolando</vt:lpstr>
      <vt:lpstr>Compatibilità ed equivalenza</vt:lpstr>
      <vt:lpstr>Minimizzazione degli stati</vt:lpstr>
      <vt:lpstr>Minimizzazione degli stati</vt:lpstr>
      <vt:lpstr>Problema della Minimizzazione</vt:lpstr>
      <vt:lpstr>Problema della Minimizzazione</vt:lpstr>
      <vt:lpstr>Ricerca della famiglia F</vt:lpstr>
      <vt:lpstr>Algoritmo del partizionamento</vt:lpstr>
      <vt:lpstr>Algoritmo del partizionamento</vt:lpstr>
      <vt:lpstr>Metodo di Paull-Unger </vt:lpstr>
      <vt:lpstr>Metodo di Paull-Unger</vt:lpstr>
      <vt:lpstr>Metodo di Paull-Unger</vt:lpstr>
      <vt:lpstr>Esempio – Paull-Unger</vt:lpstr>
      <vt:lpstr>Esempio  - cont</vt:lpstr>
      <vt:lpstr>Metodo di Paull-Unger</vt:lpstr>
      <vt:lpstr>PowerPoint Presentation</vt:lpstr>
      <vt:lpstr>Stati compatibili</vt:lpstr>
      <vt:lpstr>Compatibilità</vt:lpstr>
      <vt:lpstr>Compatibilità</vt:lpstr>
      <vt:lpstr>Compatibilità: formalmente</vt:lpstr>
      <vt:lpstr>Macchina incompletamente specificata</vt:lpstr>
      <vt:lpstr>Macchina incompletamente specificata</vt:lpstr>
      <vt:lpstr>Algoritmo della suddivisione degli elementi della famiglia di presunta compatibilità</vt:lpstr>
      <vt:lpstr>Algoritmo della suddivisione degli elementi della famiglia di presunta compatibilità</vt:lpstr>
      <vt:lpstr>Macchina incompletamente specificata</vt:lpstr>
      <vt:lpstr>Macchina incompletamente specificata</vt:lpstr>
      <vt:lpstr>Esempi di minimizzazioni </vt:lpstr>
      <vt:lpstr>Esempio 1: Riconoscitore di codice 8-4-2-1</vt:lpstr>
      <vt:lpstr>Esempio 1</vt:lpstr>
      <vt:lpstr>Esempio 1</vt:lpstr>
      <vt:lpstr>Esempio 1</vt:lpstr>
      <vt:lpstr>Esempio 1</vt:lpstr>
      <vt:lpstr>Esempio 2: Riconoscitore di due sequenze</vt:lpstr>
      <vt:lpstr>Esempio 2: Riconoscitore di due sequenze</vt:lpstr>
      <vt:lpstr>Esempio 2: Riconoscitore di due sequenze </vt:lpstr>
      <vt:lpstr>PowerPoint Presentation</vt:lpstr>
      <vt:lpstr>Esempio 3: Algoritmo della suddivisione degli elementi della famiglia di presunta compatibilità</vt:lpstr>
      <vt:lpstr>Esempio 3: Algoritmo della suddivisione degli elementi della famiglia di presunta compatibilità</vt:lpstr>
      <vt:lpstr>Esempio 3: Algoritmo della suddivisione degli elementi della famiglia di presunta compatibilità – </vt:lpstr>
      <vt:lpstr>Esempio 3</vt:lpstr>
      <vt:lpstr>Esempio 3</vt:lpstr>
      <vt:lpstr>Esempio 4: macchina incompletamente specificata</vt:lpstr>
      <vt:lpstr>Esempio 4: macchina incompletamente specificata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Gerarchia delle Memorie</dc:title>
  <cp:lastModifiedBy>VALENTINA CASOLA</cp:lastModifiedBy>
  <cp:revision>234</cp:revision>
  <dcterms:created xsi:type="dcterms:W3CDTF">2012-03-19T23:02:19Z</dcterms:created>
  <dcterms:modified xsi:type="dcterms:W3CDTF">2026-09-26T14:45:53Z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0x0101005F36501F82A52044904E2AA776D592FE</vt:lpwstr>
  </property>
</Properties>
</file>