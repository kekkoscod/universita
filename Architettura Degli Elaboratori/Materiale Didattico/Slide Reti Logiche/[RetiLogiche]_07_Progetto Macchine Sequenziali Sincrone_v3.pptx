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3"/>
  </p:sldMasterIdLst>
  <p:notesMasterIdLst>
    <p:notesMasterId r:id="rId17"/>
  </p:notesMasterIdLst>
  <p:handoutMasterIdLst>
    <p:handoutMasterId r:id="rId18"/>
  </p:handoutMasterIdLst>
  <p:sldIdLst>
    <p:sldId id="256" r:id="rId4"/>
    <p:sldId id="305" r:id="rId5"/>
    <p:sldId id="306" r:id="rId6"/>
    <p:sldId id="307" r:id="rId7"/>
    <p:sldId id="309" r:id="rId8"/>
    <p:sldId id="310" r:id="rId9"/>
    <p:sldId id="311" r:id="rId10"/>
    <p:sldId id="312" r:id="rId11"/>
    <p:sldId id="313" r:id="rId12"/>
    <p:sldId id="314" r:id="rId13"/>
    <p:sldId id="315" r:id="rId14"/>
    <p:sldId id="319" r:id="rId15"/>
    <p:sldId id="304" r:id="rId16"/>
  </p:sldIdLst>
  <p:sldSz cx="9906000" cy="6858000" type="A4"/>
  <p:notesSz cx="7300913" cy="9586913"/>
  <p:defaultTextStyle>
    <a:defPPr>
      <a:defRPr lang="it-IT"/>
    </a:defPPr>
    <a:lvl1pPr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bg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21"/>
  </p:normalViewPr>
  <p:slideViewPr>
    <p:cSldViewPr snapToObjects="1">
      <p:cViewPr varScale="1">
        <p:scale>
          <a:sx n="108" d="100"/>
          <a:sy n="108" d="100"/>
        </p:scale>
        <p:origin x="1504" y="18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02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1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customXml" Target="../customXml/item3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3BDA2AB-C913-5036-3507-79E2C18687D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-1588" y="11113"/>
            <a:ext cx="3163888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743" tIns="0" rIns="19743" bIns="0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000" b="0" i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22325DF-94AB-3EF9-644C-4FE712F9D32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37025" y="11113"/>
            <a:ext cx="3163888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743" tIns="0" rIns="19743" bIns="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000" b="0" i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796A3477-EE64-D5E7-2F7C-58531D72D98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-1588" y="9128125"/>
            <a:ext cx="3163888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743" tIns="0" rIns="19743" bIns="0" numCol="1" anchor="b" anchorCtr="0" compatLnSpc="1">
            <a:prstTxWarp prst="textNoShape">
              <a:avLst/>
            </a:prstTxWarp>
          </a:bodyPr>
          <a:lstStyle>
            <a:lvl1pPr algn="l" eaLnBrk="0" hangingPunct="0">
              <a:defRPr sz="1000" b="0" i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622DAFDA-4D57-BD23-30F6-C173113B0D7B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37025" y="9128125"/>
            <a:ext cx="3163888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743" tIns="0" rIns="19743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000" b="0" i="1" smtClean="0"/>
            </a:lvl1pPr>
          </a:lstStyle>
          <a:p>
            <a:pPr>
              <a:defRPr/>
            </a:pPr>
            <a:fld id="{49242006-EFB6-4D14-BF03-E29308A60D0F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1BDAACE1-F0F3-DFEE-7241-27153D4F0F5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-1588" y="11113"/>
            <a:ext cx="3163888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743" tIns="0" rIns="19743" bIns="0" numCol="1" anchor="t" anchorCtr="0" compatLnSpc="1">
            <a:prstTxWarp prst="textNoShape">
              <a:avLst/>
            </a:prstTxWarp>
          </a:bodyPr>
          <a:lstStyle>
            <a:lvl1pPr algn="l" defTabSz="788988" eaLnBrk="0" hangingPunct="0">
              <a:defRPr sz="1000" b="0" i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6D4B1446-A84A-1B27-8836-61424E10BFF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37025" y="11113"/>
            <a:ext cx="3163888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743" tIns="0" rIns="19743" bIns="0" numCol="1" anchor="t" anchorCtr="0" compatLnSpc="1">
            <a:prstTxWarp prst="textNoShape">
              <a:avLst/>
            </a:prstTxWarp>
          </a:bodyPr>
          <a:lstStyle>
            <a:lvl1pPr algn="r" defTabSz="788988" eaLnBrk="0" hangingPunct="0">
              <a:defRPr sz="1000" b="0" i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34842F1A-2806-3549-C8B1-FD45886F3B3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-1588" y="9128125"/>
            <a:ext cx="3163888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743" tIns="0" rIns="19743" bIns="0" numCol="1" anchor="b" anchorCtr="0" compatLnSpc="1">
            <a:prstTxWarp prst="textNoShape">
              <a:avLst/>
            </a:prstTxWarp>
          </a:bodyPr>
          <a:lstStyle>
            <a:lvl1pPr algn="l" defTabSz="788988" eaLnBrk="0" hangingPunct="0">
              <a:defRPr sz="1000" b="0" i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F64F2735-1B1C-2AAC-CCFA-2D6F65F561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37025" y="9128125"/>
            <a:ext cx="3163888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743" tIns="0" rIns="19743" bIns="0" numCol="1" anchor="b" anchorCtr="0" compatLnSpc="1">
            <a:prstTxWarp prst="textNoShape">
              <a:avLst/>
            </a:prstTxWarp>
          </a:bodyPr>
          <a:lstStyle>
            <a:lvl1pPr algn="r" defTabSz="788988" eaLnBrk="0" hangingPunct="0">
              <a:defRPr sz="1000" b="0" i="1" smtClean="0"/>
            </a:lvl1pPr>
          </a:lstStyle>
          <a:p>
            <a:pPr>
              <a:defRPr/>
            </a:pPr>
            <a:fld id="{AA70F89A-1D36-4ED4-BE94-21C99F3F437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5461D35E-4ACB-C960-D4B1-DC2F20C1868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3138" y="4556125"/>
            <a:ext cx="5353050" cy="4037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27" tIns="47714" rIns="95427" bIns="477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noProof="0"/>
              <a:t>Fare clic per modificare gli stili delle note dello Schema</a:t>
            </a:r>
          </a:p>
          <a:p>
            <a:pPr lvl="1"/>
            <a:r>
              <a:rPr lang="it-IT" noProof="0"/>
              <a:t>Secondo livello</a:t>
            </a:r>
          </a:p>
          <a:p>
            <a:pPr lvl="2"/>
            <a:r>
              <a:rPr lang="it-IT" noProof="0"/>
              <a:t>Terzo livello</a:t>
            </a:r>
          </a:p>
          <a:p>
            <a:pPr lvl="3"/>
            <a:r>
              <a:rPr lang="it-IT" noProof="0"/>
              <a:t>Quarto Livello</a:t>
            </a:r>
          </a:p>
          <a:p>
            <a:pPr lvl="4"/>
            <a:r>
              <a:rPr lang="it-IT" noProof="0"/>
              <a:t>Quinto livello</a:t>
            </a:r>
          </a:p>
        </p:txBody>
      </p:sp>
      <p:sp>
        <p:nvSpPr>
          <p:cNvPr id="14343" name="Rectangle 7">
            <a:extLst>
              <a:ext uri="{FF2B5EF4-FFF2-40B4-BE49-F238E27FC236}">
                <a16:creationId xmlns:a16="http://schemas.microsoft.com/office/drawing/2014/main" id="{1CF69D3A-6F2E-A39C-A6BE-8F207E30EBB8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223963" y="836613"/>
            <a:ext cx="4851400" cy="33575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pitchFamily="-11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pitchFamily="-11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pitchFamily="-11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pitchFamily="-112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B810D11C-4B51-340A-7288-00C445331C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B620F5F-0228-4411-8D47-05BBE23B9333}" type="slidenum">
              <a:rPr lang="it-IT" altLang="it-IT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</a:t>
            </a:fld>
            <a:endParaRPr lang="it-IT" altLang="it-IT" sz="1000">
              <a:latin typeface="Times New Roman" panose="02020603050405020304" pitchFamily="18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F87C31F6-C0A1-D113-E1F8-D00B37B93F4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055688" y="719138"/>
            <a:ext cx="5192712" cy="3594100"/>
          </a:xfrm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3B1772AB-2599-9A31-7E60-E1CBEC8C37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BA3CCA21-EFBB-AF61-09D2-CAA83B3892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E74D6B6-5461-43D7-A586-949AD2F0D4D9}" type="slidenum">
              <a:rPr lang="it-IT" altLang="it-IT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</a:t>
            </a:fld>
            <a:endParaRPr lang="it-IT" altLang="it-IT" sz="1000">
              <a:latin typeface="Times New Roman" panose="02020603050405020304" pitchFamily="18" charset="0"/>
            </a:endParaRPr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016A6049-7DD4-5BF7-3AFE-00452FD0AC2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E34DC27D-15EC-B556-3183-BAD5FFAE71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>
            <a:extLst>
              <a:ext uri="{FF2B5EF4-FFF2-40B4-BE49-F238E27FC236}">
                <a16:creationId xmlns:a16="http://schemas.microsoft.com/office/drawing/2014/main" id="{0685CBC4-6FF0-9BBC-9EB2-C770AF38C1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E0E7845-9B27-42DB-A492-260F0E26E0D6}" type="slidenum">
              <a:rPr lang="it-IT" altLang="it-IT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4</a:t>
            </a:fld>
            <a:endParaRPr lang="it-IT" altLang="it-IT" sz="1000">
              <a:latin typeface="Times New Roman" panose="02020603050405020304" pitchFamily="18" charset="0"/>
            </a:endParaRPr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AEFABC0C-312B-404E-6AB0-A7317228FA1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AA3C6B9D-69FF-2C79-9BF8-05182104A3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Aggiungere ingressi a livello – eliminare </a:t>
            </a:r>
            <a:r>
              <a:rPr lang="it-IT" altLang="it-IT">
                <a:latin typeface="Symbol" panose="05050102010706020507" pitchFamily="18" charset="2"/>
                <a:ea typeface="ＭＳ Ｐゴシック" panose="020B0600070205080204" pitchFamily="34" charset="-128"/>
              </a:rPr>
              <a:t>d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>
            <a:extLst>
              <a:ext uri="{FF2B5EF4-FFF2-40B4-BE49-F238E27FC236}">
                <a16:creationId xmlns:a16="http://schemas.microsoft.com/office/drawing/2014/main" id="{41941A81-C921-A51F-2785-327755826A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9822688-3C87-4B7A-89C9-3966C725AE40}" type="slidenum">
              <a:rPr lang="it-IT" altLang="it-IT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5</a:t>
            </a:fld>
            <a:endParaRPr lang="it-IT" altLang="it-IT" sz="1000">
              <a:latin typeface="Times New Roman" panose="02020603050405020304" pitchFamily="18" charset="0"/>
            </a:endParaRPr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B8BD63A6-2ABE-3CEA-DB1D-4C50AB46DF2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433C0C1F-C0F5-4792-AEA4-A53A834A67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>
            <a:extLst>
              <a:ext uri="{FF2B5EF4-FFF2-40B4-BE49-F238E27FC236}">
                <a16:creationId xmlns:a16="http://schemas.microsoft.com/office/drawing/2014/main" id="{FC83F8E5-10D3-47A4-AAA5-9B205C9A28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1D9F4FA-FC61-40A0-95D3-A8D23366A474}" type="slidenum">
              <a:rPr lang="it-IT" altLang="it-IT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6</a:t>
            </a:fld>
            <a:endParaRPr lang="it-IT" altLang="it-IT" sz="1000">
              <a:latin typeface="Times New Roman" panose="02020603050405020304" pitchFamily="18" charset="0"/>
            </a:endParaRPr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294ED80C-122D-F224-38A6-AD2B12A3CF7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E37D9701-42B2-49C2-5A01-B859902F22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>
            <a:extLst>
              <a:ext uri="{FF2B5EF4-FFF2-40B4-BE49-F238E27FC236}">
                <a16:creationId xmlns:a16="http://schemas.microsoft.com/office/drawing/2014/main" id="{D8419674-76FF-62CE-EA5D-CCC0CB22E3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6F8BE7E-B999-434F-BA70-63BA9767DE78}" type="slidenum">
              <a:rPr lang="it-IT" altLang="it-IT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7</a:t>
            </a:fld>
            <a:endParaRPr lang="it-IT" altLang="it-IT" sz="1000">
              <a:latin typeface="Times New Roman" panose="02020603050405020304" pitchFamily="18" charset="0"/>
            </a:endParaRP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BC0C214A-8C6F-0758-926A-17E0DBADD8D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00FC84B8-240B-8994-7B12-CA067D5B0B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>
            <a:extLst>
              <a:ext uri="{FF2B5EF4-FFF2-40B4-BE49-F238E27FC236}">
                <a16:creationId xmlns:a16="http://schemas.microsoft.com/office/drawing/2014/main" id="{AF3CD1A1-A12D-C96C-3A18-D090B06C01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2C1F76A-4E27-4D2A-A373-54C4F4142AB6}" type="slidenum">
              <a:rPr lang="it-IT" altLang="it-IT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8</a:t>
            </a:fld>
            <a:endParaRPr lang="it-IT" altLang="it-IT" sz="1000">
              <a:latin typeface="Times New Roman" panose="02020603050405020304" pitchFamily="18" charset="0"/>
            </a:endParaRPr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000753A0-0526-9C13-9ECF-0BB4D3D3644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739B0C49-D5DA-26BF-C871-46EF69E2CA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:a16="http://schemas.microsoft.com/office/drawing/2014/main" id="{589F8DF3-E408-512F-A4FA-0D7D26B2B8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F796D44-5624-4D48-A5FA-E4C3DC8A805F}" type="slidenum">
              <a:rPr lang="it-IT" altLang="it-IT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10</a:t>
            </a:fld>
            <a:endParaRPr lang="it-IT" altLang="it-IT" sz="1000">
              <a:latin typeface="Times New Roman" panose="02020603050405020304" pitchFamily="18" charset="0"/>
            </a:endParaRPr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23F0D4C3-1645-B4E0-A2A7-B0B3EB52FAD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612557D0-C13E-0483-E458-F39DE93F55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>
            <a:extLst>
              <a:ext uri="{FF2B5EF4-FFF2-40B4-BE49-F238E27FC236}">
                <a16:creationId xmlns:a16="http://schemas.microsoft.com/office/drawing/2014/main" id="{18ACE7E0-B0E7-9E99-2640-AF21D45602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5B5A4F4-4B6F-436C-AEFE-0E64DD8A7F41}" type="slidenum">
              <a:rPr lang="it-IT" altLang="it-IT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11</a:t>
            </a:fld>
            <a:endParaRPr lang="it-IT" altLang="it-IT" sz="1000">
              <a:latin typeface="Times New Roman" panose="02020603050405020304" pitchFamily="18" charset="0"/>
            </a:endParaRPr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10BC3644-0258-1B3F-EC9E-5738989AD3F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E5BB9682-C591-2FAF-3A3E-1AC8BF0619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>
            <a:extLst>
              <a:ext uri="{FF2B5EF4-FFF2-40B4-BE49-F238E27FC236}">
                <a16:creationId xmlns:a16="http://schemas.microsoft.com/office/drawing/2014/main" id="{075E7412-D238-A44D-7468-10C2A7A5D0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EA147F0-55D7-4268-B7BF-6DE73F634A7B}" type="slidenum">
              <a:rPr lang="it-IT" altLang="it-IT" sz="10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12</a:t>
            </a:fld>
            <a:endParaRPr lang="it-IT" altLang="it-IT" sz="1000">
              <a:latin typeface="Times New Roman" panose="02020603050405020304" pitchFamily="18" charset="0"/>
            </a:endParaRPr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203AE006-5975-F5E2-A066-7EAB531793B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F2D34B96-3929-3EFE-C8BD-D68A911938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4F87F85-D70E-5121-EF50-81F3237DAA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3184B44-D937-EFA3-D505-5576C9C729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EA4B4195-C577-D015-46EE-49EDEE295B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B0A9FA-B81B-4987-BDCC-5433B3C44D48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873013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1E7A18D-263C-5FF3-0107-C42642CD88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E413219-4DE6-CE4E-973E-E565D5559C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8B36977-7D40-A8CC-027A-A5DD8E7BC87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39DE0C-DC83-4476-8E64-8D481065BFF9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49777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0B2D1FB-5B24-9938-0515-601E4CB958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DEEADEA-AA02-5803-3B73-C160F9B9F8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A5C7E857-933A-8DDE-1B9A-02BE77CC53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FCA512-39A0-4AAD-9085-97ADBDBA371F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388997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20688" y="1447800"/>
            <a:ext cx="4373562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946650" y="1447800"/>
            <a:ext cx="4373563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2D89316-C537-79A4-D5A3-7131748A14F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7F46A25-C3ED-1BE2-F094-57A38F2C32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712D704-BCC9-09C9-0EFC-9C435F58CA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A65D6C-131C-40DA-A665-6E567126822C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152042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F051158-5B39-A41C-85A2-5911A60D788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6DDF443-1A4F-E8F6-D466-28E8EC4A50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D5E35EBF-C25D-9E94-1745-17FA7AAF6B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B109F4-8FCF-4B13-86E1-1451F00C5C9D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147278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9CC6A8-D13F-0F06-AB4B-7D75BBEE32B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1F7192-DDE5-844C-72D0-CAF97BA2BC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7DF01F-4039-4BEB-8544-C4C7BFB152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621670-C06B-436D-B626-A1893DC2A7EE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053189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7E248F97-3FFB-CAF5-6DE7-E6C1F12984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D115184-88DD-DA29-85DC-001C177EDA9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4ACDD38-7DA5-9E20-F657-61B36A89349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3F151F-2953-48E1-A228-F6356ED48E53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787726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3E067BF-E249-FB9B-E086-46EFC402E1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20B9400-09A4-C1DE-9F7F-2DAC6635E7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8B5ADEA-BB11-0933-4F6F-D6C1B3081A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A56AE9-CF78-449F-B8B1-F2CD829A171E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93240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0B6392A-3637-7241-EE58-5F304F77A8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47082DB-1728-1D11-0ACE-46D243A2E06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4B89329-05AB-6368-9C68-DA6B85C66D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2A18C7-44B3-445D-A807-92D967838702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211638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59A10E8-227F-B9DB-EDC1-00EE3788BB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B58EC67-B54E-6303-37F2-D7DAFFF1DE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717171BA-C402-E99C-59C1-EF1BEA5677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810EF4-5E0A-49B8-80DF-96BC4BB9D3F2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151001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7096125" y="387350"/>
            <a:ext cx="2224088" cy="5708650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20688" y="387350"/>
            <a:ext cx="6523037" cy="5708650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DF97AA1-3C19-6729-0154-8A530B4392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00A4439-5E41-C2D2-42CD-318274A11F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8A4A524E-FCDF-3A37-BCE9-06B1CA5D1D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B630F9-72FB-4518-8D61-3FF1658905A2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4035955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olo, test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15950" y="387350"/>
            <a:ext cx="8674100" cy="444500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sz="half" idx="1"/>
          </p:nvPr>
        </p:nvSpPr>
        <p:spPr>
          <a:xfrm>
            <a:off x="420688" y="1447800"/>
            <a:ext cx="4373562" cy="464820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946650" y="1447800"/>
            <a:ext cx="4373563" cy="464820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EC4E8EF-64FA-EC7E-2152-66604749FA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0AA74C1-C08B-655A-5165-654A6BB14AF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CB542E1-079E-27F2-E2F1-A87BF6FB37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85973B-B411-4B7E-BE63-D714D5356981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228045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9E2B403-F41D-4D29-9294-4C30D079B9C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l" eaLnBrk="0" hangingPunct="0">
              <a:defRPr sz="1400" b="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9729DCA-DBB4-8F5C-8914-FFF6C06CCA4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1400" b="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9B3F4FF-E9E2-FA08-125D-8E80DBEE30D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86600" y="624840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400" b="0" smtClean="0"/>
            </a:lvl1pPr>
          </a:lstStyle>
          <a:p>
            <a:pPr>
              <a:defRPr/>
            </a:pPr>
            <a:fld id="{3BE3231F-F9A9-4BBB-A4D8-AD6711822C9C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  <p:grpSp>
        <p:nvGrpSpPr>
          <p:cNvPr id="1029" name="Group 7">
            <a:extLst>
              <a:ext uri="{FF2B5EF4-FFF2-40B4-BE49-F238E27FC236}">
                <a16:creationId xmlns:a16="http://schemas.microsoft.com/office/drawing/2014/main" id="{018F0B70-CB14-3AB4-4F7E-5A580C0E83AA}"/>
              </a:ext>
            </a:extLst>
          </p:cNvPr>
          <p:cNvGrpSpPr>
            <a:grpSpLocks/>
          </p:cNvGrpSpPr>
          <p:nvPr/>
        </p:nvGrpSpPr>
        <p:grpSpPr bwMode="auto">
          <a:xfrm>
            <a:off x="0" y="838200"/>
            <a:ext cx="9893300" cy="304800"/>
            <a:chOff x="0" y="624"/>
            <a:chExt cx="6232" cy="192"/>
          </a:xfrm>
        </p:grpSpPr>
        <p:sp>
          <p:nvSpPr>
            <p:cNvPr id="1034" name="Rectangle 5">
              <a:extLst>
                <a:ext uri="{FF2B5EF4-FFF2-40B4-BE49-F238E27FC236}">
                  <a16:creationId xmlns:a16="http://schemas.microsoft.com/office/drawing/2014/main" id="{4D12A177-5B17-CDF8-8DFB-C4EB990DE1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24"/>
              <a:ext cx="6232" cy="93"/>
            </a:xfrm>
            <a:prstGeom prst="rect">
              <a:avLst/>
            </a:prstGeom>
            <a:solidFill>
              <a:srgbClr val="E5405D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defRPr/>
              </a:pPr>
              <a:endParaRPr lang="it-IT" altLang="it-IT"/>
            </a:p>
          </p:txBody>
        </p:sp>
        <p:sp>
          <p:nvSpPr>
            <p:cNvPr id="1035" name="Rectangle 6">
              <a:extLst>
                <a:ext uri="{FF2B5EF4-FFF2-40B4-BE49-F238E27FC236}">
                  <a16:creationId xmlns:a16="http://schemas.microsoft.com/office/drawing/2014/main" id="{B3060EF5-5F00-431B-6BA9-AED5C8481A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768"/>
              <a:ext cx="6232" cy="48"/>
            </a:xfrm>
            <a:prstGeom prst="rect">
              <a:avLst/>
            </a:prstGeom>
            <a:solidFill>
              <a:srgbClr val="E5405D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defRPr/>
              </a:pPr>
              <a:endParaRPr lang="it-IT" altLang="it-IT"/>
            </a:p>
          </p:txBody>
        </p:sp>
      </p:grpSp>
      <p:sp>
        <p:nvSpPr>
          <p:cNvPr id="1030" name="Rectangle 8">
            <a:extLst>
              <a:ext uri="{FF2B5EF4-FFF2-40B4-BE49-F238E27FC236}">
                <a16:creationId xmlns:a16="http://schemas.microsoft.com/office/drawing/2014/main" id="{EA9FC7F5-EE6B-C6FF-8E12-090C58C0B4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15950" y="387350"/>
            <a:ext cx="8674100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il titolo dello schema</a:t>
            </a:r>
          </a:p>
        </p:txBody>
      </p:sp>
      <p:sp>
        <p:nvSpPr>
          <p:cNvPr id="1031" name="Rectangle 9">
            <a:extLst>
              <a:ext uri="{FF2B5EF4-FFF2-40B4-BE49-F238E27FC236}">
                <a16:creationId xmlns:a16="http://schemas.microsoft.com/office/drawing/2014/main" id="{49F18F4F-AF8F-E926-3268-3E5E2E6AFF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20688" y="1447800"/>
            <a:ext cx="8899525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1032" name="Rectangle 10">
            <a:extLst>
              <a:ext uri="{FF2B5EF4-FFF2-40B4-BE49-F238E27FC236}">
                <a16:creationId xmlns:a16="http://schemas.microsoft.com/office/drawing/2014/main" id="{74779493-592F-E178-9176-6DC85E382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8750" y="6423025"/>
            <a:ext cx="5099050" cy="274638"/>
          </a:xfrm>
          <a:prstGeom prst="rect">
            <a:avLst/>
          </a:prstGeom>
          <a:noFill/>
          <a:ln>
            <a:noFill/>
          </a:ln>
        </p:spPr>
        <p:txBody>
          <a:bodyPr wrap="none" lIns="92075" tIns="46038" rIns="92075" bIns="46038" anchor="ctr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defRPr/>
            </a:pPr>
            <a:r>
              <a:rPr lang="it-IT" altLang="it-IT" sz="1200" b="0" i="1">
                <a:latin typeface="Century Gothic" panose="020B0502020202020204" pitchFamily="34" charset="0"/>
              </a:rPr>
              <a:t>DIS - Dipartimento di Informatica e Sistemistica- Università di Napoli</a:t>
            </a:r>
          </a:p>
        </p:txBody>
      </p:sp>
      <p:pic>
        <p:nvPicPr>
          <p:cNvPr id="1033" name="Picture 13">
            <a:extLst>
              <a:ext uri="{FF2B5EF4-FFF2-40B4-BE49-F238E27FC236}">
                <a16:creationId xmlns:a16="http://schemas.microsoft.com/office/drawing/2014/main" id="{4AA3013D-8AFD-538D-4497-E0F0998B31FB}"/>
              </a:ext>
            </a:extLst>
          </p:cNvPr>
          <p:cNvPicPr>
            <a:picLocks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0213" y="6181725"/>
            <a:ext cx="596900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Book Antiqua" pitchFamily="18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Book Antiqua" pitchFamily="18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Book Antiqua" pitchFamily="18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Book Antiqua" pitchFamily="18" charset="0"/>
          <a:ea typeface="ＭＳ Ｐゴシック" charset="0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Book Antiqua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Book Antiqua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Book Antiqua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Book Antiqua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Ø"/>
        <a:defRPr sz="28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E5405D"/>
        </a:buClr>
        <a:buChar char="»"/>
        <a:defRPr sz="2400">
          <a:solidFill>
            <a:schemeClr val="tx1"/>
          </a:solidFill>
          <a:latin typeface="+mn-lt"/>
          <a:ea typeface="ＭＳ Ｐゴシック" pitchFamily="-112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¨"/>
        <a:defRPr sz="2400">
          <a:solidFill>
            <a:schemeClr val="tx1"/>
          </a:solidFill>
          <a:latin typeface="+mn-lt"/>
          <a:ea typeface="ＭＳ Ｐゴシック" pitchFamily="-112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E5405D"/>
        </a:buClr>
        <a:buSzPct val="64000"/>
        <a:buFont typeface="Monotype Sorts" charset="2"/>
        <a:buChar char="l"/>
        <a:defRPr sz="2000">
          <a:solidFill>
            <a:schemeClr val="tx1"/>
          </a:solidFill>
          <a:latin typeface="+mn-lt"/>
          <a:ea typeface="ＭＳ Ｐゴシック" pitchFamily="-112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»"/>
        <a:defRPr sz="2000">
          <a:solidFill>
            <a:schemeClr val="tx1"/>
          </a:solidFill>
          <a:latin typeface="+mn-lt"/>
          <a:ea typeface="ＭＳ Ｐゴシック" pitchFamily="-112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8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77B4AC8E-14D8-F5F9-34D9-64CCC7AE9D3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066800" y="1524000"/>
            <a:ext cx="7772400" cy="1143000"/>
          </a:xfrm>
          <a:noFill/>
        </p:spPr>
        <p:txBody>
          <a:bodyPr anchor="ctr"/>
          <a:lstStyle/>
          <a:p>
            <a:pPr algn="ctr"/>
            <a:r>
              <a:rPr lang="it-IT" altLang="it-IT" sz="4000">
                <a:solidFill>
                  <a:srgbClr val="FC0128"/>
                </a:solidFill>
                <a:ea typeface="ＭＳ Ｐゴシック" panose="020B0600070205080204" pitchFamily="34" charset="-128"/>
              </a:rPr>
              <a:t>Progetto di Macchine Sincrone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E87C6E8E-3EEB-368A-D9F8-C42A24324E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276600"/>
            <a:ext cx="85344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buClrTx/>
              <a:buSzTx/>
              <a:buFontTx/>
              <a:buNone/>
            </a:pPr>
            <a:r>
              <a:rPr lang="it-IT" altLang="it-IT" sz="3200" b="0">
                <a:latin typeface="Arial" panose="020B0604020202020204" pitchFamily="34" charset="0"/>
              </a:rPr>
              <a:t>Reti Logiche</a:t>
            </a:r>
          </a:p>
          <a:p>
            <a:pPr algn="ctr">
              <a:buClrTx/>
              <a:buSzTx/>
              <a:buFontTx/>
              <a:buNone/>
            </a:pPr>
            <a:endParaRPr lang="it-IT" altLang="it-IT" sz="3600">
              <a:latin typeface="Arial" panose="020B0604020202020204" pitchFamily="34" charset="0"/>
            </a:endParaRPr>
          </a:p>
          <a:p>
            <a:pPr algn="ctr">
              <a:buClrTx/>
              <a:buSzTx/>
              <a:buFontTx/>
              <a:buNone/>
            </a:pPr>
            <a:r>
              <a:rPr lang="it-IT" altLang="it-IT" sz="2400" b="0">
                <a:latin typeface="Arial" panose="020B0604020202020204" pitchFamily="34" charset="0"/>
              </a:rPr>
              <a:t>Dipartimento di Informatica e Sistemistica</a:t>
            </a:r>
          </a:p>
          <a:p>
            <a:pPr algn="ctr">
              <a:buClrTx/>
              <a:buSzTx/>
              <a:buFontTx/>
              <a:buNone/>
            </a:pPr>
            <a:r>
              <a:rPr lang="it-IT" altLang="it-IT" sz="2400" b="0">
                <a:latin typeface="Arial" panose="020B0604020202020204" pitchFamily="34" charset="0"/>
              </a:rPr>
              <a:t>Università degli Studi di Napoli </a:t>
            </a:r>
            <a:r>
              <a:rPr lang="ja-JP" altLang="it-IT" sz="2400" b="0">
                <a:latin typeface="Arial" panose="020B0604020202020204" pitchFamily="34" charset="0"/>
              </a:rPr>
              <a:t>“</a:t>
            </a:r>
            <a:r>
              <a:rPr lang="it-IT" altLang="ja-JP" sz="2400" b="0">
                <a:latin typeface="Arial" panose="020B0604020202020204" pitchFamily="34" charset="0"/>
              </a:rPr>
              <a:t>Federico II</a:t>
            </a:r>
            <a:r>
              <a:rPr lang="ja-JP" altLang="it-IT" sz="2400" b="0">
                <a:latin typeface="Arial" panose="020B0604020202020204" pitchFamily="34" charset="0"/>
              </a:rPr>
              <a:t>”</a:t>
            </a:r>
            <a:endParaRPr lang="it-IT" altLang="it-IT" sz="1800" b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egnaposto numero diapositiva 3">
            <a:extLst>
              <a:ext uri="{FF2B5EF4-FFF2-40B4-BE49-F238E27FC236}">
                <a16:creationId xmlns:a16="http://schemas.microsoft.com/office/drawing/2014/main" id="{00F614E1-279B-016C-304C-38A214F6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129CCCAE-2AE5-4B23-A681-52E2B74B7E44}" type="slidenum">
              <a:rPr lang="it-IT" altLang="it-IT" sz="140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it-IT" altLang="it-IT" sz="1400"/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7BB3487F-84BE-D88E-A6C2-E330BB3D2F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71475" y="1500188"/>
            <a:ext cx="9163050" cy="2647950"/>
          </a:xfrm>
        </p:spPr>
        <p:txBody>
          <a:bodyPr/>
          <a:lstStyle/>
          <a:p>
            <a:pPr eaLnBrk="1" hangingPunct="1"/>
            <a:r>
              <a:rPr lang="en-US" altLang="it-IT" sz="3200">
                <a:ea typeface="ＭＳ Ｐゴシック" panose="020B0600070205080204" pitchFamily="34" charset="-128"/>
              </a:rPr>
              <a:t>Macchine sequenziali sincrone</a:t>
            </a:r>
          </a:p>
          <a:p>
            <a:pPr eaLnBrk="1" hangingPunct="1"/>
            <a:r>
              <a:rPr lang="en-US" altLang="it-IT" sz="3200">
                <a:ea typeface="ＭＳ Ｐゴシック" panose="020B0600070205080204" pitchFamily="34" charset="-128"/>
              </a:rPr>
              <a:t>Reti sincrone impulsive</a:t>
            </a:r>
          </a:p>
          <a:p>
            <a:pPr eaLnBrk="1" hangingPunct="1"/>
            <a:r>
              <a:rPr lang="en-US" altLang="it-IT" sz="3200">
                <a:ea typeface="ＭＳ Ｐゴシック" panose="020B0600070205080204" pitchFamily="34" charset="-128"/>
              </a:rPr>
              <a:t>Reti a sincronizzazione esterna</a:t>
            </a:r>
          </a:p>
          <a:p>
            <a:pPr eaLnBrk="1" hangingPunct="1"/>
            <a:r>
              <a:rPr lang="en-US" altLang="it-IT" sz="3200">
                <a:ea typeface="ＭＳ Ｐゴシック" panose="020B0600070205080204" pitchFamily="34" charset="-128"/>
              </a:rPr>
              <a:t>Progetto di reti sincrone</a:t>
            </a:r>
          </a:p>
          <a:p>
            <a:pPr lvl="1" eaLnBrk="1" hangingPunct="1"/>
            <a:r>
              <a:rPr lang="en-US" altLang="it-IT" sz="3200">
                <a:ea typeface="ＭＳ Ｐゴシック" panose="020B0600070205080204" pitchFamily="34" charset="-128"/>
              </a:rPr>
              <a:t>Le fasi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34D30646-DC1D-71EE-C622-D01FFB60F3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1638" y="0"/>
            <a:ext cx="8918575" cy="785813"/>
          </a:xfrm>
        </p:spPr>
        <p:txBody>
          <a:bodyPr/>
          <a:lstStyle/>
          <a:p>
            <a:pPr eaLnBrk="1" hangingPunct="1"/>
            <a:r>
              <a:rPr lang="en-US" altLang="it-IT">
                <a:ea typeface="ＭＳ Ｐゴシック" panose="020B0600070205080204" pitchFamily="34" charset="-128"/>
              </a:rPr>
              <a:t>Argomenti</a:t>
            </a:r>
          </a:p>
        </p:txBody>
      </p:sp>
      <p:pic>
        <p:nvPicPr>
          <p:cNvPr id="17412" name="D7357E6D.WAV">
            <a:hlinkClick r:id="" action="ppaction://media"/>
            <a:extLst>
              <a:ext uri="{FF2B5EF4-FFF2-40B4-BE49-F238E27FC236}">
                <a16:creationId xmlns:a16="http://schemas.microsoft.com/office/drawing/2014/main" id="{70625549-16DC-BA55-AB67-5713473A5076}"/>
              </a:ext>
            </a:extLst>
          </p:cNvPr>
          <p:cNvPicPr>
            <a:picLocks noRot="1"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9888" y="6261100"/>
            <a:ext cx="330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3500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egnaposto numero diapositiva 3">
            <a:extLst>
              <a:ext uri="{FF2B5EF4-FFF2-40B4-BE49-F238E27FC236}">
                <a16:creationId xmlns:a16="http://schemas.microsoft.com/office/drawing/2014/main" id="{F8376A0C-542B-4952-CA9F-F80368DAE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74050FB3-A739-4878-9931-9BD76BEAF957}" type="slidenum">
              <a:rPr lang="it-IT" altLang="it-IT" sz="140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it-IT" altLang="it-IT" sz="1400"/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D2E5B50A-64AF-8CC5-DA76-12024555A8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6413" y="0"/>
            <a:ext cx="8856662" cy="714375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Macchine sincrone</a:t>
            </a:r>
          </a:p>
        </p:txBody>
      </p:sp>
      <p:sp>
        <p:nvSpPr>
          <p:cNvPr id="19459" name="Rectangle 103">
            <a:extLst>
              <a:ext uri="{FF2B5EF4-FFF2-40B4-BE49-F238E27FC236}">
                <a16:creationId xmlns:a16="http://schemas.microsoft.com/office/drawing/2014/main" id="{8ADFA990-5395-B18D-13FE-898053645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3" y="1112838"/>
            <a:ext cx="8915400" cy="481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>
              <a:buClrTx/>
              <a:buSzTx/>
              <a:buFontTx/>
              <a:buNone/>
            </a:pPr>
            <a:r>
              <a:rPr lang="it-IT" altLang="it-IT" sz="2400"/>
              <a:t>In teoria</a:t>
            </a:r>
          </a:p>
          <a:p>
            <a:pPr algn="just" eaLnBrk="1" hangingPunct="1">
              <a:buClrTx/>
              <a:buSzTx/>
              <a:buFontTx/>
              <a:buChar char="•"/>
            </a:pPr>
            <a:r>
              <a:rPr lang="it-IT" altLang="it-IT" b="0"/>
              <a:t>Sono macchine </a:t>
            </a:r>
            <a:r>
              <a:rPr lang="ja-JP" altLang="it-IT" b="0"/>
              <a:t>“</a:t>
            </a:r>
            <a:r>
              <a:rPr lang="it-IT" altLang="ja-JP" b="0" i="1"/>
              <a:t>non asincrone</a:t>
            </a:r>
            <a:r>
              <a:rPr lang="ja-JP" altLang="it-IT" b="0" i="1"/>
              <a:t>”</a:t>
            </a:r>
            <a:r>
              <a:rPr lang="it-IT" altLang="ja-JP" b="0" i="1"/>
              <a:t> (non per ogni variazione dell</a:t>
            </a:r>
            <a:r>
              <a:rPr lang="ja-JP" altLang="it-IT" b="0" i="1"/>
              <a:t>’</a:t>
            </a:r>
            <a:r>
              <a:rPr lang="it-IT" altLang="ja-JP" b="0" i="1"/>
              <a:t>input si finisce in uno stato stabile)</a:t>
            </a:r>
          </a:p>
          <a:p>
            <a:pPr algn="just" eaLnBrk="1" hangingPunct="1">
              <a:buClrTx/>
              <a:buSzTx/>
              <a:buFontTx/>
              <a:buChar char="•"/>
            </a:pPr>
            <a:r>
              <a:rPr lang="it-IT" altLang="it-IT" b="0"/>
              <a:t>Variazioni dello stato e dell</a:t>
            </a:r>
            <a:r>
              <a:rPr lang="ja-JP" altLang="it-IT" b="0"/>
              <a:t>’</a:t>
            </a:r>
            <a:r>
              <a:rPr lang="it-IT" altLang="ja-JP" b="0"/>
              <a:t>ingresso dovrebbero verificarsi in perfetto sincronismo tra loro e ad intervalli pari al ritardo complessivo Δ</a:t>
            </a:r>
            <a:endParaRPr lang="it-IT" altLang="it-IT" b="0"/>
          </a:p>
        </p:txBody>
      </p:sp>
      <p:pic>
        <p:nvPicPr>
          <p:cNvPr id="19460" name="Picture 118">
            <a:extLst>
              <a:ext uri="{FF2B5EF4-FFF2-40B4-BE49-F238E27FC236}">
                <a16:creationId xmlns:a16="http://schemas.microsoft.com/office/drawing/2014/main" id="{33750F84-9215-9472-3A50-9109A0B835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364"/>
          <a:stretch>
            <a:fillRect/>
          </a:stretch>
        </p:blipFill>
        <p:spPr bwMode="auto">
          <a:xfrm>
            <a:off x="5922963" y="3952875"/>
            <a:ext cx="3575050" cy="179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1" name="Text Box 122">
            <a:extLst>
              <a:ext uri="{FF2B5EF4-FFF2-40B4-BE49-F238E27FC236}">
                <a16:creationId xmlns:a16="http://schemas.microsoft.com/office/drawing/2014/main" id="{F0400DE4-8E76-CED0-5613-C809182EA8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225" y="4286250"/>
            <a:ext cx="4746625" cy="10160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2400"/>
              <a:t>Solo un modello teorico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2400"/>
              <a:t>NON ESISTE NELLA PRATICA</a:t>
            </a:r>
          </a:p>
        </p:txBody>
      </p:sp>
      <p:pic>
        <p:nvPicPr>
          <p:cNvPr id="19462" name="2E42E490.WAV">
            <a:hlinkClick r:id="" action="ppaction://media"/>
            <a:extLst>
              <a:ext uri="{FF2B5EF4-FFF2-40B4-BE49-F238E27FC236}">
                <a16:creationId xmlns:a16="http://schemas.microsoft.com/office/drawing/2014/main" id="{A5830927-A130-442C-94F3-9ADBA367445C}"/>
              </a:ext>
            </a:extLst>
          </p:cNvPr>
          <p:cNvPicPr>
            <a:picLocks noRot="1"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9888" y="6261100"/>
            <a:ext cx="330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8800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egnaposto numero diapositiva 3">
            <a:extLst>
              <a:ext uri="{FF2B5EF4-FFF2-40B4-BE49-F238E27FC236}">
                <a16:creationId xmlns:a16="http://schemas.microsoft.com/office/drawing/2014/main" id="{FA62A2BE-FE29-030E-49E2-F5C09F605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9EBE4A8B-CCCB-42EF-8858-C1DE6E307643}" type="slidenum">
              <a:rPr lang="it-IT" altLang="it-IT" sz="140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it-IT" altLang="it-IT" sz="1400"/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8C2011A4-B292-3971-5304-C0C0B7D355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Reti sincrone impulsive</a:t>
            </a:r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6F67A5ED-498B-91C9-A626-D2A16D4685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0675" y="1500188"/>
            <a:ext cx="9048750" cy="1117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it-IT" sz="2000">
                <a:ea typeface="ＭＳ Ｐゴシック" panose="020B0600070205080204" pitchFamily="34" charset="-128"/>
              </a:rPr>
              <a:t> </a:t>
            </a:r>
            <a:r>
              <a:rPr lang="it-IT" altLang="it-IT" b="1">
                <a:ea typeface="ＭＳ Ｐゴシック" panose="020B0600070205080204" pitchFamily="34" charset="-128"/>
              </a:rPr>
              <a:t>Modello realizzativo generale</a:t>
            </a:r>
            <a:r>
              <a:rPr lang="it-IT" altLang="it-IT" sz="2000">
                <a:ea typeface="ＭＳ Ｐゴシック" panose="020B0600070205080204" pitchFamily="34" charset="-128"/>
              </a:rPr>
              <a:t> </a:t>
            </a:r>
          </a:p>
          <a:p>
            <a:pPr eaLnBrk="1" hangingPunct="1"/>
            <a:r>
              <a:rPr lang="it-IT" altLang="it-IT" sz="2000">
                <a:ea typeface="ＭＳ Ｐゴシック" panose="020B0600070205080204" pitchFamily="34" charset="-128"/>
              </a:rPr>
              <a:t>Le sequenze di ingresso sono impulsive</a:t>
            </a:r>
          </a:p>
          <a:p>
            <a:pPr eaLnBrk="1" hangingPunct="1"/>
            <a:r>
              <a:rPr lang="it-IT" altLang="it-IT" sz="2000">
                <a:ea typeface="ＭＳ Ｐゴシック" panose="020B0600070205080204" pitchFamily="34" charset="-128"/>
              </a:rPr>
              <a:t>Insiemi di flip-flop (registri) per memorizzare lo stato</a:t>
            </a:r>
          </a:p>
        </p:txBody>
      </p:sp>
      <p:sp>
        <p:nvSpPr>
          <p:cNvPr id="21508" name="Rectangle 11">
            <a:extLst>
              <a:ext uri="{FF2B5EF4-FFF2-40B4-BE49-F238E27FC236}">
                <a16:creationId xmlns:a16="http://schemas.microsoft.com/office/drawing/2014/main" id="{8A2AAA62-3450-A085-9D3C-48BB2E00F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3351213"/>
            <a:ext cx="8786812" cy="147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>
              <a:buClrTx/>
              <a:buSzTx/>
              <a:buFontTx/>
              <a:buChar char="•"/>
            </a:pPr>
            <a:r>
              <a:rPr lang="it-IT" altLang="it-IT" sz="1600" b="0"/>
              <a:t>R = registro per il posizionamento dello stato</a:t>
            </a:r>
          </a:p>
          <a:p>
            <a:pPr algn="just" eaLnBrk="1" hangingPunct="1">
              <a:buClrTx/>
              <a:buSzTx/>
              <a:buFont typeface="Verdana" panose="020B0604030504040204" pitchFamily="34" charset="0"/>
              <a:buChar char="•"/>
            </a:pPr>
            <a:r>
              <a:rPr lang="it-IT" altLang="it-IT" sz="1600" b="0">
                <a:latin typeface="Symbol" panose="05050102010706020507" pitchFamily="18" charset="2"/>
              </a:rPr>
              <a:t>D</a:t>
            </a:r>
            <a:r>
              <a:rPr lang="it-IT" altLang="it-IT" sz="1600" b="0"/>
              <a:t> = ritardo per il posizionamento del registro</a:t>
            </a:r>
          </a:p>
          <a:p>
            <a:pPr algn="just" eaLnBrk="1" hangingPunct="1">
              <a:buClrTx/>
              <a:buSzTx/>
              <a:buFont typeface="Verdana" panose="020B0604030504040204" pitchFamily="34" charset="0"/>
              <a:buChar char="•"/>
            </a:pPr>
            <a:r>
              <a:rPr lang="it-IT" altLang="it-IT" sz="1600" b="0"/>
              <a:t>I = ingressi impulsivi (durata </a:t>
            </a:r>
            <a:r>
              <a:rPr lang="it-IT" altLang="it-IT" sz="1800" b="0">
                <a:latin typeface="Symbol" panose="05050102010706020507" pitchFamily="18" charset="2"/>
              </a:rPr>
              <a:t>d</a:t>
            </a:r>
            <a:r>
              <a:rPr lang="it-IT" altLang="it-IT" sz="1600" b="0"/>
              <a:t>)</a:t>
            </a:r>
          </a:p>
          <a:p>
            <a:pPr algn="just" eaLnBrk="1" hangingPunct="1">
              <a:buClrTx/>
              <a:buSzTx/>
              <a:buFontTx/>
              <a:buChar char="•"/>
            </a:pPr>
            <a:r>
              <a:rPr lang="it-IT" altLang="it-IT" sz="1600" b="0"/>
              <a:t>U = uscite (impulsive o a livelli)</a:t>
            </a:r>
          </a:p>
          <a:p>
            <a:pPr algn="just" eaLnBrk="1" hangingPunct="1">
              <a:buClrTx/>
              <a:buSzTx/>
              <a:buFontTx/>
              <a:buChar char="•"/>
            </a:pPr>
            <a:r>
              <a:rPr lang="it-IT" altLang="it-IT" sz="1600" b="0"/>
              <a:t>P = segnali per il posizionamento di R</a:t>
            </a:r>
          </a:p>
          <a:p>
            <a:pPr algn="just" eaLnBrk="1" hangingPunct="1">
              <a:buClrTx/>
              <a:buSzTx/>
              <a:buFontTx/>
              <a:buChar char="•"/>
            </a:pPr>
            <a:endParaRPr lang="it-IT" altLang="it-IT" sz="1600" b="0"/>
          </a:p>
          <a:p>
            <a:pPr algn="just" eaLnBrk="1" hangingPunct="1">
              <a:buClrTx/>
              <a:buSzTx/>
              <a:buFontTx/>
              <a:buChar char="•"/>
            </a:pPr>
            <a:endParaRPr lang="it-IT" altLang="it-IT" sz="1600" b="0"/>
          </a:p>
          <a:p>
            <a:pPr algn="just" eaLnBrk="1" hangingPunct="1">
              <a:buClrTx/>
              <a:buSzTx/>
              <a:buFontTx/>
              <a:buChar char="•"/>
            </a:pPr>
            <a:r>
              <a:rPr lang="it-IT" altLang="it-IT" sz="1600" b="0"/>
              <a:t>La stabilità non viene realizzata dalla tabella, bensì dalla realizzazione che mette insieme sequenze impulsive e insiemi di flip-flop: quando non c</a:t>
            </a:r>
            <a:r>
              <a:rPr lang="ja-JP" altLang="it-IT" sz="1600" b="0"/>
              <a:t>’</a:t>
            </a:r>
            <a:r>
              <a:rPr lang="it-IT" altLang="ja-JP" sz="1600" b="0"/>
              <a:t>è un impulso in ingresso la macchina è stabile.</a:t>
            </a:r>
            <a:endParaRPr lang="it-IT" altLang="it-IT" sz="1600" b="0"/>
          </a:p>
        </p:txBody>
      </p:sp>
      <p:pic>
        <p:nvPicPr>
          <p:cNvPr id="21509" name="B64F0DDD.WAV">
            <a:hlinkClick r:id="" action="ppaction://media"/>
            <a:extLst>
              <a:ext uri="{FF2B5EF4-FFF2-40B4-BE49-F238E27FC236}">
                <a16:creationId xmlns:a16="http://schemas.microsoft.com/office/drawing/2014/main" id="{4C7CE42E-C392-5572-C379-37A8B0D4307D}"/>
              </a:ext>
            </a:extLst>
          </p:cNvPr>
          <p:cNvPicPr>
            <a:picLocks noRot="1"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9888" y="6261100"/>
            <a:ext cx="330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1510" name="Group 17">
            <a:extLst>
              <a:ext uri="{FF2B5EF4-FFF2-40B4-BE49-F238E27FC236}">
                <a16:creationId xmlns:a16="http://schemas.microsoft.com/office/drawing/2014/main" id="{2D864FC9-BE43-3031-DB87-8F664C3CA259}"/>
              </a:ext>
            </a:extLst>
          </p:cNvPr>
          <p:cNvGrpSpPr>
            <a:grpSpLocks/>
          </p:cNvGrpSpPr>
          <p:nvPr/>
        </p:nvGrpSpPr>
        <p:grpSpPr bwMode="auto">
          <a:xfrm>
            <a:off x="5524500" y="2951163"/>
            <a:ext cx="3844925" cy="2138362"/>
            <a:chOff x="3423" y="2337"/>
            <a:chExt cx="1985" cy="1073"/>
          </a:xfrm>
        </p:grpSpPr>
        <p:grpSp>
          <p:nvGrpSpPr>
            <p:cNvPr id="21512" name="Group 8">
              <a:extLst>
                <a:ext uri="{FF2B5EF4-FFF2-40B4-BE49-F238E27FC236}">
                  <a16:creationId xmlns:a16="http://schemas.microsoft.com/office/drawing/2014/main" id="{EEFD88EE-BDE0-B91F-8FD4-61D86FB99E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23" y="2337"/>
              <a:ext cx="1985" cy="1073"/>
              <a:chOff x="3531" y="1125"/>
              <a:chExt cx="1985" cy="1073"/>
            </a:xfrm>
          </p:grpSpPr>
          <p:pic>
            <p:nvPicPr>
              <p:cNvPr id="21514" name="Picture 9">
                <a:extLst>
                  <a:ext uri="{FF2B5EF4-FFF2-40B4-BE49-F238E27FC236}">
                    <a16:creationId xmlns:a16="http://schemas.microsoft.com/office/drawing/2014/main" id="{7E1B9A3F-3602-825A-7F84-AC4597F3B32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4540"/>
              <a:stretch>
                <a:fillRect/>
              </a:stretch>
            </p:blipFill>
            <p:spPr bwMode="auto">
              <a:xfrm>
                <a:off x="3531" y="1125"/>
                <a:ext cx="1985" cy="10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515" name="Text Box 10">
                <a:extLst>
                  <a:ext uri="{FF2B5EF4-FFF2-40B4-BE49-F238E27FC236}">
                    <a16:creationId xmlns:a16="http://schemas.microsoft.com/office/drawing/2014/main" id="{3C731C8B-4C3E-3722-FE2A-48EE7DBE07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12" y="1720"/>
                <a:ext cx="144" cy="23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it-IT" altLang="it-IT" sz="1800">
                  <a:solidFill>
                    <a:srgbClr val="FF3300"/>
                  </a:solidFill>
                  <a:latin typeface="Symbol" panose="05050102010706020507" pitchFamily="18" charset="2"/>
                </a:endParaRPr>
              </a:p>
            </p:txBody>
          </p:sp>
        </p:grpSp>
        <p:pic>
          <p:nvPicPr>
            <p:cNvPr id="21513" name="Picture 15">
              <a:extLst>
                <a:ext uri="{FF2B5EF4-FFF2-40B4-BE49-F238E27FC236}">
                  <a16:creationId xmlns:a16="http://schemas.microsoft.com/office/drawing/2014/main" id="{F26C6EAA-6EA4-0EDD-767A-9A34D0C9F6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5264" t="53522" r="10277" b="33655"/>
            <a:stretch>
              <a:fillRect/>
            </a:stretch>
          </p:blipFill>
          <p:spPr bwMode="auto">
            <a:xfrm>
              <a:off x="3475" y="2929"/>
              <a:ext cx="287" cy="1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1511" name="Text Box 16">
            <a:extLst>
              <a:ext uri="{FF2B5EF4-FFF2-40B4-BE49-F238E27FC236}">
                <a16:creationId xmlns:a16="http://schemas.microsoft.com/office/drawing/2014/main" id="{9B95F3FA-376F-9EFE-4A41-D645C05193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7963" y="5089525"/>
            <a:ext cx="24765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it-IT" altLang="it-IT" sz="1800">
              <a:solidFill>
                <a:srgbClr val="FF3300"/>
              </a:solidFill>
              <a:latin typeface="Symbol" panose="05050102010706020507" pitchFamily="18" charset="2"/>
            </a:endParaRPr>
          </a:p>
        </p:txBody>
      </p:sp>
    </p:spTree>
  </p:cSld>
  <p:clrMapOvr>
    <a:masterClrMapping/>
  </p:clrMapOvr>
  <p:transition advTm="14800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egnaposto numero diapositiva 4">
            <a:extLst>
              <a:ext uri="{FF2B5EF4-FFF2-40B4-BE49-F238E27FC236}">
                <a16:creationId xmlns:a16="http://schemas.microsoft.com/office/drawing/2014/main" id="{2DBDC939-200F-4D63-FF48-3074DFC43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33D1A58D-3530-4F78-A1D8-AA0580AF3558}" type="slidenum">
              <a:rPr lang="it-IT" altLang="it-IT" sz="140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it-IT" altLang="it-IT" sz="1400"/>
          </a:p>
        </p:txBody>
      </p:sp>
      <p:sp>
        <p:nvSpPr>
          <p:cNvPr id="23554" name="Rectangle 4">
            <a:extLst>
              <a:ext uri="{FF2B5EF4-FFF2-40B4-BE49-F238E27FC236}">
                <a16:creationId xmlns:a16="http://schemas.microsoft.com/office/drawing/2014/main" id="{4EDF9C66-C944-6017-AFD8-3AEFF56DCB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Reti sincrone impulsive - 3</a:t>
            </a:r>
          </a:p>
        </p:txBody>
      </p:sp>
      <p:sp>
        <p:nvSpPr>
          <p:cNvPr id="23555" name="Rectangle 5">
            <a:extLst>
              <a:ext uri="{FF2B5EF4-FFF2-40B4-BE49-F238E27FC236}">
                <a16:creationId xmlns:a16="http://schemas.microsoft.com/office/drawing/2014/main" id="{7C39FDD6-7F91-1964-952B-CAA4BC9AB3A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95300" y="2357438"/>
            <a:ext cx="4375150" cy="3581400"/>
          </a:xfrm>
          <a:ln>
            <a:solidFill>
              <a:srgbClr val="FF3300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it-IT" altLang="it-IT" b="1">
                <a:ea typeface="ＭＳ Ｐゴシック" panose="020B0600070205080204" pitchFamily="34" charset="-128"/>
              </a:rPr>
              <a:t>Asincrona</a:t>
            </a:r>
          </a:p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Si legge riferendosi al tempo continuo</a:t>
            </a:r>
          </a:p>
          <a:p>
            <a:pPr eaLnBrk="1" hangingPunct="1">
              <a:buFontTx/>
              <a:buNone/>
            </a:pPr>
            <a:endParaRPr lang="it-IT" altLang="it-IT" sz="2400">
              <a:ea typeface="ＭＳ Ｐゴシック" panose="020B0600070205080204" pitchFamily="34" charset="-128"/>
            </a:endParaRPr>
          </a:p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Spostamento mediante triple</a:t>
            </a:r>
          </a:p>
          <a:p>
            <a:pPr eaLnBrk="1" hangingPunct="1">
              <a:buFontTx/>
              <a:buNone/>
            </a:pPr>
            <a:endParaRPr lang="it-IT" altLang="it-IT" sz="2400">
              <a:ea typeface="ＭＳ Ｐゴシック" panose="020B0600070205080204" pitchFamily="34" charset="-128"/>
            </a:endParaRPr>
          </a:p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Staziona in uno stato stabile con un determinato ingresso</a:t>
            </a:r>
          </a:p>
        </p:txBody>
      </p:sp>
      <p:sp>
        <p:nvSpPr>
          <p:cNvPr id="23556" name="Rectangle 6">
            <a:extLst>
              <a:ext uri="{FF2B5EF4-FFF2-40B4-BE49-F238E27FC236}">
                <a16:creationId xmlns:a16="http://schemas.microsoft.com/office/drawing/2014/main" id="{E06A1DD6-41EE-BC74-4FD6-E79EBC8B403A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5035550" y="2366963"/>
            <a:ext cx="4375150" cy="3881437"/>
          </a:xfrm>
          <a:ln>
            <a:solidFill>
              <a:srgbClr val="FF3300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buFont typeface="Wingdings" panose="05000000000000000000" pitchFamily="2" charset="2"/>
              <a:buNone/>
            </a:pPr>
            <a:r>
              <a:rPr lang="it-IT" altLang="it-IT" b="1">
                <a:ea typeface="ＭＳ Ｐゴシック" panose="020B0600070205080204" pitchFamily="34" charset="-128"/>
              </a:rPr>
              <a:t>Sincrona</a:t>
            </a:r>
          </a:p>
          <a:p>
            <a:pPr eaLnBrk="1" hangingPunct="1"/>
            <a:r>
              <a:rPr lang="it-IT" altLang="it-IT" sz="2300">
                <a:ea typeface="ＭＳ Ｐゴシック" panose="020B0600070205080204" pitchFamily="34" charset="-128"/>
              </a:rPr>
              <a:t>Si legge riferendosi al tempo discreto, scandito dai segnali impulsivi</a:t>
            </a:r>
          </a:p>
          <a:p>
            <a:pPr eaLnBrk="1" hangingPunct="1">
              <a:buFontTx/>
              <a:buNone/>
            </a:pPr>
            <a:endParaRPr lang="it-IT" altLang="it-IT" sz="2300">
              <a:ea typeface="ＭＳ Ｐゴシック" panose="020B0600070205080204" pitchFamily="34" charset="-128"/>
            </a:endParaRPr>
          </a:p>
          <a:p>
            <a:pPr eaLnBrk="1" hangingPunct="1"/>
            <a:r>
              <a:rPr lang="it-IT" altLang="it-IT" sz="2300">
                <a:ea typeface="ＭＳ Ｐゴシック" panose="020B0600070205080204" pitchFamily="34" charset="-128"/>
              </a:rPr>
              <a:t>Spostamento libero</a:t>
            </a:r>
          </a:p>
          <a:p>
            <a:pPr eaLnBrk="1" hangingPunct="1"/>
            <a:endParaRPr lang="it-IT" altLang="it-IT" sz="2300">
              <a:ea typeface="ＭＳ Ｐゴシック" panose="020B0600070205080204" pitchFamily="34" charset="-128"/>
            </a:endParaRPr>
          </a:p>
          <a:p>
            <a:pPr eaLnBrk="1" hangingPunct="1"/>
            <a:r>
              <a:rPr lang="it-IT" altLang="it-IT" sz="2300">
                <a:ea typeface="ＭＳ Ｐゴシック" panose="020B0600070205080204" pitchFamily="34" charset="-128"/>
              </a:rPr>
              <a:t>Staziona su una riga al margine della tabella</a:t>
            </a:r>
          </a:p>
          <a:p>
            <a:pPr eaLnBrk="1" hangingPunct="1"/>
            <a:endParaRPr lang="it-IT" altLang="it-IT" sz="2300">
              <a:ea typeface="ＭＳ Ｐゴシック" panose="020B0600070205080204" pitchFamily="34" charset="-128"/>
            </a:endParaRPr>
          </a:p>
        </p:txBody>
      </p:sp>
      <p:sp>
        <p:nvSpPr>
          <p:cNvPr id="23557" name="Text Box 7">
            <a:extLst>
              <a:ext uri="{FF2B5EF4-FFF2-40B4-BE49-F238E27FC236}">
                <a16:creationId xmlns:a16="http://schemas.microsoft.com/office/drawing/2014/main" id="{3209B944-81F2-951D-C828-98A8D43A9A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950" y="1581150"/>
            <a:ext cx="7966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2400"/>
              <a:t>Interpretazione della tabella</a:t>
            </a:r>
          </a:p>
        </p:txBody>
      </p:sp>
      <p:pic>
        <p:nvPicPr>
          <p:cNvPr id="23558" name="F6B0075E.WAV">
            <a:hlinkClick r:id="" action="ppaction://media"/>
            <a:extLst>
              <a:ext uri="{FF2B5EF4-FFF2-40B4-BE49-F238E27FC236}">
                <a16:creationId xmlns:a16="http://schemas.microsoft.com/office/drawing/2014/main" id="{DFC8E254-9F84-3592-8A41-0C51A190885F}"/>
              </a:ext>
            </a:extLst>
          </p:cNvPr>
          <p:cNvPicPr>
            <a:picLocks noRot="1"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9888" y="6261100"/>
            <a:ext cx="330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egnaposto numero diapositiva 3">
            <a:extLst>
              <a:ext uri="{FF2B5EF4-FFF2-40B4-BE49-F238E27FC236}">
                <a16:creationId xmlns:a16="http://schemas.microsoft.com/office/drawing/2014/main" id="{5F97047D-16E1-91BF-25C2-9F7F95071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C5A3C177-B4AC-4246-9D57-EAABBA402F9F}" type="slidenum">
              <a:rPr lang="it-IT" altLang="it-IT" sz="140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it-IT" altLang="it-IT" sz="1400"/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D3A1F75D-F06D-BA05-1352-77CB5C027F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>
                <a:ea typeface="ＭＳ Ｐゴシック" panose="020B0600070205080204" pitchFamily="34" charset="-128"/>
              </a:rPr>
              <a:t>Reti sincrone impulsive - 4</a:t>
            </a:r>
          </a:p>
        </p:txBody>
      </p:sp>
      <p:sp>
        <p:nvSpPr>
          <p:cNvPr id="25603" name="Rectangle 5">
            <a:extLst>
              <a:ext uri="{FF2B5EF4-FFF2-40B4-BE49-F238E27FC236}">
                <a16:creationId xmlns:a16="http://schemas.microsoft.com/office/drawing/2014/main" id="{A30BFEAC-8127-9F83-E018-1F64438E2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313" y="1641475"/>
            <a:ext cx="5530850" cy="17907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>
              <a:buClrTx/>
              <a:buSzTx/>
              <a:buFontTx/>
              <a:buNone/>
            </a:pPr>
            <a:r>
              <a:rPr lang="it-IT" altLang="it-IT"/>
              <a:t>Durata </a:t>
            </a:r>
            <a:r>
              <a:rPr lang="it-IT" altLang="it-IT">
                <a:latin typeface="Symbol" panose="05050102010706020507" pitchFamily="18" charset="2"/>
              </a:rPr>
              <a:t>d</a:t>
            </a:r>
            <a:r>
              <a:rPr lang="it-IT" altLang="it-IT"/>
              <a:t> degli impulsi</a:t>
            </a:r>
          </a:p>
          <a:p>
            <a:pPr algn="just" eaLnBrk="1" hangingPunct="1">
              <a:buClrTx/>
              <a:buSzTx/>
              <a:buFontTx/>
              <a:buChar char="•"/>
            </a:pPr>
            <a:r>
              <a:rPr lang="it-IT" altLang="it-IT" sz="2000" b="0"/>
              <a:t> </a:t>
            </a:r>
            <a:r>
              <a:rPr lang="it-IT" altLang="it-IT" sz="3200">
                <a:latin typeface="Symbol" panose="05050102010706020507" pitchFamily="18" charset="2"/>
              </a:rPr>
              <a:t>d</a:t>
            </a:r>
            <a:r>
              <a:rPr lang="it-IT" altLang="it-IT"/>
              <a:t> </a:t>
            </a:r>
            <a:r>
              <a:rPr lang="it-IT" altLang="it-IT" sz="2000" b="0"/>
              <a:t>deve essere breve per non portare la rete in uno stato indesiderato</a:t>
            </a:r>
          </a:p>
          <a:p>
            <a:pPr algn="just" eaLnBrk="1" hangingPunct="1">
              <a:buClrTx/>
              <a:buSzTx/>
              <a:buFontTx/>
              <a:buChar char="•"/>
            </a:pPr>
            <a:r>
              <a:rPr lang="it-IT" altLang="it-IT" sz="2000" b="0"/>
              <a:t>Se </a:t>
            </a:r>
            <a:r>
              <a:rPr lang="it-IT" altLang="it-IT" sz="2000" b="0">
                <a:latin typeface="Symbol" panose="05050102010706020507" pitchFamily="18" charset="2"/>
              </a:rPr>
              <a:t>D</a:t>
            </a:r>
            <a:r>
              <a:rPr lang="it-IT" altLang="it-IT" sz="2000" b="0"/>
              <a:t> è il ritardo della rete, deve  essere</a:t>
            </a:r>
            <a:endParaRPr lang="it-IT" altLang="it-IT" sz="2000" b="0">
              <a:latin typeface="Symbol" panose="05050102010706020507" pitchFamily="18" charset="2"/>
            </a:endParaRPr>
          </a:p>
        </p:txBody>
      </p:sp>
      <p:grpSp>
        <p:nvGrpSpPr>
          <p:cNvPr id="25604" name="Group 6">
            <a:extLst>
              <a:ext uri="{FF2B5EF4-FFF2-40B4-BE49-F238E27FC236}">
                <a16:creationId xmlns:a16="http://schemas.microsoft.com/office/drawing/2014/main" id="{C5BC6C54-0BE7-647D-74EF-563CC35BBB6A}"/>
              </a:ext>
            </a:extLst>
          </p:cNvPr>
          <p:cNvGrpSpPr>
            <a:grpSpLocks/>
          </p:cNvGrpSpPr>
          <p:nvPr/>
        </p:nvGrpSpPr>
        <p:grpSpPr bwMode="auto">
          <a:xfrm>
            <a:off x="6267450" y="1500188"/>
            <a:ext cx="3225800" cy="2759075"/>
            <a:chOff x="3516" y="2250"/>
            <a:chExt cx="1876" cy="1738"/>
          </a:xfrm>
        </p:grpSpPr>
        <p:pic>
          <p:nvPicPr>
            <p:cNvPr id="25608" name="Picture 7">
              <a:extLst>
                <a:ext uri="{FF2B5EF4-FFF2-40B4-BE49-F238E27FC236}">
                  <a16:creationId xmlns:a16="http://schemas.microsoft.com/office/drawing/2014/main" id="{EDCAF7A1-B0C7-A5A7-ECF8-2BE42D6F1C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1597"/>
            <a:stretch>
              <a:fillRect/>
            </a:stretch>
          </p:blipFill>
          <p:spPr bwMode="auto">
            <a:xfrm>
              <a:off x="3516" y="2250"/>
              <a:ext cx="1876" cy="1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609" name="Oval 8">
              <a:extLst>
                <a:ext uri="{FF2B5EF4-FFF2-40B4-BE49-F238E27FC236}">
                  <a16:creationId xmlns:a16="http://schemas.microsoft.com/office/drawing/2014/main" id="{64936EC8-8C3F-1917-829D-2E68F34E43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2634"/>
              <a:ext cx="330" cy="306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25610" name="Line 9">
              <a:extLst>
                <a:ext uri="{FF2B5EF4-FFF2-40B4-BE49-F238E27FC236}">
                  <a16:creationId xmlns:a16="http://schemas.microsoft.com/office/drawing/2014/main" id="{C58A8A99-DB6A-F255-BE64-A2CA9634D7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98" y="2922"/>
              <a:ext cx="6" cy="28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5611" name="Rectangle 10">
              <a:extLst>
                <a:ext uri="{FF2B5EF4-FFF2-40B4-BE49-F238E27FC236}">
                  <a16:creationId xmlns:a16="http://schemas.microsoft.com/office/drawing/2014/main" id="{6C030CCA-58B9-4672-5156-90547248F4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3192"/>
              <a:ext cx="582" cy="324"/>
            </a:xfrm>
            <a:prstGeom prst="rect">
              <a:avLst/>
            </a:prstGeom>
            <a:noFill/>
            <a:ln w="38100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</p:grpSp>
      <p:sp>
        <p:nvSpPr>
          <p:cNvPr id="280587" name="Text Box 11">
            <a:extLst>
              <a:ext uri="{FF2B5EF4-FFF2-40B4-BE49-F238E27FC236}">
                <a16:creationId xmlns:a16="http://schemas.microsoft.com/office/drawing/2014/main" id="{41646258-9674-CFB8-C398-9BB9FA4101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1550" y="3509963"/>
            <a:ext cx="1476375" cy="4667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4997"/>
              </a:schemeClr>
            </a:outerShdw>
          </a:effec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sz="2400">
                <a:solidFill>
                  <a:srgbClr val="FF3300"/>
                </a:solidFill>
                <a:latin typeface="Symbol" charset="0"/>
              </a:rPr>
              <a:t>d&lt;D</a:t>
            </a:r>
          </a:p>
        </p:txBody>
      </p:sp>
      <p:sp>
        <p:nvSpPr>
          <p:cNvPr id="25606" name="Rectangle 12">
            <a:extLst>
              <a:ext uri="{FF2B5EF4-FFF2-40B4-BE49-F238E27FC236}">
                <a16:creationId xmlns:a16="http://schemas.microsoft.com/office/drawing/2014/main" id="{19CDD5D3-2112-EC23-8085-810AFE995C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2125" y="4297363"/>
            <a:ext cx="8240713" cy="14890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 sz="2400">
                <a:ea typeface="ＭＳ Ｐゴシック" panose="020B0600070205080204" pitchFamily="34" charset="-128"/>
              </a:rPr>
              <a:t>Il dimensionamento di </a:t>
            </a:r>
            <a:r>
              <a:rPr lang="it-IT" altLang="it-IT" sz="2400">
                <a:latin typeface="Symbol" panose="05050102010706020507" pitchFamily="18" charset="2"/>
                <a:ea typeface="ＭＳ Ｐゴシック" panose="020B0600070205080204" pitchFamily="34" charset="-128"/>
              </a:rPr>
              <a:t>d </a:t>
            </a:r>
            <a:r>
              <a:rPr lang="it-IT" altLang="it-IT" sz="2400">
                <a:ea typeface="ＭＳ Ｐゴシック" panose="020B0600070205080204" pitchFamily="34" charset="-128"/>
              </a:rPr>
              <a:t>e </a:t>
            </a:r>
            <a:r>
              <a:rPr lang="it-IT" altLang="it-IT" sz="2400">
                <a:latin typeface="Symbol" panose="05050102010706020507" pitchFamily="18" charset="2"/>
                <a:ea typeface="ＭＳ Ｐゴシック" panose="020B0600070205080204" pitchFamily="34" charset="-128"/>
              </a:rPr>
              <a:t>D</a:t>
            </a:r>
            <a:r>
              <a:rPr lang="it-IT" altLang="it-IT" sz="2400">
                <a:ea typeface="ＭＳ Ｐゴシック" panose="020B0600070205080204" pitchFamily="34" charset="-128"/>
              </a:rPr>
              <a:t> era soluzione efficace in passato con reti </a:t>
            </a:r>
            <a:r>
              <a:rPr lang="ja-JP" altLang="it-IT" sz="2400">
                <a:ea typeface="ＭＳ Ｐゴシック" panose="020B0600070205080204" pitchFamily="34" charset="-128"/>
              </a:rPr>
              <a:t>“</a:t>
            </a:r>
            <a:r>
              <a:rPr lang="it-IT" altLang="ja-JP" sz="2400">
                <a:ea typeface="ＭＳ Ｐゴシック" panose="020B0600070205080204" pitchFamily="34" charset="-128"/>
              </a:rPr>
              <a:t>lente</a:t>
            </a:r>
            <a:r>
              <a:rPr lang="ja-JP" altLang="it-IT" sz="2400">
                <a:ea typeface="ＭＳ Ｐゴシック" panose="020B0600070205080204" pitchFamily="34" charset="-128"/>
              </a:rPr>
              <a:t>”</a:t>
            </a:r>
            <a:endParaRPr lang="it-IT" altLang="ja-JP" sz="24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it-IT" altLang="it-IT" sz="2000">
                <a:ea typeface="ＭＳ Ｐゴシック" panose="020B0600070205080204" pitchFamily="34" charset="-128"/>
              </a:rPr>
              <a:t>Oggi, si usano flip-flop </a:t>
            </a:r>
            <a:r>
              <a:rPr lang="it-IT" altLang="it-IT" sz="2000" b="1">
                <a:ea typeface="ＭＳ Ｐゴシック" panose="020B0600070205080204" pitchFamily="34" charset="-128"/>
              </a:rPr>
              <a:t>edge-triggered </a:t>
            </a:r>
            <a:r>
              <a:rPr lang="it-IT" altLang="it-IT" sz="2000">
                <a:ea typeface="ＭＳ Ｐゴシック" panose="020B0600070205080204" pitchFamily="34" charset="-128"/>
              </a:rPr>
              <a:t>in grado di </a:t>
            </a:r>
            <a:r>
              <a:rPr lang="ja-JP" altLang="it-IT" sz="2000">
                <a:ea typeface="ＭＳ Ｐゴシック" panose="020B0600070205080204" pitchFamily="34" charset="-128"/>
              </a:rPr>
              <a:t>“</a:t>
            </a:r>
            <a:r>
              <a:rPr lang="it-IT" altLang="ja-JP" sz="2000">
                <a:ea typeface="ＭＳ Ｐゴシック" panose="020B0600070205080204" pitchFamily="34" charset="-128"/>
              </a:rPr>
              <a:t>accorciare</a:t>
            </a:r>
            <a:r>
              <a:rPr lang="ja-JP" altLang="it-IT" sz="2000">
                <a:ea typeface="ＭＳ Ｐゴシック" panose="020B0600070205080204" pitchFamily="34" charset="-128"/>
              </a:rPr>
              <a:t>”</a:t>
            </a:r>
            <a:r>
              <a:rPr lang="it-IT" altLang="ja-JP" sz="2000">
                <a:ea typeface="ＭＳ Ｐゴシック" panose="020B0600070205080204" pitchFamily="34" charset="-128"/>
              </a:rPr>
              <a:t> gli impulsi in ingresso (idealmente </a:t>
            </a:r>
            <a:r>
              <a:rPr lang="it-IT" altLang="ja-JP" sz="2400">
                <a:latin typeface="Symbol" panose="05050102010706020507" pitchFamily="18" charset="2"/>
                <a:ea typeface="ＭＳ Ｐゴシック" panose="020B0600070205080204" pitchFamily="34" charset="-128"/>
              </a:rPr>
              <a:t>d</a:t>
            </a:r>
            <a:r>
              <a:rPr lang="it-IT" altLang="ja-JP" sz="2000">
                <a:ea typeface="ＭＳ Ｐゴシック" panose="020B0600070205080204" pitchFamily="34" charset="-128"/>
              </a:rPr>
              <a:t>=0)</a:t>
            </a:r>
          </a:p>
          <a:p>
            <a:pPr lvl="1" eaLnBrk="1" hangingPunct="1">
              <a:lnSpc>
                <a:spcPct val="90000"/>
              </a:lnSpc>
            </a:pPr>
            <a:endParaRPr lang="it-IT" altLang="it-IT" sz="1800">
              <a:ea typeface="ＭＳ Ｐゴシック" panose="020B0600070205080204" pitchFamily="34" charset="-128"/>
            </a:endParaRPr>
          </a:p>
        </p:txBody>
      </p:sp>
      <p:pic>
        <p:nvPicPr>
          <p:cNvPr id="25607" name="4ED5636C.WAV">
            <a:hlinkClick r:id="" action="ppaction://media"/>
            <a:extLst>
              <a:ext uri="{FF2B5EF4-FFF2-40B4-BE49-F238E27FC236}">
                <a16:creationId xmlns:a16="http://schemas.microsoft.com/office/drawing/2014/main" id="{9C03902B-6D59-BF23-EE43-64B5C2706739}"/>
              </a:ext>
            </a:extLst>
          </p:cNvPr>
          <p:cNvPicPr>
            <a:picLocks noRot="1"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9888" y="6261100"/>
            <a:ext cx="330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6100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egnaposto numero diapositiva 3">
            <a:extLst>
              <a:ext uri="{FF2B5EF4-FFF2-40B4-BE49-F238E27FC236}">
                <a16:creationId xmlns:a16="http://schemas.microsoft.com/office/drawing/2014/main" id="{2437DBA6-8049-F942-D485-A8AA84A2C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08DD14A6-431E-47D5-8801-804D9E24DE07}" type="slidenum">
              <a:rPr lang="it-IT" altLang="it-IT" sz="140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it-IT" altLang="it-IT" sz="1400"/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354E04C9-C32B-4F66-F47A-E329DBEFE4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>
                <a:ea typeface="ＭＳ Ｐゴシック" panose="020B0600070205080204" pitchFamily="34" charset="-128"/>
              </a:rPr>
              <a:t>Reti sincrone impulsive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9DBC820E-05BB-8414-1089-1F996D89F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838" y="790575"/>
            <a:ext cx="94107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>
              <a:buClrTx/>
              <a:buSzTx/>
              <a:buFontTx/>
              <a:buChar char="•"/>
            </a:pPr>
            <a:endParaRPr lang="it-IT" altLang="it-IT">
              <a:solidFill>
                <a:schemeClr val="accent1"/>
              </a:solidFill>
            </a:endParaRPr>
          </a:p>
        </p:txBody>
      </p:sp>
      <p:sp>
        <p:nvSpPr>
          <p:cNvPr id="27652" name="Rectangle 7">
            <a:extLst>
              <a:ext uri="{FF2B5EF4-FFF2-40B4-BE49-F238E27FC236}">
                <a16:creationId xmlns:a16="http://schemas.microsoft.com/office/drawing/2014/main" id="{CE119239-6EAE-170A-B58A-0EE950FB1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388" y="1357313"/>
            <a:ext cx="8915400" cy="50228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it-IT" altLang="it-IT" sz="2400"/>
              <a:t>Sequenze di ingresso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Tx/>
              <a:buChar char="•"/>
            </a:pPr>
            <a:r>
              <a:rPr lang="it-IT" altLang="it-IT" sz="2400" b="0"/>
              <a:t>Si ricorda che le sequenze impulsive sono classificate in: </a:t>
            </a:r>
          </a:p>
          <a:p>
            <a:pPr lvl="1" eaLnBrk="1" hangingPunct="1">
              <a:lnSpc>
                <a:spcPct val="90000"/>
              </a:lnSpc>
              <a:buClrTx/>
              <a:buFont typeface="Wingdings" panose="05000000000000000000" pitchFamily="2" charset="2"/>
              <a:buChar char="§"/>
            </a:pPr>
            <a:r>
              <a:rPr lang="it-IT" altLang="it-IT" sz="2800"/>
              <a:t>A sincronizzazione esterna</a:t>
            </a:r>
            <a:r>
              <a:rPr lang="it-IT" altLang="it-IT" sz="2800" b="0"/>
              <a:t>, codificate con 1 solo segnale binario impulsivo (tipicamente ma non necessariamente il clock) ed n segnali  binari a livelli</a:t>
            </a:r>
          </a:p>
          <a:p>
            <a:pPr lvl="1" eaLnBrk="1" hangingPunct="1">
              <a:lnSpc>
                <a:spcPct val="90000"/>
              </a:lnSpc>
              <a:buClrTx/>
              <a:buFont typeface="Wingdings" panose="05000000000000000000" pitchFamily="2" charset="2"/>
              <a:buChar char="§"/>
            </a:pPr>
            <a:r>
              <a:rPr lang="it-IT" altLang="it-IT" sz="2800"/>
              <a:t>Autosincronizzate, </a:t>
            </a:r>
            <a:r>
              <a:rPr lang="it-IT" altLang="it-IT" sz="2800" b="0"/>
              <a:t>codificate con k&gt;1 segnali binari  impulsivi ed n a livelli (per n=0 si ha il caso particolare di sequenze puramente impulsive)</a:t>
            </a:r>
          </a:p>
          <a:p>
            <a:pPr lvl="1" eaLnBrk="1" hangingPunct="1">
              <a:lnSpc>
                <a:spcPct val="90000"/>
              </a:lnSpc>
              <a:buClrTx/>
              <a:buFont typeface="Wingdings" panose="05000000000000000000" pitchFamily="2" charset="2"/>
              <a:buChar char="§"/>
            </a:pPr>
            <a:endParaRPr lang="it-IT" altLang="it-IT" sz="2800" b="0"/>
          </a:p>
          <a:p>
            <a:pPr algn="just" eaLnBrk="1" hangingPunct="1">
              <a:lnSpc>
                <a:spcPct val="9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it-IT" altLang="it-IT" sz="2400" b="0"/>
              <a:t>Di conseguenza, vi sono due modelli di reti:</a:t>
            </a:r>
          </a:p>
          <a:p>
            <a:pPr lvl="1" eaLnBrk="1" hangingPunct="1">
              <a:lnSpc>
                <a:spcPct val="90000"/>
              </a:lnSpc>
              <a:buClrTx/>
              <a:buFont typeface="Wingdings" panose="05000000000000000000" pitchFamily="2" charset="2"/>
              <a:buChar char="§"/>
            </a:pPr>
            <a:r>
              <a:rPr lang="it-IT" altLang="it-IT"/>
              <a:t>A sincronizzazione esterna </a:t>
            </a:r>
            <a:r>
              <a:rPr lang="it-IT" altLang="it-IT" b="0"/>
              <a:t>(più diffuso)</a:t>
            </a:r>
          </a:p>
          <a:p>
            <a:pPr lvl="1" eaLnBrk="1" hangingPunct="1">
              <a:lnSpc>
                <a:spcPct val="90000"/>
              </a:lnSpc>
              <a:buClrTx/>
              <a:buFont typeface="Wingdings" panose="05000000000000000000" pitchFamily="2" charset="2"/>
              <a:buChar char="§"/>
            </a:pPr>
            <a:r>
              <a:rPr lang="it-IT" altLang="it-IT"/>
              <a:t>Autosincronizzate</a:t>
            </a:r>
          </a:p>
        </p:txBody>
      </p:sp>
      <p:pic>
        <p:nvPicPr>
          <p:cNvPr id="27653" name="C939485A.WAV">
            <a:hlinkClick r:id="" action="ppaction://media"/>
            <a:extLst>
              <a:ext uri="{FF2B5EF4-FFF2-40B4-BE49-F238E27FC236}">
                <a16:creationId xmlns:a16="http://schemas.microsoft.com/office/drawing/2014/main" id="{98BDC5E5-9483-ED66-A874-796615AE8318}"/>
              </a:ext>
            </a:extLst>
          </p:cNvPr>
          <p:cNvPicPr>
            <a:picLocks noRot="1"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9888" y="6261100"/>
            <a:ext cx="330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5700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egnaposto numero diapositiva 3">
            <a:extLst>
              <a:ext uri="{FF2B5EF4-FFF2-40B4-BE49-F238E27FC236}">
                <a16:creationId xmlns:a16="http://schemas.microsoft.com/office/drawing/2014/main" id="{24E0FB0D-2C88-F023-1E56-59B4EBCED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E4187155-54D8-431A-B6F6-01BABD1C8BEE}" type="slidenum">
              <a:rPr lang="it-IT" altLang="it-IT" sz="140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it-IT" altLang="it-IT" sz="1400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FE2F5973-90E7-C4D0-385F-3E25142526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6388" y="288925"/>
            <a:ext cx="9259887" cy="615950"/>
          </a:xfrm>
        </p:spPr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Reti a sincronizzazione esterna - 1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E859D0F4-131A-2ED5-4EDA-0036369BE6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2588" y="1524000"/>
            <a:ext cx="9183687" cy="280035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it-IT" altLang="it-IT" sz="2400" b="1">
                <a:ea typeface="ＭＳ Ｐゴシック" panose="020B0600070205080204" pitchFamily="34" charset="-128"/>
              </a:rPr>
              <a:t>Modello di rete</a:t>
            </a:r>
          </a:p>
          <a:p>
            <a:pPr eaLnBrk="1" hangingPunct="1"/>
            <a:r>
              <a:rPr lang="it-IT" altLang="it-IT" sz="2000">
                <a:ea typeface="ＭＳ Ｐゴシック" panose="020B0600070205080204" pitchFamily="34" charset="-128"/>
              </a:rPr>
              <a:t>L</a:t>
            </a:r>
            <a:r>
              <a:rPr lang="ja-JP" altLang="it-IT" sz="2000">
                <a:ea typeface="ＭＳ Ｐゴシック" panose="020B0600070205080204" pitchFamily="34" charset="-128"/>
              </a:rPr>
              <a:t>’</a:t>
            </a:r>
            <a:r>
              <a:rPr lang="it-IT" altLang="ja-JP" sz="2000">
                <a:ea typeface="ＭＳ Ｐゴシック" panose="020B0600070205080204" pitchFamily="34" charset="-128"/>
              </a:rPr>
              <a:t>unico impulso di ingresso binario, </a:t>
            </a:r>
            <a:r>
              <a:rPr lang="it-IT" altLang="ja-JP" sz="2000" i="1">
                <a:ea typeface="ＭＳ Ｐゴシック" panose="020B0600070205080204" pitchFamily="34" charset="-128"/>
              </a:rPr>
              <a:t>s</a:t>
            </a:r>
            <a:r>
              <a:rPr lang="it-IT" altLang="ja-JP" sz="2000">
                <a:ea typeface="ＭＳ Ｐゴシック" panose="020B0600070205080204" pitchFamily="34" charset="-128"/>
              </a:rPr>
              <a:t>, è applicato direttamente come segnale di sincronizzazione dei flip flop del registro di stato</a:t>
            </a:r>
          </a:p>
          <a:p>
            <a:pPr eaLnBrk="1" hangingPunct="1"/>
            <a:r>
              <a:rPr lang="it-IT" altLang="it-IT" sz="2000">
                <a:ea typeface="ＭＳ Ｐゴシック" panose="020B0600070205080204" pitchFamily="34" charset="-128"/>
              </a:rPr>
              <a:t>Ha solo funzione di tempificazione</a:t>
            </a:r>
          </a:p>
          <a:p>
            <a:pPr eaLnBrk="1" hangingPunct="1"/>
            <a:r>
              <a:rPr lang="it-IT" altLang="it-IT" sz="2000">
                <a:ea typeface="ＭＳ Ｐゴシック" panose="020B0600070205080204" pitchFamily="34" charset="-128"/>
              </a:rPr>
              <a:t>Flip-flop qualsiasi (RS,JK,D,T), purché sincronizzati, preferibilmente edge triggered (risolvendo i problemi visti prima)</a:t>
            </a:r>
            <a:endParaRPr lang="en-US" altLang="it-IT" sz="1600">
              <a:ea typeface="ＭＳ Ｐゴシック" panose="020B0600070205080204" pitchFamily="34" charset="-128"/>
            </a:endParaRPr>
          </a:p>
        </p:txBody>
      </p:sp>
      <p:pic>
        <p:nvPicPr>
          <p:cNvPr id="29700" name="Picture 4">
            <a:extLst>
              <a:ext uri="{FF2B5EF4-FFF2-40B4-BE49-F238E27FC236}">
                <a16:creationId xmlns:a16="http://schemas.microsoft.com/office/drawing/2014/main" id="{0ED14DAA-88CE-E763-DA6D-38885AB6B4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63"/>
          <a:stretch>
            <a:fillRect/>
          </a:stretch>
        </p:blipFill>
        <p:spPr bwMode="auto">
          <a:xfrm>
            <a:off x="2057400" y="3983038"/>
            <a:ext cx="5681663" cy="2336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1" name="A92A4C71.WAV">
            <a:hlinkClick r:id="" action="ppaction://media"/>
            <a:extLst>
              <a:ext uri="{FF2B5EF4-FFF2-40B4-BE49-F238E27FC236}">
                <a16:creationId xmlns:a16="http://schemas.microsoft.com/office/drawing/2014/main" id="{2C264EA7-9AA2-85E7-5A7C-35E56875CE74}"/>
              </a:ext>
            </a:extLst>
          </p:cNvPr>
          <p:cNvPicPr>
            <a:picLocks noRot="1"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9888" y="6261100"/>
            <a:ext cx="330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7500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05FED9A9-6589-D48E-C0A7-A28ACD390B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5913" y="0"/>
            <a:ext cx="9259887" cy="838200"/>
          </a:xfrm>
        </p:spPr>
        <p:txBody>
          <a:bodyPr/>
          <a:lstStyle/>
          <a:p>
            <a:pPr eaLnBrk="1" hangingPunct="1"/>
            <a:r>
              <a:rPr lang="en-US" altLang="it-IT">
                <a:ea typeface="ＭＳ Ｐゴシック" panose="020B0600070205080204" pitchFamily="34" charset="-128"/>
              </a:rPr>
              <a:t>Macchine a sincronizzazione esterna</a:t>
            </a:r>
          </a:p>
        </p:txBody>
      </p:sp>
      <p:pic>
        <p:nvPicPr>
          <p:cNvPr id="31746" name="Picture 4">
            <a:extLst>
              <a:ext uri="{FF2B5EF4-FFF2-40B4-BE49-F238E27FC236}">
                <a16:creationId xmlns:a16="http://schemas.microsoft.com/office/drawing/2014/main" id="{1696E53B-0E07-A0BE-6AE2-A72636C7C2C2}"/>
              </a:ext>
            </a:extLst>
          </p:cNvPr>
          <p:cNvPicPr>
            <a:picLocks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36763" y="1925638"/>
            <a:ext cx="6834187" cy="4159250"/>
          </a:xfrm>
          <a:noFill/>
        </p:spPr>
      </p:pic>
      <p:sp>
        <p:nvSpPr>
          <p:cNvPr id="31747" name="Rectangle 5">
            <a:extLst>
              <a:ext uri="{FF2B5EF4-FFF2-40B4-BE49-F238E27FC236}">
                <a16:creationId xmlns:a16="http://schemas.microsoft.com/office/drawing/2014/main" id="{22EE243A-CA1B-7598-18A3-C8798EC803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025" y="1357313"/>
            <a:ext cx="8915400" cy="533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bg2"/>
              </a:buClr>
              <a:buFont typeface="Wingdings" panose="05000000000000000000" pitchFamily="2" charset="2"/>
              <a:buChar char="p"/>
            </a:pPr>
            <a:r>
              <a:rPr lang="it-IT" altLang="it-IT" b="0">
                <a:solidFill>
                  <a:schemeClr val="tx2"/>
                </a:solidFill>
              </a:rPr>
              <a:t>Schema dettagliato</a:t>
            </a:r>
          </a:p>
        </p:txBody>
      </p:sp>
      <p:sp>
        <p:nvSpPr>
          <p:cNvPr id="283654" name="AutoShape 6">
            <a:extLst>
              <a:ext uri="{FF2B5EF4-FFF2-40B4-BE49-F238E27FC236}">
                <a16:creationId xmlns:a16="http://schemas.microsoft.com/office/drawing/2014/main" id="{2879B9D6-B3C8-51CE-AD4D-84FD28F132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1725" y="5800725"/>
            <a:ext cx="2363788" cy="847725"/>
          </a:xfrm>
          <a:prstGeom prst="wedgeEllipseCallout">
            <a:avLst>
              <a:gd name="adj1" fmla="val 5894"/>
              <a:gd name="adj2" fmla="val -14906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>
                <a:solidFill>
                  <a:schemeClr val="bg1"/>
                </a:solidFill>
              </a:rPr>
              <a:t>Contenuto informativo</a:t>
            </a:r>
          </a:p>
        </p:txBody>
      </p:sp>
      <p:sp>
        <p:nvSpPr>
          <p:cNvPr id="31749" name="AutoShape 7">
            <a:extLst>
              <a:ext uri="{FF2B5EF4-FFF2-40B4-BE49-F238E27FC236}">
                <a16:creationId xmlns:a16="http://schemas.microsoft.com/office/drawing/2014/main" id="{64CE8447-3BD5-68FA-9A7F-8A97A42EB2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7438" y="1730375"/>
            <a:ext cx="2735262" cy="847725"/>
          </a:xfrm>
          <a:prstGeom prst="wedgeEllipseCallout">
            <a:avLst>
              <a:gd name="adj1" fmla="val 70000"/>
              <a:gd name="adj2" fmla="val 2172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t-IT" sz="1400">
                <a:solidFill>
                  <a:schemeClr val="bg1"/>
                </a:solidFill>
              </a:rPr>
              <a:t>tempificazione</a:t>
            </a:r>
          </a:p>
        </p:txBody>
      </p:sp>
      <p:sp>
        <p:nvSpPr>
          <p:cNvPr id="283657" name="Rectangle 9">
            <a:extLst>
              <a:ext uri="{FF2B5EF4-FFF2-40B4-BE49-F238E27FC236}">
                <a16:creationId xmlns:a16="http://schemas.microsoft.com/office/drawing/2014/main" id="{4FE012F5-E774-37DF-B0C8-F4FDF729E3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7170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3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3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3654" grpId="0" animBg="1"/>
      <p:bldP spid="28365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Segnaposto numero diapositiva 3">
            <a:extLst>
              <a:ext uri="{FF2B5EF4-FFF2-40B4-BE49-F238E27FC236}">
                <a16:creationId xmlns:a16="http://schemas.microsoft.com/office/drawing/2014/main" id="{13BBF5BD-DFDB-A732-C07B-0FF4AC56F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48FE89BE-5FAD-45DB-8232-4E335BB0BC2A}" type="slidenum">
              <a:rPr lang="it-IT" altLang="it-IT" sz="140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it-IT" altLang="it-IT" sz="1400"/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22AD4B0A-3E4E-7DB3-B60E-1D48C61A6C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>
                <a:ea typeface="ＭＳ Ｐゴシック" panose="020B0600070205080204" pitchFamily="34" charset="-128"/>
              </a:rPr>
              <a:t>Reti a sincronizzazione esterna - 2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8FD8842A-F0C4-2FD1-D080-5BF32E5AAD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2588" y="1933575"/>
            <a:ext cx="5819775" cy="2417763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it-IT" altLang="it-IT" sz="3600" b="1">
                <a:ea typeface="ＭＳ Ｐゴシック" panose="020B0600070205080204" pitchFamily="34" charset="-128"/>
              </a:rPr>
              <a:t>Tabella e posizionamento</a:t>
            </a:r>
          </a:p>
          <a:p>
            <a:pPr eaLnBrk="1" hangingPunct="1">
              <a:lnSpc>
                <a:spcPct val="80000"/>
              </a:lnSpc>
            </a:pPr>
            <a:r>
              <a:rPr lang="it-IT" altLang="it-IT" sz="2400">
                <a:ea typeface="ＭＳ Ｐゴシック" panose="020B0600070205080204" pitchFamily="34" charset="-128"/>
              </a:rPr>
              <a:t>una sola </a:t>
            </a:r>
            <a:r>
              <a:rPr lang="it-IT" altLang="it-IT" sz="2400" b="1">
                <a:ea typeface="ＭＳ Ｐゴシック" panose="020B0600070205080204" pitchFamily="34" charset="-128"/>
              </a:rPr>
              <a:t>variabile impulsiva</a:t>
            </a:r>
            <a:r>
              <a:rPr lang="it-IT" altLang="it-IT" sz="2400">
                <a:ea typeface="ＭＳ Ｐゴシック" panose="020B0600070205080204" pitchFamily="34" charset="-128"/>
              </a:rPr>
              <a:t> (</a:t>
            </a:r>
            <a:r>
              <a:rPr lang="it-IT" altLang="it-IT" sz="2400" i="1">
                <a:ea typeface="ＭＳ Ｐゴシック" panose="020B0600070205080204" pitchFamily="34" charset="-128"/>
              </a:rPr>
              <a:t>s=c</a:t>
            </a:r>
            <a:r>
              <a:rPr lang="it-IT" altLang="it-IT" sz="2400">
                <a:ea typeface="ＭＳ Ｐゴシック" panose="020B0600070205080204" pitchFamily="34" charset="-128"/>
              </a:rPr>
              <a:t>); determina  solo </a:t>
            </a:r>
            <a:r>
              <a:rPr lang="it-IT" altLang="it-IT" sz="2400" b="1">
                <a:ea typeface="ＭＳ Ｐゴシック" panose="020B0600070205080204" pitchFamily="34" charset="-128"/>
              </a:rPr>
              <a:t>quando</a:t>
            </a:r>
            <a:r>
              <a:rPr lang="it-IT" altLang="it-IT" sz="2400">
                <a:ea typeface="ＭＳ Ｐゴシック" panose="020B0600070205080204" pitchFamily="34" charset="-128"/>
              </a:rPr>
              <a:t> la rete deve commutare</a:t>
            </a:r>
          </a:p>
          <a:p>
            <a:pPr eaLnBrk="1" hangingPunct="1">
              <a:lnSpc>
                <a:spcPct val="80000"/>
              </a:lnSpc>
            </a:pPr>
            <a:r>
              <a:rPr lang="it-IT" altLang="it-IT" sz="2400">
                <a:ea typeface="ＭＳ Ｐゴシック" panose="020B0600070205080204" pitchFamily="34" charset="-128"/>
              </a:rPr>
              <a:t>un insieme di </a:t>
            </a:r>
            <a:r>
              <a:rPr lang="it-IT" altLang="it-IT" sz="2400" b="1">
                <a:ea typeface="ＭＳ Ｐゴシック" panose="020B0600070205080204" pitchFamily="34" charset="-128"/>
              </a:rPr>
              <a:t>variabili a livello</a:t>
            </a:r>
            <a:r>
              <a:rPr lang="it-IT" altLang="it-IT" sz="2400">
                <a:ea typeface="ＭＳ Ｐゴシック" panose="020B0600070205080204" pitchFamily="34" charset="-128"/>
              </a:rPr>
              <a:t> (</a:t>
            </a:r>
            <a:r>
              <a:rPr lang="it-IT" altLang="it-IT" sz="2400" i="1">
                <a:ea typeface="ＭＳ Ｐゴシック" panose="020B0600070205080204" pitchFamily="34" charset="-128"/>
              </a:rPr>
              <a:t>L</a:t>
            </a:r>
            <a:r>
              <a:rPr lang="it-IT" altLang="it-IT" sz="2400">
                <a:ea typeface="ＭＳ Ｐゴシック" panose="020B0600070205080204" pitchFamily="34" charset="-128"/>
              </a:rPr>
              <a:t>): determina </a:t>
            </a:r>
            <a:r>
              <a:rPr lang="it-IT" altLang="it-IT" sz="2400" b="1">
                <a:ea typeface="ＭＳ Ｐゴシック" panose="020B0600070205080204" pitchFamily="34" charset="-128"/>
              </a:rPr>
              <a:t>dove</a:t>
            </a:r>
            <a:r>
              <a:rPr lang="it-IT" altLang="it-IT" sz="2400">
                <a:ea typeface="ＭＳ Ｐゴシック" panose="020B0600070205080204" pitchFamily="34" charset="-128"/>
              </a:rPr>
              <a:t> la rete deve commutare</a:t>
            </a:r>
          </a:p>
          <a:p>
            <a:pPr eaLnBrk="1" hangingPunct="1">
              <a:lnSpc>
                <a:spcPct val="80000"/>
              </a:lnSpc>
            </a:pPr>
            <a:endParaRPr lang="it-IT" altLang="it-IT" sz="2400" b="1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it-IT" altLang="it-IT" sz="2400" b="1">
                <a:ea typeface="ＭＳ Ｐゴシック" panose="020B0600070205080204" pitchFamily="34" charset="-128"/>
              </a:rPr>
              <a:t>Segnali di posizionamento</a:t>
            </a:r>
            <a:r>
              <a:rPr lang="it-IT" altLang="it-IT" sz="2400">
                <a:ea typeface="ＭＳ Ｐゴシック" panose="020B0600070205080204" pitchFamily="34" charset="-128"/>
              </a:rPr>
              <a:t>: un insieme  P di variabili a livello</a:t>
            </a:r>
          </a:p>
          <a:p>
            <a:pPr lvl="1"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fr-FR" altLang="it-IT" sz="2800" i="1">
                <a:ea typeface="ＭＳ Ｐゴシック" panose="020B0600070205080204" pitchFamily="34" charset="-128"/>
              </a:rPr>
              <a:t>p = ƒ(L,Q)</a:t>
            </a:r>
          </a:p>
        </p:txBody>
      </p:sp>
      <p:graphicFrame>
        <p:nvGraphicFramePr>
          <p:cNvPr id="32772" name="Object 4">
            <a:extLst>
              <a:ext uri="{FF2B5EF4-FFF2-40B4-BE49-F238E27FC236}">
                <a16:creationId xmlns:a16="http://schemas.microsoft.com/office/drawing/2014/main" id="{1129DFEC-D7A8-EC81-291E-093835C3703D}"/>
              </a:ext>
            </a:extLst>
          </p:cNvPr>
          <p:cNvGraphicFramePr>
            <a:graphicFrameLocks noChangeAspect="1"/>
          </p:cNvGraphicFramePr>
          <p:nvPr>
            <p:ph sz="half" idx="4294967295"/>
          </p:nvPr>
        </p:nvGraphicFramePr>
        <p:xfrm>
          <a:off x="6878638" y="1441450"/>
          <a:ext cx="2074862" cy="307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magine" r:id="rId3" imgW="0" imgH="0" progId="Word.Picture.8">
                  <p:embed/>
                </p:oleObj>
              </mc:Choice>
              <mc:Fallback>
                <p:oleObj name="Immagine" r:id="rId3" imgW="0" imgH="0" progId="Word.Picture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9338" r="12451" b="8586"/>
                      <a:stretch>
                        <a:fillRect/>
                      </a:stretch>
                    </p:blipFill>
                    <p:spPr bwMode="auto">
                      <a:xfrm>
                        <a:off x="6878638" y="1441450"/>
                        <a:ext cx="2074862" cy="307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2773" name="1A736642.WAV">
            <a:hlinkClick r:id="" action="ppaction://media"/>
            <a:extLst>
              <a:ext uri="{FF2B5EF4-FFF2-40B4-BE49-F238E27FC236}">
                <a16:creationId xmlns:a16="http://schemas.microsoft.com/office/drawing/2014/main" id="{FB83BF7C-0BD3-746B-654B-B936243EA57C}"/>
              </a:ext>
            </a:extLst>
          </p:cNvPr>
          <p:cNvPicPr>
            <a:picLocks noRot="1"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9888" y="6261100"/>
            <a:ext cx="330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6500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Segnaposto numero diapositiva 3">
            <a:extLst>
              <a:ext uri="{FF2B5EF4-FFF2-40B4-BE49-F238E27FC236}">
                <a16:creationId xmlns:a16="http://schemas.microsoft.com/office/drawing/2014/main" id="{97D9CB4C-FCA6-7DB8-865A-90F98991B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BC7B8786-D923-4BBD-A7DD-43494A75C411}" type="slidenum">
              <a:rPr lang="it-IT" altLang="it-IT" sz="140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it-IT" altLang="it-IT" sz="1400"/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D9ED2D1C-4F6C-FEA0-1EFC-9A7BC18044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>
                <a:ea typeface="ＭＳ Ｐゴシック" panose="020B0600070205080204" pitchFamily="34" charset="-128"/>
              </a:rPr>
              <a:t>Reti a sincronizzazione esterna - 3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E9C1F39D-4FE6-4D14-66E0-FB1CF363A9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7338" y="1428750"/>
            <a:ext cx="6049962" cy="481965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it-IT" altLang="it-IT" b="1">
                <a:ea typeface="ＭＳ Ｐゴシック" panose="020B0600070205080204" pitchFamily="34" charset="-128"/>
              </a:rPr>
              <a:t>Uscite</a:t>
            </a:r>
            <a:endParaRPr lang="fr-FR" altLang="it-IT" sz="1800" i="1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it-IT" altLang="it-IT" sz="2400">
                <a:ea typeface="ＭＳ Ｐゴシック" panose="020B0600070205080204" pitchFamily="34" charset="-128"/>
              </a:rPr>
              <a:t>di Moore, cioè funzioni dei soli stati e quindi a livelli</a:t>
            </a:r>
            <a:endParaRPr lang="it-IT" altLang="it-IT" sz="2400" i="1">
              <a:ea typeface="ＭＳ Ｐゴシック" panose="020B0600070205080204" pitchFamily="34" charset="-128"/>
            </a:endParaRPr>
          </a:p>
          <a:p>
            <a:pPr lvl="1"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it-IT" altLang="it-IT" i="1">
                <a:ea typeface="ＭＳ Ｐゴシック" panose="020B0600070205080204" pitchFamily="34" charset="-128"/>
              </a:rPr>
              <a:t>U</a:t>
            </a:r>
            <a:r>
              <a:rPr lang="it-IT" altLang="it-IT" i="1" baseline="-25000">
                <a:ea typeface="ＭＳ Ｐゴシック" panose="020B0600070205080204" pitchFamily="34" charset="-128"/>
              </a:rPr>
              <a:t>liv </a:t>
            </a:r>
            <a:r>
              <a:rPr lang="it-IT" altLang="it-IT" i="1">
                <a:ea typeface="ＭＳ Ｐゴシック" panose="020B0600070205080204" pitchFamily="34" charset="-128"/>
              </a:rPr>
              <a:t>= f(Q)	</a:t>
            </a:r>
          </a:p>
          <a:p>
            <a:pPr lvl="1"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it-IT" altLang="it-IT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it-IT" altLang="it-IT" sz="2400">
                <a:ea typeface="ＭＳ Ｐゴシック" panose="020B0600070205080204" pitchFamily="34" charset="-128"/>
              </a:rPr>
              <a:t>di Mealy, cioè funzioni di stati e ingressi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si escludono le uscite a livelli perché affette da alee e restano quindi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it-IT" altLang="it-IT">
                <a:ea typeface="ＭＳ Ｐゴシック" panose="020B0600070205080204" pitchFamily="34" charset="-128"/>
              </a:rPr>
              <a:t>                    </a:t>
            </a:r>
            <a:r>
              <a:rPr lang="en-GB" altLang="it-IT" i="1">
                <a:ea typeface="ＭＳ Ｐゴシック" panose="020B0600070205080204" pitchFamily="34" charset="-128"/>
              </a:rPr>
              <a:t>U</a:t>
            </a:r>
            <a:r>
              <a:rPr lang="en-GB" altLang="it-IT" i="1" baseline="-25000">
                <a:ea typeface="ＭＳ Ｐゴシック" panose="020B0600070205080204" pitchFamily="34" charset="-128"/>
              </a:rPr>
              <a:t>imp</a:t>
            </a:r>
            <a:r>
              <a:rPr lang="en-GB" altLang="it-IT" i="1">
                <a:ea typeface="ＭＳ Ｐゴシック" panose="020B0600070205080204" pitchFamily="34" charset="-128"/>
              </a:rPr>
              <a:t>=s</a:t>
            </a:r>
            <a:r>
              <a:rPr lang="it-IT" altLang="it-IT" i="1">
                <a:ea typeface="ＭＳ Ｐゴシック" panose="020B0600070205080204" pitchFamily="34" charset="-128"/>
                <a:sym typeface="Symbol" panose="05050102010706020507" pitchFamily="18" charset="2"/>
              </a:rPr>
              <a:t></a:t>
            </a:r>
            <a:r>
              <a:rPr lang="en-GB" altLang="it-IT" i="1">
                <a:ea typeface="ＭＳ Ｐゴシック" panose="020B0600070205080204" pitchFamily="34" charset="-128"/>
              </a:rPr>
              <a:t>f(Q,L)</a:t>
            </a:r>
            <a:r>
              <a:rPr lang="it-IT" altLang="it-IT" i="1">
                <a:ea typeface="ＭＳ Ｐゴシック" panose="020B0600070205080204" pitchFamily="34" charset="-128"/>
              </a:rPr>
              <a:t> 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it-IT" altLang="it-IT" i="1"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8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Affinché </a:t>
            </a:r>
            <a:r>
              <a:rPr lang="en-GB" altLang="it-IT" i="1">
                <a:ea typeface="ＭＳ Ｐゴシック" panose="020B0600070205080204" pitchFamily="34" charset="-128"/>
              </a:rPr>
              <a:t>U</a:t>
            </a:r>
            <a:r>
              <a:rPr lang="en-GB" altLang="it-IT" i="1" baseline="-25000">
                <a:ea typeface="ＭＳ Ｐゴシック" panose="020B0600070205080204" pitchFamily="34" charset="-128"/>
              </a:rPr>
              <a:t>imp</a:t>
            </a:r>
            <a:r>
              <a:rPr lang="en-GB" altLang="it-IT" i="1">
                <a:ea typeface="ＭＳ Ｐゴシック" panose="020B0600070205080204" pitchFamily="34" charset="-128"/>
              </a:rPr>
              <a:t> mantenga il sincronismo con </a:t>
            </a:r>
            <a:r>
              <a:rPr lang="en-GB" altLang="it-IT">
                <a:ea typeface="ＭＳ Ｐゴシック" panose="020B0600070205080204" pitchFamily="34" charset="-128"/>
              </a:rPr>
              <a:t>s</a:t>
            </a:r>
            <a:r>
              <a:rPr lang="en-GB" altLang="it-IT" i="1">
                <a:ea typeface="ＭＳ Ｐゴシック" panose="020B0600070205080204" pitchFamily="34" charset="-128"/>
              </a:rPr>
              <a:t> </a:t>
            </a:r>
            <a:r>
              <a:rPr lang="it-IT" altLang="it-IT">
                <a:ea typeface="ＭＳ Ｐゴシック" panose="020B0600070205080204" pitchFamily="34" charset="-128"/>
              </a:rPr>
              <a:t>è necessario che la rete operi sul fronte di discesa (Q ed L restino stabili mentre c</a:t>
            </a:r>
            <a:r>
              <a:rPr lang="ja-JP" altLang="it-IT">
                <a:ea typeface="ＭＳ Ｐゴシック" panose="020B0600070205080204" pitchFamily="34" charset="-128"/>
              </a:rPr>
              <a:t>’</a:t>
            </a:r>
            <a:r>
              <a:rPr lang="it-IT" altLang="ja-JP">
                <a:ea typeface="ＭＳ Ｐゴシック" panose="020B0600070205080204" pitchFamily="34" charset="-128"/>
              </a:rPr>
              <a:t>è s)</a:t>
            </a:r>
            <a:endParaRPr lang="it-IT" altLang="it-IT">
              <a:ea typeface="ＭＳ Ｐゴシック" panose="020B0600070205080204" pitchFamily="34" charset="-128"/>
            </a:endParaRPr>
          </a:p>
        </p:txBody>
      </p:sp>
      <p:pic>
        <p:nvPicPr>
          <p:cNvPr id="34820" name="Picture 8">
            <a:extLst>
              <a:ext uri="{FF2B5EF4-FFF2-40B4-BE49-F238E27FC236}">
                <a16:creationId xmlns:a16="http://schemas.microsoft.com/office/drawing/2014/main" id="{DC3EAA8B-BAE1-5242-CA0F-4E44FD7B7F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6838" y="2863850"/>
            <a:ext cx="3052762" cy="142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7700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egnaposto numero diapositiva 3">
            <a:extLst>
              <a:ext uri="{FF2B5EF4-FFF2-40B4-BE49-F238E27FC236}">
                <a16:creationId xmlns:a16="http://schemas.microsoft.com/office/drawing/2014/main" id="{82E45FA8-3BB3-AAF4-E5AE-30E11E934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BDBA6817-5482-435A-B5E7-8CBD23B5E948}" type="slidenum">
              <a:rPr lang="it-IT" altLang="it-IT" sz="140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it-IT" altLang="it-IT" sz="1400"/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13BD7589-0E08-3BC9-646F-8B3A677DF1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>
                <a:ea typeface="ＭＳ Ｐゴシック" panose="020B0600070205080204" pitchFamily="34" charset="-128"/>
              </a:rPr>
              <a:t>Progetto di una rete sincrona</a:t>
            </a:r>
          </a:p>
        </p:txBody>
      </p:sp>
      <p:sp>
        <p:nvSpPr>
          <p:cNvPr id="36867" name="Rectangle 4">
            <a:extLst>
              <a:ext uri="{FF2B5EF4-FFF2-40B4-BE49-F238E27FC236}">
                <a16:creationId xmlns:a16="http://schemas.microsoft.com/office/drawing/2014/main" id="{FEBA89EC-E3DD-E292-4E18-6AB42955EE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5300" y="2228850"/>
            <a:ext cx="8915400" cy="13335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it-IT" sz="2400" b="1">
                <a:ea typeface="ＭＳ Ｐゴシック" panose="020B0600070205080204" pitchFamily="34" charset="-128"/>
              </a:rPr>
              <a:t>Le fasi</a:t>
            </a:r>
          </a:p>
          <a:p>
            <a:pPr eaLnBrk="1" hangingPunct="1">
              <a:buFontTx/>
              <a:buNone/>
            </a:pPr>
            <a:endParaRPr lang="en-US" altLang="it-IT" sz="2400" b="1">
              <a:ea typeface="ＭＳ Ｐゴシック" panose="020B0600070205080204" pitchFamily="34" charset="-128"/>
            </a:endParaRPr>
          </a:p>
          <a:p>
            <a:pPr eaLnBrk="1" hangingPunct="1">
              <a:buFontTx/>
              <a:buNone/>
            </a:pPr>
            <a:endParaRPr lang="en-US" altLang="it-IT" sz="2400" b="1">
              <a:ea typeface="ＭＳ Ｐゴシック" panose="020B0600070205080204" pitchFamily="34" charset="-128"/>
            </a:endParaRPr>
          </a:p>
        </p:txBody>
      </p:sp>
      <p:sp>
        <p:nvSpPr>
          <p:cNvPr id="36868" name="Rectangle 5">
            <a:extLst>
              <a:ext uri="{FF2B5EF4-FFF2-40B4-BE49-F238E27FC236}">
                <a16:creationId xmlns:a16="http://schemas.microsoft.com/office/drawing/2014/main" id="{EC5B5500-244E-1830-48AA-8E95F79B42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588" y="1357313"/>
            <a:ext cx="8915400" cy="46910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33400" indent="-5334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990600" indent="-53340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it-IT" sz="3200"/>
              <a:t>Le fasi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Tx/>
              <a:buAutoNum type="arabicPeriod"/>
            </a:pPr>
            <a:r>
              <a:rPr lang="en-US" altLang="it-IT" sz="1800"/>
              <a:t>Definizione della rete e costruzione della tabella</a:t>
            </a:r>
          </a:p>
          <a:p>
            <a:pPr lvl="1" eaLnBrk="1" hangingPunct="1">
              <a:lnSpc>
                <a:spcPct val="90000"/>
              </a:lnSpc>
              <a:buClrTx/>
              <a:buFont typeface="Wingdings" panose="05000000000000000000" pitchFamily="2" charset="2"/>
              <a:buChar char="§"/>
            </a:pPr>
            <a:r>
              <a:rPr lang="en-US" altLang="it-IT" sz="1800" b="0"/>
              <a:t>Trasformare la specifica della rete nella tabella di flusso di un automa a stati finiti</a:t>
            </a:r>
          </a:p>
          <a:p>
            <a:pPr lvl="1" eaLnBrk="1" hangingPunct="1">
              <a:lnSpc>
                <a:spcPct val="90000"/>
              </a:lnSpc>
              <a:buClrTx/>
              <a:buFont typeface="Wingdings" panose="05000000000000000000" pitchFamily="2" charset="2"/>
              <a:buChar char="§"/>
            </a:pPr>
            <a:r>
              <a:rPr lang="it-IT" altLang="it-IT" sz="1800" b="0"/>
              <a:t>Scegliere il modello di rete che si intende realizzare dopo aver fissato le caratteristiche temporali degli ingressi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Tx/>
              <a:buAutoNum type="arabicPeriod"/>
            </a:pPr>
            <a:r>
              <a:rPr lang="en-US" altLang="it-IT" sz="1800"/>
              <a:t>Assegnazione degli stati</a:t>
            </a:r>
            <a:r>
              <a:rPr lang="en-US" altLang="it-IT" sz="1800" b="0"/>
              <a:t> </a:t>
            </a:r>
          </a:p>
          <a:p>
            <a:pPr lvl="1" eaLnBrk="1" hangingPunct="1">
              <a:lnSpc>
                <a:spcPct val="90000"/>
              </a:lnSpc>
              <a:buClrTx/>
              <a:buFont typeface="Wingdings" panose="05000000000000000000" pitchFamily="2" charset="2"/>
              <a:buChar char="§"/>
            </a:pPr>
            <a:r>
              <a:rPr lang="en-US" altLang="it-IT" sz="1800" b="0"/>
              <a:t>Minimizzare il numero di stati </a:t>
            </a:r>
          </a:p>
          <a:p>
            <a:pPr lvl="1" eaLnBrk="1" hangingPunct="1">
              <a:lnSpc>
                <a:spcPct val="90000"/>
              </a:lnSpc>
              <a:buClrTx/>
              <a:buFont typeface="Wingdings" panose="05000000000000000000" pitchFamily="2" charset="2"/>
              <a:buChar char="§"/>
            </a:pPr>
            <a:r>
              <a:rPr lang="en-US" altLang="it-IT" sz="1800" b="0"/>
              <a:t>Codificare in binario gli stati interni dell’automa (numero minimo)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Tx/>
              <a:buAutoNum type="arabicPeriod"/>
            </a:pPr>
            <a:r>
              <a:rPr lang="en-US" altLang="it-IT" sz="1800"/>
              <a:t>Scelta dei flip-flop</a:t>
            </a:r>
            <a:r>
              <a:rPr lang="en-US" altLang="it-IT" sz="1800" b="0"/>
              <a:t> </a:t>
            </a:r>
          </a:p>
          <a:p>
            <a:pPr lvl="1" eaLnBrk="1" hangingPunct="1">
              <a:lnSpc>
                <a:spcPct val="90000"/>
              </a:lnSpc>
              <a:buClrTx/>
              <a:buFont typeface="Wingdings" panose="05000000000000000000" pitchFamily="2" charset="2"/>
              <a:buChar char="§"/>
            </a:pPr>
            <a:r>
              <a:rPr lang="en-US" altLang="it-IT" sz="1800" b="0"/>
              <a:t>Influisce sul costo della rete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Tx/>
              <a:buAutoNum type="arabicPeriod"/>
            </a:pPr>
            <a:r>
              <a:rPr lang="it-IT" altLang="it-IT" sz="1800"/>
              <a:t>Progetti combinatori per il posizionamento dei flip-flop e delle uscite</a:t>
            </a:r>
            <a:r>
              <a:rPr lang="it-IT" altLang="it-IT" sz="1800" b="0"/>
              <a:t> </a:t>
            </a:r>
            <a:endParaRPr lang="en-US" altLang="it-IT" sz="1800" b="0"/>
          </a:p>
          <a:p>
            <a:pPr lvl="1" eaLnBrk="1" hangingPunct="1">
              <a:lnSpc>
                <a:spcPct val="90000"/>
              </a:lnSpc>
              <a:buClrTx/>
              <a:buFont typeface="Wingdings" panose="05000000000000000000" pitchFamily="2" charset="2"/>
              <a:buChar char="§"/>
            </a:pPr>
            <a:r>
              <a:rPr lang="en-US" altLang="it-IT" sz="1800" b="0"/>
              <a:t>Determinare, per ogni flip-flop e ogni riga della tabella di flusso, i segnali di eccitazione necessari alla generazione dello stato seguente</a:t>
            </a:r>
          </a:p>
          <a:p>
            <a:pPr lvl="1" eaLnBrk="1" hangingPunct="1">
              <a:lnSpc>
                <a:spcPct val="90000"/>
              </a:lnSpc>
              <a:buClrTx/>
              <a:buFont typeface="Wingdings" panose="05000000000000000000" pitchFamily="2" charset="2"/>
              <a:buChar char="§"/>
            </a:pPr>
            <a:r>
              <a:rPr lang="en-US" altLang="it-IT" sz="1800" b="0"/>
              <a:t>Determinare le equazioni in forma minima della rete combinatoria</a:t>
            </a:r>
          </a:p>
          <a:p>
            <a:pPr lvl="1" eaLnBrk="1" hangingPunct="1">
              <a:lnSpc>
                <a:spcPct val="90000"/>
              </a:lnSpc>
              <a:buClrTx/>
              <a:buFont typeface="Wingdings" panose="05000000000000000000" pitchFamily="2" charset="2"/>
              <a:buChar char="§"/>
            </a:pPr>
            <a:r>
              <a:rPr lang="en-US" altLang="it-IT" sz="1800" b="0"/>
              <a:t>Disegnare il circuito</a:t>
            </a:r>
          </a:p>
        </p:txBody>
      </p:sp>
    </p:spTree>
  </p:cSld>
  <p:clrMapOvr>
    <a:masterClrMapping/>
  </p:clrMapOvr>
  <p:transition advTm="18600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3" name="Picture 2" descr="j0078711">
            <a:extLst>
              <a:ext uri="{FF2B5EF4-FFF2-40B4-BE49-F238E27FC236}">
                <a16:creationId xmlns:a16="http://schemas.microsoft.com/office/drawing/2014/main" id="{1F8864CB-1B03-18D4-471E-EA5459154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6675" y="1473200"/>
            <a:ext cx="2143125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4" name="Rectangle 3">
            <a:extLst>
              <a:ext uri="{FF2B5EF4-FFF2-40B4-BE49-F238E27FC236}">
                <a16:creationId xmlns:a16="http://schemas.microsoft.com/office/drawing/2014/main" id="{FE37CB13-1CF2-EC43-2598-713B3358A8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Domande?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oppialc">
  <a:themeElements>
    <a:clrScheme name="">
      <a:dk1>
        <a:srgbClr val="000000"/>
      </a:dk1>
      <a:lt1>
        <a:srgbClr val="FFFFFF"/>
      </a:lt1>
      <a:dk2>
        <a:srgbClr val="006B61"/>
      </a:dk2>
      <a:lt2>
        <a:srgbClr val="C0C0C0"/>
      </a:lt2>
      <a:accent1>
        <a:srgbClr val="FF00FF"/>
      </a:accent1>
      <a:accent2>
        <a:srgbClr val="00C0C0"/>
      </a:accent2>
      <a:accent3>
        <a:srgbClr val="FFFFFF"/>
      </a:accent3>
      <a:accent4>
        <a:srgbClr val="000000"/>
      </a:accent4>
      <a:accent5>
        <a:srgbClr val="FFAAFF"/>
      </a:accent5>
      <a:accent6>
        <a:srgbClr val="00AEAE"/>
      </a:accent6>
      <a:hlink>
        <a:srgbClr val="00C000"/>
      </a:hlink>
      <a:folHlink>
        <a:srgbClr val="800080"/>
      </a:folHlink>
    </a:clrScheme>
    <a:fontScheme name="doppialc">
      <a:majorFont>
        <a:latin typeface="Book Antiqua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triangle" w="lg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triangle" w="lg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oppialc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oppial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oppialc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oppialc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oppialc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oppialc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oppialc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F36501F82A52044904E2AA776D592FE" ma:contentTypeVersion="7" ma:contentTypeDescription="Create a new document." ma:contentTypeScope="" ma:versionID="ac12382b13ceaf092b54f0e0c65626fa">
  <xsd:schema xmlns:xsd="http://www.w3.org/2001/XMLSchema" xmlns:xs="http://www.w3.org/2001/XMLSchema" xmlns:p="http://schemas.microsoft.com/office/2006/metadata/properties" xmlns:ns2="6e71ac32-155a-4619-8d53-7abf123e0249" targetNamespace="http://schemas.microsoft.com/office/2006/metadata/properties" ma:root="true" ma:fieldsID="e5af121a0c3934511d7015a115c26a1d" ns2:_="">
    <xsd:import namespace="6e71ac32-155a-4619-8d53-7abf123e02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71ac32-155a-4619-8d53-7abf123e024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59FD6E1-2ED9-433A-A6BF-F8C7805D5675}"/>
</file>

<file path=customXml/itemProps2.xml><?xml version="1.0" encoding="utf-8"?>
<ds:datastoreItem xmlns:ds="http://schemas.openxmlformats.org/officeDocument/2006/customXml" ds:itemID="{D9EE5883-C9AA-4FAA-9DAA-38D286EF61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E570A65-5911-4EDB-9090-5F5FC71D63E8}"/>
</file>

<file path=docProps/app.xml><?xml version="1.0" encoding="utf-8"?>
<Properties xmlns="http://schemas.openxmlformats.org/officeDocument/2006/extended-properties" xmlns:vt="http://schemas.openxmlformats.org/officeDocument/2006/docPropsVTypes">
  <Template>c:\powerpnt\modelli\lucidicl\doppialc.ppt</Template>
  <TotalTime>41738</TotalTime>
  <Pages>39</Pages>
  <Words>769</Words>
  <Application>Microsoft Office PowerPoint</Application>
  <PresentationFormat>A4 (21x29,7 cm)</PresentationFormat>
  <Paragraphs>122</Paragraphs>
  <Slides>13</Slides>
  <Notes>10</Notes>
  <HiddenSlides>4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14" baseType="lpstr">
      <vt:lpstr>doppialc</vt:lpstr>
      <vt:lpstr>Progetto di Macchine Sincrone</vt:lpstr>
      <vt:lpstr>Argomenti</vt:lpstr>
      <vt:lpstr>Macchine sincrone</vt:lpstr>
      <vt:lpstr>Reti sincrone impulsive</vt:lpstr>
      <vt:lpstr>Reti sincrone impulsive - 3</vt:lpstr>
      <vt:lpstr>Reti sincrone impulsive - 4</vt:lpstr>
      <vt:lpstr>Reti sincrone impulsive</vt:lpstr>
      <vt:lpstr>Reti a sincronizzazione esterna - 1</vt:lpstr>
      <vt:lpstr>Macchine a sincronizzazione esterna</vt:lpstr>
      <vt:lpstr>Reti a sincronizzazione esterna - 2</vt:lpstr>
      <vt:lpstr>Reti a sincronizzazione esterna - 3</vt:lpstr>
      <vt:lpstr>Progetto di una rete sincrona</vt:lpstr>
      <vt:lpstr>Domande?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rete atm seminario</dc:title>
  <dc:subject/>
  <dc:creator/>
  <cp:keywords/>
  <dc:description/>
  <cp:lastModifiedBy>VALENTINA CASOLA</cp:lastModifiedBy>
  <cp:revision>354</cp:revision>
  <cp:lastPrinted>1999-05-26T13:44:20Z</cp:lastPrinted>
  <dcterms:created xsi:type="dcterms:W3CDTF">2010-05-27T10:34:39Z</dcterms:created>
  <dcterms:modified xsi:type="dcterms:W3CDTF">2026-01-22T10:27:16Z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0x0101005F36501F82A52044904E2AA776D592FE</vt:lpwstr>
  </property>
</Properties>
</file>