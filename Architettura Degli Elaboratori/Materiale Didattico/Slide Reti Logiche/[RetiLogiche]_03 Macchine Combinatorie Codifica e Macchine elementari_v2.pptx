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11"/>
  </p:notesMasterIdLst>
  <p:handoutMasterIdLst>
    <p:handoutMasterId r:id="rId112"/>
  </p:handoutMasterIdLst>
  <p:sldIdLst>
    <p:sldId id="256" r:id="rId5"/>
    <p:sldId id="281" r:id="rId6"/>
    <p:sldId id="294" r:id="rId7"/>
    <p:sldId id="295" r:id="rId8"/>
    <p:sldId id="305" r:id="rId9"/>
    <p:sldId id="306" r:id="rId10"/>
    <p:sldId id="297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9" r:id="rId22"/>
    <p:sldId id="317" r:id="rId23"/>
    <p:sldId id="318" r:id="rId24"/>
    <p:sldId id="260" r:id="rId25"/>
    <p:sldId id="261" r:id="rId26"/>
    <p:sldId id="262" r:id="rId27"/>
    <p:sldId id="289" r:id="rId28"/>
    <p:sldId id="276" r:id="rId29"/>
    <p:sldId id="277" r:id="rId30"/>
    <p:sldId id="278" r:id="rId31"/>
    <p:sldId id="290" r:id="rId32"/>
    <p:sldId id="263" r:id="rId33"/>
    <p:sldId id="337" r:id="rId34"/>
    <p:sldId id="338" r:id="rId35"/>
    <p:sldId id="320" r:id="rId36"/>
    <p:sldId id="321" r:id="rId37"/>
    <p:sldId id="324" r:id="rId38"/>
    <p:sldId id="325" r:id="rId39"/>
    <p:sldId id="326" r:id="rId40"/>
    <p:sldId id="266" r:id="rId41"/>
    <p:sldId id="293" r:id="rId42"/>
    <p:sldId id="292" r:id="rId43"/>
    <p:sldId id="267" r:id="rId44"/>
    <p:sldId id="327" r:id="rId45"/>
    <p:sldId id="328" r:id="rId46"/>
    <p:sldId id="329" r:id="rId47"/>
    <p:sldId id="330" r:id="rId48"/>
    <p:sldId id="296" r:id="rId49"/>
    <p:sldId id="274" r:id="rId50"/>
    <p:sldId id="282" r:id="rId51"/>
    <p:sldId id="268" r:id="rId52"/>
    <p:sldId id="331" r:id="rId53"/>
    <p:sldId id="275" r:id="rId54"/>
    <p:sldId id="269" r:id="rId55"/>
    <p:sldId id="389" r:id="rId56"/>
    <p:sldId id="390" r:id="rId57"/>
    <p:sldId id="391" r:id="rId58"/>
    <p:sldId id="392" r:id="rId59"/>
    <p:sldId id="393" r:id="rId60"/>
    <p:sldId id="394" r:id="rId61"/>
    <p:sldId id="288" r:id="rId62"/>
    <p:sldId id="283" r:id="rId63"/>
    <p:sldId id="346" r:id="rId64"/>
    <p:sldId id="284" r:id="rId65"/>
    <p:sldId id="285" r:id="rId66"/>
    <p:sldId id="340" r:id="rId67"/>
    <p:sldId id="341" r:id="rId68"/>
    <p:sldId id="342" r:id="rId69"/>
    <p:sldId id="343" r:id="rId70"/>
    <p:sldId id="344" r:id="rId71"/>
    <p:sldId id="345" r:id="rId72"/>
    <p:sldId id="302" r:id="rId73"/>
    <p:sldId id="298" r:id="rId74"/>
    <p:sldId id="299" r:id="rId75"/>
    <p:sldId id="300" r:id="rId76"/>
    <p:sldId id="301" r:id="rId77"/>
    <p:sldId id="347" r:id="rId78"/>
    <p:sldId id="348" r:id="rId79"/>
    <p:sldId id="349" r:id="rId80"/>
    <p:sldId id="350" r:id="rId81"/>
    <p:sldId id="351" r:id="rId82"/>
    <p:sldId id="352" r:id="rId83"/>
    <p:sldId id="381" r:id="rId84"/>
    <p:sldId id="353" r:id="rId85"/>
    <p:sldId id="354" r:id="rId86"/>
    <p:sldId id="355" r:id="rId87"/>
    <p:sldId id="356" r:id="rId88"/>
    <p:sldId id="357" r:id="rId89"/>
    <p:sldId id="361" r:id="rId90"/>
    <p:sldId id="362" r:id="rId91"/>
    <p:sldId id="363" r:id="rId92"/>
    <p:sldId id="364" r:id="rId93"/>
    <p:sldId id="365" r:id="rId94"/>
    <p:sldId id="366" r:id="rId95"/>
    <p:sldId id="367" r:id="rId96"/>
    <p:sldId id="368" r:id="rId97"/>
    <p:sldId id="369" r:id="rId98"/>
    <p:sldId id="370" r:id="rId99"/>
    <p:sldId id="372" r:id="rId100"/>
    <p:sldId id="371" r:id="rId101"/>
    <p:sldId id="303" r:id="rId102"/>
    <p:sldId id="382" r:id="rId103"/>
    <p:sldId id="383" r:id="rId104"/>
    <p:sldId id="384" r:id="rId105"/>
    <p:sldId id="385" r:id="rId106"/>
    <p:sldId id="386" r:id="rId107"/>
    <p:sldId id="387" r:id="rId108"/>
    <p:sldId id="388" r:id="rId109"/>
    <p:sldId id="304" r:id="rId110"/>
  </p:sldIdLst>
  <p:sldSz cx="9906000" cy="6858000" type="A4"/>
  <p:notesSz cx="7300913" cy="95869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95419-FC7F-F964-473A-66E7E7CC9F5A}" v="2" dt="2026-03-05T16:55:01.5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08"/>
    <p:restoredTop sz="94649"/>
  </p:normalViewPr>
  <p:slideViewPr>
    <p:cSldViewPr snapToObjects="1">
      <p:cViewPr varScale="1">
        <p:scale>
          <a:sx n="92" d="100"/>
          <a:sy n="92" d="100"/>
        </p:scale>
        <p:origin x="1448" y="17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3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117" Type="http://schemas.microsoft.com/office/2016/11/relationships/changesInfo" Target="changesInfos/changesInfo1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12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presProps" Target="presProps.xml"/><Relationship Id="rId118" Type="http://schemas.microsoft.com/office/2015/10/relationships/revisionInfo" Target="revisionInfo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notesMaster" Target="notesMasters/notesMaster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1.xml"/><Relationship Id="rId1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SSANDRO JACOPO VASSALLO" userId="S::ales.vassallo@studenti.unina.it::987f9f4b-0a33-4b50-ae90-82ab5adbe4ae" providerId="AD" clId="Web-{3B90AC31-D3C7-AD78-64A1-6DF2385A410F}"/>
    <pc:docChg chg="modSld">
      <pc:chgData name="ALESSANDRO JACOPO VASSALLO" userId="S::ales.vassallo@studenti.unina.it::987f9f4b-0a33-4b50-ae90-82ab5adbe4ae" providerId="AD" clId="Web-{3B90AC31-D3C7-AD78-64A1-6DF2385A410F}" dt="2026-02-23T15:06:08.018" v="1" actId="1076"/>
      <pc:docMkLst>
        <pc:docMk/>
      </pc:docMkLst>
      <pc:sldChg chg="modSp">
        <pc:chgData name="ALESSANDRO JACOPO VASSALLO" userId="S::ales.vassallo@studenti.unina.it::987f9f4b-0a33-4b50-ae90-82ab5adbe4ae" providerId="AD" clId="Web-{3B90AC31-D3C7-AD78-64A1-6DF2385A410F}" dt="2026-02-23T15:06:08.018" v="1" actId="1076"/>
        <pc:sldMkLst>
          <pc:docMk/>
          <pc:sldMk cId="0" sldId="331"/>
        </pc:sldMkLst>
        <pc:picChg chg="mod">
          <ac:chgData name="ALESSANDRO JACOPO VASSALLO" userId="S::ales.vassallo@studenti.unina.it::987f9f4b-0a33-4b50-ae90-82ab5adbe4ae" providerId="AD" clId="Web-{3B90AC31-D3C7-AD78-64A1-6DF2385A410F}" dt="2026-02-23T15:06:08.018" v="1" actId="1076"/>
          <ac:picMkLst>
            <pc:docMk/>
            <pc:sldMk cId="0" sldId="331"/>
            <ac:picMk id="78853" creationId="{52E3A926-AAE8-C484-6FC0-6CD486127F0C}"/>
          </ac:picMkLst>
        </pc:picChg>
      </pc:sldChg>
    </pc:docChg>
  </pc:docChgLst>
  <pc:docChgLst>
    <pc:chgData name="GIORGIO PASSARIELLO" userId="S::gio.passariello@studenti.unina.it::8a3e9054-b8c3-4469-9111-04d626daa780" providerId="AD" clId="Web-{2A995419-FC7F-F964-473A-66E7E7CC9F5A}"/>
    <pc:docChg chg="modSld">
      <pc:chgData name="GIORGIO PASSARIELLO" userId="S::gio.passariello@studenti.unina.it::8a3e9054-b8c3-4469-9111-04d626daa780" providerId="AD" clId="Web-{2A995419-FC7F-F964-473A-66E7E7CC9F5A}" dt="2026-03-05T16:55:01.586" v="1" actId="1076"/>
      <pc:docMkLst>
        <pc:docMk/>
      </pc:docMkLst>
      <pc:sldChg chg="modSp">
        <pc:chgData name="GIORGIO PASSARIELLO" userId="S::gio.passariello@studenti.unina.it::8a3e9054-b8c3-4469-9111-04d626daa780" providerId="AD" clId="Web-{2A995419-FC7F-F964-473A-66E7E7CC9F5A}" dt="2026-03-05T16:55:01.586" v="1" actId="1076"/>
        <pc:sldMkLst>
          <pc:docMk/>
          <pc:sldMk cId="0" sldId="298"/>
        </pc:sldMkLst>
        <pc:picChg chg="mod">
          <ac:chgData name="GIORGIO PASSARIELLO" userId="S::gio.passariello@studenti.unina.it::8a3e9054-b8c3-4469-9111-04d626daa780" providerId="AD" clId="Web-{2A995419-FC7F-F964-473A-66E7E7CC9F5A}" dt="2026-03-05T16:55:01.586" v="1" actId="1076"/>
          <ac:picMkLst>
            <pc:docMk/>
            <pc:sldMk cId="0" sldId="298"/>
            <ac:picMk id="101381" creationId="{5E026481-8967-D4A9-3933-DECC07153C3D}"/>
          </ac:picMkLst>
        </pc:picChg>
      </pc:sldChg>
      <pc:sldChg chg="modSp">
        <pc:chgData name="GIORGIO PASSARIELLO" userId="S::gio.passariello@studenti.unina.it::8a3e9054-b8c3-4469-9111-04d626daa780" providerId="AD" clId="Web-{2A995419-FC7F-F964-473A-66E7E7CC9F5A}" dt="2026-03-05T16:23:44.076" v="0" actId="1076"/>
        <pc:sldMkLst>
          <pc:docMk/>
          <pc:sldMk cId="0" sldId="331"/>
        </pc:sldMkLst>
        <pc:picChg chg="mod">
          <ac:chgData name="GIORGIO PASSARIELLO" userId="S::gio.passariello@studenti.unina.it::8a3e9054-b8c3-4469-9111-04d626daa780" providerId="AD" clId="Web-{2A995419-FC7F-F964-473A-66E7E7CC9F5A}" dt="2026-03-05T16:23:44.076" v="0" actId="1076"/>
          <ac:picMkLst>
            <pc:docMk/>
            <pc:sldMk cId="0" sldId="331"/>
            <ac:picMk id="78853" creationId="{52E3A926-AAE8-C484-6FC0-6CD486127F0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FB7FC5F-C167-B57E-59BD-F27BE3BF50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l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B663CA4-F94E-32E6-DAA0-5E4BC5815D9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7025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F52887C-5A49-71D5-465C-A47B3F0C662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-1588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l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E0410909-1759-919B-1163-9A8EF57D60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7025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000" b="0" i="1"/>
            </a:lvl1pPr>
          </a:lstStyle>
          <a:p>
            <a:pPr>
              <a:defRPr/>
            </a:pPr>
            <a:fld id="{831BF8DE-A31F-4230-8496-E15392F82C72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8F426D93-A160-9511-3020-41505409997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-1588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l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B3FD8B03-D5B5-715E-B349-E9DC0F4B29E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37025" y="11113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t" anchorCtr="0" compatLnSpc="1">
            <a:prstTxWarp prst="textNoShape">
              <a:avLst/>
            </a:prstTxWarp>
          </a:bodyPr>
          <a:lstStyle>
            <a:lvl1pPr algn="r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0DA68D9-E0A1-B926-8DD4-FFDAFA65103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-1588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l" defTabSz="788988" eaLnBrk="0" hangingPunct="0">
              <a:defRPr sz="1000" b="0" i="1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FC103A60-4B3D-B190-51B0-2E06EC6CF4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7025" y="9128125"/>
            <a:ext cx="3163888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743" tIns="0" rIns="19743" bIns="0" numCol="1" anchor="b" anchorCtr="0" compatLnSpc="1">
            <a:prstTxWarp prst="textNoShape">
              <a:avLst/>
            </a:prstTxWarp>
          </a:bodyPr>
          <a:lstStyle>
            <a:lvl1pPr algn="r" defTabSz="788988" eaLnBrk="0" hangingPunct="0">
              <a:defRPr sz="1000" b="0" i="1"/>
            </a:lvl1pPr>
          </a:lstStyle>
          <a:p>
            <a:pPr>
              <a:defRPr/>
            </a:pPr>
            <a:fld id="{F30345C8-5CB7-4CED-863F-3370B13467DA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1C8019D-A424-C83A-9965-E3D710DC7EC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6125"/>
            <a:ext cx="5353050" cy="4037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427" tIns="47714" rIns="95427" bIns="477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delle note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1436C704-7CC2-06C3-5446-7C456228054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23963" y="836613"/>
            <a:ext cx="4851400" cy="33575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ＭＳ Ｐゴシック" pitchFamily="-11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ＭＳ Ｐゴシック" pitchFamily="-111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3DA11F61-7116-7C35-2986-D128ACFE40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C59F07-02AB-4247-A849-84896D237951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BAC5F2F2-1257-EF27-07A8-6C3DC85555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188AFA84-F957-36EA-3B70-7418855C9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Notazioni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Cardinalità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Insistere sulla natura finita di R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Discretizzazione di insiemi continui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1067C7C1-4086-1479-35AD-ECC7EC5A8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8D3D1B-7836-4825-BFA8-31A04140F233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38367D79-11AD-17BF-F7E6-322AB910BA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9EE7A969-E0CD-C7AC-1A06-905194299E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Esempio: i numeri di telefono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Le istruzioni in linguaggio macchina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Esemplificare mettendo in evidenza il ruolo del prefisso e sottolineando I trade-off possibili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Il risparmio di tempo dipende dal tipo di operazioni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Algoritmi di codifica/decodifica più complessi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27CD1A50-8803-BB69-BDAF-82B8FD7EBB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47200C-BB5E-4436-89E7-2B6828EFAF6B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F461E04B-59F0-AF16-5F82-68A59646DA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2A8F2DCD-7C4F-2C8A-F6E3-3A72C35D2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Esempio: i numeri di telefono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Le istruzioni in linguaggio macchina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Esemplificare mettendo in evidenza il ruolo del prefisso e sottolineando I trade-off possibili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Il risparmio di tempo dipende dal tipo di operazioni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Algoritmi di codifica/decodifica più complessi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5">
            <a:extLst>
              <a:ext uri="{FF2B5EF4-FFF2-40B4-BE49-F238E27FC236}">
                <a16:creationId xmlns:a16="http://schemas.microsoft.com/office/drawing/2014/main" id="{18CE9455-BB87-DF6A-EC91-5644AB268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0BE6271-2D3A-4711-99E7-8C77C4D7A47D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C653065F-5BDE-4BF8-2E19-4FCC826F74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solidFill>
            <a:srgbClr val="FFFFFF"/>
          </a:solidFill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558B1178-C4F6-7EB0-3B09-960BFC2632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5">
            <a:extLst>
              <a:ext uri="{FF2B5EF4-FFF2-40B4-BE49-F238E27FC236}">
                <a16:creationId xmlns:a16="http://schemas.microsoft.com/office/drawing/2014/main" id="{076993F1-38BE-C9F9-52A1-1782B02741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AC7BE4F-BED6-4BC5-AB48-16CA65E5682F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31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9193B472-C8B9-B364-777D-883E9B9E8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solidFill>
            <a:srgbClr val="FFFFFF"/>
          </a:solidFill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B08C239-BFB3-D294-2533-4DD88D0EFB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egnaposto immagine diapositiva 1">
            <a:extLst>
              <a:ext uri="{FF2B5EF4-FFF2-40B4-BE49-F238E27FC236}">
                <a16:creationId xmlns:a16="http://schemas.microsoft.com/office/drawing/2014/main" id="{6F7CD277-C033-EEB3-FFB4-BDED03E709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6" name="Segnaposto note 2">
            <a:extLst>
              <a:ext uri="{FF2B5EF4-FFF2-40B4-BE49-F238E27FC236}">
                <a16:creationId xmlns:a16="http://schemas.microsoft.com/office/drawing/2014/main" id="{0A4CB3C9-DF13-7427-ED6C-6536DFA7B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 alto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F in posizione x: P0, Quello in posizione 0; P1 quello in posizione 1; P2, quello in posizione 2…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7347" name="Segnaposto numero diapositiva 3">
            <a:extLst>
              <a:ext uri="{FF2B5EF4-FFF2-40B4-BE49-F238E27FC236}">
                <a16:creationId xmlns:a16="http://schemas.microsoft.com/office/drawing/2014/main" id="{89CB349E-339E-BEC4-F102-FDC031403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DD76D25-FDF1-4D25-A220-569A7C10B068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33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egnaposto immagine diapositiva 1">
            <a:extLst>
              <a:ext uri="{FF2B5EF4-FFF2-40B4-BE49-F238E27FC236}">
                <a16:creationId xmlns:a16="http://schemas.microsoft.com/office/drawing/2014/main" id="{647C265F-DDD8-FAFC-7A9E-903D5504BA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4" name="Segnaposto note 2">
            <a:extLst>
              <a:ext uri="{FF2B5EF4-FFF2-40B4-BE49-F238E27FC236}">
                <a16:creationId xmlns:a16="http://schemas.microsoft.com/office/drawing/2014/main" id="{DF8FDE00-5CC3-454F-32D8-CE8C605D7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Usando i punti di don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t care… esempio di F2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59395" name="Segnaposto numero diapositiva 3">
            <a:extLst>
              <a:ext uri="{FF2B5EF4-FFF2-40B4-BE49-F238E27FC236}">
                <a16:creationId xmlns:a16="http://schemas.microsoft.com/office/drawing/2014/main" id="{0E194E28-6DE3-4803-20BB-ABA017BBF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B9903B6-BDF9-4A6F-A5BB-9D126E128C48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34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5">
            <a:extLst>
              <a:ext uri="{FF2B5EF4-FFF2-40B4-BE49-F238E27FC236}">
                <a16:creationId xmlns:a16="http://schemas.microsoft.com/office/drawing/2014/main" id="{4D8048CF-5026-837C-AC9F-E029706A6D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0680B3-8430-427F-838D-07A2E9840D06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37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C9CEE120-E08F-92B4-685C-270FC83D2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solidFill>
            <a:srgbClr val="FFFFFF"/>
          </a:solidFill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C9C01A79-5B9C-F5B0-4D10-C992C0BFB0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5">
            <a:extLst>
              <a:ext uri="{FF2B5EF4-FFF2-40B4-BE49-F238E27FC236}">
                <a16:creationId xmlns:a16="http://schemas.microsoft.com/office/drawing/2014/main" id="{0B4A9135-5FBC-590C-1BBA-628FAA6989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FEDD4D-6041-4B4E-9051-8F68C724A03C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38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548C587A-173D-8746-E079-830B9F5A1B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223D3CF1-9C4E-A60B-1D92-7BC3136D72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01" tIns="46550" rIns="93101" bIns="46550"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5">
            <a:extLst>
              <a:ext uri="{FF2B5EF4-FFF2-40B4-BE49-F238E27FC236}">
                <a16:creationId xmlns:a16="http://schemas.microsoft.com/office/drawing/2014/main" id="{CB402F31-8B2B-F308-235B-9CEFF8C7A4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099D2D5-EDF6-4B47-AD68-479A1EDF13EE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39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3132B936-5081-CD16-8F39-03A50BA60C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62038" y="727075"/>
            <a:ext cx="5176837" cy="3582988"/>
          </a:xfrm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8723C66-AC39-C991-22C5-653F549DC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552950"/>
            <a:ext cx="5353050" cy="43148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01" tIns="46550" rIns="93101" bIns="46550"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egnaposto immagine diapositiva 1">
            <a:extLst>
              <a:ext uri="{FF2B5EF4-FFF2-40B4-BE49-F238E27FC236}">
                <a16:creationId xmlns:a16="http://schemas.microsoft.com/office/drawing/2014/main" id="{9424A1D0-6902-EFB2-EEE5-AD3269F160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6" name="Segnaposto note 2">
            <a:extLst>
              <a:ext uri="{FF2B5EF4-FFF2-40B4-BE49-F238E27FC236}">
                <a16:creationId xmlns:a16="http://schemas.microsoft.com/office/drawing/2014/main" id="{BF6FA620-6848-0272-5F8D-A9B72974E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Fai vedere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esempio dicendo: se entra F1 esce 1? Se entra F9 esce 9?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Rappresentazione decodificata di 8 + rappresentazione decodificata di 9</a:t>
            </a:r>
          </a:p>
        </p:txBody>
      </p:sp>
      <p:sp>
        <p:nvSpPr>
          <p:cNvPr id="72707" name="Segnaposto numero diapositiva 3">
            <a:extLst>
              <a:ext uri="{FF2B5EF4-FFF2-40B4-BE49-F238E27FC236}">
                <a16:creationId xmlns:a16="http://schemas.microsoft.com/office/drawing/2014/main" id="{A6CF3125-030A-27A3-FF02-9C06948A3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1ABA2C9-B281-4D99-B151-A2E9674B76A7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43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7">
            <a:extLst>
              <a:ext uri="{FF2B5EF4-FFF2-40B4-BE49-F238E27FC236}">
                <a16:creationId xmlns:a16="http://schemas.microsoft.com/office/drawing/2014/main" id="{781BDE7B-5CFC-D4AE-4507-F6E591A0AB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E4E50D8-184F-4DC8-81E1-D3443ACEF220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60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33F22A73-A9D2-7359-7E3F-124F8AC5D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6C2CE3F7-FA2E-1311-97B0-F1DFA30D2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>
            <a:extLst>
              <a:ext uri="{FF2B5EF4-FFF2-40B4-BE49-F238E27FC236}">
                <a16:creationId xmlns:a16="http://schemas.microsoft.com/office/drawing/2014/main" id="{DACB2F1E-9F9B-A599-C614-CA14F47CA2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95AEDD4-5F5F-4F6E-B59F-2FD1F5430C18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100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33122" name="Rectangle 2">
            <a:extLst>
              <a:ext uri="{FF2B5EF4-FFF2-40B4-BE49-F238E27FC236}">
                <a16:creationId xmlns:a16="http://schemas.microsoft.com/office/drawing/2014/main" id="{1A363642-07CE-C7AA-4FB0-D4C4EA943E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>
            <a:extLst>
              <a:ext uri="{FF2B5EF4-FFF2-40B4-BE49-F238E27FC236}">
                <a16:creationId xmlns:a16="http://schemas.microsoft.com/office/drawing/2014/main" id="{566FAD14-5D63-E67E-47BF-3F50BF5B3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>
            <a:extLst>
              <a:ext uri="{FF2B5EF4-FFF2-40B4-BE49-F238E27FC236}">
                <a16:creationId xmlns:a16="http://schemas.microsoft.com/office/drawing/2014/main" id="{3ED24F93-32F4-74D1-84AE-1CF5865E91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3314B0F-F495-4434-AA38-1B86F24E5EDA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101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01A9AE43-C0B4-B6A7-5364-5736E313B3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2C3B1E94-937C-01BA-C7B5-D62378974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7" name="Rectangle 7">
            <a:extLst>
              <a:ext uri="{FF2B5EF4-FFF2-40B4-BE49-F238E27FC236}">
                <a16:creationId xmlns:a16="http://schemas.microsoft.com/office/drawing/2014/main" id="{C4755B65-1459-FEEA-7CC4-F915904F5B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B1452C2-BBE2-416D-A8F0-E8D7BE3862A4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102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37218" name="Rectangle 2">
            <a:extLst>
              <a:ext uri="{FF2B5EF4-FFF2-40B4-BE49-F238E27FC236}">
                <a16:creationId xmlns:a16="http://schemas.microsoft.com/office/drawing/2014/main" id="{5B6971C8-A88E-A0A3-AE8B-D8467ED9E7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19" name="Rectangle 3">
            <a:extLst>
              <a:ext uri="{FF2B5EF4-FFF2-40B4-BE49-F238E27FC236}">
                <a16:creationId xmlns:a16="http://schemas.microsoft.com/office/drawing/2014/main" id="{76ECF74B-81A0-8C80-1D1F-A1F541967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Gli errori producono un interpretazione errata di uno o più bit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Esempi di codici ridondanti che rilevano errori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Esempi di codici che permettono la correzione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CRC e altri metodi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5" name="Rectangle 7">
            <a:extLst>
              <a:ext uri="{FF2B5EF4-FFF2-40B4-BE49-F238E27FC236}">
                <a16:creationId xmlns:a16="http://schemas.microsoft.com/office/drawing/2014/main" id="{9CF14A78-8E73-06C7-A0E1-C696DC962B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9862EA-8D17-46E8-B814-F2965EA64A94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103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26525BEF-AA13-27D6-3675-E04ADE7AB7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7" name="Rectangle 3">
            <a:extLst>
              <a:ext uri="{FF2B5EF4-FFF2-40B4-BE49-F238E27FC236}">
                <a16:creationId xmlns:a16="http://schemas.microsoft.com/office/drawing/2014/main" id="{47D4BB2A-7632-CEA5-1DBA-CD7BB2DB71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3138" y="4953000"/>
            <a:ext cx="5354637" cy="34353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Gli errori producono un interpretazione errata di uno o più bit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Esempi di codici ridondanti che rilevano errori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Esempi di codici che permettono la correzione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CRC e altri metodi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3" name="Rectangle 7">
            <a:extLst>
              <a:ext uri="{FF2B5EF4-FFF2-40B4-BE49-F238E27FC236}">
                <a16:creationId xmlns:a16="http://schemas.microsoft.com/office/drawing/2014/main" id="{F75215DB-0BA0-11F9-C69C-3EB52EAFF2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54080A-BD8A-4C89-8A75-45EFA79E806C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104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41314" name="Rectangle 2">
            <a:extLst>
              <a:ext uri="{FF2B5EF4-FFF2-40B4-BE49-F238E27FC236}">
                <a16:creationId xmlns:a16="http://schemas.microsoft.com/office/drawing/2014/main" id="{74F6ABC9-6941-6D88-44B5-3995CD3C7E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5" name="Rectangle 3">
            <a:extLst>
              <a:ext uri="{FF2B5EF4-FFF2-40B4-BE49-F238E27FC236}">
                <a16:creationId xmlns:a16="http://schemas.microsoft.com/office/drawing/2014/main" id="{35090058-E205-56F1-1A35-8E401DEC74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1" name="Rectangle 7">
            <a:extLst>
              <a:ext uri="{FF2B5EF4-FFF2-40B4-BE49-F238E27FC236}">
                <a16:creationId xmlns:a16="http://schemas.microsoft.com/office/drawing/2014/main" id="{BAA94E8D-8529-282C-0648-D56220AF80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889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889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82594A6-6E3C-4E2A-B11D-31FC62768ED0}" type="slidenum">
              <a:rPr lang="it-IT" altLang="it-IT" sz="10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105</a:t>
            </a:fld>
            <a:endParaRPr lang="it-IT" altLang="it-IT" sz="1000">
              <a:latin typeface="Times New Roman" panose="02020603050405020304" pitchFamily="18" charset="0"/>
            </a:endParaRPr>
          </a:p>
        </p:txBody>
      </p:sp>
      <p:sp>
        <p:nvSpPr>
          <p:cNvPr id="143362" name="Rectangle 2">
            <a:extLst>
              <a:ext uri="{FF2B5EF4-FFF2-40B4-BE49-F238E27FC236}">
                <a16:creationId xmlns:a16="http://schemas.microsoft.com/office/drawing/2014/main" id="{1DDCDE46-E877-574B-B584-8E60DD1E33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3" name="Rectangle 3">
            <a:extLst>
              <a:ext uri="{FF2B5EF4-FFF2-40B4-BE49-F238E27FC236}">
                <a16:creationId xmlns:a16="http://schemas.microsoft.com/office/drawing/2014/main" id="{456A2722-19A2-DD59-F644-24F6B941A6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65863ED-0624-D9DB-586C-B63DCE0362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08C0606-0820-253B-2DD5-16D3EA15FA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09C691D-F380-A99C-B0A4-242ECA76DF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C11AB9-4D40-4D53-897F-BA0F3CFD5E31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1823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E96BA2F-8970-6EBE-5044-352402574D3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4BB0884-9D5D-B8E7-2E3D-B81ED1DCCA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A5384B7-59BF-F700-2F23-F32639E41B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978452-1323-4765-9311-01EE052C228D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27004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D800CF7-04EC-2DC9-185D-F9B0238C22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5E00909-FFE0-F3A5-C668-5763C0D7DC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699CB0C-CA23-FC4B-1499-F531B7BB25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48C03-1C8E-4B2A-A790-880B3A12243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97349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CF2840B-917B-E58B-F648-8C0E2B59AB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80877E-C496-425B-8C67-FCB7BAF752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B6C5609-5E70-0D6E-DC5E-6607620B57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CF746-B099-4F30-B985-D3CEC40882F6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08395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F9522F3-647D-F1B4-70D8-86F78CB789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429557B-FFC6-42E1-0AD6-E5728A91BC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19A48CB3-159E-47AE-71E1-CC3B3D736A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5FCCBA-2111-47EE-A741-761B9621577F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58718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6A225B8-0350-103B-D1DD-B7A93408C4A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84FF69-8E75-9DFB-A5FB-5720D3E560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F825B7-DBC7-29C6-782F-D734744BC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F84DAC-B2C9-4811-A1D4-9340BCF0215C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02055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98564B4-EDC9-5DA2-8E18-FDE43310CA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2F07590A-79FD-E081-C338-C42419A31A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70C84-F91C-D377-9EFE-8E3CB519E3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0FD415-BE6E-46A4-A0D4-F0E51DD2FF5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20667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60B550E-3E38-1808-870F-7F1554375E5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540F50C-EF12-9F99-F0A0-A4B11568BD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2486FCF-2421-7141-29D0-B9A6B23015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E0715D-8A4E-4703-B4EE-F92CC8580B87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1809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866B4F2-A682-B401-7658-711530351F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EB01BE2-992B-C45A-99C8-39CAAFE7AB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380C9BA-64DF-8C9A-BA6C-0B5224172E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AA2FDD-5F77-4811-87F7-81F6F5021E23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26845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1A74F7C-E86A-DCE2-8D5C-FE2C502359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FA2C794-C052-6D80-F2D4-11A9203746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F0D76D7-ED29-DC95-9521-104BD621C3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C202FD-4C9D-4268-A2AB-246D8CE1F876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0287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7096125" y="387350"/>
            <a:ext cx="2224088" cy="570865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20688" y="387350"/>
            <a:ext cx="6523037" cy="570865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98A7BE-77F6-DE40-3CE9-1595CBC9CA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28963FF-514F-A19F-1A39-35E2CA57A7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0B1D37E-A0C0-5875-2ACD-FB4A14CE2B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094FC-0795-497E-9007-0A53C9E6EFDA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80749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15950" y="387350"/>
            <a:ext cx="8674100" cy="4445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20688" y="1447800"/>
            <a:ext cx="4373562" cy="4648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946650" y="1447800"/>
            <a:ext cx="4373563" cy="46482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D81162A-45FF-647E-3B20-E7BDAFB134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F6862BB-165A-43E2-A129-90CF79E34AE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C49B3B-6201-1537-0DC9-115003F445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D4813E-F6E0-430F-B893-03C9FD150E1A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59132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olo, tes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1">
            <a:extLst>
              <a:ext uri="{FF2B5EF4-FFF2-40B4-BE49-F238E27FC236}">
                <a16:creationId xmlns:a16="http://schemas.microsoft.com/office/drawing/2014/main" id="{0386CBFB-9504-497F-2322-5A71F125ADC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876300"/>
            <a:ext cx="9906000" cy="233363"/>
            <a:chOff x="0" y="624"/>
            <a:chExt cx="6232" cy="192"/>
          </a:xfrm>
        </p:grpSpPr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3DAAB01B-D814-9169-5462-E2ABFF67E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>
                <a:latin typeface="Arial" panose="020B0604020202020204" pitchFamily="34" charset="0"/>
              </a:endParaRPr>
            </a:p>
          </p:txBody>
        </p:sp>
        <p:sp>
          <p:nvSpPr>
            <p:cNvPr id="8" name="Rectangle 13">
              <a:extLst>
                <a:ext uri="{FF2B5EF4-FFF2-40B4-BE49-F238E27FC236}">
                  <a16:creationId xmlns:a16="http://schemas.microsoft.com/office/drawing/2014/main" id="{473F037A-CF89-B085-DE2C-C88FFAFE37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>
                <a:latin typeface="Arial" panose="020B0604020202020204" pitchFamily="34" charset="0"/>
              </a:endParaRPr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48866" y="171451"/>
            <a:ext cx="8915400" cy="9112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95300" y="1314451"/>
            <a:ext cx="4375150" cy="481647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35550" y="1314450"/>
            <a:ext cx="4375150" cy="2332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5035550" y="3798889"/>
            <a:ext cx="4375150" cy="233203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3F4944D-4B47-8329-BF32-4C571FADCD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6533C8-1C81-45DE-8BB8-35E0962348D7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160316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10">
            <a:extLst>
              <a:ext uri="{FF2B5EF4-FFF2-40B4-BE49-F238E27FC236}">
                <a16:creationId xmlns:a16="http://schemas.microsoft.com/office/drawing/2014/main" id="{4C7E99A5-42EC-CEC7-55D9-127E04FA6E9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838200"/>
            <a:ext cx="10082213" cy="322263"/>
            <a:chOff x="0" y="624"/>
            <a:chExt cx="6232" cy="192"/>
          </a:xfrm>
        </p:grpSpPr>
        <p:sp>
          <p:nvSpPr>
            <p:cNvPr id="8" name="Rectangle 111">
              <a:extLst>
                <a:ext uri="{FF2B5EF4-FFF2-40B4-BE49-F238E27FC236}">
                  <a16:creationId xmlns:a16="http://schemas.microsoft.com/office/drawing/2014/main" id="{9AAB8FD2-A880-23B5-1F8E-E70E52083B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9" name="Rectangle 112">
              <a:extLst>
                <a:ext uri="{FF2B5EF4-FFF2-40B4-BE49-F238E27FC236}">
                  <a16:creationId xmlns:a16="http://schemas.microsoft.com/office/drawing/2014/main" id="{F134C403-5893-E349-EA54-7EBF7A410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448867" y="171451"/>
            <a:ext cx="8915400" cy="9112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495300" y="1314450"/>
            <a:ext cx="4375150" cy="2332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5035550" y="1314450"/>
            <a:ext cx="4375150" cy="2332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95300" y="3798889"/>
            <a:ext cx="4375150" cy="233203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5035550" y="3798889"/>
            <a:ext cx="4375150" cy="233203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0" name="Segnaposto piè di pagina 6">
            <a:extLst>
              <a:ext uri="{FF2B5EF4-FFF2-40B4-BE49-F238E27FC236}">
                <a16:creationId xmlns:a16="http://schemas.microsoft.com/office/drawing/2014/main" id="{4A14A17F-BB27-D1B6-7E2F-CD231B3C10A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2914650" y="6265863"/>
            <a:ext cx="4527550" cy="458787"/>
          </a:xfrm>
        </p:spPr>
        <p:txBody>
          <a:bodyPr wrap="square" lIns="94613" tIns="47306" rIns="94613" bIns="47306" anchor="t"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1" name="Segnaposto numero diapositiva 7">
            <a:extLst>
              <a:ext uri="{FF2B5EF4-FFF2-40B4-BE49-F238E27FC236}">
                <a16:creationId xmlns:a16="http://schemas.microsoft.com/office/drawing/2014/main" id="{65BCB005-E8CF-4C71-46EB-9E4FF322D5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5525" y="144463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C26546-AB7E-49DE-81F5-FEBACABDA7DF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6011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w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9103771-597A-CCAA-060C-D20B99CAC83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400" b="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12329B7-B5A3-5428-6F8A-26D81B525AE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0" hangingPunct="0">
              <a:defRPr sz="1400" b="0">
                <a:latin typeface="Times New Roman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FC5C87F-1551-229E-C6C2-8A47846E898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248400"/>
            <a:ext cx="2057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400" b="0"/>
            </a:lvl1pPr>
          </a:lstStyle>
          <a:p>
            <a:pPr>
              <a:defRPr/>
            </a:pPr>
            <a:fld id="{7758E126-F812-48CB-BF21-74C95A26A649}" type="slidenum">
              <a:rPr lang="it-IT" altLang="it-IT"/>
              <a:pPr>
                <a:defRPr/>
              </a:pPr>
              <a:t>‹#›</a:t>
            </a:fld>
            <a:endParaRPr lang="it-IT" altLang="it-IT"/>
          </a:p>
        </p:txBody>
      </p:sp>
      <p:grpSp>
        <p:nvGrpSpPr>
          <p:cNvPr id="1029" name="Group 7">
            <a:extLst>
              <a:ext uri="{FF2B5EF4-FFF2-40B4-BE49-F238E27FC236}">
                <a16:creationId xmlns:a16="http://schemas.microsoft.com/office/drawing/2014/main" id="{4726404E-DA50-EFB7-DF57-5FE7C5866C0F}"/>
              </a:ext>
            </a:extLst>
          </p:cNvPr>
          <p:cNvGrpSpPr>
            <a:grpSpLocks/>
          </p:cNvGrpSpPr>
          <p:nvPr/>
        </p:nvGrpSpPr>
        <p:grpSpPr bwMode="auto">
          <a:xfrm>
            <a:off x="0" y="838200"/>
            <a:ext cx="9893300" cy="304800"/>
            <a:chOff x="0" y="624"/>
            <a:chExt cx="6232" cy="192"/>
          </a:xfrm>
        </p:grpSpPr>
        <p:sp>
          <p:nvSpPr>
            <p:cNvPr id="1034" name="Rectangle 5">
              <a:extLst>
                <a:ext uri="{FF2B5EF4-FFF2-40B4-BE49-F238E27FC236}">
                  <a16:creationId xmlns:a16="http://schemas.microsoft.com/office/drawing/2014/main" id="{A4A7337C-ADB9-4157-9D5D-9379801335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24"/>
              <a:ext cx="6232" cy="93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  <p:sp>
          <p:nvSpPr>
            <p:cNvPr id="1035" name="Rectangle 6">
              <a:extLst>
                <a:ext uri="{FF2B5EF4-FFF2-40B4-BE49-F238E27FC236}">
                  <a16:creationId xmlns:a16="http://schemas.microsoft.com/office/drawing/2014/main" id="{EB10F1F2-D66F-D7EA-AE83-5ED3EF698A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6232" cy="48"/>
            </a:xfrm>
            <a:prstGeom prst="rect">
              <a:avLst/>
            </a:prstGeom>
            <a:solidFill>
              <a:srgbClr val="E5405D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defRPr/>
              </a:pPr>
              <a:endParaRPr lang="it-IT" altLang="it-IT"/>
            </a:p>
          </p:txBody>
        </p:sp>
      </p:grpSp>
      <p:sp>
        <p:nvSpPr>
          <p:cNvPr id="1030" name="Rectangle 8">
            <a:extLst>
              <a:ext uri="{FF2B5EF4-FFF2-40B4-BE49-F238E27FC236}">
                <a16:creationId xmlns:a16="http://schemas.microsoft.com/office/drawing/2014/main" id="{8A079C1C-0A56-CD2A-D49E-979BD1414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5950" y="387350"/>
            <a:ext cx="8674100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il titolo dello schema</a:t>
            </a:r>
          </a:p>
        </p:txBody>
      </p:sp>
      <p:sp>
        <p:nvSpPr>
          <p:cNvPr id="1031" name="Rectangle 9">
            <a:extLst>
              <a:ext uri="{FF2B5EF4-FFF2-40B4-BE49-F238E27FC236}">
                <a16:creationId xmlns:a16="http://schemas.microsoft.com/office/drawing/2014/main" id="{746929CF-EA12-9B61-A5C7-BFEAD41505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0688" y="1447800"/>
            <a:ext cx="8899525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32" name="Rectangle 10">
            <a:extLst>
              <a:ext uri="{FF2B5EF4-FFF2-40B4-BE49-F238E27FC236}">
                <a16:creationId xmlns:a16="http://schemas.microsoft.com/office/drawing/2014/main" id="{1B3B3297-BF0D-A450-F8C4-FE22833A9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0" y="6423025"/>
            <a:ext cx="5099050" cy="274638"/>
          </a:xfrm>
          <a:prstGeom prst="rect">
            <a:avLst/>
          </a:prstGeom>
          <a:noFill/>
          <a:ln>
            <a:noFill/>
          </a:ln>
        </p:spPr>
        <p:txBody>
          <a:bodyPr wrap="none" lIns="92075" tIns="46038" rIns="92075" bIns="46038" anchor="ctr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it-IT" altLang="it-IT" sz="1200" b="0" i="1">
                <a:latin typeface="Century Gothic" panose="020B0502020202020204" pitchFamily="34" charset="0"/>
              </a:rPr>
              <a:t>DIS - Dipartimento di Informatica e Sistemistica- Università di Napoli</a:t>
            </a:r>
          </a:p>
        </p:txBody>
      </p:sp>
      <p:pic>
        <p:nvPicPr>
          <p:cNvPr id="1033" name="Picture 13">
            <a:extLst>
              <a:ext uri="{FF2B5EF4-FFF2-40B4-BE49-F238E27FC236}">
                <a16:creationId xmlns:a16="http://schemas.microsoft.com/office/drawing/2014/main" id="{897CDEB4-43BC-FC17-1C48-278DBB875EBB}"/>
              </a:ext>
            </a:extLst>
          </p:cNvPr>
          <p:cNvPicPr>
            <a:picLocks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213" y="6181725"/>
            <a:ext cx="5969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ＭＳ Ｐゴシック" pitchFamily="-111" charset="-128"/>
          <a:cs typeface="ＭＳ Ｐゴシック" pitchFamily="-111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pitchFamily="-111" charset="-128"/>
          <a:cs typeface="ＭＳ Ｐゴシック" pitchFamily="-111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pitchFamily="-111" charset="-128"/>
          <a:cs typeface="ＭＳ Ｐゴシック" pitchFamily="-111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pitchFamily="-111" charset="-128"/>
          <a:cs typeface="ＭＳ Ｐゴシック" pitchFamily="-111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  <a:ea typeface="ＭＳ Ｐゴシック" pitchFamily="-111" charset="-128"/>
          <a:cs typeface="ＭＳ Ｐゴシック" pitchFamily="-111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Book Antiqua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anose="05000000000000000000" pitchFamily="2" charset="2"/>
        <a:buChar char="Ø"/>
        <a:defRPr sz="2800">
          <a:solidFill>
            <a:schemeClr val="tx1"/>
          </a:solidFill>
          <a:latin typeface="+mn-lt"/>
          <a:ea typeface="ＭＳ Ｐゴシック" pitchFamily="-111" charset="-128"/>
          <a:cs typeface="ＭＳ Ｐゴシック" pitchFamily="-111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Char char="»"/>
        <a:defRPr sz="2400">
          <a:solidFill>
            <a:schemeClr val="tx1"/>
          </a:solidFill>
          <a:latin typeface="+mn-lt"/>
          <a:ea typeface="ＭＳ Ｐゴシック" pitchFamily="-111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¨"/>
        <a:defRPr sz="2400">
          <a:solidFill>
            <a:schemeClr val="tx1"/>
          </a:solidFill>
          <a:latin typeface="+mn-lt"/>
          <a:ea typeface="ＭＳ Ｐゴシック" pitchFamily="-111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E5405D"/>
        </a:buClr>
        <a:buSzPct val="64000"/>
        <a:buFont typeface="Monotype Sorts" charset="2"/>
        <a:buChar char="l"/>
        <a:defRPr sz="2000">
          <a:solidFill>
            <a:schemeClr val="tx1"/>
          </a:solidFill>
          <a:latin typeface="+mn-lt"/>
          <a:ea typeface="ＭＳ Ｐゴシック" pitchFamily="-111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  <a:ea typeface="ＭＳ Ｐゴシック" pitchFamily="-111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4.wmf"/><Relationship Id="rId7" Type="http://schemas.openxmlformats.org/officeDocument/2006/relationships/oleObject" Target="../embeddings/oleObject8.bin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wmf"/><Relationship Id="rId4" Type="http://schemas.openxmlformats.org/officeDocument/2006/relationships/oleObject" Target="../embeddings/oleObject7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8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w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4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image" Target="../media/image27.wmf"/><Relationship Id="rId7" Type="http://schemas.openxmlformats.org/officeDocument/2006/relationships/image" Target="../media/image29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14.xml"/><Relationship Id="rId6" Type="http://schemas.openxmlformats.org/officeDocument/2006/relationships/oleObject" Target="../embeddings/oleObject18.bin"/><Relationship Id="rId11" Type="http://schemas.openxmlformats.org/officeDocument/2006/relationships/image" Target="../media/image31.wmf"/><Relationship Id="rId5" Type="http://schemas.openxmlformats.org/officeDocument/2006/relationships/image" Target="../media/image28.wmf"/><Relationship Id="rId10" Type="http://schemas.openxmlformats.org/officeDocument/2006/relationships/oleObject" Target="../embeddings/oleObject20.bin"/><Relationship Id="rId4" Type="http://schemas.openxmlformats.org/officeDocument/2006/relationships/oleObject" Target="../embeddings/oleObject17.bin"/><Relationship Id="rId9" Type="http://schemas.openxmlformats.org/officeDocument/2006/relationships/image" Target="../media/image30.w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2.bin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23.bin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44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6.wmf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oleObject" Target="../embeddings/oleObject28.bin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8.wmf"/><Relationship Id="rId4" Type="http://schemas.openxmlformats.org/officeDocument/2006/relationships/oleObject" Target="../embeddings/oleObject29.bin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30.bin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wmf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32.bin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oleObject" Target="../embeddings/oleObject34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emf"/><Relationship Id="rId5" Type="http://schemas.openxmlformats.org/officeDocument/2006/relationships/oleObject" Target="../embeddings/oleObject35.bin"/><Relationship Id="rId4" Type="http://schemas.openxmlformats.org/officeDocument/2006/relationships/image" Target="../media/image67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image" Target="../media/image69.wmf"/><Relationship Id="rId7" Type="http://schemas.openxmlformats.org/officeDocument/2006/relationships/image" Target="../media/image71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8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72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.bin"/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41.bin"/><Relationship Id="rId9" Type="http://schemas.openxmlformats.org/officeDocument/2006/relationships/image" Target="../media/image76.wmf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7" Type="http://schemas.openxmlformats.org/officeDocument/2006/relationships/image" Target="../media/image79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78.wmf"/><Relationship Id="rId4" Type="http://schemas.openxmlformats.org/officeDocument/2006/relationships/oleObject" Target="../embeddings/oleObject45.bin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47.bin"/><Relationship Id="rId1" Type="http://schemas.openxmlformats.org/officeDocument/2006/relationships/slideLayout" Target="../slideLayouts/slideLayout1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oleObject" Target="../embeddings/oleObject49.bin"/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oleObject" Target="../embeddings/oleObject50.bin"/><Relationship Id="rId1" Type="http://schemas.openxmlformats.org/officeDocument/2006/relationships/slideLayout" Target="../slideLayouts/slideLayout1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1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52.bin"/><Relationship Id="rId1" Type="http://schemas.openxmlformats.org/officeDocument/2006/relationships/slideLayout" Target="../slideLayouts/slideLayout1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wmf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wmf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DF185EEF-8138-5567-D801-7B7C4EC7860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66800" y="1524000"/>
            <a:ext cx="7772400" cy="1143000"/>
          </a:xfrm>
          <a:noFill/>
        </p:spPr>
        <p:txBody>
          <a:bodyPr anchor="ctr"/>
          <a:lstStyle/>
          <a:p>
            <a:pPr algn="ctr"/>
            <a:r>
              <a:rPr lang="it-IT" altLang="it-IT" sz="4000">
                <a:solidFill>
                  <a:srgbClr val="FC0128"/>
                </a:solidFill>
                <a:ea typeface="ＭＳ Ｐゴシック" panose="020B0600070205080204" pitchFamily="34" charset="-128"/>
              </a:rPr>
              <a:t>Codifica delle informazioni e Macchine Elementari</a:t>
            </a:r>
            <a:br>
              <a:rPr lang="it-IT" altLang="it-IT" sz="4000">
                <a:solidFill>
                  <a:srgbClr val="FC0128"/>
                </a:solidFill>
                <a:ea typeface="ＭＳ Ｐゴシック" panose="020B0600070205080204" pitchFamily="34" charset="-128"/>
              </a:rPr>
            </a:br>
            <a:r>
              <a:rPr lang="it-IT" altLang="it-IT" sz="4000">
                <a:solidFill>
                  <a:srgbClr val="FC0128"/>
                </a:solidFill>
                <a:ea typeface="ＭＳ Ｐゴシック" panose="020B0600070205080204" pitchFamily="34" charset="-128"/>
              </a:rPr>
              <a:t>(Richiami)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7ECFBAAE-6381-4304-2D94-91880EDDB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85344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it-IT" altLang="it-IT" sz="3200" b="0">
                <a:latin typeface="Arial" panose="020B0604020202020204" pitchFamily="34" charset="0"/>
              </a:rPr>
              <a:t>Reti Logiche</a:t>
            </a:r>
          </a:p>
          <a:p>
            <a:pPr>
              <a:buClrTx/>
              <a:buSzTx/>
              <a:buFontTx/>
              <a:buNone/>
            </a:pPr>
            <a:endParaRPr lang="it-IT" altLang="it-IT" sz="3600">
              <a:latin typeface="Arial" panose="020B0604020202020204" pitchFamily="34" charset="0"/>
            </a:endParaRPr>
          </a:p>
          <a:p>
            <a:pPr algn="ctr"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Dipartimento di Informatica e Sistemistica</a:t>
            </a:r>
          </a:p>
          <a:p>
            <a:pPr algn="ctr"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Università degli Studi di Napoli </a:t>
            </a:r>
            <a:r>
              <a:rPr lang="ja-JP" altLang="it-IT" sz="2400" b="0">
                <a:latin typeface="Arial" panose="020B0604020202020204" pitchFamily="34" charset="0"/>
              </a:rPr>
              <a:t>“</a:t>
            </a:r>
            <a:r>
              <a:rPr lang="it-IT" altLang="ja-JP" sz="2400" b="0">
                <a:latin typeface="Arial" panose="020B0604020202020204" pitchFamily="34" charset="0"/>
              </a:rPr>
              <a:t>Federico II</a:t>
            </a:r>
            <a:r>
              <a:rPr lang="ja-JP" altLang="it-IT" sz="2400" b="0">
                <a:latin typeface="Arial" panose="020B0604020202020204" pitchFamily="34" charset="0"/>
              </a:rPr>
              <a:t>”</a:t>
            </a:r>
            <a:endParaRPr lang="it-IT" altLang="it-IT" sz="1800" b="0">
              <a:latin typeface="Arial" panose="020B0604020202020204" pitchFamily="34" charset="0"/>
            </a:endParaRPr>
          </a:p>
        </p:txBody>
      </p:sp>
      <p:sp>
        <p:nvSpPr>
          <p:cNvPr id="18435" name="Segnaposto numero diapositiva 3">
            <a:extLst>
              <a:ext uri="{FF2B5EF4-FFF2-40B4-BE49-F238E27FC236}">
                <a16:creationId xmlns:a16="http://schemas.microsoft.com/office/drawing/2014/main" id="{1E913171-9AF1-60A1-32BF-3A2550564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26EF78-045C-40DD-A513-E4AAD2B89E33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it-IT" altLang="it-IT" sz="14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3066B63B-4621-F873-0A50-6ECF5E283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387350"/>
            <a:ext cx="8674100" cy="317500"/>
          </a:xfrm>
          <a:noFill/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Tassonomia dei circuiti digitali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C1EAFBC6-45DC-7DBD-B149-9338B354A7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5100" y="1193800"/>
            <a:ext cx="949325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I circuiti digitali possono essere classificati in due categorie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solidFill>
                <a:srgbClr val="FC0128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FC0128"/>
                </a:solidFill>
                <a:ea typeface="ＭＳ Ｐゴシック" panose="020B0600070205080204" pitchFamily="34" charset="-128"/>
              </a:rPr>
              <a:t>Circuiti combinatori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Il valore delle uscite ad un determinato istante dipende unicamente dal valore degli ingressi in quello stesso istante.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solidFill>
                <a:srgbClr val="FC0128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FC0128"/>
                </a:solidFill>
                <a:ea typeface="ＭＳ Ｐゴシック" panose="020B0600070205080204" pitchFamily="34" charset="-128"/>
              </a:rPr>
              <a:t>Circuti sequenziali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Il valore delle uscite in un determinato istante dipende sia dal valore degli ingressi in quell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istante sia dal valore degli ingressi in istanti precedenti (concetto di tempo)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Per definire il comportamento di un circuito sequenziale è necessario tenere conto della storia</a:t>
            </a:r>
            <a:r>
              <a:rPr lang="it-IT" altLang="it-IT" sz="2000" i="1">
                <a:ea typeface="ＭＳ Ｐゴシック" panose="020B0600070205080204" pitchFamily="34" charset="-128"/>
              </a:rPr>
              <a:t> </a:t>
            </a:r>
            <a:r>
              <a:rPr lang="it-IT" altLang="it-IT" sz="2000">
                <a:ea typeface="ＭＳ Ｐゴシック" panose="020B0600070205080204" pitchFamily="34" charset="-128"/>
              </a:rPr>
              <a:t>passata degli ingressi del circuito (concetto di stato)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>
              <a:solidFill>
                <a:srgbClr val="FC0128"/>
              </a:solidFill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90000"/>
              </a:lnSpc>
            </a:pPr>
            <a:endParaRPr lang="en-US" altLang="it-IT">
              <a:solidFill>
                <a:srgbClr val="FC0128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19459" name="Segnaposto numero diapositiva 3">
            <a:extLst>
              <a:ext uri="{FF2B5EF4-FFF2-40B4-BE49-F238E27FC236}">
                <a16:creationId xmlns:a16="http://schemas.microsoft.com/office/drawing/2014/main" id="{6F3F9915-B69E-CAC3-B86A-111759B61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CBE4E1-647A-48D8-9572-120321B867BC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it-IT" altLang="it-IT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ext Box 2">
            <a:extLst>
              <a:ext uri="{FF2B5EF4-FFF2-40B4-BE49-F238E27FC236}">
                <a16:creationId xmlns:a16="http://schemas.microsoft.com/office/drawing/2014/main" id="{306D5B15-5C8E-9390-E5C3-C516F36C3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152400"/>
            <a:ext cx="957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000" b="0">
                <a:latin typeface="Book Antiqua" panose="02040602050305030304" pitchFamily="18" charset="0"/>
              </a:rPr>
              <a:t>Macchine combinatorie (1/4)</a:t>
            </a:r>
          </a:p>
        </p:txBody>
      </p:sp>
      <p:sp>
        <p:nvSpPr>
          <p:cNvPr id="20482" name="Text Box 3">
            <a:extLst>
              <a:ext uri="{FF2B5EF4-FFF2-40B4-BE49-F238E27FC236}">
                <a16:creationId xmlns:a16="http://schemas.microsoft.com/office/drawing/2014/main" id="{7B7058B1-EB47-6B9E-A3DE-C883C569A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295400"/>
            <a:ext cx="965835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Reti logiche con </a:t>
            </a:r>
            <a:r>
              <a:rPr lang="it-IT" altLang="it-IT" sz="2400" b="0" i="1">
                <a:latin typeface="Arial" panose="020B0604020202020204" pitchFamily="34" charset="0"/>
              </a:rPr>
              <a:t>n</a:t>
            </a:r>
            <a:r>
              <a:rPr lang="it-IT" altLang="it-IT" sz="2400" b="0">
                <a:latin typeface="Arial" panose="020B0604020202020204" pitchFamily="34" charset="0"/>
              </a:rPr>
              <a:t> ingressi x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, x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, …, x</a:t>
            </a:r>
            <a:r>
              <a:rPr lang="it-IT" altLang="it-IT" sz="2400" b="0" baseline="-25000">
                <a:latin typeface="Arial" panose="020B0604020202020204" pitchFamily="34" charset="0"/>
              </a:rPr>
              <a:t>n</a:t>
            </a:r>
            <a:r>
              <a:rPr lang="it-IT" altLang="it-IT" sz="2400" b="0">
                <a:latin typeface="Arial" panose="020B0604020202020204" pitchFamily="34" charset="0"/>
              </a:rPr>
              <a:t> e </a:t>
            </a:r>
            <a:r>
              <a:rPr lang="it-IT" altLang="it-IT" sz="2400" b="0" i="1">
                <a:latin typeface="Arial" panose="020B0604020202020204" pitchFamily="34" charset="0"/>
              </a:rPr>
              <a:t>m</a:t>
            </a:r>
            <a:r>
              <a:rPr lang="it-IT" altLang="it-IT" sz="2400" b="0">
                <a:latin typeface="Arial" panose="020B0604020202020204" pitchFamily="34" charset="0"/>
              </a:rPr>
              <a:t> uscite y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, y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, …, y</a:t>
            </a:r>
            <a:r>
              <a:rPr lang="it-IT" altLang="it-IT" sz="2400" b="0" baseline="-25000">
                <a:latin typeface="Arial" panose="020B0604020202020204" pitchFamily="34" charset="0"/>
              </a:rPr>
              <a:t>m</a:t>
            </a:r>
            <a:r>
              <a:rPr lang="it-IT" altLang="it-IT" sz="2400" b="0">
                <a:latin typeface="Arial" panose="020B0604020202020204" pitchFamily="34" charset="0"/>
              </a:rPr>
              <a:t> che realizzano la corrispondenza: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		y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 = f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(x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, x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, …, x</a:t>
            </a:r>
            <a:r>
              <a:rPr lang="it-IT" altLang="it-IT" sz="2400" b="0" baseline="-25000">
                <a:latin typeface="Arial" panose="020B0604020202020204" pitchFamily="34" charset="0"/>
              </a:rPr>
              <a:t>n</a:t>
            </a:r>
            <a:r>
              <a:rPr lang="it-IT" altLang="it-IT" sz="2400" b="0">
                <a:latin typeface="Arial" panose="020B0604020202020204" pitchFamily="34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  <a:sym typeface="Symbol" panose="05050102010706020507" pitchFamily="18" charset="2"/>
              </a:rPr>
              <a:t>			. . . . . .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		y</a:t>
            </a:r>
            <a:r>
              <a:rPr lang="it-IT" altLang="it-IT" sz="2400" b="0" baseline="-25000">
                <a:latin typeface="Arial" panose="020B0604020202020204" pitchFamily="34" charset="0"/>
              </a:rPr>
              <a:t>m</a:t>
            </a:r>
            <a:r>
              <a:rPr lang="it-IT" altLang="it-IT" sz="2400" b="0">
                <a:latin typeface="Arial" panose="020B0604020202020204" pitchFamily="34" charset="0"/>
              </a:rPr>
              <a:t> = f</a:t>
            </a:r>
            <a:r>
              <a:rPr lang="it-IT" altLang="it-IT" sz="2400" b="0" baseline="-25000">
                <a:latin typeface="Arial" panose="020B0604020202020204" pitchFamily="34" charset="0"/>
              </a:rPr>
              <a:t>m</a:t>
            </a:r>
            <a:r>
              <a:rPr lang="it-IT" altLang="it-IT" sz="2400" b="0">
                <a:latin typeface="Arial" panose="020B0604020202020204" pitchFamily="34" charset="0"/>
              </a:rPr>
              <a:t>(x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, x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, …, x</a:t>
            </a:r>
            <a:r>
              <a:rPr lang="it-IT" altLang="it-IT" sz="2400" b="0" baseline="-25000">
                <a:latin typeface="Arial" panose="020B0604020202020204" pitchFamily="34" charset="0"/>
              </a:rPr>
              <a:t>n</a:t>
            </a:r>
            <a:r>
              <a:rPr lang="it-IT" altLang="it-IT" sz="2400" b="0">
                <a:latin typeface="Arial" panose="020B0604020202020204" pitchFamily="34" charset="0"/>
              </a:rPr>
              <a:t>)</a:t>
            </a:r>
            <a:endParaRPr lang="it-IT" altLang="it-IT" sz="2400" b="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20483" name="Group 4">
            <a:extLst>
              <a:ext uri="{FF2B5EF4-FFF2-40B4-BE49-F238E27FC236}">
                <a16:creationId xmlns:a16="http://schemas.microsoft.com/office/drawing/2014/main" id="{FA05375C-3838-9BB8-CA38-36BE97747F1A}"/>
              </a:ext>
            </a:extLst>
          </p:cNvPr>
          <p:cNvGrpSpPr>
            <a:grpSpLocks/>
          </p:cNvGrpSpPr>
          <p:nvPr/>
        </p:nvGrpSpPr>
        <p:grpSpPr bwMode="auto">
          <a:xfrm>
            <a:off x="1651000" y="3505200"/>
            <a:ext cx="6191250" cy="2362200"/>
            <a:chOff x="1008" y="2208"/>
            <a:chExt cx="3600" cy="1488"/>
          </a:xfrm>
        </p:grpSpPr>
        <p:sp>
          <p:nvSpPr>
            <p:cNvPr id="20485" name="Rectangle 5">
              <a:extLst>
                <a:ext uri="{FF2B5EF4-FFF2-40B4-BE49-F238E27FC236}">
                  <a16:creationId xmlns:a16="http://schemas.microsoft.com/office/drawing/2014/main" id="{ACC76669-953D-3252-0320-5FC43721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208"/>
              <a:ext cx="1584" cy="14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20486" name="Line 6">
              <a:extLst>
                <a:ext uri="{FF2B5EF4-FFF2-40B4-BE49-F238E27FC236}">
                  <a16:creationId xmlns:a16="http://schemas.microsoft.com/office/drawing/2014/main" id="{F3D5868D-8B8D-FA63-A62C-E6A6A27712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00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7" name="Line 7">
              <a:extLst>
                <a:ext uri="{FF2B5EF4-FFF2-40B4-BE49-F238E27FC236}">
                  <a16:creationId xmlns:a16="http://schemas.microsoft.com/office/drawing/2014/main" id="{91C6B1B1-45D2-7A9E-8303-44B8800BB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8" name="Line 8">
              <a:extLst>
                <a:ext uri="{FF2B5EF4-FFF2-40B4-BE49-F238E27FC236}">
                  <a16:creationId xmlns:a16="http://schemas.microsoft.com/office/drawing/2014/main" id="{DE95BF89-5CF8-3803-AB2D-3AF5429A21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352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Line 9">
              <a:extLst>
                <a:ext uri="{FF2B5EF4-FFF2-40B4-BE49-F238E27FC236}">
                  <a16:creationId xmlns:a16="http://schemas.microsoft.com/office/drawing/2014/main" id="{084322E4-42AA-8B5B-3576-DBA26857B4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3456"/>
              <a:ext cx="62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0" name="Line 10">
              <a:extLst>
                <a:ext uri="{FF2B5EF4-FFF2-40B4-BE49-F238E27FC236}">
                  <a16:creationId xmlns:a16="http://schemas.microsoft.com/office/drawing/2014/main" id="{ACF03785-15AE-D4A9-F6EB-0BA31F5E79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544"/>
              <a:ext cx="0" cy="720"/>
            </a:xfrm>
            <a:prstGeom prst="line">
              <a:avLst/>
            </a:prstGeom>
            <a:noFill/>
            <a:ln w="635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1" name="Line 11">
              <a:extLst>
                <a:ext uri="{FF2B5EF4-FFF2-40B4-BE49-F238E27FC236}">
                  <a16:creationId xmlns:a16="http://schemas.microsoft.com/office/drawing/2014/main" id="{D23E56B5-CB6A-C4ED-2527-DAA6BD696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2496"/>
              <a:ext cx="0" cy="720"/>
            </a:xfrm>
            <a:prstGeom prst="line">
              <a:avLst/>
            </a:prstGeom>
            <a:noFill/>
            <a:ln w="63500" cap="rnd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2" name="Text Box 12">
              <a:extLst>
                <a:ext uri="{FF2B5EF4-FFF2-40B4-BE49-F238E27FC236}">
                  <a16:creationId xmlns:a16="http://schemas.microsoft.com/office/drawing/2014/main" id="{0E439280-42F5-D2E2-FB5B-660C82C9D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2256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Arial" panose="020B0604020202020204" pitchFamily="34" charset="0"/>
                </a:rPr>
                <a:t>x</a:t>
              </a:r>
              <a:r>
                <a:rPr lang="it-IT" altLang="it-IT" sz="2400" b="0" baseline="-25000">
                  <a:latin typeface="Arial" panose="020B0604020202020204" pitchFamily="34" charset="0"/>
                </a:rPr>
                <a:t>1</a:t>
              </a:r>
              <a:endParaRPr lang="it-IT" altLang="it-IT" sz="2400" b="0"/>
            </a:p>
          </p:txBody>
        </p:sp>
        <p:sp>
          <p:nvSpPr>
            <p:cNvPr id="20493" name="Text Box 13">
              <a:extLst>
                <a:ext uri="{FF2B5EF4-FFF2-40B4-BE49-F238E27FC236}">
                  <a16:creationId xmlns:a16="http://schemas.microsoft.com/office/drawing/2014/main" id="{5B7BC39E-B269-BF07-0C0C-7D4DA2DAB9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312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Arial" panose="020B0604020202020204" pitchFamily="34" charset="0"/>
                </a:rPr>
                <a:t>x</a:t>
              </a:r>
              <a:r>
                <a:rPr lang="it-IT" altLang="it-IT" sz="2400" b="0" baseline="-25000">
                  <a:latin typeface="Arial" panose="020B0604020202020204" pitchFamily="34" charset="0"/>
                </a:rPr>
                <a:t>n</a:t>
              </a:r>
              <a:endParaRPr lang="it-IT" altLang="it-IT" sz="2400" b="0"/>
            </a:p>
          </p:txBody>
        </p:sp>
        <p:sp>
          <p:nvSpPr>
            <p:cNvPr id="20494" name="Text Box 14">
              <a:extLst>
                <a:ext uri="{FF2B5EF4-FFF2-40B4-BE49-F238E27FC236}">
                  <a16:creationId xmlns:a16="http://schemas.microsoft.com/office/drawing/2014/main" id="{76FBEBD0-D50D-2479-E0D8-C1155DC2C1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20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Arial" panose="020B0604020202020204" pitchFamily="34" charset="0"/>
                </a:rPr>
                <a:t>y</a:t>
              </a:r>
              <a:r>
                <a:rPr lang="it-IT" altLang="it-IT" sz="2400" b="0" baseline="-25000">
                  <a:latin typeface="Arial" panose="020B0604020202020204" pitchFamily="34" charset="0"/>
                </a:rPr>
                <a:t>1</a:t>
              </a:r>
              <a:endParaRPr lang="it-IT" altLang="it-IT" sz="2400" b="0"/>
            </a:p>
          </p:txBody>
        </p:sp>
        <p:sp>
          <p:nvSpPr>
            <p:cNvPr id="20495" name="Text Box 15">
              <a:extLst>
                <a:ext uri="{FF2B5EF4-FFF2-40B4-BE49-F238E27FC236}">
                  <a16:creationId xmlns:a16="http://schemas.microsoft.com/office/drawing/2014/main" id="{5E1CDF25-C968-9835-B9C9-4CB82644FA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312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latin typeface="Arial" panose="020B0604020202020204" pitchFamily="34" charset="0"/>
                </a:rPr>
                <a:t>y</a:t>
              </a:r>
              <a:r>
                <a:rPr lang="it-IT" altLang="it-IT" sz="2400" b="0" baseline="-25000">
                  <a:latin typeface="Arial" panose="020B0604020202020204" pitchFamily="34" charset="0"/>
                </a:rPr>
                <a:t>m</a:t>
              </a:r>
              <a:endParaRPr lang="it-IT" altLang="it-IT" sz="2400" b="0"/>
            </a:p>
          </p:txBody>
        </p:sp>
      </p:grpSp>
      <p:sp>
        <p:nvSpPr>
          <p:cNvPr id="20484" name="Segnaposto numero diapositiva 15">
            <a:extLst>
              <a:ext uri="{FF2B5EF4-FFF2-40B4-BE49-F238E27FC236}">
                <a16:creationId xmlns:a16="http://schemas.microsoft.com/office/drawing/2014/main" id="{90DF8C62-9543-B5C6-831E-9214FC30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E1DAC58-81C0-4CD3-92FD-0A3DF44C7B79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it-IT" altLang="it-IT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ext Box 2">
            <a:extLst>
              <a:ext uri="{FF2B5EF4-FFF2-40B4-BE49-F238E27FC236}">
                <a16:creationId xmlns:a16="http://schemas.microsoft.com/office/drawing/2014/main" id="{128802FA-A11F-35DC-3D5F-32FB420EC6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100" y="152400"/>
            <a:ext cx="9575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000" b="0">
                <a:latin typeface="Book Antiqua" panose="02040602050305030304" pitchFamily="18" charset="0"/>
              </a:rPr>
              <a:t>Macchine combinatorie (2/4)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E42D4770-81AB-9C4C-760D-677B1DA18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8" y="1447800"/>
            <a:ext cx="8899525" cy="405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>
              <a:lnSpc>
                <a:spcPct val="80000"/>
              </a:lnSpc>
            </a:pPr>
            <a:r>
              <a:rPr lang="it-IT" altLang="it-IT" sz="2400" b="0"/>
              <a:t>Una macchina combinatoria è una rete logica con </a:t>
            </a:r>
            <a:r>
              <a:rPr lang="it-IT" altLang="it-IT" sz="2400" b="0" i="1"/>
              <a:t>n </a:t>
            </a:r>
            <a:r>
              <a:rPr lang="it-IT" altLang="it-IT" sz="2400" b="0"/>
              <a:t>ingressi (x</a:t>
            </a:r>
            <a:r>
              <a:rPr lang="it-IT" altLang="it-IT" sz="2400" b="0" baseline="-25000"/>
              <a:t>1</a:t>
            </a:r>
            <a:r>
              <a:rPr lang="it-IT" altLang="it-IT" sz="2400" b="0"/>
              <a:t>, x</a:t>
            </a:r>
            <a:r>
              <a:rPr lang="it-IT" altLang="it-IT" sz="2400" b="0" baseline="-25000"/>
              <a:t>2</a:t>
            </a:r>
            <a:r>
              <a:rPr lang="it-IT" altLang="it-IT" sz="2400" b="0"/>
              <a:t>, …, x</a:t>
            </a:r>
            <a:r>
              <a:rPr lang="it-IT" altLang="it-IT" sz="2400" b="0" baseline="-25000"/>
              <a:t>n</a:t>
            </a:r>
            <a:r>
              <a:rPr lang="it-IT" altLang="it-IT" sz="2400" b="0"/>
              <a:t>) ed </a:t>
            </a:r>
            <a:r>
              <a:rPr lang="it-IT" altLang="it-IT" sz="2400" b="0" i="1"/>
              <a:t> m </a:t>
            </a:r>
            <a:r>
              <a:rPr lang="it-IT" altLang="it-IT" sz="2400" b="0"/>
              <a:t>uscite (y</a:t>
            </a:r>
            <a:r>
              <a:rPr lang="it-IT" altLang="it-IT" sz="2400" b="0" baseline="-25000"/>
              <a:t>1</a:t>
            </a:r>
            <a:r>
              <a:rPr lang="it-IT" altLang="it-IT" sz="2400" b="0"/>
              <a:t>, y</a:t>
            </a:r>
            <a:r>
              <a:rPr lang="it-IT" altLang="it-IT" sz="2400" b="0" baseline="-25000"/>
              <a:t>2</a:t>
            </a:r>
            <a:r>
              <a:rPr lang="it-IT" altLang="it-IT" sz="2400" b="0"/>
              <a:t>, …, y</a:t>
            </a:r>
            <a:r>
              <a:rPr lang="it-IT" altLang="it-IT" sz="2400" b="0" baseline="-25000"/>
              <a:t>m</a:t>
            </a:r>
            <a:r>
              <a:rPr lang="it-IT" altLang="it-IT" sz="2400" b="0"/>
              <a:t>) ed è tale che ad ogni insieme di valori degli ingressi corrisponde un preciso insieme di valori delle uscite</a:t>
            </a:r>
          </a:p>
          <a:p>
            <a:pPr algn="just">
              <a:lnSpc>
                <a:spcPct val="80000"/>
              </a:lnSpc>
            </a:pPr>
            <a:endParaRPr lang="it-IT" altLang="it-IT" sz="2400" b="0"/>
          </a:p>
          <a:p>
            <a:pPr algn="just">
              <a:lnSpc>
                <a:spcPct val="80000"/>
              </a:lnSpc>
            </a:pPr>
            <a:r>
              <a:rPr lang="it-IT" altLang="it-IT" sz="2400" b="0"/>
              <a:t>Il comportamento di una rete combinatoria </a:t>
            </a:r>
            <a:r>
              <a:rPr lang="it-IT" altLang="it-IT" sz="2400" b="0" i="1"/>
              <a:t>n</a:t>
            </a:r>
            <a:r>
              <a:rPr lang="it-IT" altLang="it-IT" sz="2400" b="0"/>
              <a:t>x</a:t>
            </a:r>
            <a:r>
              <a:rPr lang="it-IT" altLang="it-IT" sz="2400" b="0" i="1"/>
              <a:t>m </a:t>
            </a:r>
            <a:r>
              <a:rPr lang="it-IT" altLang="it-IT" sz="2400" b="0"/>
              <a:t>può essere descritto tramite: </a:t>
            </a:r>
          </a:p>
          <a:p>
            <a:pPr lvl="1" algn="just">
              <a:lnSpc>
                <a:spcPct val="80000"/>
              </a:lnSpc>
            </a:pPr>
            <a:r>
              <a:rPr lang="it-IT" altLang="it-IT" sz="2000" b="0"/>
              <a:t>una tabella di verità in cui viene specificato il valore dell</a:t>
            </a:r>
            <a:r>
              <a:rPr lang="ja-JP" altLang="it-IT" sz="2000" b="0"/>
              <a:t>’</a:t>
            </a:r>
            <a:r>
              <a:rPr lang="it-IT" altLang="ja-JP" sz="2000" b="0"/>
              <a:t>uscita per ognuna delle possibili combinazioni dei valori degli ingressi </a:t>
            </a:r>
          </a:p>
          <a:p>
            <a:pPr lvl="1" algn="just">
              <a:lnSpc>
                <a:spcPct val="80000"/>
              </a:lnSpc>
            </a:pPr>
            <a:r>
              <a:rPr lang="it-IT" altLang="it-IT" sz="2000" b="0"/>
              <a:t>m funzioni booleane, una per ogni uscita, ciascuna delle quali esprime il valore della corrispondente variabile di uscita in funzione delle n variabili di ingresso </a:t>
            </a:r>
          </a:p>
        </p:txBody>
      </p:sp>
      <p:sp>
        <p:nvSpPr>
          <p:cNvPr id="21507" name="Segnaposto numero diapositiva 3">
            <a:extLst>
              <a:ext uri="{FF2B5EF4-FFF2-40B4-BE49-F238E27FC236}">
                <a16:creationId xmlns:a16="http://schemas.microsoft.com/office/drawing/2014/main" id="{CFF588AB-D2DC-8419-2710-2508F2C22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D5AB38-A5B5-440B-90F8-1AB0BDFB6BA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it-IT" altLang="it-IT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B74BB449-DE5B-23BE-6041-AC7D40ECDE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Macchina combinatoria (3/4)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0EF9B652-1257-12E9-1548-DEF79070B3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47800"/>
            <a:ext cx="8899525" cy="4860925"/>
          </a:xfrm>
        </p:spPr>
        <p:txBody>
          <a:bodyPr/>
          <a:lstStyle/>
          <a:p>
            <a:pPr algn="just"/>
            <a:r>
              <a:rPr lang="it-IT" altLang="it-IT" sz="2400">
                <a:ea typeface="ＭＳ Ｐゴシック" panose="020B0600070205080204" pitchFamily="34" charset="-128"/>
              </a:rPr>
              <a:t>In una macchina combinatoria i valori delle uscite dipendono esclusivamente dai valori degli ingressi</a:t>
            </a:r>
          </a:p>
          <a:p>
            <a:pPr lvl="1" algn="just"/>
            <a:r>
              <a:rPr lang="it-IT" altLang="it-IT" sz="2000">
                <a:ea typeface="ＭＳ Ｐゴシック" panose="020B0600070205080204" pitchFamily="34" charset="-128"/>
              </a:rPr>
              <a:t>macchina combinatoria ideale: tale dipendenza è istantanea</a:t>
            </a:r>
          </a:p>
          <a:p>
            <a:pPr lvl="1" algn="just"/>
            <a:r>
              <a:rPr lang="it-IT" altLang="it-IT" sz="2000">
                <a:ea typeface="ＭＳ Ｐゴシック" panose="020B0600070205080204" pitchFamily="34" charset="-128"/>
              </a:rPr>
              <a:t>macchina combinatoria reale: presenza di ritardo tra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istante in cui c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è una variazione in uno degli ingressi e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istante in cui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effetto di questa variazione si manifesta sulle uscite</a:t>
            </a:r>
          </a:p>
          <a:p>
            <a:pPr algn="just"/>
            <a:r>
              <a:rPr lang="it-IT" altLang="it-IT" sz="2400">
                <a:ea typeface="ＭＳ Ｐゴシック" panose="020B0600070205080204" pitchFamily="34" charset="-128"/>
              </a:rPr>
              <a:t>E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 importante notare come</a:t>
            </a:r>
          </a:p>
          <a:p>
            <a:pPr lvl="1" algn="just"/>
            <a:r>
              <a:rPr lang="it-IT" altLang="it-IT" sz="2000">
                <a:ea typeface="ＭＳ Ｐゴシック" panose="020B0600070205080204" pitchFamily="34" charset="-128"/>
              </a:rPr>
              <a:t>ciascuna y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può essere decomposta in funzioni componenti</a:t>
            </a:r>
          </a:p>
          <a:p>
            <a:pPr lvl="1" algn="just"/>
            <a:r>
              <a:rPr lang="it-IT" altLang="it-IT" sz="2000">
                <a:ea typeface="ＭＳ Ｐゴシック" panose="020B0600070205080204" pitchFamily="34" charset="-128"/>
              </a:rPr>
              <a:t>due distinte y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possono contenere una identica funzione componente</a:t>
            </a:r>
          </a:p>
          <a:p>
            <a:pPr algn="just"/>
            <a:r>
              <a:rPr lang="it-IT" altLang="it-IT" sz="2400">
                <a:ea typeface="ＭＳ Ｐゴシック" panose="020B0600070205080204" pitchFamily="34" charset="-128"/>
              </a:rPr>
              <a:t>Ciò comporta, ad esempio, una potenziale diminuzione di porte elementari rispetto ad una realizzazione indipendente delle y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i</a:t>
            </a:r>
          </a:p>
        </p:txBody>
      </p:sp>
      <p:sp>
        <p:nvSpPr>
          <p:cNvPr id="22531" name="Segnaposto numero diapositiva 3">
            <a:extLst>
              <a:ext uri="{FF2B5EF4-FFF2-40B4-BE49-F238E27FC236}">
                <a16:creationId xmlns:a16="http://schemas.microsoft.com/office/drawing/2014/main" id="{98434500-1BC4-BEB3-1A50-E2CF3D55A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80E5E2C-C29A-410A-BAC4-87DF8D13802B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it-IT" altLang="it-IT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1682077C-20A7-BA23-C723-7289443EEF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Macchina combinatoria 4/4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20B4B389-0A4B-0850-BEE3-AA9655D43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it-IT" altLang="it-IT">
                <a:ea typeface="ＭＳ Ｐゴシック" panose="020B0600070205080204" pitchFamily="34" charset="-128"/>
              </a:rPr>
              <a:t>Mentre ad ogni rete combinatoria corrisponde un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unica tabella di verità, ad una tabella di verità possono corrispondere più reti combinatorie</a:t>
            </a:r>
          </a:p>
          <a:p>
            <a:pPr algn="just"/>
            <a:r>
              <a:rPr lang="it-IT" altLang="it-IT">
                <a:ea typeface="ＭＳ Ｐゴシック" panose="020B0600070205080204" pitchFamily="34" charset="-128"/>
              </a:rPr>
              <a:t>Nel procedimento di sintesi ci possiamo quindi porre particolari obiettivi come ad esempio:</a:t>
            </a:r>
          </a:p>
          <a:p>
            <a:pPr lvl="1" algn="just"/>
            <a:r>
              <a:rPr lang="it-IT" altLang="it-IT">
                <a:ea typeface="ＭＳ Ｐゴシック" panose="020B0600070205080204" pitchFamily="34" charset="-128"/>
              </a:rPr>
              <a:t>utilizzare esclusivamente circuiti elementari di un certo tipo</a:t>
            </a:r>
          </a:p>
          <a:p>
            <a:pPr lvl="1" algn="just"/>
            <a:r>
              <a:rPr lang="it-IT" altLang="it-IT">
                <a:ea typeface="ＭＳ Ｐゴシック" panose="020B0600070205080204" pitchFamily="34" charset="-128"/>
              </a:rPr>
              <a:t>progettare un circuito che abbia il minimo numero di porte logiche</a:t>
            </a:r>
          </a:p>
        </p:txBody>
      </p:sp>
      <p:sp>
        <p:nvSpPr>
          <p:cNvPr id="23555" name="Segnaposto numero diapositiva 3">
            <a:extLst>
              <a:ext uri="{FF2B5EF4-FFF2-40B4-BE49-F238E27FC236}">
                <a16:creationId xmlns:a16="http://schemas.microsoft.com/office/drawing/2014/main" id="{032818DA-91E5-246F-1A5C-2EA8A243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FBEDFC5-D793-433B-BE5B-881A7091469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it-IT" altLang="it-IT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A822D51A-FE5A-D6B6-BE5D-D9DF2DFDFA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4B8E6917-A975-9F88-D7A0-B9B799FF36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5400">
                <a:ea typeface="ＭＳ Ｐゴシック" panose="020B0600070205080204" pitchFamily="34" charset="-128"/>
              </a:rPr>
              <a:t>Codifica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it-IT" altLang="it-IT" sz="5400">
              <a:ea typeface="ＭＳ Ｐゴシック" panose="020B0600070205080204" pitchFamily="34" charset="-128"/>
            </a:endParaRPr>
          </a:p>
        </p:txBody>
      </p:sp>
      <p:sp>
        <p:nvSpPr>
          <p:cNvPr id="24579" name="Segnaposto numero diapositiva 3">
            <a:extLst>
              <a:ext uri="{FF2B5EF4-FFF2-40B4-BE49-F238E27FC236}">
                <a16:creationId xmlns:a16="http://schemas.microsoft.com/office/drawing/2014/main" id="{92053D63-9F7D-B86F-DF53-0B5B8F34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B08374-1D18-42AD-9ED0-A8A58F5EF99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it-IT" altLang="it-IT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EE554F42-2FDB-4A3E-BF6E-B7466A436B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475" y="152400"/>
            <a:ext cx="9163050" cy="419100"/>
          </a:xfrm>
        </p:spPr>
        <p:txBody>
          <a:bodyPr/>
          <a:lstStyle/>
          <a:p>
            <a:r>
              <a:rPr lang="it-IT" altLang="it-IT" sz="2800" i="1">
                <a:ea typeface="ＭＳ Ｐゴシック" panose="020B0600070205080204" pitchFamily="34" charset="-128"/>
              </a:rPr>
              <a:t>Codifica</a:t>
            </a:r>
            <a:r>
              <a:rPr lang="it-IT" altLang="it-IT" sz="2800">
                <a:ea typeface="ＭＳ Ｐゴシック" panose="020B0600070205080204" pitchFamily="34" charset="-128"/>
              </a:rPr>
              <a:t> delle informazioni: sul piano formale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F1DFFFD6-D206-A1B6-E82E-2B119BEF3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331913"/>
            <a:ext cx="9712325" cy="4760912"/>
          </a:xfrm>
        </p:spPr>
        <p:txBody>
          <a:bodyPr/>
          <a:lstStyle/>
          <a:p>
            <a:pPr>
              <a:lnSpc>
                <a:spcPct val="90000"/>
              </a:lnSpc>
              <a:spcAft>
                <a:spcPct val="30000"/>
              </a:spcAft>
            </a:pPr>
            <a:r>
              <a:rPr lang="it-IT" altLang="it-IT" i="1">
                <a:ea typeface="ＭＳ Ｐゴシック" panose="020B0600070205080204" pitchFamily="34" charset="-128"/>
              </a:rPr>
              <a:t>Rappresentazione</a:t>
            </a:r>
            <a:r>
              <a:rPr lang="it-IT" altLang="it-IT">
                <a:ea typeface="ＭＳ Ｐゴシック" panose="020B0600070205080204" pitchFamily="34" charset="-128"/>
              </a:rPr>
              <a:t> di informazioni appartenenti a un insieme finito </a:t>
            </a:r>
            <a:r>
              <a:rPr lang="it-IT" altLang="it-IT" i="1">
                <a:ea typeface="ＭＳ Ｐゴシック" panose="020B0600070205080204" pitchFamily="34" charset="-128"/>
              </a:rPr>
              <a:t>D</a:t>
            </a:r>
            <a:endParaRPr lang="it-IT" altLang="it-IT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Aft>
                <a:spcPct val="30000"/>
              </a:spcAft>
            </a:pPr>
            <a:r>
              <a:rPr lang="it-IT" altLang="it-IT">
                <a:ea typeface="ＭＳ Ｐゴシック" panose="020B0600070205080204" pitchFamily="34" charset="-128"/>
              </a:rPr>
              <a:t>Funzione </a:t>
            </a:r>
            <a:r>
              <a:rPr lang="it-IT" altLang="it-IT" i="1">
                <a:ea typeface="ＭＳ Ｐゴシック" panose="020B0600070205080204" pitchFamily="34" charset="-128"/>
              </a:rPr>
              <a:t>iniettiva</a:t>
            </a:r>
            <a:r>
              <a:rPr lang="it-IT" altLang="it-IT">
                <a:ea typeface="ＭＳ Ｐゴシック" panose="020B0600070205080204" pitchFamily="34" charset="-128"/>
              </a:rPr>
              <a:t> dall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insieme </a:t>
            </a:r>
            <a:r>
              <a:rPr lang="it-IT" altLang="ja-JP" i="1">
                <a:ea typeface="ＭＳ Ｐゴシック" panose="020B0600070205080204" pitchFamily="34" charset="-128"/>
              </a:rPr>
              <a:t>D</a:t>
            </a:r>
            <a:r>
              <a:rPr lang="it-IT" altLang="ja-JP">
                <a:ea typeface="ＭＳ Ｐゴシック" panose="020B0600070205080204" pitchFamily="34" charset="-128"/>
              </a:rPr>
              <a:t> (</a:t>
            </a:r>
            <a:r>
              <a:rPr lang="it-IT" altLang="ja-JP" i="1">
                <a:ea typeface="ＭＳ Ｐゴシック" panose="020B0600070205080204" pitchFamily="34" charset="-128"/>
              </a:rPr>
              <a:t>dominio</a:t>
            </a:r>
            <a:r>
              <a:rPr lang="it-IT" altLang="ja-JP">
                <a:ea typeface="ＭＳ Ｐゴシック" panose="020B0600070205080204" pitchFamily="34" charset="-128"/>
              </a:rPr>
              <a:t>) a un insieme direttamente manipolabile </a:t>
            </a:r>
            <a:r>
              <a:rPr lang="it-IT" altLang="ja-JP" i="1">
                <a:ea typeface="ＭＳ Ｐゴシック" panose="020B0600070205080204" pitchFamily="34" charset="-128"/>
              </a:rPr>
              <a:t>R</a:t>
            </a:r>
            <a:r>
              <a:rPr lang="it-IT" altLang="ja-JP">
                <a:ea typeface="ＭＳ Ｐゴシック" panose="020B0600070205080204" pitchFamily="34" charset="-128"/>
              </a:rPr>
              <a:t> (</a:t>
            </a:r>
            <a:r>
              <a:rPr lang="it-IT" altLang="ja-JP" i="1">
                <a:ea typeface="ＭＳ Ｐゴシック" panose="020B0600070205080204" pitchFamily="34" charset="-128"/>
              </a:rPr>
              <a:t>codominio</a:t>
            </a:r>
            <a:r>
              <a:rPr lang="it-IT" altLang="ja-JP">
                <a:ea typeface="ＭＳ Ｐゴシック" panose="020B0600070205080204" pitchFamily="34" charset="-128"/>
              </a:rPr>
              <a:t>)</a:t>
            </a:r>
          </a:p>
          <a:p>
            <a:pPr algn="ctr">
              <a:lnSpc>
                <a:spcPct val="90000"/>
              </a:lnSpc>
              <a:spcAft>
                <a:spcPct val="30000"/>
              </a:spcAft>
              <a:buFontTx/>
              <a:buNone/>
            </a:pPr>
            <a:r>
              <a:rPr lang="it-IT" altLang="it-IT" i="1">
                <a:ea typeface="ＭＳ Ｐゴシック" panose="020B0600070205080204" pitchFamily="34" charset="-128"/>
              </a:rPr>
              <a:t>c</a:t>
            </a:r>
            <a:r>
              <a:rPr lang="it-IT" altLang="it-IT">
                <a:ea typeface="ＭＳ Ｐゴシック" panose="020B0600070205080204" pitchFamily="34" charset="-128"/>
              </a:rPr>
              <a:t> : </a:t>
            </a:r>
            <a:r>
              <a:rPr lang="it-IT" altLang="it-IT" i="1">
                <a:ea typeface="ＭＳ Ｐゴシック" panose="020B0600070205080204" pitchFamily="34" charset="-128"/>
              </a:rPr>
              <a:t>D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  <a:r>
              <a:rPr lang="it-IT" altLang="it-IT" i="1">
                <a:ea typeface="ＭＳ Ｐゴシック" panose="020B0600070205080204" pitchFamily="34" charset="-128"/>
              </a:rPr>
              <a:t>R</a:t>
            </a:r>
          </a:p>
          <a:p>
            <a:pPr algn="ctr">
              <a:lnSpc>
                <a:spcPct val="90000"/>
              </a:lnSpc>
              <a:spcAft>
                <a:spcPct val="30000"/>
              </a:spcAft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</a:t>
            </a:r>
            <a:r>
              <a:rPr lang="it-IT" altLang="it-IT" i="1">
                <a:ea typeface="ＭＳ Ｐゴシック" panose="020B0600070205080204" pitchFamily="34" charset="-128"/>
              </a:rPr>
              <a:t>R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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 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D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</a:t>
            </a:r>
          </a:p>
          <a:p>
            <a:pPr>
              <a:lnSpc>
                <a:spcPct val="90000"/>
              </a:lnSpc>
              <a:spcAft>
                <a:spcPct val="30000"/>
              </a:spcAft>
            </a:pP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La funzione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 c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 è detta 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codifica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 o 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rappresentazione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 delle informazioni appartenenti a </a:t>
            </a:r>
            <a:r>
              <a:rPr lang="it-IT" altLang="it-IT" i="1">
                <a:ea typeface="ＭＳ Ｐゴシック" panose="020B0600070205080204" pitchFamily="34" charset="-128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25603" name="Segnaposto numero diapositiva 3">
            <a:extLst>
              <a:ext uri="{FF2B5EF4-FFF2-40B4-BE49-F238E27FC236}">
                <a16:creationId xmlns:a16="http://schemas.microsoft.com/office/drawing/2014/main" id="{C04E9C6E-1AEB-40CB-A4B4-D9D232E1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DAE1D0-0FA1-44FB-A684-3984CEBB87C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it-IT" altLang="it-IT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5CA50257-EEC1-5873-4D8E-37A122A83A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475" y="152400"/>
            <a:ext cx="8255000" cy="5619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Definizioni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3F16A266-343F-64B9-5731-4E66A76477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463" y="1196975"/>
            <a:ext cx="8750300" cy="411480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Alfabeto origine T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: il dato da rappresentare appartiene ad un tipo T = (x</a:t>
            </a:r>
            <a:r>
              <a:rPr lang="it-IT" altLang="it-IT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1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,…..,x</a:t>
            </a:r>
            <a:r>
              <a:rPr lang="it-IT" altLang="it-IT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) </a:t>
            </a:r>
          </a:p>
          <a:p>
            <a:endParaRPr lang="it-IT" altLang="it-IT">
              <a:solidFill>
                <a:srgbClr val="990000"/>
              </a:solidFill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Alfabeto in codice E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: il dato è rappresentato mediante dati di tipo E = (a</a:t>
            </a:r>
            <a:r>
              <a:rPr lang="it-IT" altLang="it-IT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1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,…..,a</a:t>
            </a:r>
            <a:r>
              <a:rPr lang="it-IT" altLang="it-IT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k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) </a:t>
            </a:r>
          </a:p>
          <a:p>
            <a:endParaRPr lang="it-IT" altLang="it-IT">
              <a:solidFill>
                <a:srgbClr val="990000"/>
              </a:solidFill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Tabella Codice C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: la codifica di T mediante E è un</a:t>
            </a:r>
            <a:r>
              <a:rPr lang="ja-JP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applicazione C, detta </a:t>
            </a:r>
            <a:r>
              <a:rPr lang="it-IT" altLang="ja-JP" i="1">
                <a:solidFill>
                  <a:srgbClr val="990000"/>
                </a:solidFill>
                <a:ea typeface="ＭＳ Ｐゴシック" panose="020B0600070205080204" pitchFamily="34" charset="-128"/>
              </a:rPr>
              <a:t>tabella codice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, che trasforma ciascun elemento x</a:t>
            </a:r>
            <a:r>
              <a:rPr lang="it-IT" altLang="ja-JP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i 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T in una stringa di lunghezza l</a:t>
            </a:r>
            <a:r>
              <a:rPr lang="it-IT" altLang="ja-JP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i 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 di elementi a</a:t>
            </a:r>
            <a:r>
              <a:rPr lang="it-IT" altLang="ja-JP" baseline="-25000">
                <a:solidFill>
                  <a:srgbClr val="990000"/>
                </a:solidFill>
                <a:ea typeface="ＭＳ Ｐゴシック" panose="020B0600070205080204" pitchFamily="34" charset="-128"/>
              </a:rPr>
              <a:t>i 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E, detta </a:t>
            </a:r>
            <a:r>
              <a:rPr lang="it-IT" altLang="ja-JP" i="1">
                <a:solidFill>
                  <a:srgbClr val="990000"/>
                </a:solidFill>
                <a:ea typeface="ＭＳ Ｐゴシック" panose="020B0600070205080204" pitchFamily="34" charset="-128"/>
              </a:rPr>
              <a:t>parola codice </a:t>
            </a:r>
            <a:endParaRPr lang="it-IT" altLang="it-IT" i="1">
              <a:solidFill>
                <a:srgbClr val="99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27651" name="Segnaposto numero diapositiva 3">
            <a:extLst>
              <a:ext uri="{FF2B5EF4-FFF2-40B4-BE49-F238E27FC236}">
                <a16:creationId xmlns:a16="http://schemas.microsoft.com/office/drawing/2014/main" id="{700CA034-513A-19B3-C665-F112C7C39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6C768E-20B2-4154-90EB-485FCF9F2C7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it-IT" altLang="it-IT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FBA2FDCB-592D-ECE3-C1BB-4EBF3DE97D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7650" y="0"/>
            <a:ext cx="8255000" cy="785813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Codifica a lunghezza fissa</a:t>
            </a:r>
          </a:p>
        </p:txBody>
      </p:sp>
      <p:sp>
        <p:nvSpPr>
          <p:cNvPr id="28674" name="Text Box 3">
            <a:extLst>
              <a:ext uri="{FF2B5EF4-FFF2-40B4-BE49-F238E27FC236}">
                <a16:creationId xmlns:a16="http://schemas.microsoft.com/office/drawing/2014/main" id="{6A88B23C-E845-9327-0E20-F8C949D91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9850" y="2954338"/>
            <a:ext cx="1701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rgbClr val="990000"/>
                </a:solidFill>
              </a:rPr>
              <a:t>K</a:t>
            </a:r>
            <a:r>
              <a:rPr lang="it-IT" altLang="it-IT" sz="3200" baseline="30000">
                <a:solidFill>
                  <a:srgbClr val="990000"/>
                </a:solidFill>
              </a:rPr>
              <a:t>m</a:t>
            </a:r>
            <a:r>
              <a:rPr lang="it-IT" altLang="it-IT" sz="3200">
                <a:solidFill>
                  <a:srgbClr val="990000"/>
                </a:solidFill>
              </a:rPr>
              <a:t> &gt;= N</a:t>
            </a:r>
          </a:p>
        </p:txBody>
      </p:sp>
      <p:sp>
        <p:nvSpPr>
          <p:cNvPr id="28675" name="Rectangle 4">
            <a:extLst>
              <a:ext uri="{FF2B5EF4-FFF2-40B4-BE49-F238E27FC236}">
                <a16:creationId xmlns:a16="http://schemas.microsoft.com/office/drawing/2014/main" id="{A5A5A567-B0BB-307A-373A-7227CCE31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6138" y="3944938"/>
            <a:ext cx="26368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rgbClr val="990000"/>
                </a:solidFill>
              </a:rPr>
              <a:t>m = {[log</a:t>
            </a:r>
            <a:r>
              <a:rPr lang="it-IT" altLang="it-IT" sz="3200" baseline="-25000">
                <a:solidFill>
                  <a:srgbClr val="990000"/>
                </a:solidFill>
              </a:rPr>
              <a:t>k</a:t>
            </a:r>
            <a:r>
              <a:rPr lang="it-IT" altLang="it-IT" sz="3200">
                <a:solidFill>
                  <a:srgbClr val="990000"/>
                </a:solidFill>
              </a:rPr>
              <a:t> N]}</a:t>
            </a:r>
          </a:p>
        </p:txBody>
      </p:sp>
      <p:sp>
        <p:nvSpPr>
          <p:cNvPr id="28676" name="Text Box 5">
            <a:extLst>
              <a:ext uri="{FF2B5EF4-FFF2-40B4-BE49-F238E27FC236}">
                <a16:creationId xmlns:a16="http://schemas.microsoft.com/office/drawing/2014/main" id="{010D4410-AF97-12E3-DFEB-B8F8320E0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6300" y="5851525"/>
            <a:ext cx="1028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l &gt;= m</a:t>
            </a:r>
          </a:p>
        </p:txBody>
      </p:sp>
      <p:sp>
        <p:nvSpPr>
          <p:cNvPr id="28677" name="Text Box 6">
            <a:extLst>
              <a:ext uri="{FF2B5EF4-FFF2-40B4-BE49-F238E27FC236}">
                <a16:creationId xmlns:a16="http://schemas.microsoft.com/office/drawing/2014/main" id="{D0B60B6B-AFF4-F781-B7AD-2D27ED512C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700" y="5851525"/>
            <a:ext cx="3028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l lunghezza del codice</a:t>
            </a:r>
          </a:p>
        </p:txBody>
      </p:sp>
      <p:sp>
        <p:nvSpPr>
          <p:cNvPr id="28678" name="Rectangle 7">
            <a:extLst>
              <a:ext uri="{FF2B5EF4-FFF2-40B4-BE49-F238E27FC236}">
                <a16:creationId xmlns:a16="http://schemas.microsoft.com/office/drawing/2014/main" id="{2A40145A-0B2F-2969-82AE-8535CADF1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8713"/>
            <a:ext cx="9740900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Se si pone l</a:t>
            </a:r>
            <a:r>
              <a:rPr lang="it-IT" altLang="it-IT" sz="2400" baseline="-25000">
                <a:solidFill>
                  <a:schemeClr val="tx2"/>
                </a:solidFill>
              </a:rPr>
              <a:t>i</a:t>
            </a:r>
            <a:r>
              <a:rPr lang="it-IT" altLang="it-IT" sz="2400">
                <a:solidFill>
                  <a:schemeClr val="tx2"/>
                </a:solidFill>
              </a:rPr>
              <a:t> = m = costante per tutti gli elementi di T, si ottiene una codifica a lunghezza fissa. In tal caso il codice è fissato facendo corrispondere a ciascun elemento x</a:t>
            </a:r>
            <a:r>
              <a:rPr lang="it-IT" altLang="it-IT" sz="2400" baseline="-25000">
                <a:solidFill>
                  <a:schemeClr val="tx2"/>
                </a:solidFill>
              </a:rPr>
              <a:t>i </a:t>
            </a:r>
            <a:r>
              <a:rPr lang="it-IT" altLang="it-IT" sz="2400">
                <a:solidFill>
                  <a:schemeClr val="tx2"/>
                </a:solidFill>
                <a:sym typeface="Symbol" panose="05050102010706020507" pitchFamily="18" charset="2"/>
              </a:rPr>
              <a:t></a:t>
            </a:r>
            <a:r>
              <a:rPr lang="it-IT" altLang="it-IT" sz="2400">
                <a:solidFill>
                  <a:schemeClr val="tx2"/>
                </a:solidFill>
              </a:rPr>
              <a:t>T una delle k</a:t>
            </a:r>
            <a:r>
              <a:rPr lang="it-IT" altLang="it-IT" sz="2400" baseline="30000">
                <a:solidFill>
                  <a:schemeClr val="tx2"/>
                </a:solidFill>
              </a:rPr>
              <a:t>m</a:t>
            </a:r>
            <a:r>
              <a:rPr lang="it-IT" altLang="it-IT" sz="2400">
                <a:solidFill>
                  <a:schemeClr val="tx2"/>
                </a:solidFill>
              </a:rPr>
              <a:t> disposizioni con ripetizione dei k simboli di tipo E sugli m posti della stringa e quindi:   </a:t>
            </a:r>
          </a:p>
        </p:txBody>
      </p:sp>
      <p:sp>
        <p:nvSpPr>
          <p:cNvPr id="28679" name="Rectangle 8">
            <a:extLst>
              <a:ext uri="{FF2B5EF4-FFF2-40B4-BE49-F238E27FC236}">
                <a16:creationId xmlns:a16="http://schemas.microsoft.com/office/drawing/2014/main" id="{9B0900F3-FD19-B6BC-5FAD-F766485568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3414713"/>
            <a:ext cx="12636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da cui</a:t>
            </a:r>
          </a:p>
        </p:txBody>
      </p:sp>
      <p:sp>
        <p:nvSpPr>
          <p:cNvPr id="28680" name="Rectangle 9">
            <a:extLst>
              <a:ext uri="{FF2B5EF4-FFF2-40B4-BE49-F238E27FC236}">
                <a16:creationId xmlns:a16="http://schemas.microsoft.com/office/drawing/2014/main" id="{50CD7393-876E-2495-391A-C703AAF59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" y="4729163"/>
            <a:ext cx="974090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Per codificare un dato di cardinalità N mediante un alfabeto di k simboli è necessaria una stringa di lunghezza minima m   </a:t>
            </a:r>
          </a:p>
        </p:txBody>
      </p:sp>
      <p:sp>
        <p:nvSpPr>
          <p:cNvPr id="28681" name="Segnaposto numero diapositiva 9">
            <a:extLst>
              <a:ext uri="{FF2B5EF4-FFF2-40B4-BE49-F238E27FC236}">
                <a16:creationId xmlns:a16="http://schemas.microsoft.com/office/drawing/2014/main" id="{67D9A03C-A590-5DB2-9C25-297D0EA9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8CC288-8DD4-4808-B014-459D8528E1C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it-IT" altLang="it-IT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7F889868-0B93-A5C1-BB50-4A76DF6669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52400"/>
            <a:ext cx="9163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Codifica a lunghezza fissa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61F369A2-90B4-1710-1E0E-76AD1C30A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" y="1279525"/>
            <a:ext cx="9163050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CODICE INCOMPLETO : </a:t>
            </a:r>
            <a:r>
              <a:rPr lang="it-IT" altLang="it-IT" sz="2400">
                <a:solidFill>
                  <a:srgbClr val="990000"/>
                </a:solidFill>
              </a:rPr>
              <a:t>se l = m ma N non è potenza di k, il codice viene detto incompleto e la differenza k</a:t>
            </a:r>
            <a:r>
              <a:rPr lang="it-IT" altLang="it-IT" sz="2400" baseline="30000">
                <a:solidFill>
                  <a:srgbClr val="990000"/>
                </a:solidFill>
              </a:rPr>
              <a:t>m</a:t>
            </a:r>
            <a:r>
              <a:rPr lang="it-IT" altLang="it-IT" sz="2400">
                <a:solidFill>
                  <a:srgbClr val="990000"/>
                </a:solidFill>
              </a:rPr>
              <a:t>-N fornisce il numero di parole codice non assegnate, cioè non associate ad alcun elemento dell</a:t>
            </a:r>
            <a:r>
              <a:rPr lang="ja-JP" altLang="it-IT" sz="2400">
                <a:solidFill>
                  <a:srgbClr val="990000"/>
                </a:solidFill>
              </a:rPr>
              <a:t>’</a:t>
            </a:r>
            <a:r>
              <a:rPr lang="it-IT" altLang="ja-JP" sz="2400">
                <a:solidFill>
                  <a:srgbClr val="990000"/>
                </a:solidFill>
              </a:rPr>
              <a:t>alfabeto origine. (vedi es. 1, 2)</a:t>
            </a:r>
          </a:p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lang="it-IT" altLang="it-IT" sz="800">
              <a:solidFill>
                <a:srgbClr val="990000"/>
              </a:solidFill>
            </a:endParaRPr>
          </a:p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CODICE RIDONDANTE : </a:t>
            </a:r>
            <a:r>
              <a:rPr lang="it-IT" altLang="it-IT" sz="2400">
                <a:solidFill>
                  <a:srgbClr val="990000"/>
                </a:solidFill>
              </a:rPr>
              <a:t>si ottiene per l &gt; m adoperando più caratteri dell</a:t>
            </a:r>
            <a:r>
              <a:rPr lang="ja-JP" altLang="it-IT" sz="2400">
                <a:solidFill>
                  <a:srgbClr val="990000"/>
                </a:solidFill>
              </a:rPr>
              <a:t>’</a:t>
            </a:r>
            <a:r>
              <a:rPr lang="it-IT" altLang="ja-JP" sz="2400">
                <a:solidFill>
                  <a:srgbClr val="990000"/>
                </a:solidFill>
              </a:rPr>
              <a:t>alfabeto in codice di quanto strettamente necessari. </a:t>
            </a:r>
          </a:p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it-IT" altLang="it-IT" sz="2400">
                <a:solidFill>
                  <a:srgbClr val="990000"/>
                </a:solidFill>
              </a:rPr>
              <a:t>    Questi codici vengono utilizzati per rilevare ed eventualmente correggere errori dovuti ad alterazioni del dato.</a:t>
            </a:r>
          </a:p>
          <a:p>
            <a:pPr eaLnBrk="1" hangingPunct="1"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endParaRPr lang="it-IT" altLang="it-IT" sz="2400" i="1">
              <a:solidFill>
                <a:srgbClr val="990000"/>
              </a:solidFill>
            </a:endParaRPr>
          </a:p>
        </p:txBody>
      </p:sp>
      <p:sp>
        <p:nvSpPr>
          <p:cNvPr id="278532" name="Rectangle 4">
            <a:extLst>
              <a:ext uri="{FF2B5EF4-FFF2-40B4-BE49-F238E27FC236}">
                <a16:creationId xmlns:a16="http://schemas.microsoft.com/office/drawing/2014/main" id="{6B729819-E8BF-CC25-7BB1-4084CF268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5638800"/>
            <a:ext cx="91630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None/>
            </a:pPr>
            <a:r>
              <a:rPr lang="it-IT" altLang="it-IT" sz="2400"/>
              <a:t>CODICE RIDONDANTE</a:t>
            </a:r>
            <a:r>
              <a:rPr lang="it-IT" altLang="it-IT" sz="2200"/>
              <a:t> </a:t>
            </a:r>
            <a:r>
              <a:rPr lang="it-IT" altLang="it-IT" sz="2200">
                <a:sym typeface="Wingdings" panose="05000000000000000000" pitchFamily="2" charset="2"/>
              </a:rPr>
              <a:t> </a:t>
            </a:r>
            <a:r>
              <a:rPr lang="it-IT" altLang="it-IT" sz="2400"/>
              <a:t>CODICE INCOMPLETO</a:t>
            </a:r>
            <a:r>
              <a:rPr lang="it-IT" altLang="it-IT" sz="2200"/>
              <a:t> </a:t>
            </a:r>
            <a:endParaRPr lang="it-IT" altLang="it-IT" sz="2200" i="1">
              <a:solidFill>
                <a:srgbClr val="FF0000"/>
              </a:solidFill>
            </a:endParaRPr>
          </a:p>
        </p:txBody>
      </p:sp>
      <p:sp>
        <p:nvSpPr>
          <p:cNvPr id="29700" name="Segnaposto numero diapositiva 4">
            <a:extLst>
              <a:ext uri="{FF2B5EF4-FFF2-40B4-BE49-F238E27FC236}">
                <a16:creationId xmlns:a16="http://schemas.microsoft.com/office/drawing/2014/main" id="{9FE92037-1C09-421E-FF5A-169398EA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B8896C-A52E-4A31-AFB0-FDFA0DE35FAD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8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C9D7121E-462C-4350-0FA7-E7DF000B1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475" y="152400"/>
            <a:ext cx="9163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Codifica a lunghezza variabile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B2452820-0DC2-DC64-B48D-6A40E8874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9688" y="1257300"/>
            <a:ext cx="9906001" cy="415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La lunghezza l</a:t>
            </a:r>
            <a:r>
              <a:rPr lang="it-IT" altLang="it-IT" sz="2400" baseline="-25000">
                <a:solidFill>
                  <a:srgbClr val="990000"/>
                </a:solidFill>
              </a:rPr>
              <a:t>i</a:t>
            </a:r>
            <a:r>
              <a:rPr lang="it-IT" altLang="it-IT" sz="2400">
                <a:solidFill>
                  <a:srgbClr val="990000"/>
                </a:solidFill>
              </a:rPr>
              <a:t> del codice è funzione di ciascun elemento x</a:t>
            </a:r>
            <a:r>
              <a:rPr lang="it-IT" altLang="it-IT" sz="2400" baseline="-25000">
                <a:solidFill>
                  <a:srgbClr val="990000"/>
                </a:solidFill>
              </a:rPr>
              <a:t>i</a:t>
            </a:r>
            <a:r>
              <a:rPr lang="it-IT" altLang="it-IT" sz="2400">
                <a:solidFill>
                  <a:srgbClr val="990000"/>
                </a:solidFill>
              </a:rPr>
              <a:t> :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>
              <a:solidFill>
                <a:srgbClr val="9900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l</a:t>
            </a:r>
            <a:r>
              <a:rPr lang="it-IT" altLang="it-IT" sz="2400" baseline="-25000">
                <a:solidFill>
                  <a:schemeClr val="tx2"/>
                </a:solidFill>
              </a:rPr>
              <a:t>i</a:t>
            </a:r>
            <a:r>
              <a:rPr lang="it-IT" altLang="it-IT" sz="2400">
                <a:solidFill>
                  <a:schemeClr val="tx2"/>
                </a:solidFill>
              </a:rPr>
              <a:t> = f(x</a:t>
            </a:r>
            <a:r>
              <a:rPr lang="it-IT" altLang="it-IT" sz="2400" baseline="-25000">
                <a:solidFill>
                  <a:schemeClr val="tx2"/>
                </a:solidFill>
              </a:rPr>
              <a:t>i</a:t>
            </a:r>
            <a:r>
              <a:rPr lang="it-IT" altLang="it-IT" sz="2400">
                <a:solidFill>
                  <a:schemeClr val="tx2"/>
                </a:solidFill>
              </a:rPr>
              <a:t>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 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Proprietà fondamentale è quella che la (o le) parola più corta è individuata da un particolare codice che non si ritrova come sequenza iniziale in quelle più lunghe: è la lunghezza stessa che deve essere riconosciuta nel contesto della parola-codice.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>
              <a:solidFill>
                <a:srgbClr val="990000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L</a:t>
            </a:r>
            <a:r>
              <a:rPr lang="ja-JP" altLang="it-IT" sz="2400">
                <a:solidFill>
                  <a:srgbClr val="990000"/>
                </a:solidFill>
              </a:rPr>
              <a:t>’</a:t>
            </a:r>
            <a:r>
              <a:rPr lang="it-IT" altLang="ja-JP" sz="2400">
                <a:solidFill>
                  <a:srgbClr val="990000"/>
                </a:solidFill>
              </a:rPr>
              <a:t>uso di questo tipo di codifica è giustificato quando gli elementi del tipo T (alfabeto origine) non hanno tutti la stessa probabilità di occorrenza.</a:t>
            </a:r>
            <a:endParaRPr lang="it-IT" altLang="it-IT" sz="2400">
              <a:solidFill>
                <a:srgbClr val="990000"/>
              </a:solidFill>
            </a:endParaRPr>
          </a:p>
        </p:txBody>
      </p:sp>
      <p:sp>
        <p:nvSpPr>
          <p:cNvPr id="30723" name="Segnaposto numero diapositiva 3">
            <a:extLst>
              <a:ext uri="{FF2B5EF4-FFF2-40B4-BE49-F238E27FC236}">
                <a16:creationId xmlns:a16="http://schemas.microsoft.com/office/drawing/2014/main" id="{1867AC1B-8F5F-5913-3B73-C6524A941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808F31-32E9-4D71-A24C-B92A6D6C0BE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9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08918994-29E0-6FAB-BDB7-20761D615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" y="152400"/>
            <a:ext cx="9163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Codifica a lunghezza variabile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46CB6542-38FC-0870-FE34-B35A90968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57300"/>
            <a:ext cx="9906000" cy="472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Dato l</a:t>
            </a:r>
            <a:r>
              <a:rPr lang="ja-JP" altLang="it-IT" sz="2000">
                <a:solidFill>
                  <a:schemeClr val="tx2"/>
                </a:solidFill>
              </a:rPr>
              <a:t>’</a:t>
            </a:r>
            <a:r>
              <a:rPr lang="it-IT" altLang="ja-JP" sz="2000">
                <a:solidFill>
                  <a:schemeClr val="tx2"/>
                </a:solidFill>
              </a:rPr>
              <a:t>insieme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			T = (x</a:t>
            </a:r>
            <a:r>
              <a:rPr lang="it-IT" altLang="it-IT" sz="2000" baseline="-25000">
                <a:solidFill>
                  <a:schemeClr val="tx2"/>
                </a:solidFill>
              </a:rPr>
              <a:t>1</a:t>
            </a:r>
            <a:r>
              <a:rPr lang="it-IT" altLang="it-IT" sz="2000">
                <a:solidFill>
                  <a:schemeClr val="tx2"/>
                </a:solidFill>
              </a:rPr>
              <a:t>,…..,x</a:t>
            </a:r>
            <a:r>
              <a:rPr lang="it-IT" altLang="it-IT" sz="2000" baseline="-25000">
                <a:solidFill>
                  <a:schemeClr val="tx2"/>
                </a:solidFill>
              </a:rPr>
              <a:t>n</a:t>
            </a:r>
            <a:r>
              <a:rPr lang="it-IT" altLang="it-IT" sz="2000">
                <a:solidFill>
                  <a:schemeClr val="tx2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Dette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	    	   	    p</a:t>
            </a:r>
            <a:r>
              <a:rPr lang="it-IT" altLang="it-IT" sz="2000" baseline="-25000">
                <a:solidFill>
                  <a:schemeClr val="tx2"/>
                </a:solidFill>
              </a:rPr>
              <a:t>1</a:t>
            </a:r>
            <a:r>
              <a:rPr lang="it-IT" altLang="it-IT" sz="2000">
                <a:solidFill>
                  <a:schemeClr val="tx2"/>
                </a:solidFill>
              </a:rPr>
              <a:t>,…..,p</a:t>
            </a:r>
            <a:r>
              <a:rPr lang="it-IT" altLang="it-IT" sz="2000" baseline="-25000">
                <a:solidFill>
                  <a:schemeClr val="tx2"/>
                </a:solidFill>
              </a:rPr>
              <a:t>n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7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le probabilità di occorrenza (frequenza) dei rispettivi elementi di 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7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la lunghezza l</a:t>
            </a:r>
            <a:r>
              <a:rPr lang="it-IT" altLang="it-IT" sz="2000" baseline="-25000">
                <a:solidFill>
                  <a:schemeClr val="tx2"/>
                </a:solidFill>
              </a:rPr>
              <a:t>i</a:t>
            </a:r>
            <a:r>
              <a:rPr lang="it-IT" altLang="it-IT" sz="2000">
                <a:solidFill>
                  <a:schemeClr val="tx2"/>
                </a:solidFill>
              </a:rPr>
              <a:t> viene scelta in modo da minimizzare la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lunghezza media L</a:t>
            </a:r>
            <a:r>
              <a:rPr lang="it-IT" altLang="it-IT" sz="2000" baseline="-25000">
                <a:solidFill>
                  <a:schemeClr val="tx2"/>
                </a:solidFill>
              </a:rPr>
              <a:t>m</a:t>
            </a:r>
            <a:r>
              <a:rPr lang="it-IT" altLang="it-IT" sz="2000">
                <a:solidFill>
                  <a:schemeClr val="tx2"/>
                </a:solidFill>
              </a:rPr>
              <a:t> del codice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7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			 L</a:t>
            </a:r>
            <a:r>
              <a:rPr lang="it-IT" altLang="it-IT" sz="2000" baseline="-25000">
                <a:solidFill>
                  <a:schemeClr val="tx2"/>
                </a:solidFill>
              </a:rPr>
              <a:t>m</a:t>
            </a:r>
            <a:r>
              <a:rPr lang="it-IT" altLang="it-IT" sz="2000">
                <a:solidFill>
                  <a:schemeClr val="tx2"/>
                </a:solidFill>
              </a:rPr>
              <a:t> = </a:t>
            </a:r>
            <a:r>
              <a:rPr lang="it-IT" altLang="it-IT" sz="2000">
                <a:solidFill>
                  <a:schemeClr val="tx2"/>
                </a:solidFill>
                <a:sym typeface="Symbol" panose="05050102010706020507" pitchFamily="18" charset="2"/>
              </a:rPr>
              <a:t></a:t>
            </a:r>
            <a:r>
              <a:rPr lang="it-IT" altLang="it-IT" sz="2000" baseline="-25000">
                <a:solidFill>
                  <a:schemeClr val="tx2"/>
                </a:solidFill>
              </a:rPr>
              <a:t>i=1,n</a:t>
            </a:r>
            <a:r>
              <a:rPr lang="it-IT" altLang="it-IT" sz="2000">
                <a:solidFill>
                  <a:schemeClr val="tx2"/>
                </a:solidFill>
                <a:sym typeface="Symbol" panose="05050102010706020507" pitchFamily="18" charset="2"/>
              </a:rPr>
              <a:t> (</a:t>
            </a:r>
            <a:r>
              <a:rPr lang="it-IT" altLang="it-IT" sz="2000">
                <a:solidFill>
                  <a:schemeClr val="tx2"/>
                </a:solidFill>
              </a:rPr>
              <a:t>p</a:t>
            </a:r>
            <a:r>
              <a:rPr lang="it-IT" altLang="it-IT" sz="2000" baseline="-25000">
                <a:solidFill>
                  <a:schemeClr val="tx2"/>
                </a:solidFill>
              </a:rPr>
              <a:t>i</a:t>
            </a:r>
            <a:r>
              <a:rPr lang="it-IT" altLang="it-IT" sz="2000">
                <a:solidFill>
                  <a:schemeClr val="tx2"/>
                </a:solidFill>
                <a:sym typeface="Symbol" panose="05050102010706020507" pitchFamily="18" charset="2"/>
              </a:rPr>
              <a:t> * </a:t>
            </a:r>
            <a:r>
              <a:rPr lang="it-IT" altLang="it-IT" sz="2000">
                <a:solidFill>
                  <a:schemeClr val="tx2"/>
                </a:solidFill>
              </a:rPr>
              <a:t>l</a:t>
            </a:r>
            <a:r>
              <a:rPr lang="it-IT" altLang="it-IT" sz="2000" baseline="-25000">
                <a:solidFill>
                  <a:schemeClr val="tx2"/>
                </a:solidFill>
              </a:rPr>
              <a:t>i</a:t>
            </a:r>
            <a:r>
              <a:rPr lang="it-IT" altLang="it-IT" sz="2000">
                <a:solidFill>
                  <a:schemeClr val="tx2"/>
                </a:solidFill>
              </a:rPr>
              <a:t>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  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000">
              <a:solidFill>
                <a:schemeClr val="tx2"/>
              </a:solidFill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>
                <a:solidFill>
                  <a:schemeClr val="tx2"/>
                </a:solidFill>
              </a:rPr>
              <a:t>Effettuata la ricerca della n-pla di valori l</a:t>
            </a:r>
            <a:r>
              <a:rPr lang="it-IT" altLang="it-IT" sz="2000" baseline="-25000">
                <a:solidFill>
                  <a:schemeClr val="tx2"/>
                </a:solidFill>
              </a:rPr>
              <a:t>i </a:t>
            </a:r>
            <a:r>
              <a:rPr lang="it-IT" altLang="it-IT" sz="2000">
                <a:solidFill>
                  <a:schemeClr val="tx2"/>
                </a:solidFill>
              </a:rPr>
              <a:t>che rende minima L</a:t>
            </a:r>
            <a:r>
              <a:rPr lang="it-IT" altLang="it-IT" sz="2000" baseline="-25000">
                <a:solidFill>
                  <a:schemeClr val="tx2"/>
                </a:solidFill>
              </a:rPr>
              <a:t>m</a:t>
            </a:r>
            <a:r>
              <a:rPr lang="it-IT" altLang="it-IT" sz="2000">
                <a:solidFill>
                  <a:schemeClr val="tx2"/>
                </a:solidFill>
              </a:rPr>
              <a:t> si ottiene un codice a lunghezza variabile a minima ridondanza. Le medesime informazioni codificate con un codice a lunghezza fissa avrebbero richiesto un codice di lunghezza maggiore di L</a:t>
            </a:r>
            <a:r>
              <a:rPr lang="it-IT" altLang="it-IT" sz="2000" baseline="-25000">
                <a:solidFill>
                  <a:schemeClr val="tx2"/>
                </a:solidFill>
              </a:rPr>
              <a:t>m</a:t>
            </a:r>
          </a:p>
        </p:txBody>
      </p:sp>
      <p:sp>
        <p:nvSpPr>
          <p:cNvPr id="31747" name="Segnaposto numero diapositiva 3">
            <a:extLst>
              <a:ext uri="{FF2B5EF4-FFF2-40B4-BE49-F238E27FC236}">
                <a16:creationId xmlns:a16="http://schemas.microsoft.com/office/drawing/2014/main" id="{F0A30FC9-FB01-1B3D-217F-549DF57E5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CC6047-56B1-469D-8824-A7671C60CE6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0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57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AC20510B-C5D8-716A-7E92-05D2C21E6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" y="142875"/>
            <a:ext cx="8750300" cy="68580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Codifica a lunghezza variabile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04095310-A55C-4893-1D87-B8902AB5F0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475" y="1163638"/>
            <a:ext cx="8667750" cy="2332037"/>
          </a:xfrm>
        </p:spPr>
        <p:txBody>
          <a:bodyPr/>
          <a:lstStyle/>
          <a:p>
            <a:pPr>
              <a:spcAft>
                <a:spcPct val="30000"/>
              </a:spcAft>
            </a:pP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Data la rappresentazione </a:t>
            </a:r>
            <a:r>
              <a:rPr lang="it-IT" altLang="it-IT" i="1">
                <a:solidFill>
                  <a:srgbClr val="990000"/>
                </a:solidFill>
                <a:ea typeface="ＭＳ Ｐゴシック" panose="020B0600070205080204" pitchFamily="34" charset="-128"/>
              </a:rPr>
              <a:t>c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: </a:t>
            </a:r>
            <a:r>
              <a:rPr lang="it-IT" altLang="it-IT" i="1">
                <a:solidFill>
                  <a:srgbClr val="990000"/>
                </a:solidFill>
                <a:ea typeface="ＭＳ Ｐゴシック" panose="020B0600070205080204" pitchFamily="34" charset="-128"/>
              </a:rPr>
              <a:t>D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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</a:t>
            </a:r>
            <a:r>
              <a:rPr lang="it-IT" altLang="it-IT" i="1">
                <a:solidFill>
                  <a:srgbClr val="990000"/>
                </a:solidFill>
                <a:ea typeface="ＭＳ Ｐゴシック" panose="020B0600070205080204" pitchFamily="34" charset="-128"/>
              </a:rPr>
              <a:t>R,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 l</a:t>
            </a:r>
            <a:r>
              <a:rPr lang="ja-JP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insieme </a:t>
            </a:r>
            <a:r>
              <a:rPr lang="it-IT" altLang="ja-JP" i="1">
                <a:solidFill>
                  <a:srgbClr val="990000"/>
                </a:solidFill>
                <a:ea typeface="ＭＳ Ｐゴシック" panose="020B0600070205080204" pitchFamily="34" charset="-128"/>
              </a:rPr>
              <a:t>R</a:t>
            </a:r>
            <a:r>
              <a:rPr lang="it-IT" altLang="ja-JP">
                <a:solidFill>
                  <a:srgbClr val="990000"/>
                </a:solidFill>
                <a:ea typeface="ＭＳ Ｐゴシック" panose="020B0600070205080204" pitchFamily="34" charset="-128"/>
              </a:rPr>
              <a:t> può essere costituito da stringhe di lunghezza differente</a:t>
            </a:r>
          </a:p>
          <a:p>
            <a:pPr>
              <a:spcAft>
                <a:spcPct val="30000"/>
              </a:spcAft>
            </a:pP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Esempio (stringhe di cifre da 0 a 3):</a:t>
            </a:r>
          </a:p>
        </p:txBody>
      </p:sp>
      <p:graphicFrame>
        <p:nvGraphicFramePr>
          <p:cNvPr id="32771" name="Object 2">
            <a:extLst>
              <a:ext uri="{FF2B5EF4-FFF2-40B4-BE49-F238E27FC236}">
                <a16:creationId xmlns:a16="http://schemas.microsoft.com/office/drawing/2014/main" id="{E68143E0-E7B8-3382-340A-50873C5D4C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2138" y="3763963"/>
          <a:ext cx="8732837" cy="2328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0" imgH="0" progId="Word.Document.8">
                  <p:embed/>
                </p:oleObj>
              </mc:Choice>
              <mc:Fallback>
                <p:oleObj name="Document" r:id="rId3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3763963"/>
                        <a:ext cx="8732837" cy="2328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Segnaposto numero diapositiva 4">
            <a:extLst>
              <a:ext uri="{FF2B5EF4-FFF2-40B4-BE49-F238E27FC236}">
                <a16:creationId xmlns:a16="http://schemas.microsoft.com/office/drawing/2014/main" id="{344372F8-3219-6C34-6B59-3150E0EA6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965DC45-83D1-4AB1-87F1-3501DC86D86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it-IT" altLang="it-IT"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6EA7B2B7-E409-F446-FEDB-6B4DF47227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475" y="152400"/>
            <a:ext cx="8997950" cy="633413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Codifica a lunghezza variabile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EAF1EBBA-9A0D-19F7-AF12-6E6CBF866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42950" y="1447800"/>
            <a:ext cx="8915400" cy="379730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La corrispondenza viene decisa tenendo conto della frequenza con cui vengono usati i valori in </a:t>
            </a:r>
            <a:r>
              <a:rPr lang="it-IT" altLang="it-IT" i="1">
                <a:ea typeface="ＭＳ Ｐゴシック" panose="020B0600070205080204" pitchFamily="34" charset="-128"/>
              </a:rPr>
              <a:t>D</a:t>
            </a:r>
          </a:p>
          <a:p>
            <a:endParaRPr lang="it-IT" altLang="it-IT" i="1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Vantaggi: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Risparmio di spazio nella memorizzazione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Risparmio di tempo nella trasmissione</a:t>
            </a:r>
          </a:p>
        </p:txBody>
      </p:sp>
      <p:sp>
        <p:nvSpPr>
          <p:cNvPr id="34819" name="Segnaposto numero diapositiva 3">
            <a:extLst>
              <a:ext uri="{FF2B5EF4-FFF2-40B4-BE49-F238E27FC236}">
                <a16:creationId xmlns:a16="http://schemas.microsoft.com/office/drawing/2014/main" id="{26E664B9-6EE7-F164-6312-B43F8F3A6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19AE624-F94C-470C-8795-0C7DE53B9DB4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it-IT" altLang="it-IT"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6E75B6DF-F78D-D722-4ACD-2B9EAEFA4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9850" y="115888"/>
            <a:ext cx="6521450" cy="52705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Codifica indiretta</a:t>
            </a:r>
          </a:p>
        </p:txBody>
      </p:sp>
      <p:sp>
        <p:nvSpPr>
          <p:cNvPr id="36866" name="Text Box 3">
            <a:extLst>
              <a:ext uri="{FF2B5EF4-FFF2-40B4-BE49-F238E27FC236}">
                <a16:creationId xmlns:a16="http://schemas.microsoft.com/office/drawing/2014/main" id="{53173818-CAB6-AE53-0AFC-61B01DDAC7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524000"/>
            <a:ext cx="2254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u="sng">
                <a:solidFill>
                  <a:schemeClr val="tx2"/>
                </a:solidFill>
              </a:rPr>
              <a:t>Codifica diretta</a:t>
            </a:r>
          </a:p>
        </p:txBody>
      </p:sp>
      <p:sp>
        <p:nvSpPr>
          <p:cNvPr id="36867" name="Rectangle 4">
            <a:extLst>
              <a:ext uri="{FF2B5EF4-FFF2-40B4-BE49-F238E27FC236}">
                <a16:creationId xmlns:a16="http://schemas.microsoft.com/office/drawing/2014/main" id="{899D996E-1FF7-A5A9-FB31-0EBF91095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2895600"/>
            <a:ext cx="2432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m={[log</a:t>
            </a:r>
            <a:r>
              <a:rPr lang="it-IT" altLang="it-IT" sz="3200" baseline="-25000">
                <a:solidFill>
                  <a:schemeClr val="tx2"/>
                </a:solidFill>
              </a:rPr>
              <a:t>k</a:t>
            </a:r>
            <a:r>
              <a:rPr lang="it-IT" altLang="it-IT" sz="3200">
                <a:solidFill>
                  <a:schemeClr val="tx2"/>
                </a:solidFill>
              </a:rPr>
              <a:t> N]}</a:t>
            </a:r>
          </a:p>
        </p:txBody>
      </p:sp>
      <p:sp>
        <p:nvSpPr>
          <p:cNvPr id="36868" name="Text Box 5">
            <a:extLst>
              <a:ext uri="{FF2B5EF4-FFF2-40B4-BE49-F238E27FC236}">
                <a16:creationId xmlns:a16="http://schemas.microsoft.com/office/drawing/2014/main" id="{4B3F2342-E352-0296-CD9D-1DB58A462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2286000"/>
            <a:ext cx="1154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E=(0,1)</a:t>
            </a:r>
          </a:p>
        </p:txBody>
      </p:sp>
      <p:sp>
        <p:nvSpPr>
          <p:cNvPr id="36869" name="Text Box 6">
            <a:extLst>
              <a:ext uri="{FF2B5EF4-FFF2-40B4-BE49-F238E27FC236}">
                <a16:creationId xmlns:a16="http://schemas.microsoft.com/office/drawing/2014/main" id="{8072DA78-515A-8DE9-1F53-B679498A42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1905000"/>
            <a:ext cx="2179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T=(x</a:t>
            </a:r>
            <a:r>
              <a:rPr lang="it-IT" altLang="it-IT" sz="2400" baseline="-25000">
                <a:solidFill>
                  <a:schemeClr val="tx2"/>
                </a:solidFill>
              </a:rPr>
              <a:t>1</a:t>
            </a:r>
            <a:r>
              <a:rPr lang="it-IT" altLang="it-IT" sz="2400">
                <a:solidFill>
                  <a:schemeClr val="tx2"/>
                </a:solidFill>
              </a:rPr>
              <a:t>,x</a:t>
            </a:r>
            <a:r>
              <a:rPr lang="it-IT" altLang="it-IT" sz="2400" baseline="-25000">
                <a:solidFill>
                  <a:schemeClr val="tx2"/>
                </a:solidFill>
              </a:rPr>
              <a:t>2</a:t>
            </a:r>
            <a:r>
              <a:rPr lang="it-IT" altLang="it-IT" sz="2400">
                <a:solidFill>
                  <a:schemeClr val="tx2"/>
                </a:solidFill>
              </a:rPr>
              <a:t>,…,x</a:t>
            </a:r>
            <a:r>
              <a:rPr lang="it-IT" altLang="it-IT" sz="2400" baseline="-25000">
                <a:solidFill>
                  <a:schemeClr val="tx2"/>
                </a:solidFill>
              </a:rPr>
              <a:t>20</a:t>
            </a:r>
            <a:r>
              <a:rPr lang="it-IT" altLang="it-IT" sz="240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36870" name="Rectangle 7">
            <a:extLst>
              <a:ext uri="{FF2B5EF4-FFF2-40B4-BE49-F238E27FC236}">
                <a16:creationId xmlns:a16="http://schemas.microsoft.com/office/drawing/2014/main" id="{C2FC1F95-E04E-E75C-8162-5A6D3FFF3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886200"/>
            <a:ext cx="25114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u="sng">
                <a:solidFill>
                  <a:schemeClr val="tx2"/>
                </a:solidFill>
              </a:rPr>
              <a:t>Codifica indiretta</a:t>
            </a:r>
          </a:p>
        </p:txBody>
      </p:sp>
      <p:sp>
        <p:nvSpPr>
          <p:cNvPr id="36871" name="Rectangle 8">
            <a:extLst>
              <a:ext uri="{FF2B5EF4-FFF2-40B4-BE49-F238E27FC236}">
                <a16:creationId xmlns:a16="http://schemas.microsoft.com/office/drawing/2014/main" id="{954869B3-DCF0-75DC-4CD4-3D183AD53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4267200"/>
            <a:ext cx="4479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T=(x</a:t>
            </a:r>
            <a:r>
              <a:rPr lang="it-IT" altLang="it-IT" sz="2400" baseline="-25000">
                <a:solidFill>
                  <a:schemeClr val="tx2"/>
                </a:solidFill>
              </a:rPr>
              <a:t>1</a:t>
            </a:r>
            <a:r>
              <a:rPr lang="it-IT" altLang="it-IT" sz="2400">
                <a:solidFill>
                  <a:schemeClr val="tx2"/>
                </a:solidFill>
              </a:rPr>
              <a:t>,x</a:t>
            </a:r>
            <a:r>
              <a:rPr lang="it-IT" altLang="it-IT" sz="2400" baseline="-25000">
                <a:solidFill>
                  <a:schemeClr val="tx2"/>
                </a:solidFill>
              </a:rPr>
              <a:t>2</a:t>
            </a:r>
            <a:r>
              <a:rPr lang="it-IT" altLang="it-IT" sz="2400">
                <a:solidFill>
                  <a:schemeClr val="tx2"/>
                </a:solidFill>
              </a:rPr>
              <a:t>,…,x</a:t>
            </a:r>
            <a:r>
              <a:rPr lang="it-IT" altLang="it-IT" sz="2400" baseline="-25000">
                <a:solidFill>
                  <a:schemeClr val="tx2"/>
                </a:solidFill>
              </a:rPr>
              <a:t>20</a:t>
            </a:r>
            <a:r>
              <a:rPr lang="it-IT" altLang="it-IT" sz="2400">
                <a:solidFill>
                  <a:schemeClr val="tx2"/>
                </a:solidFill>
              </a:rPr>
              <a:t>) alfabeto origine</a:t>
            </a:r>
          </a:p>
        </p:txBody>
      </p:sp>
      <p:sp>
        <p:nvSpPr>
          <p:cNvPr id="36872" name="Text Box 9">
            <a:extLst>
              <a:ext uri="{FF2B5EF4-FFF2-40B4-BE49-F238E27FC236}">
                <a16:creationId xmlns:a16="http://schemas.microsoft.com/office/drawing/2014/main" id="{F4E1267E-ABDB-D185-255C-FFCEF7B43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325" y="4648200"/>
            <a:ext cx="8756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J=(a,b,c) alfabeto intermedio, di cardinalità k intermedia 2&lt;k&lt;20</a:t>
            </a:r>
          </a:p>
        </p:txBody>
      </p:sp>
      <p:sp>
        <p:nvSpPr>
          <p:cNvPr id="36873" name="Rectangle 10">
            <a:extLst>
              <a:ext uri="{FF2B5EF4-FFF2-40B4-BE49-F238E27FC236}">
                <a16:creationId xmlns:a16="http://schemas.microsoft.com/office/drawing/2014/main" id="{CC0ACEFE-1361-7358-C60D-70A5D1884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5029200"/>
            <a:ext cx="411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B=(0,1) alfabeto destinazione</a:t>
            </a:r>
          </a:p>
        </p:txBody>
      </p:sp>
      <p:sp>
        <p:nvSpPr>
          <p:cNvPr id="36874" name="Text Box 11">
            <a:extLst>
              <a:ext uri="{FF2B5EF4-FFF2-40B4-BE49-F238E27FC236}">
                <a16:creationId xmlns:a16="http://schemas.microsoft.com/office/drawing/2014/main" id="{025820BE-AD74-5DA8-8E1E-501D6D9A4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6700" y="5638800"/>
            <a:ext cx="29003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X16 </a:t>
            </a:r>
            <a:r>
              <a:rPr lang="it-IT" altLang="it-IT" sz="2400">
                <a:solidFill>
                  <a:schemeClr val="tx2"/>
                </a:solidFill>
                <a:sym typeface="Wingdings" panose="05000000000000000000" pitchFamily="2" charset="2"/>
              </a:rPr>
              <a:t> abc 011100</a:t>
            </a:r>
            <a:endParaRPr lang="it-IT" altLang="it-IT" sz="2400">
              <a:solidFill>
                <a:schemeClr val="tx2"/>
              </a:solidFill>
            </a:endParaRPr>
          </a:p>
        </p:txBody>
      </p:sp>
      <p:sp>
        <p:nvSpPr>
          <p:cNvPr id="36875" name="Segnaposto numero diapositiva 11">
            <a:extLst>
              <a:ext uri="{FF2B5EF4-FFF2-40B4-BE49-F238E27FC236}">
                <a16:creationId xmlns:a16="http://schemas.microsoft.com/office/drawing/2014/main" id="{31BA55D6-1945-D049-1D65-99EE1E61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BD18D14-E3AD-43A3-9C6F-69D0DBCAC9F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D12D2BE3-1EF7-2C32-8F21-66B8F208D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1682750"/>
            <a:ext cx="5365750" cy="603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B5F520F7-C7D3-6197-877F-8E70CFB79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2673350"/>
            <a:ext cx="5365750" cy="603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7891" name="Rectangle 4">
            <a:extLst>
              <a:ext uri="{FF2B5EF4-FFF2-40B4-BE49-F238E27FC236}">
                <a16:creationId xmlns:a16="http://schemas.microsoft.com/office/drawing/2014/main" id="{F35D35E6-94E1-B183-42E6-D87F5B7A6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3587750"/>
            <a:ext cx="5365750" cy="6032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7892" name="Rectangle 5">
            <a:extLst>
              <a:ext uri="{FF2B5EF4-FFF2-40B4-BE49-F238E27FC236}">
                <a16:creationId xmlns:a16="http://schemas.microsoft.com/office/drawing/2014/main" id="{174152C4-083B-8BA3-EAF4-B5E320B08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6813" y="1814513"/>
            <a:ext cx="3952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x</a:t>
            </a:r>
            <a:r>
              <a:rPr lang="it-IT" altLang="it-IT" sz="2000" baseline="-25000"/>
              <a:t>6</a:t>
            </a:r>
          </a:p>
        </p:txBody>
      </p:sp>
      <p:sp>
        <p:nvSpPr>
          <p:cNvPr id="37893" name="Line 6">
            <a:extLst>
              <a:ext uri="{FF2B5EF4-FFF2-40B4-BE49-F238E27FC236}">
                <a16:creationId xmlns:a16="http://schemas.microsoft.com/office/drawing/2014/main" id="{1B36CFD8-E9EF-650F-2D09-0A74EE3B6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0688" y="2667000"/>
            <a:ext cx="1587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4" name="Line 7">
            <a:extLst>
              <a:ext uri="{FF2B5EF4-FFF2-40B4-BE49-F238E27FC236}">
                <a16:creationId xmlns:a16="http://schemas.microsoft.com/office/drawing/2014/main" id="{26B5F0D2-D2BD-BE11-1459-B403E7711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2667000"/>
            <a:ext cx="1588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5" name="Rectangle 8">
            <a:extLst>
              <a:ext uri="{FF2B5EF4-FFF2-40B4-BE49-F238E27FC236}">
                <a16:creationId xmlns:a16="http://schemas.microsoft.com/office/drawing/2014/main" id="{20AD457B-8F59-67EC-1ACE-1026B839D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28051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a</a:t>
            </a:r>
          </a:p>
        </p:txBody>
      </p:sp>
      <p:sp>
        <p:nvSpPr>
          <p:cNvPr id="37896" name="Rectangle 9">
            <a:extLst>
              <a:ext uri="{FF2B5EF4-FFF2-40B4-BE49-F238E27FC236}">
                <a16:creationId xmlns:a16="http://schemas.microsoft.com/office/drawing/2014/main" id="{9D2C93E3-6103-827A-EF58-4243CBDF6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2805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</a:t>
            </a:r>
          </a:p>
        </p:txBody>
      </p:sp>
      <p:sp>
        <p:nvSpPr>
          <p:cNvPr id="37897" name="Rectangle 10">
            <a:extLst>
              <a:ext uri="{FF2B5EF4-FFF2-40B4-BE49-F238E27FC236}">
                <a16:creationId xmlns:a16="http://schemas.microsoft.com/office/drawing/2014/main" id="{E232A327-5787-BA19-DD24-C4AC63D1A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805113"/>
            <a:ext cx="2952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c</a:t>
            </a:r>
          </a:p>
        </p:txBody>
      </p:sp>
      <p:sp>
        <p:nvSpPr>
          <p:cNvPr id="37898" name="Line 11">
            <a:extLst>
              <a:ext uri="{FF2B5EF4-FFF2-40B4-BE49-F238E27FC236}">
                <a16:creationId xmlns:a16="http://schemas.microsoft.com/office/drawing/2014/main" id="{074B5F5B-8126-8100-4F9E-5D1622EC0ED1}"/>
              </a:ext>
            </a:extLst>
          </p:cNvPr>
          <p:cNvSpPr>
            <a:spLocks noChangeShapeType="1"/>
          </p:cNvSpPr>
          <p:nvPr/>
        </p:nvSpPr>
        <p:spPr bwMode="auto">
          <a:xfrm>
            <a:off x="927100" y="3581400"/>
            <a:ext cx="1588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899" name="Line 12">
            <a:extLst>
              <a:ext uri="{FF2B5EF4-FFF2-40B4-BE49-F238E27FC236}">
                <a16:creationId xmlns:a16="http://schemas.microsoft.com/office/drawing/2014/main" id="{52D66877-13B3-377A-1AF5-144FE9A99282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0688" y="3581400"/>
            <a:ext cx="1587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0" name="Line 13">
            <a:extLst>
              <a:ext uri="{FF2B5EF4-FFF2-40B4-BE49-F238E27FC236}">
                <a16:creationId xmlns:a16="http://schemas.microsoft.com/office/drawing/2014/main" id="{B25BB884-FABB-50D8-DE97-CFC1DF44EF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57488" y="3581400"/>
            <a:ext cx="1587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1" name="Line 14">
            <a:extLst>
              <a:ext uri="{FF2B5EF4-FFF2-40B4-BE49-F238E27FC236}">
                <a16:creationId xmlns:a16="http://schemas.microsoft.com/office/drawing/2014/main" id="{6584D33B-4B14-4497-BB87-A43CF574A33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8900" y="3581400"/>
            <a:ext cx="1588" cy="674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2" name="Line 15">
            <a:extLst>
              <a:ext uri="{FF2B5EF4-FFF2-40B4-BE49-F238E27FC236}">
                <a16:creationId xmlns:a16="http://schemas.microsoft.com/office/drawing/2014/main" id="{EA3B6175-034E-6226-993C-2130D54943A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3581400"/>
            <a:ext cx="1588" cy="612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7903" name="Rectangle 16">
            <a:extLst>
              <a:ext uri="{FF2B5EF4-FFF2-40B4-BE49-F238E27FC236}">
                <a16:creationId xmlns:a16="http://schemas.microsoft.com/office/drawing/2014/main" id="{939F3777-2772-A63C-B73A-F187EAAD5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94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0</a:t>
            </a:r>
          </a:p>
        </p:txBody>
      </p:sp>
      <p:sp>
        <p:nvSpPr>
          <p:cNvPr id="37904" name="Rectangle 17">
            <a:extLst>
              <a:ext uri="{FF2B5EF4-FFF2-40B4-BE49-F238E27FC236}">
                <a16:creationId xmlns:a16="http://schemas.microsoft.com/office/drawing/2014/main" id="{D113F483-85B6-F6C6-F603-368E24F45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4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1</a:t>
            </a:r>
          </a:p>
        </p:txBody>
      </p:sp>
      <p:sp>
        <p:nvSpPr>
          <p:cNvPr id="37905" name="Rectangle 18">
            <a:extLst>
              <a:ext uri="{FF2B5EF4-FFF2-40B4-BE49-F238E27FC236}">
                <a16:creationId xmlns:a16="http://schemas.microsoft.com/office/drawing/2014/main" id="{AA0278EC-CC45-EBEA-2EE8-439095E4A9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96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1</a:t>
            </a:r>
          </a:p>
        </p:txBody>
      </p:sp>
      <p:sp>
        <p:nvSpPr>
          <p:cNvPr id="37906" name="Rectangle 19">
            <a:extLst>
              <a:ext uri="{FF2B5EF4-FFF2-40B4-BE49-F238E27FC236}">
                <a16:creationId xmlns:a16="http://schemas.microsoft.com/office/drawing/2014/main" id="{558102C2-F329-92D9-9F50-07167200C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1</a:t>
            </a:r>
          </a:p>
        </p:txBody>
      </p:sp>
      <p:sp>
        <p:nvSpPr>
          <p:cNvPr id="37907" name="Rectangle 20">
            <a:extLst>
              <a:ext uri="{FF2B5EF4-FFF2-40B4-BE49-F238E27FC236}">
                <a16:creationId xmlns:a16="http://schemas.microsoft.com/office/drawing/2014/main" id="{7ACDC509-59B5-291F-8E75-B89BF3ADA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0</a:t>
            </a:r>
          </a:p>
        </p:txBody>
      </p:sp>
      <p:sp>
        <p:nvSpPr>
          <p:cNvPr id="37908" name="Rectangle 21">
            <a:extLst>
              <a:ext uri="{FF2B5EF4-FFF2-40B4-BE49-F238E27FC236}">
                <a16:creationId xmlns:a16="http://schemas.microsoft.com/office/drawing/2014/main" id="{3625CB61-9464-C196-48CC-BBC396DCC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3813" y="37195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0</a:t>
            </a:r>
          </a:p>
        </p:txBody>
      </p:sp>
      <p:sp>
        <p:nvSpPr>
          <p:cNvPr id="37909" name="Rectangle 22">
            <a:extLst>
              <a:ext uri="{FF2B5EF4-FFF2-40B4-BE49-F238E27FC236}">
                <a16:creationId xmlns:a16="http://schemas.microsoft.com/office/drawing/2014/main" id="{32EFDE85-7F3F-74AF-32C8-64DC32CB8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52400"/>
            <a:ext cx="9163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Codifica Indiretta</a:t>
            </a:r>
          </a:p>
        </p:txBody>
      </p:sp>
      <p:sp>
        <p:nvSpPr>
          <p:cNvPr id="37910" name="Rectangle 23">
            <a:extLst>
              <a:ext uri="{FF2B5EF4-FFF2-40B4-BE49-F238E27FC236}">
                <a16:creationId xmlns:a16="http://schemas.microsoft.com/office/drawing/2014/main" id="{14F56E14-86BE-C1DD-92F9-4A7DDB59C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1676400"/>
            <a:ext cx="39703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/>
              <a:t>T=(x</a:t>
            </a:r>
            <a:r>
              <a:rPr lang="it-IT" altLang="it-IT" sz="2400" baseline="-25000"/>
              <a:t>1</a:t>
            </a:r>
            <a:r>
              <a:rPr lang="it-IT" altLang="it-IT" sz="2400"/>
              <a:t>,x</a:t>
            </a:r>
            <a:r>
              <a:rPr lang="it-IT" altLang="it-IT" sz="2400" baseline="-25000"/>
              <a:t>2</a:t>
            </a:r>
            <a:r>
              <a:rPr lang="it-IT" altLang="it-IT" sz="2400"/>
              <a:t>,…,x</a:t>
            </a:r>
            <a:r>
              <a:rPr lang="it-IT" altLang="it-IT" sz="2400" baseline="-25000"/>
              <a:t>20</a:t>
            </a:r>
            <a:r>
              <a:rPr lang="it-IT" altLang="it-IT" sz="2400"/>
              <a:t>) </a:t>
            </a:r>
            <a:r>
              <a:rPr lang="it-IT" altLang="it-IT" sz="2000"/>
              <a:t>alfabeto origine</a:t>
            </a:r>
          </a:p>
        </p:txBody>
      </p:sp>
      <p:sp>
        <p:nvSpPr>
          <p:cNvPr id="37911" name="Rectangle 24">
            <a:extLst>
              <a:ext uri="{FF2B5EF4-FFF2-40B4-BE49-F238E27FC236}">
                <a16:creationId xmlns:a16="http://schemas.microsoft.com/office/drawing/2014/main" id="{D4D1B227-F569-5758-8614-9A37B287B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0875" y="2743200"/>
            <a:ext cx="401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/>
              <a:t>J=(a,b,c) alfabeto intermedio</a:t>
            </a:r>
          </a:p>
        </p:txBody>
      </p:sp>
      <p:sp>
        <p:nvSpPr>
          <p:cNvPr id="37912" name="Rectangle 25">
            <a:extLst>
              <a:ext uri="{FF2B5EF4-FFF2-40B4-BE49-F238E27FC236}">
                <a16:creationId xmlns:a16="http://schemas.microsoft.com/office/drawing/2014/main" id="{E55A9A05-C296-C665-0E48-752E65908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375" y="3657600"/>
            <a:ext cx="4111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/>
              <a:t>B=(0,1) alfabeto destinazione</a:t>
            </a:r>
          </a:p>
        </p:txBody>
      </p:sp>
      <p:sp>
        <p:nvSpPr>
          <p:cNvPr id="37913" name="Segnaposto numero diapositiva 25">
            <a:extLst>
              <a:ext uri="{FF2B5EF4-FFF2-40B4-BE49-F238E27FC236}">
                <a16:creationId xmlns:a16="http://schemas.microsoft.com/office/drawing/2014/main" id="{D46D19F8-41DE-C3DB-5E1B-9D639557B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F873C3C-CD0C-4457-84F9-739D5305BDFC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it-IT" altLang="it-IT" sz="14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egnaposto numero diapositiva 3">
            <a:extLst>
              <a:ext uri="{FF2B5EF4-FFF2-40B4-BE49-F238E27FC236}">
                <a16:creationId xmlns:a16="http://schemas.microsoft.com/office/drawing/2014/main" id="{89D27860-E341-7E86-339F-F745A7D2D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A6DF775-917A-4A63-AFDA-42494709F80F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00642401-E8F0-9A68-043A-AA382D2907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C6C0602F-A4BB-A4BA-4D10-C9A30F616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F985084D-B5F2-96E7-718C-93D2E2050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9193CB2D-2440-C10E-C2B1-1F544FADB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Esempi di codici intermedi completi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Ottale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Esadecimale</a:t>
            </a:r>
            <a:endParaRPr lang="it-IT" altLang="it-IT" sz="20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Esempio di codice intermedio incompleto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8-4-2-1 (BCD)</a:t>
            </a:r>
          </a:p>
          <a:p>
            <a:pPr eaLnBrk="1" hangingPunct="1">
              <a:lnSpc>
                <a:spcPct val="80000"/>
              </a:lnSpc>
            </a:pPr>
            <a:endParaRPr lang="it-IT" altLang="it-IT" sz="2000" i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1800">
              <a:ea typeface="ＭＳ Ｐゴシック" panose="020B0600070205080204" pitchFamily="34" charset="-128"/>
            </a:endParaRP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13D33678-8CA3-C4F6-F20C-4ACC7B477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19" name="Rectangle 7">
            <a:extLst>
              <a:ext uri="{FF2B5EF4-FFF2-40B4-BE49-F238E27FC236}">
                <a16:creationId xmlns:a16="http://schemas.microsoft.com/office/drawing/2014/main" id="{440167F7-CD55-4E9B-6A4A-18E27BE79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688" y="-71438"/>
            <a:ext cx="8915400" cy="911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b="0">
                <a:solidFill>
                  <a:schemeClr val="tx2"/>
                </a:solidFill>
                <a:latin typeface="Verdana" panose="020B0604030504040204" pitchFamily="34" charset="0"/>
              </a:rPr>
              <a:t>Il processo di codifica</a:t>
            </a:r>
          </a:p>
        </p:txBody>
      </p:sp>
      <p:sp>
        <p:nvSpPr>
          <p:cNvPr id="38920" name="Rectangle 8">
            <a:extLst>
              <a:ext uri="{FF2B5EF4-FFF2-40B4-BE49-F238E27FC236}">
                <a16:creationId xmlns:a16="http://schemas.microsoft.com/office/drawing/2014/main" id="{FA5F9853-F46F-12C9-0C3F-C8359BEED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21" name="Rectangle 10">
            <a:extLst>
              <a:ext uri="{FF2B5EF4-FFF2-40B4-BE49-F238E27FC236}">
                <a16:creationId xmlns:a16="http://schemas.microsoft.com/office/drawing/2014/main" id="{031D33DB-839B-EF95-6563-6752D1281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28988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8922" name="Rectangle 13">
            <a:extLst>
              <a:ext uri="{FF2B5EF4-FFF2-40B4-BE49-F238E27FC236}">
                <a16:creationId xmlns:a16="http://schemas.microsoft.com/office/drawing/2014/main" id="{63A44469-C47B-A054-5804-2F29E9A43D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336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38923" name="Object 12">
            <a:extLst>
              <a:ext uri="{FF2B5EF4-FFF2-40B4-BE49-F238E27FC236}">
                <a16:creationId xmlns:a16="http://schemas.microsoft.com/office/drawing/2014/main" id="{BD04E0FF-3182-8124-AE15-004F867E0E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65950" y="1143000"/>
          <a:ext cx="2940050" cy="257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2" imgW="0" imgH="0" progId="Word.Picture.8">
                  <p:embed/>
                </p:oleObj>
              </mc:Choice>
              <mc:Fallback>
                <p:oleObj name="Immagine" r:id="rId2" imgW="0" imgH="0" progId="Word.Picture.8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5950" y="1143000"/>
                        <a:ext cx="2940050" cy="2573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4" name="Rectangle 15">
            <a:extLst>
              <a:ext uri="{FF2B5EF4-FFF2-40B4-BE49-F238E27FC236}">
                <a16:creationId xmlns:a16="http://schemas.microsoft.com/office/drawing/2014/main" id="{F6167D5A-D699-DB2F-AE3E-08B6C9787B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33675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38925" name="Object 14">
            <a:extLst>
              <a:ext uri="{FF2B5EF4-FFF2-40B4-BE49-F238E27FC236}">
                <a16:creationId xmlns:a16="http://schemas.microsoft.com/office/drawing/2014/main" id="{F75B9A55-9EAD-B837-34AC-8C157F1B77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3438" y="3748088"/>
          <a:ext cx="5070475" cy="228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" r:id="rId4" imgW="0" imgH="0" progId="Word.Picture.8">
                  <p:embed/>
                </p:oleObj>
              </mc:Choice>
              <mc:Fallback>
                <p:oleObj name="Immagine" r:id="rId4" imgW="0" imgH="0" progId="Word.Picture.8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748088"/>
                        <a:ext cx="5070475" cy="2284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6" name="Rectangle 17">
            <a:extLst>
              <a:ext uri="{FF2B5EF4-FFF2-40B4-BE49-F238E27FC236}">
                <a16:creationId xmlns:a16="http://schemas.microsoft.com/office/drawing/2014/main" id="{8E40E50A-430E-5F27-B52B-D52E19B4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pSp>
        <p:nvGrpSpPr>
          <p:cNvPr id="38927" name="Group 24">
            <a:extLst>
              <a:ext uri="{FF2B5EF4-FFF2-40B4-BE49-F238E27FC236}">
                <a16:creationId xmlns:a16="http://schemas.microsoft.com/office/drawing/2014/main" id="{A976C542-364C-D8E0-D36E-0C1AAA1D7243}"/>
              </a:ext>
            </a:extLst>
          </p:cNvPr>
          <p:cNvGrpSpPr>
            <a:grpSpLocks/>
          </p:cNvGrpSpPr>
          <p:nvPr/>
        </p:nvGrpSpPr>
        <p:grpSpPr bwMode="auto">
          <a:xfrm>
            <a:off x="1181100" y="3381375"/>
            <a:ext cx="2503488" cy="3190875"/>
            <a:chOff x="687" y="2130"/>
            <a:chExt cx="1455" cy="2010"/>
          </a:xfrm>
        </p:grpSpPr>
        <p:grpSp>
          <p:nvGrpSpPr>
            <p:cNvPr id="38929" name="Group 22">
              <a:extLst>
                <a:ext uri="{FF2B5EF4-FFF2-40B4-BE49-F238E27FC236}">
                  <a16:creationId xmlns:a16="http://schemas.microsoft.com/office/drawing/2014/main" id="{998BD3FD-D9E2-2C61-DAAA-F2A23A93A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" y="2162"/>
              <a:ext cx="1353" cy="1978"/>
              <a:chOff x="687" y="2162"/>
              <a:chExt cx="1353" cy="1978"/>
            </a:xfrm>
          </p:grpSpPr>
          <p:grpSp>
            <p:nvGrpSpPr>
              <p:cNvPr id="38931" name="Group 19">
                <a:extLst>
                  <a:ext uri="{FF2B5EF4-FFF2-40B4-BE49-F238E27FC236}">
                    <a16:creationId xmlns:a16="http://schemas.microsoft.com/office/drawing/2014/main" id="{540486AD-03C4-6479-EA66-D207C3D04A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" y="2162"/>
                <a:ext cx="1353" cy="1978"/>
                <a:chOff x="687" y="2162"/>
                <a:chExt cx="1353" cy="1978"/>
              </a:xfrm>
            </p:grpSpPr>
            <p:graphicFrame>
              <p:nvGraphicFramePr>
                <p:cNvPr id="38933" name="Object 16">
                  <a:extLst>
                    <a:ext uri="{FF2B5EF4-FFF2-40B4-BE49-F238E27FC236}">
                      <a16:creationId xmlns:a16="http://schemas.microsoft.com/office/drawing/2014/main" id="{E1300741-40BE-B125-39D1-F6327E3EA1F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87" y="2162"/>
                <a:ext cx="1353" cy="19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Immagine" r:id="rId6" imgW="0" imgH="0" progId="Word.Picture.8">
                        <p:embed/>
                      </p:oleObj>
                    </mc:Choice>
                    <mc:Fallback>
                      <p:oleObj name="Immagine" r:id="rId6" imgW="0" imgH="0" progId="Word.Picture.8">
                        <p:embed/>
                        <p:pic>
                          <p:nvPicPr>
                            <p:cNvPr id="0" name="Object 1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5435" t="12163" r="60976" b="3476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87" y="2162"/>
                              <a:ext cx="1353" cy="19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38934" name="Line 18">
                  <a:extLst>
                    <a:ext uri="{FF2B5EF4-FFF2-40B4-BE49-F238E27FC236}">
                      <a16:creationId xmlns:a16="http://schemas.microsoft.com/office/drawing/2014/main" id="{03115489-FBF3-4E12-AB36-414B452CF5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2" y="2168"/>
                  <a:ext cx="13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8932" name="Line 21">
                <a:extLst>
                  <a:ext uri="{FF2B5EF4-FFF2-40B4-BE49-F238E27FC236}">
                    <a16:creationId xmlns:a16="http://schemas.microsoft.com/office/drawing/2014/main" id="{B425A3F3-EAB0-4E23-40FF-7AB9C447CB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166"/>
                <a:ext cx="0" cy="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8930" name="Rectangle 23">
              <a:extLst>
                <a:ext uri="{FF2B5EF4-FFF2-40B4-BE49-F238E27FC236}">
                  <a16:creationId xmlns:a16="http://schemas.microsoft.com/office/drawing/2014/main" id="{64652E14-C5D2-D0D7-6308-A36697012D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130"/>
              <a:ext cx="1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38928" name="AutoShape 25">
            <a:extLst>
              <a:ext uri="{FF2B5EF4-FFF2-40B4-BE49-F238E27FC236}">
                <a16:creationId xmlns:a16="http://schemas.microsoft.com/office/drawing/2014/main" id="{AFA2E456-639E-9F8C-9499-333F4BFC7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75" y="2733675"/>
            <a:ext cx="3122613" cy="1012825"/>
          </a:xfrm>
          <a:prstGeom prst="wedgeEllipseCallout">
            <a:avLst>
              <a:gd name="adj1" fmla="val -57120"/>
              <a:gd name="adj2" fmla="val 567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>
                <a:solidFill>
                  <a:schemeClr val="bg1"/>
                </a:solidFill>
              </a:rPr>
              <a:t>NON UNIVOCAMENTE DEFINITO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16CD8402-8AC8-6DB6-7271-CB9CAD519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142875"/>
            <a:ext cx="9163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Codici Ridondanti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D988909F-3CC5-0243-F5C0-EFF110B5C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563" y="1146175"/>
            <a:ext cx="9007475" cy="557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>
                <a:solidFill>
                  <a:schemeClr val="tx2"/>
                </a:solidFill>
              </a:rPr>
              <a:t>Un codice a lunghezza fissa l per la codifica di un dato di cardinalità N con un alfabeto codice di cardinalità k si dice ridondante se: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K</a:t>
            </a:r>
            <a:r>
              <a:rPr lang="it-IT" altLang="it-IT" sz="3200" baseline="30000">
                <a:solidFill>
                  <a:schemeClr val="tx2"/>
                </a:solidFill>
              </a:rPr>
              <a:t>l </a:t>
            </a:r>
            <a:r>
              <a:rPr lang="it-IT" altLang="it-IT" sz="3200">
                <a:solidFill>
                  <a:schemeClr val="tx2"/>
                </a:solidFill>
              </a:rPr>
              <a:t>&gt;N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(l &gt; m, con m : K</a:t>
            </a:r>
            <a:r>
              <a:rPr lang="it-IT" altLang="it-IT" sz="2400" baseline="30000">
                <a:solidFill>
                  <a:schemeClr val="tx2"/>
                </a:solidFill>
              </a:rPr>
              <a:t>m </a:t>
            </a:r>
            <a:r>
              <a:rPr lang="it-IT" altLang="it-IT" sz="2400">
                <a:solidFill>
                  <a:schemeClr val="tx2"/>
                </a:solidFill>
              </a:rPr>
              <a:t>= N)</a:t>
            </a:r>
            <a:r>
              <a:rPr lang="it-IT" altLang="it-IT" sz="3200">
                <a:solidFill>
                  <a:schemeClr val="tx2"/>
                </a:solidFill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320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>
                <a:solidFill>
                  <a:schemeClr val="tx2"/>
                </a:solidFill>
              </a:rPr>
              <a:t>Una misura della ridondanza è:</a:t>
            </a:r>
            <a:r>
              <a:rPr lang="it-IT" altLang="it-IT" sz="2400">
                <a:solidFill>
                  <a:schemeClr val="tx2"/>
                </a:solidFill>
              </a:rPr>
              <a:t> </a:t>
            </a:r>
            <a:r>
              <a:rPr lang="it-IT" altLang="it-IT" sz="2200">
                <a:solidFill>
                  <a:schemeClr val="tx2"/>
                </a:solidFill>
              </a:rPr>
              <a:t> 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20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r = 1 – [(log</a:t>
            </a:r>
            <a:r>
              <a:rPr lang="it-IT" altLang="it-IT" sz="3200" baseline="-25000">
                <a:solidFill>
                  <a:schemeClr val="tx2"/>
                </a:solidFill>
              </a:rPr>
              <a:t>k</a:t>
            </a:r>
            <a:r>
              <a:rPr lang="it-IT" altLang="it-IT" sz="3200">
                <a:solidFill>
                  <a:schemeClr val="tx2"/>
                </a:solidFill>
              </a:rPr>
              <a:t> N)/l] </a:t>
            </a:r>
            <a:r>
              <a:rPr lang="it-IT" altLang="it-IT" sz="3200">
                <a:solidFill>
                  <a:schemeClr val="tx2"/>
                </a:solidFill>
                <a:sym typeface="Symbol" panose="05050102010706020507" pitchFamily="18" charset="2"/>
              </a:rPr>
              <a:t> [0,1]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1400">
              <a:solidFill>
                <a:schemeClr val="tx2"/>
              </a:solidFill>
              <a:sym typeface="Symbol" panose="05050102010706020507" pitchFamily="18" charset="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tx2"/>
                </a:solidFill>
              </a:rPr>
              <a:t>r è uguale a 0 per log</a:t>
            </a:r>
            <a:r>
              <a:rPr lang="it-IT" altLang="it-IT" sz="2400" baseline="-25000">
                <a:solidFill>
                  <a:schemeClr val="tx2"/>
                </a:solidFill>
              </a:rPr>
              <a:t>k</a:t>
            </a:r>
            <a:r>
              <a:rPr lang="it-IT" altLang="it-IT" sz="2400">
                <a:solidFill>
                  <a:schemeClr val="tx2"/>
                </a:solidFill>
              </a:rPr>
              <a:t> N = l mentre tende ad 1 per l che tende ad infinito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3200">
              <a:solidFill>
                <a:schemeClr val="tx2"/>
              </a:solidFill>
            </a:endParaRPr>
          </a:p>
        </p:txBody>
      </p:sp>
      <p:sp>
        <p:nvSpPr>
          <p:cNvPr id="39939" name="Segnaposto numero diapositiva 3">
            <a:extLst>
              <a:ext uri="{FF2B5EF4-FFF2-40B4-BE49-F238E27FC236}">
                <a16:creationId xmlns:a16="http://schemas.microsoft.com/office/drawing/2014/main" id="{B2DA1307-97B0-D5C8-3A93-C9E3E5754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97D9279-30E7-4DEF-8FB1-A5BC5FBCE49F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it-IT" altLang="it-IT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08B51CDD-5136-BF9B-A52B-C7FC434970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" y="146050"/>
            <a:ext cx="9163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4800">
                <a:solidFill>
                  <a:schemeClr val="tx2"/>
                </a:solidFill>
                <a:latin typeface="Arial Narrow" panose="020B06060202020A0204" pitchFamily="34" charset="0"/>
              </a:rPr>
              <a:t>Codici Ridondanti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D26B0444-6D3A-74C8-A81A-AA545BA42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371600"/>
            <a:ext cx="830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N = 8</a:t>
            </a:r>
          </a:p>
        </p:txBody>
      </p:sp>
      <p:sp>
        <p:nvSpPr>
          <p:cNvPr id="40963" name="Text Box 4">
            <a:extLst>
              <a:ext uri="{FF2B5EF4-FFF2-40B4-BE49-F238E27FC236}">
                <a16:creationId xmlns:a16="http://schemas.microsoft.com/office/drawing/2014/main" id="{1256A7B9-2AB0-5D0E-1361-68E6615E6A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3349625"/>
            <a:ext cx="15652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chemeClr val="tx2"/>
                </a:solidFill>
              </a:rPr>
              <a:t>K</a:t>
            </a:r>
            <a:r>
              <a:rPr lang="it-IT" altLang="it-IT" sz="3200" baseline="30000">
                <a:solidFill>
                  <a:schemeClr val="tx2"/>
                </a:solidFill>
              </a:rPr>
              <a:t>m </a:t>
            </a:r>
            <a:r>
              <a:rPr lang="it-IT" altLang="it-IT" sz="3200">
                <a:solidFill>
                  <a:schemeClr val="tx2"/>
                </a:solidFill>
              </a:rPr>
              <a:t>&gt;=N</a:t>
            </a:r>
          </a:p>
        </p:txBody>
      </p:sp>
      <p:sp>
        <p:nvSpPr>
          <p:cNvPr id="40964" name="Text Box 5">
            <a:extLst>
              <a:ext uri="{FF2B5EF4-FFF2-40B4-BE49-F238E27FC236}">
                <a16:creationId xmlns:a16="http://schemas.microsoft.com/office/drawing/2014/main" id="{BD0E9F15-253E-3A59-FE42-4E5255E738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7713" y="5715000"/>
            <a:ext cx="10588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(l &gt; m)</a:t>
            </a:r>
          </a:p>
        </p:txBody>
      </p:sp>
      <p:sp>
        <p:nvSpPr>
          <p:cNvPr id="40965" name="Rectangle 6">
            <a:extLst>
              <a:ext uri="{FF2B5EF4-FFF2-40B4-BE49-F238E27FC236}">
                <a16:creationId xmlns:a16="http://schemas.microsoft.com/office/drawing/2014/main" id="{6D25D4BB-82A9-8C2B-127A-EB696E319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935163"/>
            <a:ext cx="8461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K = 2</a:t>
            </a:r>
          </a:p>
        </p:txBody>
      </p:sp>
      <p:sp>
        <p:nvSpPr>
          <p:cNvPr id="40966" name="Rectangle 7">
            <a:extLst>
              <a:ext uri="{FF2B5EF4-FFF2-40B4-BE49-F238E27FC236}">
                <a16:creationId xmlns:a16="http://schemas.microsoft.com/office/drawing/2014/main" id="{72E7FDC6-7D1D-7EEE-59C8-8E80DB1AB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1219200"/>
            <a:ext cx="86201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m = 3</a:t>
            </a:r>
          </a:p>
        </p:txBody>
      </p:sp>
      <p:sp>
        <p:nvSpPr>
          <p:cNvPr id="40967" name="AutoShape 8">
            <a:extLst>
              <a:ext uri="{FF2B5EF4-FFF2-40B4-BE49-F238E27FC236}">
                <a16:creationId xmlns:a16="http://schemas.microsoft.com/office/drawing/2014/main" id="{DFB24794-A777-E797-950E-6FD203F03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16764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68" name="Rectangle 9">
            <a:extLst>
              <a:ext uri="{FF2B5EF4-FFF2-40B4-BE49-F238E27FC236}">
                <a16:creationId xmlns:a16="http://schemas.microsoft.com/office/drawing/2014/main" id="{D5A7C31B-6D6E-988E-C98B-7A44BFEFBC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1325" y="1243013"/>
            <a:ext cx="2386013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Codice Completo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&amp;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Non Ridondante</a:t>
            </a:r>
          </a:p>
        </p:txBody>
      </p:sp>
      <p:sp>
        <p:nvSpPr>
          <p:cNvPr id="40969" name="AutoShape 10">
            <a:extLst>
              <a:ext uri="{FF2B5EF4-FFF2-40B4-BE49-F238E27FC236}">
                <a16:creationId xmlns:a16="http://schemas.microsoft.com/office/drawing/2014/main" id="{1088E247-C607-5D01-4E38-E3CECB2F3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16764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70" name="Rectangle 11">
            <a:extLst>
              <a:ext uri="{FF2B5EF4-FFF2-40B4-BE49-F238E27FC236}">
                <a16:creationId xmlns:a16="http://schemas.microsoft.com/office/drawing/2014/main" id="{9E4106A3-5533-08CC-08AF-FB32989CFA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3200400"/>
            <a:ext cx="830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N = 7</a:t>
            </a:r>
          </a:p>
        </p:txBody>
      </p:sp>
      <p:sp>
        <p:nvSpPr>
          <p:cNvPr id="40971" name="Rectangle 12">
            <a:extLst>
              <a:ext uri="{FF2B5EF4-FFF2-40B4-BE49-F238E27FC236}">
                <a16:creationId xmlns:a16="http://schemas.microsoft.com/office/drawing/2014/main" id="{A743E017-1408-076D-BDA8-AF632E927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3763963"/>
            <a:ext cx="8461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K = 2</a:t>
            </a:r>
          </a:p>
        </p:txBody>
      </p:sp>
      <p:sp>
        <p:nvSpPr>
          <p:cNvPr id="40972" name="Rectangle 13">
            <a:extLst>
              <a:ext uri="{FF2B5EF4-FFF2-40B4-BE49-F238E27FC236}">
                <a16:creationId xmlns:a16="http://schemas.microsoft.com/office/drawing/2014/main" id="{46CC41C1-6BB1-0FA2-8689-2619527D0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7888" y="3048000"/>
            <a:ext cx="8636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m = 3</a:t>
            </a:r>
          </a:p>
        </p:txBody>
      </p:sp>
      <p:sp>
        <p:nvSpPr>
          <p:cNvPr id="40973" name="AutoShape 14">
            <a:extLst>
              <a:ext uri="{FF2B5EF4-FFF2-40B4-BE49-F238E27FC236}">
                <a16:creationId xmlns:a16="http://schemas.microsoft.com/office/drawing/2014/main" id="{1898F564-991C-E2B1-E405-732F73AAE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35052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74" name="Rectangle 15">
            <a:extLst>
              <a:ext uri="{FF2B5EF4-FFF2-40B4-BE49-F238E27FC236}">
                <a16:creationId xmlns:a16="http://schemas.microsoft.com/office/drawing/2014/main" id="{E3FBD60A-BFBA-BC11-B64F-2436934A6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071813"/>
            <a:ext cx="268763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Codice InCompleto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&amp;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Non Ridondante</a:t>
            </a:r>
          </a:p>
        </p:txBody>
      </p:sp>
      <p:sp>
        <p:nvSpPr>
          <p:cNvPr id="40975" name="AutoShape 16">
            <a:extLst>
              <a:ext uri="{FF2B5EF4-FFF2-40B4-BE49-F238E27FC236}">
                <a16:creationId xmlns:a16="http://schemas.microsoft.com/office/drawing/2014/main" id="{02BF6F2D-7912-A688-6DD3-8D66B06DA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5052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76" name="AutoShape 17">
            <a:extLst>
              <a:ext uri="{FF2B5EF4-FFF2-40B4-BE49-F238E27FC236}">
                <a16:creationId xmlns:a16="http://schemas.microsoft.com/office/drawing/2014/main" id="{26988BEE-FDED-1A84-624A-2B6234FE1837}"/>
              </a:ext>
            </a:extLst>
          </p:cNvPr>
          <p:cNvSpPr>
            <a:spLocks/>
          </p:cNvSpPr>
          <p:nvPr/>
        </p:nvSpPr>
        <p:spPr bwMode="auto">
          <a:xfrm>
            <a:off x="1816100" y="1524000"/>
            <a:ext cx="495300" cy="4267200"/>
          </a:xfrm>
          <a:prstGeom prst="leftBrace">
            <a:avLst>
              <a:gd name="adj1" fmla="val 7777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77" name="Rectangle 18">
            <a:extLst>
              <a:ext uri="{FF2B5EF4-FFF2-40B4-BE49-F238E27FC236}">
                <a16:creationId xmlns:a16="http://schemas.microsoft.com/office/drawing/2014/main" id="{FE525C6A-A9C2-36D2-1C06-D1810290B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953000"/>
            <a:ext cx="1042988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N = 7,8</a:t>
            </a:r>
          </a:p>
        </p:txBody>
      </p:sp>
      <p:sp>
        <p:nvSpPr>
          <p:cNvPr id="40978" name="Rectangle 19">
            <a:extLst>
              <a:ext uri="{FF2B5EF4-FFF2-40B4-BE49-F238E27FC236}">
                <a16:creationId xmlns:a16="http://schemas.microsoft.com/office/drawing/2014/main" id="{E621AA40-5388-9837-6658-DC50DA414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5516563"/>
            <a:ext cx="8461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K = 2</a:t>
            </a:r>
          </a:p>
        </p:txBody>
      </p:sp>
      <p:sp>
        <p:nvSpPr>
          <p:cNvPr id="40979" name="Rectangle 20">
            <a:extLst>
              <a:ext uri="{FF2B5EF4-FFF2-40B4-BE49-F238E27FC236}">
                <a16:creationId xmlns:a16="http://schemas.microsoft.com/office/drawing/2014/main" id="{F18A0F8F-BEB4-FD71-2CDB-962BADBE5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9800" y="5287963"/>
            <a:ext cx="7064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l = 4</a:t>
            </a:r>
          </a:p>
        </p:txBody>
      </p:sp>
      <p:sp>
        <p:nvSpPr>
          <p:cNvPr id="40980" name="AutoShape 21">
            <a:extLst>
              <a:ext uri="{FF2B5EF4-FFF2-40B4-BE49-F238E27FC236}">
                <a16:creationId xmlns:a16="http://schemas.microsoft.com/office/drawing/2014/main" id="{38229B06-B4E5-E0A8-5B7D-2E045C994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52578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81" name="Rectangle 22">
            <a:extLst>
              <a:ext uri="{FF2B5EF4-FFF2-40B4-BE49-F238E27FC236}">
                <a16:creationId xmlns:a16="http://schemas.microsoft.com/office/drawing/2014/main" id="{ADF62A25-0C2F-0398-FFB8-96393EBC7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824413"/>
            <a:ext cx="268763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Codice InCompleto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&amp;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rgbClr val="990000"/>
                </a:solidFill>
                <a:latin typeface="Comic Sans MS" panose="030F0702030302020204" pitchFamily="66" charset="0"/>
              </a:rPr>
              <a:t>Ridondante</a:t>
            </a:r>
          </a:p>
        </p:txBody>
      </p:sp>
      <p:sp>
        <p:nvSpPr>
          <p:cNvPr id="40982" name="AutoShape 23">
            <a:extLst>
              <a:ext uri="{FF2B5EF4-FFF2-40B4-BE49-F238E27FC236}">
                <a16:creationId xmlns:a16="http://schemas.microsoft.com/office/drawing/2014/main" id="{05F05B40-E8EF-B672-CE08-ECC676681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5257800"/>
            <a:ext cx="577850" cy="381000"/>
          </a:xfrm>
          <a:prstGeom prst="rightArrow">
            <a:avLst>
              <a:gd name="adj1" fmla="val 50000"/>
              <a:gd name="adj2" fmla="val 35003"/>
            </a:avLst>
          </a:prstGeom>
          <a:solidFill>
            <a:srgbClr val="FF99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0983" name="Rectangle 24">
            <a:extLst>
              <a:ext uri="{FF2B5EF4-FFF2-40B4-BE49-F238E27FC236}">
                <a16:creationId xmlns:a16="http://schemas.microsoft.com/office/drawing/2014/main" id="{DD032396-E5AC-CA95-9AF0-7582DCBA5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263" y="4830763"/>
            <a:ext cx="862012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m = 3</a:t>
            </a:r>
          </a:p>
        </p:txBody>
      </p:sp>
      <p:sp>
        <p:nvSpPr>
          <p:cNvPr id="40984" name="Rectangle 25">
            <a:extLst>
              <a:ext uri="{FF2B5EF4-FFF2-40B4-BE49-F238E27FC236}">
                <a16:creationId xmlns:a16="http://schemas.microsoft.com/office/drawing/2014/main" id="{BADE7D65-B59A-182B-EB46-D28D913EA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013" y="3475038"/>
            <a:ext cx="70485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l = 3</a:t>
            </a:r>
          </a:p>
        </p:txBody>
      </p:sp>
      <p:sp>
        <p:nvSpPr>
          <p:cNvPr id="40985" name="Text Box 26">
            <a:extLst>
              <a:ext uri="{FF2B5EF4-FFF2-40B4-BE49-F238E27FC236}">
                <a16:creationId xmlns:a16="http://schemas.microsoft.com/office/drawing/2014/main" id="{5905EDB6-6AB5-DAAA-F987-91F43906FA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2073275"/>
            <a:ext cx="106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(l = m)</a:t>
            </a:r>
          </a:p>
        </p:txBody>
      </p:sp>
      <p:sp>
        <p:nvSpPr>
          <p:cNvPr id="40986" name="Rectangle 27">
            <a:extLst>
              <a:ext uri="{FF2B5EF4-FFF2-40B4-BE49-F238E27FC236}">
                <a16:creationId xmlns:a16="http://schemas.microsoft.com/office/drawing/2014/main" id="{DAFB0ADB-BBA4-46EE-F054-94CBBA156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888" y="1646238"/>
            <a:ext cx="706437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>
                <a:solidFill>
                  <a:schemeClr val="tx2"/>
                </a:solidFill>
              </a:rPr>
              <a:t>l = 3</a:t>
            </a:r>
          </a:p>
        </p:txBody>
      </p:sp>
      <p:sp>
        <p:nvSpPr>
          <p:cNvPr id="40987" name="Text Box 28">
            <a:extLst>
              <a:ext uri="{FF2B5EF4-FFF2-40B4-BE49-F238E27FC236}">
                <a16:creationId xmlns:a16="http://schemas.microsoft.com/office/drawing/2014/main" id="{26112053-2B51-3E84-E1FE-409D3BE49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3810000"/>
            <a:ext cx="10604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rgbClr val="990000"/>
                </a:solidFill>
              </a:rPr>
              <a:t>(l = m)</a:t>
            </a:r>
          </a:p>
        </p:txBody>
      </p:sp>
      <p:sp>
        <p:nvSpPr>
          <p:cNvPr id="40988" name="Segnaposto numero diapositiva 28">
            <a:extLst>
              <a:ext uri="{FF2B5EF4-FFF2-40B4-BE49-F238E27FC236}">
                <a16:creationId xmlns:a16="http://schemas.microsoft.com/office/drawing/2014/main" id="{A45F3FA0-BED6-363F-DC9E-DBA4475B0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6100B6-9F44-4614-BE7C-EFB45B255837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it-IT" altLang="it-IT"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CF447EE5-D98C-EB53-61F8-7BFE811EE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28600"/>
            <a:ext cx="9715500" cy="609600"/>
          </a:xfrm>
          <a:noFill/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Rappresentazione di Codici mediante tabelle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D59DD2F0-4AEA-34F7-9FB8-40C4470FFE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90550" y="1143000"/>
            <a:ext cx="8782050" cy="1828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T = (x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1</a:t>
            </a:r>
            <a:r>
              <a:rPr lang="it-IT" altLang="it-IT" sz="2400">
                <a:ea typeface="ＭＳ Ｐゴシック" panose="020B0600070205080204" pitchFamily="34" charset="-128"/>
              </a:rPr>
              <a:t>,x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400">
                <a:ea typeface="ＭＳ Ｐゴシック" panose="020B0600070205080204" pitchFamily="34" charset="-128"/>
              </a:rPr>
              <a:t>,…,x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ea typeface="ＭＳ Ｐゴシック" panose="020B0600070205080204" pitchFamily="34" charset="-128"/>
              </a:rPr>
              <a:t>)           alfabeto origine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E = (a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1</a:t>
            </a:r>
            <a:r>
              <a:rPr lang="it-IT" altLang="it-IT" sz="2400">
                <a:ea typeface="ＭＳ Ｐゴシック" panose="020B0600070205080204" pitchFamily="34" charset="-128"/>
              </a:rPr>
              <a:t>,a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2</a:t>
            </a:r>
            <a:r>
              <a:rPr lang="it-IT" altLang="it-IT" sz="2400">
                <a:ea typeface="ＭＳ Ｐゴシック" panose="020B0600070205080204" pitchFamily="34" charset="-128"/>
              </a:rPr>
              <a:t>,…,a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k</a:t>
            </a:r>
            <a:r>
              <a:rPr lang="it-IT" altLang="it-IT" sz="2400">
                <a:ea typeface="ＭＳ Ｐゴシック" panose="020B0600070205080204" pitchFamily="34" charset="-128"/>
              </a:rPr>
              <a:t>)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	  </a:t>
            </a:r>
            <a:r>
              <a:rPr lang="it-IT" altLang="it-IT" sz="2400">
                <a:ea typeface="ＭＳ Ｐゴシック" panose="020B0600070205080204" pitchFamily="34" charset="-128"/>
              </a:rPr>
              <a:t>alfabeto destinazione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</a:rPr>
              <a:t>Es. Codice BCD (Binary Coded Decimal)</a:t>
            </a:r>
          </a:p>
        </p:txBody>
      </p:sp>
      <p:graphicFrame>
        <p:nvGraphicFramePr>
          <p:cNvPr id="320516" name="Group 4">
            <a:extLst>
              <a:ext uri="{FF2B5EF4-FFF2-40B4-BE49-F238E27FC236}">
                <a16:creationId xmlns:a16="http://schemas.microsoft.com/office/drawing/2014/main" id="{CECDC182-DE02-47EF-5E15-F5CCA7BDEFFA}"/>
              </a:ext>
            </a:extLst>
          </p:cNvPr>
          <p:cNvGraphicFramePr>
            <a:graphicFrameLocks noGrp="1"/>
          </p:cNvGraphicFramePr>
          <p:nvPr/>
        </p:nvGraphicFramePr>
        <p:xfrm>
          <a:off x="3962400" y="3276600"/>
          <a:ext cx="1485900" cy="2743200"/>
        </p:xfrm>
        <a:graphic>
          <a:graphicData uri="http://schemas.openxmlformats.org/drawingml/2006/table">
            <a:tbl>
              <a:tblPr/>
              <a:tblGrid>
                <a:gridCol w="37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  <a:endParaRPr kumimoji="0" lang="it-IT" sz="1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2044" name="Text Box 61">
            <a:extLst>
              <a:ext uri="{FF2B5EF4-FFF2-40B4-BE49-F238E27FC236}">
                <a16:creationId xmlns:a16="http://schemas.microsoft.com/office/drawing/2014/main" id="{DF353EDB-BA7E-6142-3F59-9B54FA56B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971800"/>
            <a:ext cx="14859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0"/>
              <a:t>3     2    1     0</a:t>
            </a:r>
          </a:p>
        </p:txBody>
      </p:sp>
      <p:sp>
        <p:nvSpPr>
          <p:cNvPr id="42045" name="Text Box 62">
            <a:extLst>
              <a:ext uri="{FF2B5EF4-FFF2-40B4-BE49-F238E27FC236}">
                <a16:creationId xmlns:a16="http://schemas.microsoft.com/office/drawing/2014/main" id="{1E8FBC11-09BB-ED8D-9021-3890F6AF0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3950" y="4114800"/>
            <a:ext cx="841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/>
              <a:t>Dato</a:t>
            </a:r>
          </a:p>
        </p:txBody>
      </p:sp>
      <p:sp>
        <p:nvSpPr>
          <p:cNvPr id="42046" name="Text Box 63">
            <a:extLst>
              <a:ext uri="{FF2B5EF4-FFF2-40B4-BE49-F238E27FC236}">
                <a16:creationId xmlns:a16="http://schemas.microsoft.com/office/drawing/2014/main" id="{0555A6D2-6DEC-9DC2-D200-4FAA8E894B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450" y="3243263"/>
            <a:ext cx="300038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1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2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3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4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5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6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7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8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9</a:t>
            </a:r>
          </a:p>
        </p:txBody>
      </p:sp>
      <p:sp>
        <p:nvSpPr>
          <p:cNvPr id="42047" name="Rectangle 64">
            <a:extLst>
              <a:ext uri="{FF2B5EF4-FFF2-40B4-BE49-F238E27FC236}">
                <a16:creationId xmlns:a16="http://schemas.microsoft.com/office/drawing/2014/main" id="{A8E0CA81-C1A7-79FE-8F39-A1ECB98E0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9850" y="4379913"/>
            <a:ext cx="1733550" cy="304800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42048" name="Text Box 65">
            <a:extLst>
              <a:ext uri="{FF2B5EF4-FFF2-40B4-BE49-F238E27FC236}">
                <a16:creationId xmlns:a16="http://schemas.microsoft.com/office/drawing/2014/main" id="{32B30FA7-7258-AAE8-407C-FE7B80D56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900" y="3962400"/>
            <a:ext cx="205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/>
              <a:t>Parola Codice</a:t>
            </a:r>
          </a:p>
        </p:txBody>
      </p:sp>
      <p:sp>
        <p:nvSpPr>
          <p:cNvPr id="42049" name="Line 66">
            <a:extLst>
              <a:ext uri="{FF2B5EF4-FFF2-40B4-BE49-F238E27FC236}">
                <a16:creationId xmlns:a16="http://schemas.microsoft.com/office/drawing/2014/main" id="{E2CE683C-D767-31A9-A123-5716511623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8500" y="4267200"/>
            <a:ext cx="66040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050" name="Segnaposto numero diapositiva 10">
            <a:extLst>
              <a:ext uri="{FF2B5EF4-FFF2-40B4-BE49-F238E27FC236}">
                <a16:creationId xmlns:a16="http://schemas.microsoft.com/office/drawing/2014/main" id="{A38A9501-C94A-158F-78CF-BDE761691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81B6AF-4D89-42A8-9EA4-06BA0AFAB69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it-IT" altLang="it-IT"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50D2D020-48DF-E9BD-ADEE-E87DBD64F7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387350"/>
            <a:ext cx="8674100" cy="444500"/>
          </a:xfrm>
          <a:noFill/>
        </p:spPr>
        <p:txBody>
          <a:bodyPr/>
          <a:lstStyle/>
          <a:p>
            <a:pPr eaLnBrk="1" hangingPunct="1"/>
            <a:r>
              <a:rPr lang="it-IT" altLang="it-IT" sz="3600">
                <a:ea typeface="ＭＳ Ｐゴシック" panose="020B0600070205080204" pitchFamily="34" charset="-128"/>
              </a:rPr>
              <a:t>Rappresentazione Decodificata</a:t>
            </a:r>
          </a:p>
        </p:txBody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C04904EA-7800-864F-E11B-C5EA9688C3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altLang="it-IT">
                <a:ea typeface="ＭＳ Ｐゴシック" panose="020B0600070205080204" pitchFamily="34" charset="-128"/>
              </a:rPr>
              <a:t>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insieme ha cardinalità N</a:t>
            </a:r>
          </a:p>
          <a:p>
            <a:pPr eaLnBrk="1" hangingPunct="1">
              <a:defRPr/>
            </a:pPr>
            <a:r>
              <a:rPr lang="it-IT" altLang="it-IT">
                <a:ea typeface="ＭＳ Ｐゴシック" panose="020B0600070205080204" pitchFamily="34" charset="-128"/>
              </a:rPr>
              <a:t>Le parole codice hanno lunghezza m = N</a:t>
            </a:r>
          </a:p>
          <a:p>
            <a:pPr eaLnBrk="1" hangingPunct="1">
              <a:defRPr/>
            </a:pPr>
            <a:r>
              <a:rPr lang="it-IT" altLang="it-IT">
                <a:ea typeface="ＭＳ Ｐゴシック" panose="020B0600070205080204" pitchFamily="34" charset="-128"/>
              </a:rPr>
              <a:t>Ad ogni parola codice è associato un solo bit 1</a:t>
            </a:r>
          </a:p>
          <a:p>
            <a:pPr eaLnBrk="1" hangingPunct="1">
              <a:defRPr/>
            </a:pPr>
            <a:r>
              <a:rPr lang="it-IT" altLang="it-IT">
                <a:ea typeface="ＭＳ Ｐゴシック" panose="020B0600070205080204" pitchFamily="34" charset="-128"/>
              </a:rPr>
              <a:t>Motivazioni</a:t>
            </a:r>
            <a:endParaRPr lang="it-IT" altLang="it-IT" i="1">
              <a:effectLst>
                <a:outerShdw blurRad="38100" dist="38100" dir="2700000" algn="tl">
                  <a:srgbClr val="C0C0C0"/>
                </a:outerShdw>
              </a:effectLst>
              <a:ea typeface="ＭＳ Ｐゴシック" panose="020B0600070205080204" pitchFamily="34" charset="-128"/>
            </a:endParaRPr>
          </a:p>
        </p:txBody>
      </p:sp>
      <p:sp>
        <p:nvSpPr>
          <p:cNvPr id="43011" name="Segnaposto numero diapositiva 3">
            <a:extLst>
              <a:ext uri="{FF2B5EF4-FFF2-40B4-BE49-F238E27FC236}">
                <a16:creationId xmlns:a16="http://schemas.microsoft.com/office/drawing/2014/main" id="{ED140141-0832-7E8C-F0A9-3F7E056F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51A5EF-FB3C-4AB1-9511-1401438BCE4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it-IT" altLang="it-IT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2611" name="Group 51">
            <a:extLst>
              <a:ext uri="{FF2B5EF4-FFF2-40B4-BE49-F238E27FC236}">
                <a16:creationId xmlns:a16="http://schemas.microsoft.com/office/drawing/2014/main" id="{8D5B3E65-E142-E42F-049B-0A0ADC29D49B}"/>
              </a:ext>
            </a:extLst>
          </p:cNvPr>
          <p:cNvGraphicFramePr>
            <a:graphicFrameLocks noGrp="1"/>
          </p:cNvGraphicFramePr>
          <p:nvPr/>
        </p:nvGraphicFramePr>
        <p:xfrm>
          <a:off x="1651000" y="1397000"/>
          <a:ext cx="6851650" cy="452120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19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59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Dato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Codice BDC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Codice Decodificato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1000000000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0100000000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0010000000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0011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0001000000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….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…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it-IT" alt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ＭＳ Ｐゴシック" panose="020B0600070205080204" pitchFamily="3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1001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itchFamily="2" charset="2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pitchFamily="2" charset="2"/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it-IT" alt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rPr>
                        <a:t>0000000001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4079" name="Rectangle 49">
            <a:extLst>
              <a:ext uri="{FF2B5EF4-FFF2-40B4-BE49-F238E27FC236}">
                <a16:creationId xmlns:a16="http://schemas.microsoft.com/office/drawing/2014/main" id="{1DCC7DC6-CC4D-7C71-1E6E-5B75D3E802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" y="304800"/>
            <a:ext cx="97059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600" b="0">
                <a:latin typeface="Book Antiqua" panose="02040602050305030304" pitchFamily="18" charset="0"/>
              </a:rPr>
              <a:t>Esempio di rappresentazione Decodificata</a:t>
            </a:r>
          </a:p>
        </p:txBody>
      </p:sp>
      <p:sp>
        <p:nvSpPr>
          <p:cNvPr id="44080" name="Segnaposto numero diapositiva 3">
            <a:extLst>
              <a:ext uri="{FF2B5EF4-FFF2-40B4-BE49-F238E27FC236}">
                <a16:creationId xmlns:a16="http://schemas.microsoft.com/office/drawing/2014/main" id="{23930BE1-553A-376E-0FAB-FB3D5F9CD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77C9DE8-4A0B-4EA5-95C0-14D6850832D4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it-IT" altLang="it-IT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5CF2773E-1A94-8617-95A8-282F05105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DFFD2405-4026-0CCB-3F9F-1A54F62D1A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5400">
                <a:ea typeface="ＭＳ Ｐゴシック" panose="020B0600070205080204" pitchFamily="34" charset="-128"/>
              </a:rPr>
              <a:t>Transcodificatore</a:t>
            </a:r>
          </a:p>
        </p:txBody>
      </p:sp>
      <p:sp>
        <p:nvSpPr>
          <p:cNvPr id="45059" name="Segnaposto numero diapositiva 3">
            <a:extLst>
              <a:ext uri="{FF2B5EF4-FFF2-40B4-BE49-F238E27FC236}">
                <a16:creationId xmlns:a16="http://schemas.microsoft.com/office/drawing/2014/main" id="{5C25D342-EE6B-AE0A-CDE6-D7B7A9929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5B4C670-EDBD-4434-82EA-B90E84F286C9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it-IT" altLang="it-IT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2">
            <a:extLst>
              <a:ext uri="{FF2B5EF4-FFF2-40B4-BE49-F238E27FC236}">
                <a16:creationId xmlns:a16="http://schemas.microsoft.com/office/drawing/2014/main" id="{B09C5932-41E2-00D1-CB17-7D9AD5C631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115888"/>
            <a:ext cx="8420100" cy="762000"/>
          </a:xfrm>
          <a:noFill/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Transcodificatore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213542D1-4BB8-1EBE-93EE-4EF52CB4F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94488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In alcune circostanze si può verificare che lo stesso dato sia rappresentato mediante codici diversi.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Detti C1 e C2 due codici definiti sullo stesso insieme (cioè costituito dallo stesso numero di parole codice), si dice TRANSCODIFICATORE una macchina che consente di associare a ciascuna parola del codice C1 la corrispondente parola del codice C2.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Transcodificatore per visualizzatore a 7 segmenti.</a:t>
            </a:r>
          </a:p>
        </p:txBody>
      </p:sp>
      <p:grpSp>
        <p:nvGrpSpPr>
          <p:cNvPr id="46083" name="Group 4">
            <a:extLst>
              <a:ext uri="{FF2B5EF4-FFF2-40B4-BE49-F238E27FC236}">
                <a16:creationId xmlns:a16="http://schemas.microsoft.com/office/drawing/2014/main" id="{CE927892-0238-2C13-1446-3D47594409F7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4581525"/>
            <a:ext cx="7140575" cy="1547813"/>
            <a:chOff x="960" y="2577"/>
            <a:chExt cx="4150" cy="975"/>
          </a:xfrm>
        </p:grpSpPr>
        <p:sp>
          <p:nvSpPr>
            <p:cNvPr id="46085" name="Text Box 5">
              <a:extLst>
                <a:ext uri="{FF2B5EF4-FFF2-40B4-BE49-F238E27FC236}">
                  <a16:creationId xmlns:a16="http://schemas.microsoft.com/office/drawing/2014/main" id="{8043F26C-FD85-9F85-BF4A-C779697350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928"/>
              <a:ext cx="3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C1</a:t>
              </a:r>
              <a:endParaRPr lang="it-IT" altLang="it-IT" sz="2400" b="0" baseline="-25000"/>
            </a:p>
          </p:txBody>
        </p:sp>
        <p:sp>
          <p:nvSpPr>
            <p:cNvPr id="46086" name="Rectangle 6">
              <a:extLst>
                <a:ext uri="{FF2B5EF4-FFF2-40B4-BE49-F238E27FC236}">
                  <a16:creationId xmlns:a16="http://schemas.microsoft.com/office/drawing/2014/main" id="{885960A9-59C0-0F82-A2B2-5D3935B47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577"/>
              <a:ext cx="1456" cy="9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46087" name="AutoShape 7">
              <a:extLst>
                <a:ext uri="{FF2B5EF4-FFF2-40B4-BE49-F238E27FC236}">
                  <a16:creationId xmlns:a16="http://schemas.microsoft.com/office/drawing/2014/main" id="{99379DBF-58B3-1CB6-92AD-B3018C86F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0" y="3024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46088" name="Text Box 8">
              <a:extLst>
                <a:ext uri="{FF2B5EF4-FFF2-40B4-BE49-F238E27FC236}">
                  <a16:creationId xmlns:a16="http://schemas.microsoft.com/office/drawing/2014/main" id="{0A4D03E2-5658-4ACD-EC5E-DCDED957C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76" y="2913"/>
              <a:ext cx="13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Transcodificatore</a:t>
              </a:r>
            </a:p>
          </p:txBody>
        </p:sp>
        <p:sp>
          <p:nvSpPr>
            <p:cNvPr id="46089" name="Text Box 9">
              <a:extLst>
                <a:ext uri="{FF2B5EF4-FFF2-40B4-BE49-F238E27FC236}">
                  <a16:creationId xmlns:a16="http://schemas.microsoft.com/office/drawing/2014/main" id="{A604EB7D-5B5A-1461-56DC-496F6160D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6" y="2913"/>
              <a:ext cx="3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C2</a:t>
              </a:r>
              <a:endParaRPr lang="it-IT" altLang="it-IT" sz="2400" b="0" baseline="-25000"/>
            </a:p>
          </p:txBody>
        </p:sp>
        <p:sp>
          <p:nvSpPr>
            <p:cNvPr id="46090" name="AutoShape 10">
              <a:extLst>
                <a:ext uri="{FF2B5EF4-FFF2-40B4-BE49-F238E27FC236}">
                  <a16:creationId xmlns:a16="http://schemas.microsoft.com/office/drawing/2014/main" id="{591DF7EA-9DEB-2682-B5E5-B133A469EB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2" y="3009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46084" name="Segnaposto numero diapositiva 10">
            <a:extLst>
              <a:ext uri="{FF2B5EF4-FFF2-40B4-BE49-F238E27FC236}">
                <a16:creationId xmlns:a16="http://schemas.microsoft.com/office/drawing/2014/main" id="{493BD3A3-76A6-FB69-4A4D-9D4D67770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D3C9FD-7A23-4339-A444-466F956DFB6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it-IT" altLang="it-IT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AFC04D2A-B566-743D-899C-A7E4A4E83C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15875" y="76200"/>
            <a:ext cx="9921875" cy="762000"/>
          </a:xfrm>
          <a:noFill/>
        </p:spPr>
        <p:txBody>
          <a:bodyPr/>
          <a:lstStyle/>
          <a:p>
            <a:pPr eaLnBrk="1" hangingPunct="1"/>
            <a:r>
              <a:rPr lang="it-IT" altLang="it-IT" sz="3500">
                <a:ea typeface="ＭＳ Ｐゴシック" panose="020B0600070205080204" pitchFamily="34" charset="-128"/>
              </a:rPr>
              <a:t>Transcodificatore per visualizzatore a 7 segmenti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F5CF89D0-17B6-C9F5-F8AD-A92C2F142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" y="1196975"/>
            <a:ext cx="96774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Uno degli indicatori visivi più comuni è l</a:t>
            </a:r>
            <a:r>
              <a:rPr lang="ja-JP" altLang="it-IT" sz="2400">
                <a:latin typeface="BookAntiqua" charset="0"/>
                <a:ea typeface="ＭＳ Ｐゴシック" panose="020B0600070205080204" pitchFamily="34" charset="-128"/>
              </a:rPr>
              <a:t>’</a:t>
            </a:r>
            <a:r>
              <a:rPr lang="it-IT" altLang="ja-JP" sz="2400" b="1" i="1">
                <a:latin typeface="BookAntiqua,Italic" charset="0"/>
                <a:ea typeface="ＭＳ Ｐゴシック" panose="020B0600070205080204" pitchFamily="34" charset="-128"/>
              </a:rPr>
              <a:t>indicatore a 7 segmenti</a:t>
            </a:r>
            <a:r>
              <a:rPr lang="it-IT" altLang="ja-JP" sz="2400">
                <a:latin typeface="BookAntiqua" charset="0"/>
                <a:ea typeface="ＭＳ Ｐゴシック" panose="020B0600070205080204" pitchFamily="34" charset="-128"/>
              </a:rPr>
              <a:t>.</a:t>
            </a:r>
            <a:endParaRPr lang="it-IT" altLang="ja-JP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Ogni simbolo è formato da sette segmenti ognuno dei quali è un Led che può essere acceso da un segnale digitale.</a:t>
            </a:r>
            <a:r>
              <a:rPr lang="it-IT" altLang="it-IT" sz="2400">
                <a:ea typeface="ＭＳ Ｐゴシック" panose="020B0600070205080204" pitchFamily="34" charset="-128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Un </a:t>
            </a:r>
            <a:r>
              <a:rPr lang="it-IT" altLang="it-IT" sz="2400" b="1" i="1">
                <a:latin typeface="BookAntiqua" charset="0"/>
                <a:ea typeface="ＭＳ Ｐゴシック" panose="020B0600070205080204" pitchFamily="34" charset="-128"/>
              </a:rPr>
              <a:t>BCD-To-Seven-Segment-Decoder</a:t>
            </a: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 riceve in ingresso un simbolo decimale in BCD e genera l</a:t>
            </a:r>
            <a:r>
              <a:rPr lang="ja-JP" altLang="it-IT" sz="2400">
                <a:latin typeface="BookAntiqua" charset="0"/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latin typeface="BookAntiqua" charset="0"/>
                <a:ea typeface="ＭＳ Ｐゴシック" panose="020B0600070205080204" pitchFamily="34" charset="-128"/>
              </a:rPr>
              <a:t>appropriata uscita selezionando i segmenti che devono essere accesi per mostrare su display il simbolo decimale.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1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C96E4DDE-B4BC-E0E3-0500-632F6ADDC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22"/>
          <a:stretch>
            <a:fillRect/>
          </a:stretch>
        </p:blipFill>
        <p:spPr bwMode="auto">
          <a:xfrm>
            <a:off x="990600" y="4491038"/>
            <a:ext cx="7696200" cy="181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108" name="Segnaposto numero diapositiva 4">
            <a:extLst>
              <a:ext uri="{FF2B5EF4-FFF2-40B4-BE49-F238E27FC236}">
                <a16:creationId xmlns:a16="http://schemas.microsoft.com/office/drawing/2014/main" id="{0460DB18-9B85-D87A-E034-124B92465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2BDE88-C515-422B-B6F2-E3CF0231CAD9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it-IT" altLang="it-IT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>
            <a:extLst>
              <a:ext uri="{FF2B5EF4-FFF2-40B4-BE49-F238E27FC236}">
                <a16:creationId xmlns:a16="http://schemas.microsoft.com/office/drawing/2014/main" id="{6710875E-5258-ACA1-DA64-6D6D95D1E4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"/>
            <a:ext cx="9906000" cy="762000"/>
          </a:xfrm>
          <a:noFill/>
        </p:spPr>
        <p:txBody>
          <a:bodyPr/>
          <a:lstStyle/>
          <a:p>
            <a:pPr eaLnBrk="1" hangingPunct="1"/>
            <a:r>
              <a:rPr lang="it-IT" altLang="it-IT" sz="3500">
                <a:ea typeface="ＭＳ Ｐゴシック" panose="020B0600070205080204" pitchFamily="34" charset="-128"/>
              </a:rPr>
              <a:t>Transcodificatore per visualizzatore a 7 segmenti</a:t>
            </a:r>
          </a:p>
        </p:txBody>
      </p:sp>
      <p:sp>
        <p:nvSpPr>
          <p:cNvPr id="48130" name="Rectangle 3">
            <a:extLst>
              <a:ext uri="{FF2B5EF4-FFF2-40B4-BE49-F238E27FC236}">
                <a16:creationId xmlns:a16="http://schemas.microsoft.com/office/drawing/2014/main" id="{06E359E9-1CF7-A474-F992-42FF3ABAA1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325563"/>
            <a:ext cx="3581400" cy="2895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Le 7 uscite le indichiamo con (a,b,c,d,e,f,g) selezionando i corrispondenti segmenti. Si hanno: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 i="1">
                <a:latin typeface="BookAntiqua,Italic" charset="0"/>
                <a:ea typeface="ＭＳ Ｐゴシック" panose="020B0600070205080204" pitchFamily="34" charset="-128"/>
              </a:rPr>
              <a:t>4 input</a:t>
            </a:r>
            <a:r>
              <a:rPr lang="it-IT" altLang="it-IT" sz="2000">
                <a:latin typeface="BookAntiqua" charset="0"/>
                <a:ea typeface="ＭＳ Ｐゴシック" panose="020B0600070205080204" pitchFamily="34" charset="-128"/>
              </a:rPr>
              <a:t>: A B C D.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000" i="1">
                <a:latin typeface="BookAntiqua,Italic" charset="0"/>
                <a:ea typeface="ＭＳ Ｐゴシック" panose="020B0600070205080204" pitchFamily="34" charset="-128"/>
              </a:rPr>
              <a:t>7 output</a:t>
            </a:r>
            <a:r>
              <a:rPr lang="it-IT" altLang="it-IT" sz="2000">
                <a:latin typeface="BookAntiqua" charset="0"/>
                <a:ea typeface="ＭＳ Ｐゴシック" panose="020B0600070205080204" pitchFamily="34" charset="-128"/>
              </a:rPr>
              <a:t>:  a b c d e f g.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latin typeface="BookAntiqua" charset="0"/>
                <a:ea typeface="ＭＳ Ｐゴシック" panose="020B0600070205080204" pitchFamily="34" charset="-128"/>
              </a:rPr>
              <a:t>La tabella di verità sarà pertanto  </a:t>
            </a:r>
            <a:r>
              <a:rPr lang="it-IT" altLang="it-IT" sz="2400">
                <a:latin typeface="BookAntiqua" charset="0"/>
                <a:ea typeface="ＭＳ Ｐゴシック" panose="020B0600070205080204" pitchFamily="34" charset="-128"/>
                <a:sym typeface="Symbol" panose="05050102010706020507" pitchFamily="18" charset="2"/>
              </a:rPr>
              <a:t></a:t>
            </a:r>
            <a:endParaRPr lang="it-IT" altLang="it-IT" sz="2400">
              <a:latin typeface="BookAntiqua" charset="0"/>
              <a:ea typeface="ＭＳ Ｐゴシック" panose="020B0600070205080204" pitchFamily="34" charset="-128"/>
            </a:endParaRPr>
          </a:p>
        </p:txBody>
      </p:sp>
      <p:pic>
        <p:nvPicPr>
          <p:cNvPr id="48131" name="Picture 4">
            <a:extLst>
              <a:ext uri="{FF2B5EF4-FFF2-40B4-BE49-F238E27FC236}">
                <a16:creationId xmlns:a16="http://schemas.microsoft.com/office/drawing/2014/main" id="{5A2C16A7-C9A0-51BD-DA72-D9AAA9AF9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8475" y="1143000"/>
            <a:ext cx="5287963" cy="470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8132" name="Group 6">
            <a:extLst>
              <a:ext uri="{FF2B5EF4-FFF2-40B4-BE49-F238E27FC236}">
                <a16:creationId xmlns:a16="http://schemas.microsoft.com/office/drawing/2014/main" id="{2DAB5762-3B99-3FB0-1B7F-6348D7338523}"/>
              </a:ext>
            </a:extLst>
          </p:cNvPr>
          <p:cNvGrpSpPr>
            <a:grpSpLocks/>
          </p:cNvGrpSpPr>
          <p:nvPr/>
        </p:nvGrpSpPr>
        <p:grpSpPr bwMode="auto">
          <a:xfrm>
            <a:off x="881063" y="5164138"/>
            <a:ext cx="2571750" cy="1550987"/>
            <a:chOff x="2265" y="2268"/>
            <a:chExt cx="2856" cy="1416"/>
          </a:xfrm>
        </p:grpSpPr>
        <p:pic>
          <p:nvPicPr>
            <p:cNvPr id="48134" name="Picture 4">
              <a:extLst>
                <a:ext uri="{FF2B5EF4-FFF2-40B4-BE49-F238E27FC236}">
                  <a16:creationId xmlns:a16="http://schemas.microsoft.com/office/drawing/2014/main" id="{EA96FF04-DC21-2829-B60E-33E9D9B5C5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517"/>
            <a:stretch>
              <a:fillRect/>
            </a:stretch>
          </p:blipFill>
          <p:spPr bwMode="auto">
            <a:xfrm>
              <a:off x="2265" y="2268"/>
              <a:ext cx="2856" cy="13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5" name="Rectangle 5">
              <a:extLst>
                <a:ext uri="{FF2B5EF4-FFF2-40B4-BE49-F238E27FC236}">
                  <a16:creationId xmlns:a16="http://schemas.microsoft.com/office/drawing/2014/main" id="{306A345B-5FD9-0F2A-499C-8FDE1F1E1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474"/>
              <a:ext cx="252" cy="2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48133" name="Segnaposto numero diapositiva 7">
            <a:extLst>
              <a:ext uri="{FF2B5EF4-FFF2-40B4-BE49-F238E27FC236}">
                <a16:creationId xmlns:a16="http://schemas.microsoft.com/office/drawing/2014/main" id="{CDC226E5-DD41-91D0-79A4-13DC9A4B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58AB2C-7A20-4A18-9431-B67907CE338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it-IT" altLang="it-IT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F7165110-BDE2-8CC1-7487-5C78E0019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3EFE75DF-3D0F-C2FF-C7DF-71AA22C372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5400">
                <a:ea typeface="ＭＳ Ｐゴシック" panose="020B0600070205080204" pitchFamily="34" charset="-128"/>
              </a:rPr>
              <a:t>Decoder ed Encoder</a:t>
            </a:r>
          </a:p>
        </p:txBody>
      </p:sp>
      <p:sp>
        <p:nvSpPr>
          <p:cNvPr id="49155" name="Segnaposto numero diapositiva 3">
            <a:extLst>
              <a:ext uri="{FF2B5EF4-FFF2-40B4-BE49-F238E27FC236}">
                <a16:creationId xmlns:a16="http://schemas.microsoft.com/office/drawing/2014/main" id="{634753F4-FCBB-6B4B-6185-C5E295C7E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7F8196-CC8C-4BB1-81E0-117F7628359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it-IT" altLang="it-IT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7410D3D4-1FF4-0202-9344-2ECB1454C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304800"/>
            <a:ext cx="8420100" cy="533400"/>
          </a:xfrm>
          <a:noFill/>
        </p:spPr>
        <p:txBody>
          <a:bodyPr/>
          <a:lstStyle/>
          <a:p>
            <a:pPr eaLnBrk="1" hangingPunct="1"/>
            <a:r>
              <a:rPr lang="it-IT" altLang="it-IT" sz="4000">
                <a:ea typeface="ＭＳ Ｐゴシック" panose="020B0600070205080204" pitchFamily="34" charset="-128"/>
              </a:rPr>
              <a:t>Decodificatore (decoder)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7B79D7DD-E69A-7FFF-8F22-5D9AD4E0F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60400" y="1219200"/>
            <a:ext cx="8420100" cy="22098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Un decodificatore è una macchina che riceve in ingresso una parola codice (C) e presenta in uscita la sua rappresentazione decodificata (linee U</a:t>
            </a:r>
            <a:r>
              <a:rPr lang="it-IT" altLang="it-IT" baseline="-25000">
                <a:ea typeface="ＭＳ Ｐゴシック" panose="020B0600070205080204" pitchFamily="34" charset="-128"/>
              </a:rPr>
              <a:t>0</a:t>
            </a:r>
            <a:r>
              <a:rPr lang="it-IT" altLang="it-IT">
                <a:ea typeface="ＭＳ Ｐゴシック" panose="020B0600070205080204" pitchFamily="34" charset="-128"/>
              </a:rPr>
              <a:t>, … U</a:t>
            </a:r>
            <a:r>
              <a:rPr lang="it-IT" altLang="it-IT" baseline="-25000">
                <a:ea typeface="ＭＳ Ｐゴシック" panose="020B0600070205080204" pitchFamily="34" charset="-128"/>
              </a:rPr>
              <a:t>N-1</a:t>
            </a:r>
            <a:r>
              <a:rPr lang="it-IT" altLang="it-IT">
                <a:ea typeface="ＭＳ Ｐゴシック" panose="020B0600070205080204" pitchFamily="34" charset="-128"/>
              </a:rPr>
              <a:t>)</a:t>
            </a:r>
          </a:p>
        </p:txBody>
      </p:sp>
      <p:grpSp>
        <p:nvGrpSpPr>
          <p:cNvPr id="50179" name="Group 4">
            <a:extLst>
              <a:ext uri="{FF2B5EF4-FFF2-40B4-BE49-F238E27FC236}">
                <a16:creationId xmlns:a16="http://schemas.microsoft.com/office/drawing/2014/main" id="{987D9A2B-39A2-6955-7FEC-F10AE3DA9601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3048000"/>
            <a:ext cx="4930775" cy="2895600"/>
            <a:chOff x="1488" y="2208"/>
            <a:chExt cx="2867" cy="1824"/>
          </a:xfrm>
        </p:grpSpPr>
        <p:sp>
          <p:nvSpPr>
            <p:cNvPr id="50181" name="AutoShape 5">
              <a:extLst>
                <a:ext uri="{FF2B5EF4-FFF2-40B4-BE49-F238E27FC236}">
                  <a16:creationId xmlns:a16="http://schemas.microsoft.com/office/drawing/2014/main" id="{FB200BB7-34E3-07BD-2D96-ACAE03E819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1992" y="2760"/>
              <a:ext cx="1680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182" name="Line 6">
              <a:extLst>
                <a:ext uri="{FF2B5EF4-FFF2-40B4-BE49-F238E27FC236}">
                  <a16:creationId xmlns:a16="http://schemas.microsoft.com/office/drawing/2014/main" id="{EB65E937-00C1-F45C-3E19-6486D9033F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688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3" name="Line 7">
              <a:extLst>
                <a:ext uri="{FF2B5EF4-FFF2-40B4-BE49-F238E27FC236}">
                  <a16:creationId xmlns:a16="http://schemas.microsoft.com/office/drawing/2014/main" id="{F44D43B4-F30A-2C97-3833-584633E695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312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4" name="Line 8">
              <a:extLst>
                <a:ext uri="{FF2B5EF4-FFF2-40B4-BE49-F238E27FC236}">
                  <a16:creationId xmlns:a16="http://schemas.microsoft.com/office/drawing/2014/main" id="{8A9DECEF-3E9F-BE01-A26A-CD43DD318D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2400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5" name="Line 9">
              <a:extLst>
                <a:ext uri="{FF2B5EF4-FFF2-40B4-BE49-F238E27FC236}">
                  <a16:creationId xmlns:a16="http://schemas.microsoft.com/office/drawing/2014/main" id="{744211A2-253B-9D21-DB63-A5A9D754F1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3600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86" name="Text Box 10">
              <a:extLst>
                <a:ext uri="{FF2B5EF4-FFF2-40B4-BE49-F238E27FC236}">
                  <a16:creationId xmlns:a16="http://schemas.microsoft.com/office/drawing/2014/main" id="{1CED3819-8667-09FB-0A86-9915D713CD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4" y="2426"/>
              <a:ext cx="2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  <a:r>
                <a:rPr lang="it-IT" altLang="it-IT" sz="2400" b="0" baseline="-25000"/>
                <a:t>o</a:t>
              </a:r>
            </a:p>
          </p:txBody>
        </p:sp>
        <p:sp>
          <p:nvSpPr>
            <p:cNvPr id="50187" name="Text Box 11">
              <a:extLst>
                <a:ext uri="{FF2B5EF4-FFF2-40B4-BE49-F238E27FC236}">
                  <a16:creationId xmlns:a16="http://schemas.microsoft.com/office/drawing/2014/main" id="{4780B826-C4FD-54C8-8031-2A7C090D9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3120"/>
              <a:ext cx="4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  <a:r>
                <a:rPr lang="it-IT" altLang="it-IT" sz="2400" b="0" baseline="-25000"/>
                <a:t>m-1</a:t>
              </a:r>
            </a:p>
          </p:txBody>
        </p:sp>
        <p:sp>
          <p:nvSpPr>
            <p:cNvPr id="50188" name="Text Box 12">
              <a:extLst>
                <a:ext uri="{FF2B5EF4-FFF2-40B4-BE49-F238E27FC236}">
                  <a16:creationId xmlns:a16="http://schemas.microsoft.com/office/drawing/2014/main" id="{C5031424-297A-50D1-7671-5814F48E0B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256"/>
              <a:ext cx="29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U</a:t>
              </a:r>
              <a:r>
                <a:rPr lang="it-IT" altLang="it-IT" sz="2400" b="0" baseline="-25000"/>
                <a:t>0</a:t>
              </a:r>
            </a:p>
          </p:txBody>
        </p:sp>
        <p:sp>
          <p:nvSpPr>
            <p:cNvPr id="50189" name="Text Box 13">
              <a:extLst>
                <a:ext uri="{FF2B5EF4-FFF2-40B4-BE49-F238E27FC236}">
                  <a16:creationId xmlns:a16="http://schemas.microsoft.com/office/drawing/2014/main" id="{9E907DD1-4078-CA8B-0036-1E5F6B444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3456"/>
              <a:ext cx="4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U</a:t>
              </a:r>
              <a:r>
                <a:rPr lang="it-IT" altLang="it-IT" sz="2400" b="0" baseline="-25000"/>
                <a:t>N-1</a:t>
              </a:r>
            </a:p>
          </p:txBody>
        </p:sp>
        <p:sp>
          <p:nvSpPr>
            <p:cNvPr id="50190" name="Line 14">
              <a:extLst>
                <a:ext uri="{FF2B5EF4-FFF2-40B4-BE49-F238E27FC236}">
                  <a16:creationId xmlns:a16="http://schemas.microsoft.com/office/drawing/2014/main" id="{9AB0A66D-8BAE-4396-A075-9976061C9C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84" y="3696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1" name="Text Box 15">
              <a:extLst>
                <a:ext uri="{FF2B5EF4-FFF2-40B4-BE49-F238E27FC236}">
                  <a16:creationId xmlns:a16="http://schemas.microsoft.com/office/drawing/2014/main" id="{75D176DB-F719-F8AF-85EB-AB60F9CC08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744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endParaRPr lang="it-IT" altLang="it-IT" sz="2400" b="0"/>
            </a:p>
          </p:txBody>
        </p:sp>
      </p:grpSp>
      <p:sp>
        <p:nvSpPr>
          <p:cNvPr id="50180" name="Segnaposto numero diapositiva 15">
            <a:extLst>
              <a:ext uri="{FF2B5EF4-FFF2-40B4-BE49-F238E27FC236}">
                <a16:creationId xmlns:a16="http://schemas.microsoft.com/office/drawing/2014/main" id="{CF1D9928-C5AB-FA26-45C8-73C2739D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177027-EBD7-48EC-8389-173A1119659F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it-IT" altLang="it-IT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D93C4948-2C0A-7E82-2AA8-E1C5C634B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28600"/>
            <a:ext cx="9690100" cy="6096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Sintesi della trascodifica da binario a 1 su N </a:t>
            </a:r>
          </a:p>
        </p:txBody>
      </p:sp>
      <p:sp>
        <p:nvSpPr>
          <p:cNvPr id="51202" name="Text Box 3">
            <a:extLst>
              <a:ext uri="{FF2B5EF4-FFF2-40B4-BE49-F238E27FC236}">
                <a16:creationId xmlns:a16="http://schemas.microsoft.com/office/drawing/2014/main" id="{2DCC0BF2-F8CB-4D7C-49BF-7EA4887D99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8" y="3040063"/>
            <a:ext cx="9123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200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20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20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 i="1"/>
              <a:t>Esempio: Transcodifica 2:4      </a:t>
            </a:r>
            <a:endParaRPr lang="it-IT" altLang="it-IT" sz="2400"/>
          </a:p>
        </p:txBody>
      </p:sp>
      <p:grpSp>
        <p:nvGrpSpPr>
          <p:cNvPr id="51203" name="Group 68">
            <a:extLst>
              <a:ext uri="{FF2B5EF4-FFF2-40B4-BE49-F238E27FC236}">
                <a16:creationId xmlns:a16="http://schemas.microsoft.com/office/drawing/2014/main" id="{DAF8BF52-677A-8642-193D-D92DED6DCAB2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3690938"/>
            <a:ext cx="2601912" cy="2185987"/>
            <a:chOff x="405" y="1344"/>
            <a:chExt cx="1639" cy="1377"/>
          </a:xfrm>
        </p:grpSpPr>
        <p:sp>
          <p:nvSpPr>
            <p:cNvPr id="51267" name="Text Box 5">
              <a:extLst>
                <a:ext uri="{FF2B5EF4-FFF2-40B4-BE49-F238E27FC236}">
                  <a16:creationId xmlns:a16="http://schemas.microsoft.com/office/drawing/2014/main" id="{314A3B42-7D44-FCFC-BEB9-A69C4CFF0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" y="1344"/>
              <a:ext cx="1639" cy="137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defTabSz="37465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defTabSz="3746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defTabSz="37465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defTabSz="37465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37465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3746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3746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3746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37465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B	A	U</a:t>
              </a:r>
              <a:r>
                <a:rPr lang="it-IT" altLang="it-IT" sz="2400" baseline="-25000"/>
                <a:t>0	 </a:t>
              </a:r>
              <a:r>
                <a:rPr lang="it-IT" altLang="it-IT" sz="2400"/>
                <a:t>U</a:t>
              </a:r>
              <a:r>
                <a:rPr lang="it-IT" altLang="it-IT" sz="2400" baseline="-25000"/>
                <a:t>1  </a:t>
              </a:r>
              <a:r>
                <a:rPr lang="it-IT" altLang="it-IT" sz="2400"/>
                <a:t>U</a:t>
              </a:r>
              <a:r>
                <a:rPr lang="it-IT" altLang="it-IT" sz="2400" baseline="-25000"/>
                <a:t>2   </a:t>
              </a:r>
              <a:r>
                <a:rPr lang="it-IT" altLang="it-IT" sz="2400"/>
                <a:t>U</a:t>
              </a:r>
              <a:r>
                <a:rPr lang="it-IT" altLang="it-IT" sz="2400" baseline="-25000"/>
                <a:t>3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2400" baseline="-25000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0	0	1	 0	  0    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0	1	0	 1	  0    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1	0	0	 0	  1    0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/>
                <a:t>1	1	0	 0	  0    1</a:t>
              </a:r>
              <a:endParaRPr lang="it-IT" altLang="it-IT" sz="2400" baseline="-25000"/>
            </a:p>
          </p:txBody>
        </p:sp>
        <p:sp>
          <p:nvSpPr>
            <p:cNvPr id="51268" name="Line 6">
              <a:extLst>
                <a:ext uri="{FF2B5EF4-FFF2-40B4-BE49-F238E27FC236}">
                  <a16:creationId xmlns:a16="http://schemas.microsoft.com/office/drawing/2014/main" id="{4B81F5EB-23B4-A96A-B92A-CBFFF5EFFD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" y="1723"/>
              <a:ext cx="16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69" name="Line 7">
              <a:extLst>
                <a:ext uri="{FF2B5EF4-FFF2-40B4-BE49-F238E27FC236}">
                  <a16:creationId xmlns:a16="http://schemas.microsoft.com/office/drawing/2014/main" id="{60A00597-FAC3-20B1-5351-EB8F6ABC3E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344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0" name="Line 8">
              <a:extLst>
                <a:ext uri="{FF2B5EF4-FFF2-40B4-BE49-F238E27FC236}">
                  <a16:creationId xmlns:a16="http://schemas.microsoft.com/office/drawing/2014/main" id="{4BA5A3A9-BA0B-47A1-D430-BF8CA0E0A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1353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1" name="Line 9">
              <a:extLst>
                <a:ext uri="{FF2B5EF4-FFF2-40B4-BE49-F238E27FC236}">
                  <a16:creationId xmlns:a16="http://schemas.microsoft.com/office/drawing/2014/main" id="{C975E821-7328-7920-7644-DAFBCD5057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352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272" name="Line 10">
              <a:extLst>
                <a:ext uri="{FF2B5EF4-FFF2-40B4-BE49-F238E27FC236}">
                  <a16:creationId xmlns:a16="http://schemas.microsoft.com/office/drawing/2014/main" id="{4532F699-F970-98EF-F2C2-396261293E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1344"/>
              <a:ext cx="0" cy="1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1204" name="Group 73">
            <a:extLst>
              <a:ext uri="{FF2B5EF4-FFF2-40B4-BE49-F238E27FC236}">
                <a16:creationId xmlns:a16="http://schemas.microsoft.com/office/drawing/2014/main" id="{2A5F1166-7740-A405-464A-B497BB94732C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243138"/>
            <a:ext cx="5353050" cy="4225925"/>
            <a:chOff x="2868" y="1248"/>
            <a:chExt cx="3372" cy="2662"/>
          </a:xfrm>
        </p:grpSpPr>
        <p:grpSp>
          <p:nvGrpSpPr>
            <p:cNvPr id="51210" name="Group 13">
              <a:extLst>
                <a:ext uri="{FF2B5EF4-FFF2-40B4-BE49-F238E27FC236}">
                  <a16:creationId xmlns:a16="http://schemas.microsoft.com/office/drawing/2014/main" id="{29CFAD97-8DDF-7E8A-EB61-9281297262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8" y="1391"/>
              <a:ext cx="2436" cy="2519"/>
              <a:chOff x="55" y="1609"/>
              <a:chExt cx="2249" cy="2519"/>
            </a:xfrm>
          </p:grpSpPr>
          <p:grpSp>
            <p:nvGrpSpPr>
              <p:cNvPr id="51224" name="Group 14">
                <a:extLst>
                  <a:ext uri="{FF2B5EF4-FFF2-40B4-BE49-F238E27FC236}">
                    <a16:creationId xmlns:a16="http://schemas.microsoft.com/office/drawing/2014/main" id="{FDEAE21D-8DD6-843E-03EC-9F9FC9A9F0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6" y="3641"/>
                <a:ext cx="876" cy="202"/>
                <a:chOff x="276" y="3641"/>
                <a:chExt cx="876" cy="202"/>
              </a:xfrm>
            </p:grpSpPr>
            <p:sp>
              <p:nvSpPr>
                <p:cNvPr id="51259" name="Freeform 15">
                  <a:extLst>
                    <a:ext uri="{FF2B5EF4-FFF2-40B4-BE49-F238E27FC236}">
                      <a16:creationId xmlns:a16="http://schemas.microsoft.com/office/drawing/2014/main" id="{7A0D972B-B53C-AD9A-2EE9-3926B4FE8CED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79" y="3641"/>
                  <a:ext cx="199" cy="202"/>
                </a:xfrm>
                <a:custGeom>
                  <a:avLst/>
                  <a:gdLst>
                    <a:gd name="T0" fmla="*/ 18434 w 144"/>
                    <a:gd name="T1" fmla="*/ 9383 h 146"/>
                    <a:gd name="T2" fmla="*/ 0 w 144"/>
                    <a:gd name="T3" fmla="*/ 0 h 146"/>
                    <a:gd name="T4" fmla="*/ 0 w 144"/>
                    <a:gd name="T5" fmla="*/ 18981 h 146"/>
                    <a:gd name="T6" fmla="*/ 18434 w 144"/>
                    <a:gd name="T7" fmla="*/ 9383 h 1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4"/>
                    <a:gd name="T13" fmla="*/ 0 h 146"/>
                    <a:gd name="T14" fmla="*/ 144 w 144"/>
                    <a:gd name="T15" fmla="*/ 146 h 1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4" h="146">
                      <a:moveTo>
                        <a:pt x="144" y="72"/>
                      </a:moveTo>
                      <a:lnTo>
                        <a:pt x="0" y="0"/>
                      </a:lnTo>
                      <a:lnTo>
                        <a:pt x="0" y="146"/>
                      </a:lnTo>
                      <a:lnTo>
                        <a:pt x="144" y="7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60" name="Line 16">
                  <a:extLst>
                    <a:ext uri="{FF2B5EF4-FFF2-40B4-BE49-F238E27FC236}">
                      <a16:creationId xmlns:a16="http://schemas.microsoft.com/office/drawing/2014/main" id="{0F15A233-F2D0-8A2D-A832-4E8FE7C2C6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" y="3741"/>
                  <a:ext cx="1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61" name="Oval 17">
                  <a:extLst>
                    <a:ext uri="{FF2B5EF4-FFF2-40B4-BE49-F238E27FC236}">
                      <a16:creationId xmlns:a16="http://schemas.microsoft.com/office/drawing/2014/main" id="{7857446B-E880-4A58-E41E-9425CE5968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1" y="3716"/>
                  <a:ext cx="49" cy="5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62" name="Line 18">
                  <a:extLst>
                    <a:ext uri="{FF2B5EF4-FFF2-40B4-BE49-F238E27FC236}">
                      <a16:creationId xmlns:a16="http://schemas.microsoft.com/office/drawing/2014/main" id="{E03398F3-E5AB-3B3E-F628-458C453A43A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32" y="3741"/>
                  <a:ext cx="12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63" name="Freeform 19">
                  <a:extLst>
                    <a:ext uri="{FF2B5EF4-FFF2-40B4-BE49-F238E27FC236}">
                      <a16:creationId xmlns:a16="http://schemas.microsoft.com/office/drawing/2014/main" id="{8D2A81F0-AF50-CA62-605F-62C071E1D5A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9" y="3641"/>
                  <a:ext cx="199" cy="202"/>
                </a:xfrm>
                <a:custGeom>
                  <a:avLst/>
                  <a:gdLst>
                    <a:gd name="T0" fmla="*/ 18434 w 144"/>
                    <a:gd name="T1" fmla="*/ 9383 h 146"/>
                    <a:gd name="T2" fmla="*/ 0 w 144"/>
                    <a:gd name="T3" fmla="*/ 0 h 146"/>
                    <a:gd name="T4" fmla="*/ 0 w 144"/>
                    <a:gd name="T5" fmla="*/ 18981 h 146"/>
                    <a:gd name="T6" fmla="*/ 18434 w 144"/>
                    <a:gd name="T7" fmla="*/ 9383 h 1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4"/>
                    <a:gd name="T13" fmla="*/ 0 h 146"/>
                    <a:gd name="T14" fmla="*/ 144 w 144"/>
                    <a:gd name="T15" fmla="*/ 146 h 1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4" h="146">
                      <a:moveTo>
                        <a:pt x="144" y="72"/>
                      </a:moveTo>
                      <a:lnTo>
                        <a:pt x="0" y="0"/>
                      </a:lnTo>
                      <a:lnTo>
                        <a:pt x="0" y="146"/>
                      </a:lnTo>
                      <a:lnTo>
                        <a:pt x="144" y="7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64" name="Line 20">
                  <a:extLst>
                    <a:ext uri="{FF2B5EF4-FFF2-40B4-BE49-F238E27FC236}">
                      <a16:creationId xmlns:a16="http://schemas.microsoft.com/office/drawing/2014/main" id="{A6600FF7-72C9-20CD-C6C2-80726A95E5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1" y="3741"/>
                  <a:ext cx="21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65" name="Line 21">
                  <a:extLst>
                    <a:ext uri="{FF2B5EF4-FFF2-40B4-BE49-F238E27FC236}">
                      <a16:creationId xmlns:a16="http://schemas.microsoft.com/office/drawing/2014/main" id="{8D8B5037-8A91-80D3-C8C5-B0A436A5CA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1" y="3741"/>
                  <a:ext cx="5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66" name="Oval 22">
                  <a:extLst>
                    <a:ext uri="{FF2B5EF4-FFF2-40B4-BE49-F238E27FC236}">
                      <a16:creationId xmlns:a16="http://schemas.microsoft.com/office/drawing/2014/main" id="{0A0B7081-C20B-5F25-577B-AC010A02E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1" y="3716"/>
                  <a:ext cx="50" cy="5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</p:grpSp>
          <p:grpSp>
            <p:nvGrpSpPr>
              <p:cNvPr id="51225" name="Group 23">
                <a:extLst>
                  <a:ext uri="{FF2B5EF4-FFF2-40B4-BE49-F238E27FC236}">
                    <a16:creationId xmlns:a16="http://schemas.microsoft.com/office/drawing/2014/main" id="{AAB5CD71-AAFF-1353-2115-D99299FCB5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1" y="1609"/>
                <a:ext cx="385" cy="333"/>
                <a:chOff x="2245" y="1306"/>
                <a:chExt cx="532" cy="494"/>
              </a:xfrm>
            </p:grpSpPr>
            <p:sp>
              <p:nvSpPr>
                <p:cNvPr id="51257" name="Freeform 24">
                  <a:extLst>
                    <a:ext uri="{FF2B5EF4-FFF2-40B4-BE49-F238E27FC236}">
                      <a16:creationId xmlns:a16="http://schemas.microsoft.com/office/drawing/2014/main" id="{25BDF355-4845-B6B0-776B-BA4168AE88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5" y="1306"/>
                  <a:ext cx="304" cy="494"/>
                </a:xfrm>
                <a:custGeom>
                  <a:avLst/>
                  <a:gdLst>
                    <a:gd name="T0" fmla="*/ 304 w 304"/>
                    <a:gd name="T1" fmla="*/ 0 h 494"/>
                    <a:gd name="T2" fmla="*/ 0 w 304"/>
                    <a:gd name="T3" fmla="*/ 0 h 494"/>
                    <a:gd name="T4" fmla="*/ 0 w 304"/>
                    <a:gd name="T5" fmla="*/ 494 h 494"/>
                    <a:gd name="T6" fmla="*/ 304 w 304"/>
                    <a:gd name="T7" fmla="*/ 492 h 4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4"/>
                    <a:gd name="T13" fmla="*/ 0 h 494"/>
                    <a:gd name="T14" fmla="*/ 304 w 304"/>
                    <a:gd name="T15" fmla="*/ 494 h 4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4" h="494">
                      <a:moveTo>
                        <a:pt x="304" y="0"/>
                      </a:moveTo>
                      <a:lnTo>
                        <a:pt x="0" y="0"/>
                      </a:lnTo>
                      <a:lnTo>
                        <a:pt x="0" y="494"/>
                      </a:lnTo>
                      <a:lnTo>
                        <a:pt x="304" y="49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58" name="Freeform 25">
                  <a:extLst>
                    <a:ext uri="{FF2B5EF4-FFF2-40B4-BE49-F238E27FC236}">
                      <a16:creationId xmlns:a16="http://schemas.microsoft.com/office/drawing/2014/main" id="{147DAD15-8197-FF59-618E-9BF9EB0176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9" y="1306"/>
                  <a:ext cx="228" cy="492"/>
                </a:xfrm>
                <a:custGeom>
                  <a:avLst/>
                  <a:gdLst>
                    <a:gd name="T0" fmla="*/ 0 w 228"/>
                    <a:gd name="T1" fmla="*/ 492 h 492"/>
                    <a:gd name="T2" fmla="*/ 54 w 228"/>
                    <a:gd name="T3" fmla="*/ 476 h 492"/>
                    <a:gd name="T4" fmla="*/ 100 w 228"/>
                    <a:gd name="T5" fmla="*/ 454 h 492"/>
                    <a:gd name="T6" fmla="*/ 120 w 228"/>
                    <a:gd name="T7" fmla="*/ 440 h 492"/>
                    <a:gd name="T8" fmla="*/ 138 w 228"/>
                    <a:gd name="T9" fmla="*/ 426 h 492"/>
                    <a:gd name="T10" fmla="*/ 172 w 228"/>
                    <a:gd name="T11" fmla="*/ 394 h 492"/>
                    <a:gd name="T12" fmla="*/ 196 w 228"/>
                    <a:gd name="T13" fmla="*/ 358 h 492"/>
                    <a:gd name="T14" fmla="*/ 206 w 228"/>
                    <a:gd name="T15" fmla="*/ 338 h 492"/>
                    <a:gd name="T16" fmla="*/ 214 w 228"/>
                    <a:gd name="T17" fmla="*/ 320 h 492"/>
                    <a:gd name="T18" fmla="*/ 224 w 228"/>
                    <a:gd name="T19" fmla="*/ 280 h 492"/>
                    <a:gd name="T20" fmla="*/ 228 w 228"/>
                    <a:gd name="T21" fmla="*/ 238 h 492"/>
                    <a:gd name="T22" fmla="*/ 224 w 228"/>
                    <a:gd name="T23" fmla="*/ 198 h 492"/>
                    <a:gd name="T24" fmla="*/ 214 w 228"/>
                    <a:gd name="T25" fmla="*/ 158 h 492"/>
                    <a:gd name="T26" fmla="*/ 196 w 228"/>
                    <a:gd name="T27" fmla="*/ 122 h 492"/>
                    <a:gd name="T28" fmla="*/ 172 w 228"/>
                    <a:gd name="T29" fmla="*/ 88 h 492"/>
                    <a:gd name="T30" fmla="*/ 156 w 228"/>
                    <a:gd name="T31" fmla="*/ 72 h 492"/>
                    <a:gd name="T32" fmla="*/ 138 w 228"/>
                    <a:gd name="T33" fmla="*/ 58 h 492"/>
                    <a:gd name="T34" fmla="*/ 130 w 228"/>
                    <a:gd name="T35" fmla="*/ 50 h 492"/>
                    <a:gd name="T36" fmla="*/ 120 w 228"/>
                    <a:gd name="T37" fmla="*/ 44 h 492"/>
                    <a:gd name="T38" fmla="*/ 100 w 228"/>
                    <a:gd name="T39" fmla="*/ 32 h 492"/>
                    <a:gd name="T40" fmla="*/ 54 w 228"/>
                    <a:gd name="T41" fmla="*/ 12 h 492"/>
                    <a:gd name="T42" fmla="*/ 0 w 228"/>
                    <a:gd name="T43" fmla="*/ 0 h 49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28"/>
                    <a:gd name="T67" fmla="*/ 0 h 492"/>
                    <a:gd name="T68" fmla="*/ 228 w 228"/>
                    <a:gd name="T69" fmla="*/ 492 h 49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28" h="492">
                      <a:moveTo>
                        <a:pt x="0" y="492"/>
                      </a:moveTo>
                      <a:lnTo>
                        <a:pt x="54" y="476"/>
                      </a:lnTo>
                      <a:lnTo>
                        <a:pt x="100" y="454"/>
                      </a:lnTo>
                      <a:lnTo>
                        <a:pt x="120" y="440"/>
                      </a:lnTo>
                      <a:lnTo>
                        <a:pt x="138" y="426"/>
                      </a:lnTo>
                      <a:lnTo>
                        <a:pt x="172" y="394"/>
                      </a:lnTo>
                      <a:lnTo>
                        <a:pt x="196" y="358"/>
                      </a:lnTo>
                      <a:lnTo>
                        <a:pt x="206" y="338"/>
                      </a:lnTo>
                      <a:lnTo>
                        <a:pt x="214" y="320"/>
                      </a:lnTo>
                      <a:lnTo>
                        <a:pt x="224" y="280"/>
                      </a:lnTo>
                      <a:lnTo>
                        <a:pt x="228" y="238"/>
                      </a:lnTo>
                      <a:lnTo>
                        <a:pt x="224" y="198"/>
                      </a:lnTo>
                      <a:lnTo>
                        <a:pt x="214" y="158"/>
                      </a:lnTo>
                      <a:lnTo>
                        <a:pt x="196" y="122"/>
                      </a:lnTo>
                      <a:lnTo>
                        <a:pt x="172" y="88"/>
                      </a:lnTo>
                      <a:lnTo>
                        <a:pt x="156" y="72"/>
                      </a:lnTo>
                      <a:lnTo>
                        <a:pt x="138" y="58"/>
                      </a:lnTo>
                      <a:lnTo>
                        <a:pt x="130" y="50"/>
                      </a:lnTo>
                      <a:lnTo>
                        <a:pt x="120" y="44"/>
                      </a:lnTo>
                      <a:lnTo>
                        <a:pt x="100" y="32"/>
                      </a:lnTo>
                      <a:lnTo>
                        <a:pt x="54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226" name="Group 26">
                <a:extLst>
                  <a:ext uri="{FF2B5EF4-FFF2-40B4-BE49-F238E27FC236}">
                    <a16:creationId xmlns:a16="http://schemas.microsoft.com/office/drawing/2014/main" id="{8F7459E6-E8D7-791A-D293-3D72519EC9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1" y="2089"/>
                <a:ext cx="385" cy="333"/>
                <a:chOff x="2245" y="1306"/>
                <a:chExt cx="532" cy="494"/>
              </a:xfrm>
            </p:grpSpPr>
            <p:sp>
              <p:nvSpPr>
                <p:cNvPr id="51255" name="Freeform 27">
                  <a:extLst>
                    <a:ext uri="{FF2B5EF4-FFF2-40B4-BE49-F238E27FC236}">
                      <a16:creationId xmlns:a16="http://schemas.microsoft.com/office/drawing/2014/main" id="{94ECDE85-E669-F460-01C3-2A6056D1AD4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5" y="1306"/>
                  <a:ext cx="304" cy="494"/>
                </a:xfrm>
                <a:custGeom>
                  <a:avLst/>
                  <a:gdLst>
                    <a:gd name="T0" fmla="*/ 304 w 304"/>
                    <a:gd name="T1" fmla="*/ 0 h 494"/>
                    <a:gd name="T2" fmla="*/ 0 w 304"/>
                    <a:gd name="T3" fmla="*/ 0 h 494"/>
                    <a:gd name="T4" fmla="*/ 0 w 304"/>
                    <a:gd name="T5" fmla="*/ 494 h 494"/>
                    <a:gd name="T6" fmla="*/ 304 w 304"/>
                    <a:gd name="T7" fmla="*/ 492 h 4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4"/>
                    <a:gd name="T13" fmla="*/ 0 h 494"/>
                    <a:gd name="T14" fmla="*/ 304 w 304"/>
                    <a:gd name="T15" fmla="*/ 494 h 4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4" h="494">
                      <a:moveTo>
                        <a:pt x="304" y="0"/>
                      </a:moveTo>
                      <a:lnTo>
                        <a:pt x="0" y="0"/>
                      </a:lnTo>
                      <a:lnTo>
                        <a:pt x="0" y="494"/>
                      </a:lnTo>
                      <a:lnTo>
                        <a:pt x="304" y="49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56" name="Freeform 28">
                  <a:extLst>
                    <a:ext uri="{FF2B5EF4-FFF2-40B4-BE49-F238E27FC236}">
                      <a16:creationId xmlns:a16="http://schemas.microsoft.com/office/drawing/2014/main" id="{02339492-A4E9-77A2-6F22-5A1CE19797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9" y="1306"/>
                  <a:ext cx="228" cy="492"/>
                </a:xfrm>
                <a:custGeom>
                  <a:avLst/>
                  <a:gdLst>
                    <a:gd name="T0" fmla="*/ 0 w 228"/>
                    <a:gd name="T1" fmla="*/ 492 h 492"/>
                    <a:gd name="T2" fmla="*/ 54 w 228"/>
                    <a:gd name="T3" fmla="*/ 476 h 492"/>
                    <a:gd name="T4" fmla="*/ 100 w 228"/>
                    <a:gd name="T5" fmla="*/ 454 h 492"/>
                    <a:gd name="T6" fmla="*/ 120 w 228"/>
                    <a:gd name="T7" fmla="*/ 440 h 492"/>
                    <a:gd name="T8" fmla="*/ 138 w 228"/>
                    <a:gd name="T9" fmla="*/ 426 h 492"/>
                    <a:gd name="T10" fmla="*/ 172 w 228"/>
                    <a:gd name="T11" fmla="*/ 394 h 492"/>
                    <a:gd name="T12" fmla="*/ 196 w 228"/>
                    <a:gd name="T13" fmla="*/ 358 h 492"/>
                    <a:gd name="T14" fmla="*/ 206 w 228"/>
                    <a:gd name="T15" fmla="*/ 338 h 492"/>
                    <a:gd name="T16" fmla="*/ 214 w 228"/>
                    <a:gd name="T17" fmla="*/ 320 h 492"/>
                    <a:gd name="T18" fmla="*/ 224 w 228"/>
                    <a:gd name="T19" fmla="*/ 280 h 492"/>
                    <a:gd name="T20" fmla="*/ 228 w 228"/>
                    <a:gd name="T21" fmla="*/ 238 h 492"/>
                    <a:gd name="T22" fmla="*/ 224 w 228"/>
                    <a:gd name="T23" fmla="*/ 198 h 492"/>
                    <a:gd name="T24" fmla="*/ 214 w 228"/>
                    <a:gd name="T25" fmla="*/ 158 h 492"/>
                    <a:gd name="T26" fmla="*/ 196 w 228"/>
                    <a:gd name="T27" fmla="*/ 122 h 492"/>
                    <a:gd name="T28" fmla="*/ 172 w 228"/>
                    <a:gd name="T29" fmla="*/ 88 h 492"/>
                    <a:gd name="T30" fmla="*/ 156 w 228"/>
                    <a:gd name="T31" fmla="*/ 72 h 492"/>
                    <a:gd name="T32" fmla="*/ 138 w 228"/>
                    <a:gd name="T33" fmla="*/ 58 h 492"/>
                    <a:gd name="T34" fmla="*/ 130 w 228"/>
                    <a:gd name="T35" fmla="*/ 50 h 492"/>
                    <a:gd name="T36" fmla="*/ 120 w 228"/>
                    <a:gd name="T37" fmla="*/ 44 h 492"/>
                    <a:gd name="T38" fmla="*/ 100 w 228"/>
                    <a:gd name="T39" fmla="*/ 32 h 492"/>
                    <a:gd name="T40" fmla="*/ 54 w 228"/>
                    <a:gd name="T41" fmla="*/ 12 h 492"/>
                    <a:gd name="T42" fmla="*/ 0 w 228"/>
                    <a:gd name="T43" fmla="*/ 0 h 49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28"/>
                    <a:gd name="T67" fmla="*/ 0 h 492"/>
                    <a:gd name="T68" fmla="*/ 228 w 228"/>
                    <a:gd name="T69" fmla="*/ 492 h 49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28" h="492">
                      <a:moveTo>
                        <a:pt x="0" y="492"/>
                      </a:moveTo>
                      <a:lnTo>
                        <a:pt x="54" y="476"/>
                      </a:lnTo>
                      <a:lnTo>
                        <a:pt x="100" y="454"/>
                      </a:lnTo>
                      <a:lnTo>
                        <a:pt x="120" y="440"/>
                      </a:lnTo>
                      <a:lnTo>
                        <a:pt x="138" y="426"/>
                      </a:lnTo>
                      <a:lnTo>
                        <a:pt x="172" y="394"/>
                      </a:lnTo>
                      <a:lnTo>
                        <a:pt x="196" y="358"/>
                      </a:lnTo>
                      <a:lnTo>
                        <a:pt x="206" y="338"/>
                      </a:lnTo>
                      <a:lnTo>
                        <a:pt x="214" y="320"/>
                      </a:lnTo>
                      <a:lnTo>
                        <a:pt x="224" y="280"/>
                      </a:lnTo>
                      <a:lnTo>
                        <a:pt x="228" y="238"/>
                      </a:lnTo>
                      <a:lnTo>
                        <a:pt x="224" y="198"/>
                      </a:lnTo>
                      <a:lnTo>
                        <a:pt x="214" y="158"/>
                      </a:lnTo>
                      <a:lnTo>
                        <a:pt x="196" y="122"/>
                      </a:lnTo>
                      <a:lnTo>
                        <a:pt x="172" y="88"/>
                      </a:lnTo>
                      <a:lnTo>
                        <a:pt x="156" y="72"/>
                      </a:lnTo>
                      <a:lnTo>
                        <a:pt x="138" y="58"/>
                      </a:lnTo>
                      <a:lnTo>
                        <a:pt x="130" y="50"/>
                      </a:lnTo>
                      <a:lnTo>
                        <a:pt x="120" y="44"/>
                      </a:lnTo>
                      <a:lnTo>
                        <a:pt x="100" y="32"/>
                      </a:lnTo>
                      <a:lnTo>
                        <a:pt x="54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227" name="Group 29">
                <a:extLst>
                  <a:ext uri="{FF2B5EF4-FFF2-40B4-BE49-F238E27FC236}">
                    <a16:creationId xmlns:a16="http://schemas.microsoft.com/office/drawing/2014/main" id="{B01F4DFF-AFFE-201C-79D2-924CC4EF944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1" y="2607"/>
                <a:ext cx="385" cy="332"/>
                <a:chOff x="2245" y="1306"/>
                <a:chExt cx="532" cy="494"/>
              </a:xfrm>
            </p:grpSpPr>
            <p:sp>
              <p:nvSpPr>
                <p:cNvPr id="51253" name="Freeform 30">
                  <a:extLst>
                    <a:ext uri="{FF2B5EF4-FFF2-40B4-BE49-F238E27FC236}">
                      <a16:creationId xmlns:a16="http://schemas.microsoft.com/office/drawing/2014/main" id="{45675661-19CA-6E5A-FF4A-51E5416BBC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5" y="1306"/>
                  <a:ext cx="304" cy="494"/>
                </a:xfrm>
                <a:custGeom>
                  <a:avLst/>
                  <a:gdLst>
                    <a:gd name="T0" fmla="*/ 304 w 304"/>
                    <a:gd name="T1" fmla="*/ 0 h 494"/>
                    <a:gd name="T2" fmla="*/ 0 w 304"/>
                    <a:gd name="T3" fmla="*/ 0 h 494"/>
                    <a:gd name="T4" fmla="*/ 0 w 304"/>
                    <a:gd name="T5" fmla="*/ 494 h 494"/>
                    <a:gd name="T6" fmla="*/ 304 w 304"/>
                    <a:gd name="T7" fmla="*/ 492 h 4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4"/>
                    <a:gd name="T13" fmla="*/ 0 h 494"/>
                    <a:gd name="T14" fmla="*/ 304 w 304"/>
                    <a:gd name="T15" fmla="*/ 494 h 4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4" h="494">
                      <a:moveTo>
                        <a:pt x="304" y="0"/>
                      </a:moveTo>
                      <a:lnTo>
                        <a:pt x="0" y="0"/>
                      </a:lnTo>
                      <a:lnTo>
                        <a:pt x="0" y="494"/>
                      </a:lnTo>
                      <a:lnTo>
                        <a:pt x="304" y="49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54" name="Freeform 31">
                  <a:extLst>
                    <a:ext uri="{FF2B5EF4-FFF2-40B4-BE49-F238E27FC236}">
                      <a16:creationId xmlns:a16="http://schemas.microsoft.com/office/drawing/2014/main" id="{A7DBF82A-AB83-E5EC-2248-7E3ECB89B7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9" y="1306"/>
                  <a:ext cx="228" cy="492"/>
                </a:xfrm>
                <a:custGeom>
                  <a:avLst/>
                  <a:gdLst>
                    <a:gd name="T0" fmla="*/ 0 w 228"/>
                    <a:gd name="T1" fmla="*/ 492 h 492"/>
                    <a:gd name="T2" fmla="*/ 54 w 228"/>
                    <a:gd name="T3" fmla="*/ 476 h 492"/>
                    <a:gd name="T4" fmla="*/ 100 w 228"/>
                    <a:gd name="T5" fmla="*/ 454 h 492"/>
                    <a:gd name="T6" fmla="*/ 120 w 228"/>
                    <a:gd name="T7" fmla="*/ 440 h 492"/>
                    <a:gd name="T8" fmla="*/ 138 w 228"/>
                    <a:gd name="T9" fmla="*/ 426 h 492"/>
                    <a:gd name="T10" fmla="*/ 172 w 228"/>
                    <a:gd name="T11" fmla="*/ 394 h 492"/>
                    <a:gd name="T12" fmla="*/ 196 w 228"/>
                    <a:gd name="T13" fmla="*/ 358 h 492"/>
                    <a:gd name="T14" fmla="*/ 206 w 228"/>
                    <a:gd name="T15" fmla="*/ 338 h 492"/>
                    <a:gd name="T16" fmla="*/ 214 w 228"/>
                    <a:gd name="T17" fmla="*/ 320 h 492"/>
                    <a:gd name="T18" fmla="*/ 224 w 228"/>
                    <a:gd name="T19" fmla="*/ 280 h 492"/>
                    <a:gd name="T20" fmla="*/ 228 w 228"/>
                    <a:gd name="T21" fmla="*/ 238 h 492"/>
                    <a:gd name="T22" fmla="*/ 224 w 228"/>
                    <a:gd name="T23" fmla="*/ 198 h 492"/>
                    <a:gd name="T24" fmla="*/ 214 w 228"/>
                    <a:gd name="T25" fmla="*/ 158 h 492"/>
                    <a:gd name="T26" fmla="*/ 196 w 228"/>
                    <a:gd name="T27" fmla="*/ 122 h 492"/>
                    <a:gd name="T28" fmla="*/ 172 w 228"/>
                    <a:gd name="T29" fmla="*/ 88 h 492"/>
                    <a:gd name="T30" fmla="*/ 156 w 228"/>
                    <a:gd name="T31" fmla="*/ 72 h 492"/>
                    <a:gd name="T32" fmla="*/ 138 w 228"/>
                    <a:gd name="T33" fmla="*/ 58 h 492"/>
                    <a:gd name="T34" fmla="*/ 130 w 228"/>
                    <a:gd name="T35" fmla="*/ 50 h 492"/>
                    <a:gd name="T36" fmla="*/ 120 w 228"/>
                    <a:gd name="T37" fmla="*/ 44 h 492"/>
                    <a:gd name="T38" fmla="*/ 100 w 228"/>
                    <a:gd name="T39" fmla="*/ 32 h 492"/>
                    <a:gd name="T40" fmla="*/ 54 w 228"/>
                    <a:gd name="T41" fmla="*/ 12 h 492"/>
                    <a:gd name="T42" fmla="*/ 0 w 228"/>
                    <a:gd name="T43" fmla="*/ 0 h 49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28"/>
                    <a:gd name="T67" fmla="*/ 0 h 492"/>
                    <a:gd name="T68" fmla="*/ 228 w 228"/>
                    <a:gd name="T69" fmla="*/ 492 h 49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28" h="492">
                      <a:moveTo>
                        <a:pt x="0" y="492"/>
                      </a:moveTo>
                      <a:lnTo>
                        <a:pt x="54" y="476"/>
                      </a:lnTo>
                      <a:lnTo>
                        <a:pt x="100" y="454"/>
                      </a:lnTo>
                      <a:lnTo>
                        <a:pt x="120" y="440"/>
                      </a:lnTo>
                      <a:lnTo>
                        <a:pt x="138" y="426"/>
                      </a:lnTo>
                      <a:lnTo>
                        <a:pt x="172" y="394"/>
                      </a:lnTo>
                      <a:lnTo>
                        <a:pt x="196" y="358"/>
                      </a:lnTo>
                      <a:lnTo>
                        <a:pt x="206" y="338"/>
                      </a:lnTo>
                      <a:lnTo>
                        <a:pt x="214" y="320"/>
                      </a:lnTo>
                      <a:lnTo>
                        <a:pt x="224" y="280"/>
                      </a:lnTo>
                      <a:lnTo>
                        <a:pt x="228" y="238"/>
                      </a:lnTo>
                      <a:lnTo>
                        <a:pt x="224" y="198"/>
                      </a:lnTo>
                      <a:lnTo>
                        <a:pt x="214" y="158"/>
                      </a:lnTo>
                      <a:lnTo>
                        <a:pt x="196" y="122"/>
                      </a:lnTo>
                      <a:lnTo>
                        <a:pt x="172" y="88"/>
                      </a:lnTo>
                      <a:lnTo>
                        <a:pt x="156" y="72"/>
                      </a:lnTo>
                      <a:lnTo>
                        <a:pt x="138" y="58"/>
                      </a:lnTo>
                      <a:lnTo>
                        <a:pt x="130" y="50"/>
                      </a:lnTo>
                      <a:lnTo>
                        <a:pt x="120" y="44"/>
                      </a:lnTo>
                      <a:lnTo>
                        <a:pt x="100" y="32"/>
                      </a:lnTo>
                      <a:lnTo>
                        <a:pt x="54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228" name="Group 32">
                <a:extLst>
                  <a:ext uri="{FF2B5EF4-FFF2-40B4-BE49-F238E27FC236}">
                    <a16:creationId xmlns:a16="http://schemas.microsoft.com/office/drawing/2014/main" id="{5A45CBAB-A04E-36A1-351E-BA5B6E71BF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91" y="3087"/>
                <a:ext cx="385" cy="332"/>
                <a:chOff x="2245" y="1306"/>
                <a:chExt cx="532" cy="494"/>
              </a:xfrm>
            </p:grpSpPr>
            <p:sp>
              <p:nvSpPr>
                <p:cNvPr id="51251" name="Freeform 33">
                  <a:extLst>
                    <a:ext uri="{FF2B5EF4-FFF2-40B4-BE49-F238E27FC236}">
                      <a16:creationId xmlns:a16="http://schemas.microsoft.com/office/drawing/2014/main" id="{0039F84D-498C-0E84-B959-39DD04CE1F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5" y="1306"/>
                  <a:ext cx="304" cy="494"/>
                </a:xfrm>
                <a:custGeom>
                  <a:avLst/>
                  <a:gdLst>
                    <a:gd name="T0" fmla="*/ 304 w 304"/>
                    <a:gd name="T1" fmla="*/ 0 h 494"/>
                    <a:gd name="T2" fmla="*/ 0 w 304"/>
                    <a:gd name="T3" fmla="*/ 0 h 494"/>
                    <a:gd name="T4" fmla="*/ 0 w 304"/>
                    <a:gd name="T5" fmla="*/ 494 h 494"/>
                    <a:gd name="T6" fmla="*/ 304 w 304"/>
                    <a:gd name="T7" fmla="*/ 492 h 49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04"/>
                    <a:gd name="T13" fmla="*/ 0 h 494"/>
                    <a:gd name="T14" fmla="*/ 304 w 304"/>
                    <a:gd name="T15" fmla="*/ 494 h 49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04" h="494">
                      <a:moveTo>
                        <a:pt x="304" y="0"/>
                      </a:moveTo>
                      <a:lnTo>
                        <a:pt x="0" y="0"/>
                      </a:lnTo>
                      <a:lnTo>
                        <a:pt x="0" y="494"/>
                      </a:lnTo>
                      <a:lnTo>
                        <a:pt x="304" y="49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52" name="Freeform 34">
                  <a:extLst>
                    <a:ext uri="{FF2B5EF4-FFF2-40B4-BE49-F238E27FC236}">
                      <a16:creationId xmlns:a16="http://schemas.microsoft.com/office/drawing/2014/main" id="{FD1F6ED7-F0BE-490A-6BBA-E3BA64F29E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9" y="1306"/>
                  <a:ext cx="228" cy="492"/>
                </a:xfrm>
                <a:custGeom>
                  <a:avLst/>
                  <a:gdLst>
                    <a:gd name="T0" fmla="*/ 0 w 228"/>
                    <a:gd name="T1" fmla="*/ 492 h 492"/>
                    <a:gd name="T2" fmla="*/ 54 w 228"/>
                    <a:gd name="T3" fmla="*/ 476 h 492"/>
                    <a:gd name="T4" fmla="*/ 100 w 228"/>
                    <a:gd name="T5" fmla="*/ 454 h 492"/>
                    <a:gd name="T6" fmla="*/ 120 w 228"/>
                    <a:gd name="T7" fmla="*/ 440 h 492"/>
                    <a:gd name="T8" fmla="*/ 138 w 228"/>
                    <a:gd name="T9" fmla="*/ 426 h 492"/>
                    <a:gd name="T10" fmla="*/ 172 w 228"/>
                    <a:gd name="T11" fmla="*/ 394 h 492"/>
                    <a:gd name="T12" fmla="*/ 196 w 228"/>
                    <a:gd name="T13" fmla="*/ 358 h 492"/>
                    <a:gd name="T14" fmla="*/ 206 w 228"/>
                    <a:gd name="T15" fmla="*/ 338 h 492"/>
                    <a:gd name="T16" fmla="*/ 214 w 228"/>
                    <a:gd name="T17" fmla="*/ 320 h 492"/>
                    <a:gd name="T18" fmla="*/ 224 w 228"/>
                    <a:gd name="T19" fmla="*/ 280 h 492"/>
                    <a:gd name="T20" fmla="*/ 228 w 228"/>
                    <a:gd name="T21" fmla="*/ 238 h 492"/>
                    <a:gd name="T22" fmla="*/ 224 w 228"/>
                    <a:gd name="T23" fmla="*/ 198 h 492"/>
                    <a:gd name="T24" fmla="*/ 214 w 228"/>
                    <a:gd name="T25" fmla="*/ 158 h 492"/>
                    <a:gd name="T26" fmla="*/ 196 w 228"/>
                    <a:gd name="T27" fmla="*/ 122 h 492"/>
                    <a:gd name="T28" fmla="*/ 172 w 228"/>
                    <a:gd name="T29" fmla="*/ 88 h 492"/>
                    <a:gd name="T30" fmla="*/ 156 w 228"/>
                    <a:gd name="T31" fmla="*/ 72 h 492"/>
                    <a:gd name="T32" fmla="*/ 138 w 228"/>
                    <a:gd name="T33" fmla="*/ 58 h 492"/>
                    <a:gd name="T34" fmla="*/ 130 w 228"/>
                    <a:gd name="T35" fmla="*/ 50 h 492"/>
                    <a:gd name="T36" fmla="*/ 120 w 228"/>
                    <a:gd name="T37" fmla="*/ 44 h 492"/>
                    <a:gd name="T38" fmla="*/ 100 w 228"/>
                    <a:gd name="T39" fmla="*/ 32 h 492"/>
                    <a:gd name="T40" fmla="*/ 54 w 228"/>
                    <a:gd name="T41" fmla="*/ 12 h 492"/>
                    <a:gd name="T42" fmla="*/ 0 w 228"/>
                    <a:gd name="T43" fmla="*/ 0 h 492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228"/>
                    <a:gd name="T67" fmla="*/ 0 h 492"/>
                    <a:gd name="T68" fmla="*/ 228 w 228"/>
                    <a:gd name="T69" fmla="*/ 492 h 492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228" h="492">
                      <a:moveTo>
                        <a:pt x="0" y="492"/>
                      </a:moveTo>
                      <a:lnTo>
                        <a:pt x="54" y="476"/>
                      </a:lnTo>
                      <a:lnTo>
                        <a:pt x="100" y="454"/>
                      </a:lnTo>
                      <a:lnTo>
                        <a:pt x="120" y="440"/>
                      </a:lnTo>
                      <a:lnTo>
                        <a:pt x="138" y="426"/>
                      </a:lnTo>
                      <a:lnTo>
                        <a:pt x="172" y="394"/>
                      </a:lnTo>
                      <a:lnTo>
                        <a:pt x="196" y="358"/>
                      </a:lnTo>
                      <a:lnTo>
                        <a:pt x="206" y="338"/>
                      </a:lnTo>
                      <a:lnTo>
                        <a:pt x="214" y="320"/>
                      </a:lnTo>
                      <a:lnTo>
                        <a:pt x="224" y="280"/>
                      </a:lnTo>
                      <a:lnTo>
                        <a:pt x="228" y="238"/>
                      </a:lnTo>
                      <a:lnTo>
                        <a:pt x="224" y="198"/>
                      </a:lnTo>
                      <a:lnTo>
                        <a:pt x="214" y="158"/>
                      </a:lnTo>
                      <a:lnTo>
                        <a:pt x="196" y="122"/>
                      </a:lnTo>
                      <a:lnTo>
                        <a:pt x="172" y="88"/>
                      </a:lnTo>
                      <a:lnTo>
                        <a:pt x="156" y="72"/>
                      </a:lnTo>
                      <a:lnTo>
                        <a:pt x="138" y="58"/>
                      </a:lnTo>
                      <a:lnTo>
                        <a:pt x="130" y="50"/>
                      </a:lnTo>
                      <a:lnTo>
                        <a:pt x="120" y="44"/>
                      </a:lnTo>
                      <a:lnTo>
                        <a:pt x="100" y="32"/>
                      </a:lnTo>
                      <a:lnTo>
                        <a:pt x="54" y="1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51229" name="Text Box 35">
                <a:extLst>
                  <a:ext uri="{FF2B5EF4-FFF2-40B4-BE49-F238E27FC236}">
                    <a16:creationId xmlns:a16="http://schemas.microsoft.com/office/drawing/2014/main" id="{61BC1819-9613-65EA-47C2-0357FB42C5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" y="3610"/>
                <a:ext cx="270" cy="5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A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B </a:t>
                </a:r>
              </a:p>
            </p:txBody>
          </p:sp>
          <p:sp>
            <p:nvSpPr>
              <p:cNvPr id="51230" name="Line 36">
                <a:extLst>
                  <a:ext uri="{FF2B5EF4-FFF2-40B4-BE49-F238E27FC236}">
                    <a16:creationId xmlns:a16="http://schemas.microsoft.com/office/drawing/2014/main" id="{BDD086B4-B24D-12E8-4C12-21E3E8C305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1776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1" name="Line 37">
                <a:extLst>
                  <a:ext uri="{FF2B5EF4-FFF2-40B4-BE49-F238E27FC236}">
                    <a16:creationId xmlns:a16="http://schemas.microsoft.com/office/drawing/2014/main" id="{AEEEC350-B40B-75E7-FF70-0689212C4B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56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2" name="Line 38">
                <a:extLst>
                  <a:ext uri="{FF2B5EF4-FFF2-40B4-BE49-F238E27FC236}">
                    <a16:creationId xmlns:a16="http://schemas.microsoft.com/office/drawing/2014/main" id="{C9AE5C68-A8CA-8A18-899D-59FC53998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784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3" name="Line 39">
                <a:extLst>
                  <a:ext uri="{FF2B5EF4-FFF2-40B4-BE49-F238E27FC236}">
                    <a16:creationId xmlns:a16="http://schemas.microsoft.com/office/drawing/2014/main" id="{E322480C-A228-A09B-11AE-D1F4CDD820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3264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51234" name="Group 40">
                <a:extLst>
                  <a:ext uri="{FF2B5EF4-FFF2-40B4-BE49-F238E27FC236}">
                    <a16:creationId xmlns:a16="http://schemas.microsoft.com/office/drawing/2014/main" id="{6877A0C7-5770-6367-03CE-BFEFC232BD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1" y="3888"/>
                <a:ext cx="876" cy="202"/>
                <a:chOff x="276" y="3641"/>
                <a:chExt cx="876" cy="202"/>
              </a:xfrm>
            </p:grpSpPr>
            <p:sp>
              <p:nvSpPr>
                <p:cNvPr id="51243" name="Freeform 41">
                  <a:extLst>
                    <a:ext uri="{FF2B5EF4-FFF2-40B4-BE49-F238E27FC236}">
                      <a16:creationId xmlns:a16="http://schemas.microsoft.com/office/drawing/2014/main" id="{174EDA42-047B-1F62-4281-1BC4A85C7D5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379" y="3641"/>
                  <a:ext cx="199" cy="202"/>
                </a:xfrm>
                <a:custGeom>
                  <a:avLst/>
                  <a:gdLst>
                    <a:gd name="T0" fmla="*/ 18434 w 144"/>
                    <a:gd name="T1" fmla="*/ 9383 h 146"/>
                    <a:gd name="T2" fmla="*/ 0 w 144"/>
                    <a:gd name="T3" fmla="*/ 0 h 146"/>
                    <a:gd name="T4" fmla="*/ 0 w 144"/>
                    <a:gd name="T5" fmla="*/ 18981 h 146"/>
                    <a:gd name="T6" fmla="*/ 18434 w 144"/>
                    <a:gd name="T7" fmla="*/ 9383 h 1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4"/>
                    <a:gd name="T13" fmla="*/ 0 h 146"/>
                    <a:gd name="T14" fmla="*/ 144 w 144"/>
                    <a:gd name="T15" fmla="*/ 146 h 1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4" h="146">
                      <a:moveTo>
                        <a:pt x="144" y="72"/>
                      </a:moveTo>
                      <a:lnTo>
                        <a:pt x="0" y="0"/>
                      </a:lnTo>
                      <a:lnTo>
                        <a:pt x="0" y="146"/>
                      </a:lnTo>
                      <a:lnTo>
                        <a:pt x="144" y="7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44" name="Line 42">
                  <a:extLst>
                    <a:ext uri="{FF2B5EF4-FFF2-40B4-BE49-F238E27FC236}">
                      <a16:creationId xmlns:a16="http://schemas.microsoft.com/office/drawing/2014/main" id="{D58141EF-1580-6330-359C-CAFBDF7446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6" y="3741"/>
                  <a:ext cx="10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45" name="Oval 43">
                  <a:extLst>
                    <a:ext uri="{FF2B5EF4-FFF2-40B4-BE49-F238E27FC236}">
                      <a16:creationId xmlns:a16="http://schemas.microsoft.com/office/drawing/2014/main" id="{830F4C35-275D-B01D-DA4A-A8D816A684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1" y="3716"/>
                  <a:ext cx="49" cy="5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46" name="Line 44">
                  <a:extLst>
                    <a:ext uri="{FF2B5EF4-FFF2-40B4-BE49-F238E27FC236}">
                      <a16:creationId xmlns:a16="http://schemas.microsoft.com/office/drawing/2014/main" id="{57CDDBD6-6660-807D-0FED-9BD45ADD4E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32" y="3741"/>
                  <a:ext cx="12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47" name="Freeform 45">
                  <a:extLst>
                    <a:ext uri="{FF2B5EF4-FFF2-40B4-BE49-F238E27FC236}">
                      <a16:creationId xmlns:a16="http://schemas.microsoft.com/office/drawing/2014/main" id="{18B0DCB6-C818-F760-FC5C-43A3536B6B97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>
                  <a:off x="849" y="3641"/>
                  <a:ext cx="199" cy="202"/>
                </a:xfrm>
                <a:custGeom>
                  <a:avLst/>
                  <a:gdLst>
                    <a:gd name="T0" fmla="*/ 18434 w 144"/>
                    <a:gd name="T1" fmla="*/ 9383 h 146"/>
                    <a:gd name="T2" fmla="*/ 0 w 144"/>
                    <a:gd name="T3" fmla="*/ 0 h 146"/>
                    <a:gd name="T4" fmla="*/ 0 w 144"/>
                    <a:gd name="T5" fmla="*/ 18981 h 146"/>
                    <a:gd name="T6" fmla="*/ 18434 w 144"/>
                    <a:gd name="T7" fmla="*/ 9383 h 1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4"/>
                    <a:gd name="T13" fmla="*/ 0 h 146"/>
                    <a:gd name="T14" fmla="*/ 144 w 144"/>
                    <a:gd name="T15" fmla="*/ 146 h 1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4" h="146">
                      <a:moveTo>
                        <a:pt x="144" y="72"/>
                      </a:moveTo>
                      <a:lnTo>
                        <a:pt x="0" y="0"/>
                      </a:lnTo>
                      <a:lnTo>
                        <a:pt x="0" y="146"/>
                      </a:lnTo>
                      <a:lnTo>
                        <a:pt x="144" y="72"/>
                      </a:lnTo>
                    </a:path>
                  </a:pathLst>
                </a:custGeom>
                <a:solidFill>
                  <a:schemeClr val="bg1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48" name="Line 46">
                  <a:extLst>
                    <a:ext uri="{FF2B5EF4-FFF2-40B4-BE49-F238E27FC236}">
                      <a16:creationId xmlns:a16="http://schemas.microsoft.com/office/drawing/2014/main" id="{A7F4BC1A-72D6-2FB3-D857-A882F79C47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31" y="3741"/>
                  <a:ext cx="21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49" name="Line 47">
                  <a:extLst>
                    <a:ext uri="{FF2B5EF4-FFF2-40B4-BE49-F238E27FC236}">
                      <a16:creationId xmlns:a16="http://schemas.microsoft.com/office/drawing/2014/main" id="{0D6569A5-4994-0B2D-ECF1-C150A31813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1" y="3741"/>
                  <a:ext cx="51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250" name="Oval 48">
                  <a:extLst>
                    <a:ext uri="{FF2B5EF4-FFF2-40B4-BE49-F238E27FC236}">
                      <a16:creationId xmlns:a16="http://schemas.microsoft.com/office/drawing/2014/main" id="{7389C50B-3CE7-6293-28CE-1AF9DE2E75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051" y="3716"/>
                  <a:ext cx="50" cy="5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</p:grpSp>
          <p:sp>
            <p:nvSpPr>
              <p:cNvPr id="51235" name="Freeform 49">
                <a:extLst>
                  <a:ext uri="{FF2B5EF4-FFF2-40B4-BE49-F238E27FC236}">
                    <a16:creationId xmlns:a16="http://schemas.microsoft.com/office/drawing/2014/main" id="{4AACE809-844F-F6B7-076F-4BAC50B86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1680"/>
                <a:ext cx="720" cy="2064"/>
              </a:xfrm>
              <a:custGeom>
                <a:avLst/>
                <a:gdLst>
                  <a:gd name="T0" fmla="*/ 0 w 720"/>
                  <a:gd name="T1" fmla="*/ 2064 h 2064"/>
                  <a:gd name="T2" fmla="*/ 0 w 720"/>
                  <a:gd name="T3" fmla="*/ 0 h 2064"/>
                  <a:gd name="T4" fmla="*/ 720 w 720"/>
                  <a:gd name="T5" fmla="*/ 0 h 2064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2064"/>
                  <a:gd name="T11" fmla="*/ 720 w 720"/>
                  <a:gd name="T12" fmla="*/ 2064 h 20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2064">
                    <a:moveTo>
                      <a:pt x="0" y="2064"/>
                    </a:moveTo>
                    <a:lnTo>
                      <a:pt x="0" y="0"/>
                    </a:lnTo>
                    <a:lnTo>
                      <a:pt x="72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6" name="Line 50">
                <a:extLst>
                  <a:ext uri="{FF2B5EF4-FFF2-40B4-BE49-F238E27FC236}">
                    <a16:creationId xmlns:a16="http://schemas.microsoft.com/office/drawing/2014/main" id="{C7AF70D1-47C7-8762-6EC1-BEC2FFC667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688"/>
                <a:ext cx="71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7" name="Freeform 51">
                <a:extLst>
                  <a:ext uri="{FF2B5EF4-FFF2-40B4-BE49-F238E27FC236}">
                    <a16:creationId xmlns:a16="http://schemas.microsoft.com/office/drawing/2014/main" id="{99FCCC49-B03B-25AB-D239-ECAA6C2A69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8" y="1872"/>
                <a:ext cx="623" cy="2112"/>
              </a:xfrm>
              <a:custGeom>
                <a:avLst/>
                <a:gdLst>
                  <a:gd name="T0" fmla="*/ 0 w 720"/>
                  <a:gd name="T1" fmla="*/ 2913 h 2064"/>
                  <a:gd name="T2" fmla="*/ 0 w 720"/>
                  <a:gd name="T3" fmla="*/ 0 h 2064"/>
                  <a:gd name="T4" fmla="*/ 82 w 720"/>
                  <a:gd name="T5" fmla="*/ 0 h 2064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2064"/>
                  <a:gd name="T11" fmla="*/ 720 w 720"/>
                  <a:gd name="T12" fmla="*/ 2064 h 20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2064">
                    <a:moveTo>
                      <a:pt x="0" y="2064"/>
                    </a:moveTo>
                    <a:lnTo>
                      <a:pt x="0" y="0"/>
                    </a:lnTo>
                    <a:lnTo>
                      <a:pt x="72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8" name="Freeform 52">
                <a:extLst>
                  <a:ext uri="{FF2B5EF4-FFF2-40B4-BE49-F238E27FC236}">
                    <a16:creationId xmlns:a16="http://schemas.microsoft.com/office/drawing/2014/main" id="{67823245-8E42-C1F2-3360-E16A8E49D7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160"/>
                <a:ext cx="240" cy="1584"/>
              </a:xfrm>
              <a:custGeom>
                <a:avLst/>
                <a:gdLst>
                  <a:gd name="T0" fmla="*/ 0 w 720"/>
                  <a:gd name="T1" fmla="*/ 39 h 2064"/>
                  <a:gd name="T2" fmla="*/ 0 w 720"/>
                  <a:gd name="T3" fmla="*/ 0 h 2064"/>
                  <a:gd name="T4" fmla="*/ 0 w 720"/>
                  <a:gd name="T5" fmla="*/ 0 h 2064"/>
                  <a:gd name="T6" fmla="*/ 0 60000 65536"/>
                  <a:gd name="T7" fmla="*/ 0 60000 65536"/>
                  <a:gd name="T8" fmla="*/ 0 60000 65536"/>
                  <a:gd name="T9" fmla="*/ 0 w 720"/>
                  <a:gd name="T10" fmla="*/ 0 h 2064"/>
                  <a:gd name="T11" fmla="*/ 720 w 720"/>
                  <a:gd name="T12" fmla="*/ 2064 h 20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0" h="2064">
                    <a:moveTo>
                      <a:pt x="0" y="2064"/>
                    </a:moveTo>
                    <a:lnTo>
                      <a:pt x="0" y="0"/>
                    </a:lnTo>
                    <a:lnTo>
                      <a:pt x="72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39" name="Freeform 53">
                <a:extLst>
                  <a:ext uri="{FF2B5EF4-FFF2-40B4-BE49-F238E27FC236}">
                    <a16:creationId xmlns:a16="http://schemas.microsoft.com/office/drawing/2014/main" id="{244651F2-2D1A-57BA-87D6-11F2F1AF8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52" y="2880"/>
                <a:ext cx="240" cy="1104"/>
              </a:xfrm>
              <a:custGeom>
                <a:avLst/>
                <a:gdLst>
                  <a:gd name="T0" fmla="*/ 0 w 240"/>
                  <a:gd name="T1" fmla="*/ 1104 h 1104"/>
                  <a:gd name="T2" fmla="*/ 96 w 240"/>
                  <a:gd name="T3" fmla="*/ 1104 h 1104"/>
                  <a:gd name="T4" fmla="*/ 96 w 240"/>
                  <a:gd name="T5" fmla="*/ 0 h 1104"/>
                  <a:gd name="T6" fmla="*/ 240 w 240"/>
                  <a:gd name="T7" fmla="*/ 0 h 110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40"/>
                  <a:gd name="T13" fmla="*/ 0 h 1104"/>
                  <a:gd name="T14" fmla="*/ 240 w 240"/>
                  <a:gd name="T15" fmla="*/ 1104 h 110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40" h="1104">
                    <a:moveTo>
                      <a:pt x="0" y="1104"/>
                    </a:moveTo>
                    <a:lnTo>
                      <a:pt x="96" y="1104"/>
                    </a:lnTo>
                    <a:lnTo>
                      <a:pt x="96" y="0"/>
                    </a:lnTo>
                    <a:lnTo>
                      <a:pt x="24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0" name="Line 54">
                <a:extLst>
                  <a:ext uri="{FF2B5EF4-FFF2-40B4-BE49-F238E27FC236}">
                    <a16:creationId xmlns:a16="http://schemas.microsoft.com/office/drawing/2014/main" id="{C789459B-DDA2-A238-67B3-F32244C6E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2304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1" name="Line 55">
                <a:extLst>
                  <a:ext uri="{FF2B5EF4-FFF2-40B4-BE49-F238E27FC236}">
                    <a16:creationId xmlns:a16="http://schemas.microsoft.com/office/drawing/2014/main" id="{64533FA0-CC84-AE5F-9B51-A9742276B2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3168"/>
                <a:ext cx="24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242" name="Line 56">
                <a:extLst>
                  <a:ext uri="{FF2B5EF4-FFF2-40B4-BE49-F238E27FC236}">
                    <a16:creationId xmlns:a16="http://schemas.microsoft.com/office/drawing/2014/main" id="{DECB46D8-2ABA-451D-4706-7B154376B6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3312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211" name="Group 72">
              <a:extLst>
                <a:ext uri="{FF2B5EF4-FFF2-40B4-BE49-F238E27FC236}">
                  <a16:creationId xmlns:a16="http://schemas.microsoft.com/office/drawing/2014/main" id="{38821A77-F279-CB3C-42F9-45760E2D90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7" y="1248"/>
              <a:ext cx="2743" cy="2544"/>
              <a:chOff x="3497" y="1248"/>
              <a:chExt cx="2743" cy="2544"/>
            </a:xfrm>
          </p:grpSpPr>
          <p:sp>
            <p:nvSpPr>
              <p:cNvPr id="51212" name="Text Box 57">
                <a:extLst>
                  <a:ext uri="{FF2B5EF4-FFF2-40B4-BE49-F238E27FC236}">
                    <a16:creationId xmlns:a16="http://schemas.microsoft.com/office/drawing/2014/main" id="{15E48A48-97A2-41E6-F6B7-CA1208A7AC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42" y="1248"/>
                <a:ext cx="1398" cy="20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U</a:t>
                </a:r>
                <a:r>
                  <a:rPr lang="it-IT" altLang="it-IT" sz="2400" baseline="-25000"/>
                  <a:t>0</a:t>
                </a:r>
                <a:r>
                  <a:rPr lang="it-IT" altLang="it-IT" sz="2400"/>
                  <a:t> = B </a:t>
                </a:r>
                <a:r>
                  <a:rPr lang="it-IT" altLang="it-IT" baseline="30000"/>
                  <a:t>.</a:t>
                </a:r>
                <a:r>
                  <a:rPr lang="it-IT" altLang="it-IT" sz="2400"/>
                  <a:t> A 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		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U</a:t>
                </a:r>
                <a:r>
                  <a:rPr lang="it-IT" altLang="it-IT" sz="2400" baseline="-25000"/>
                  <a:t>1</a:t>
                </a:r>
                <a:r>
                  <a:rPr lang="it-IT" altLang="it-IT" sz="2400"/>
                  <a:t> = B</a:t>
                </a:r>
                <a:r>
                  <a:rPr lang="it-IT" altLang="it-IT" baseline="30000"/>
                  <a:t>.</a:t>
                </a:r>
                <a:r>
                  <a:rPr lang="it-IT" altLang="it-IT" sz="2400"/>
                  <a:t> A 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		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U</a:t>
                </a:r>
                <a:r>
                  <a:rPr lang="it-IT" altLang="it-IT" sz="2400" baseline="-25000"/>
                  <a:t>2</a:t>
                </a:r>
                <a:r>
                  <a:rPr lang="it-IT" altLang="it-IT" sz="2400"/>
                  <a:t> = B </a:t>
                </a:r>
                <a:r>
                  <a:rPr lang="it-IT" altLang="it-IT" baseline="30000"/>
                  <a:t>.</a:t>
                </a:r>
                <a:r>
                  <a:rPr lang="it-IT" altLang="it-IT" sz="2400"/>
                  <a:t> A 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		</a:t>
                </a:r>
              </a:p>
              <a:p>
                <a:pPr>
                  <a:lnSpc>
                    <a:spcPct val="11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400"/>
                  <a:t>U</a:t>
                </a:r>
                <a:r>
                  <a:rPr lang="it-IT" altLang="it-IT" sz="2400" baseline="-25000"/>
                  <a:t>3</a:t>
                </a:r>
                <a:r>
                  <a:rPr lang="it-IT" altLang="it-IT" sz="2400"/>
                  <a:t> = B </a:t>
                </a:r>
                <a:r>
                  <a:rPr lang="it-IT" altLang="it-IT" baseline="30000"/>
                  <a:t>.</a:t>
                </a:r>
                <a:r>
                  <a:rPr lang="it-IT" altLang="it-IT" sz="2400"/>
                  <a:t> A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2400"/>
              </a:p>
            </p:txBody>
          </p:sp>
          <p:grpSp>
            <p:nvGrpSpPr>
              <p:cNvPr id="51213" name="Group 71">
                <a:extLst>
                  <a:ext uri="{FF2B5EF4-FFF2-40B4-BE49-F238E27FC236}">
                    <a16:creationId xmlns:a16="http://schemas.microsoft.com/office/drawing/2014/main" id="{744D909C-E586-6FC0-BA1C-F78B67A694A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7" y="1296"/>
                <a:ext cx="2227" cy="2496"/>
                <a:chOff x="3497" y="1296"/>
                <a:chExt cx="2227" cy="2496"/>
              </a:xfrm>
            </p:grpSpPr>
            <p:sp>
              <p:nvSpPr>
                <p:cNvPr id="51214" name="Oval 58">
                  <a:extLst>
                    <a:ext uri="{FF2B5EF4-FFF2-40B4-BE49-F238E27FC236}">
                      <a16:creationId xmlns:a16="http://schemas.microsoft.com/office/drawing/2014/main" id="{16FC098D-04B5-A12F-9E80-1C778FB0FD0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015" y="2928"/>
                  <a:ext cx="62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5" name="Oval 59">
                  <a:extLst>
                    <a:ext uri="{FF2B5EF4-FFF2-40B4-BE49-F238E27FC236}">
                      <a16:creationId xmlns:a16="http://schemas.microsoft.com/office/drawing/2014/main" id="{F33246D5-1F91-801A-1DE3-126AD10A12F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131" y="3072"/>
                  <a:ext cx="62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6" name="Oval 60">
                  <a:extLst>
                    <a:ext uri="{FF2B5EF4-FFF2-40B4-BE49-F238E27FC236}">
                      <a16:creationId xmlns:a16="http://schemas.microsoft.com/office/drawing/2014/main" id="{CF606E90-0EDF-96B4-9276-8D33EF6C882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515" y="3495"/>
                  <a:ext cx="61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7" name="Oval 61">
                  <a:extLst>
                    <a:ext uri="{FF2B5EF4-FFF2-40B4-BE49-F238E27FC236}">
                      <a16:creationId xmlns:a16="http://schemas.microsoft.com/office/drawing/2014/main" id="{6993CD11-FC48-B626-27AC-58BB5D33BCB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610" y="3735"/>
                  <a:ext cx="62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8" name="Oval 62">
                  <a:extLst>
                    <a:ext uri="{FF2B5EF4-FFF2-40B4-BE49-F238E27FC236}">
                      <a16:creationId xmlns:a16="http://schemas.microsoft.com/office/drawing/2014/main" id="{B7894627-30F1-E839-8F7D-EDBEB0192CF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618" y="2064"/>
                  <a:ext cx="61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19" name="Oval 63">
                  <a:extLst>
                    <a:ext uri="{FF2B5EF4-FFF2-40B4-BE49-F238E27FC236}">
                      <a16:creationId xmlns:a16="http://schemas.microsoft.com/office/drawing/2014/main" id="{72C9C513-0C9E-F29C-AD72-B089BEC3DB1F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3497" y="2439"/>
                  <a:ext cx="62" cy="57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it-IT" altLang="it-IT"/>
                </a:p>
              </p:txBody>
            </p:sp>
            <p:sp>
              <p:nvSpPr>
                <p:cNvPr id="51220" name="Line 64">
                  <a:extLst>
                    <a:ext uri="{FF2B5EF4-FFF2-40B4-BE49-F238E27FC236}">
                      <a16:creationId xmlns:a16="http://schemas.microsoft.com/office/drawing/2014/main" id="{2A3230FF-896B-4126-D0B3-55CE37A0D0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4" y="1296"/>
                  <a:ext cx="1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21" name="Line 65">
                  <a:extLst>
                    <a:ext uri="{FF2B5EF4-FFF2-40B4-BE49-F238E27FC236}">
                      <a16:creationId xmlns:a16="http://schemas.microsoft.com/office/drawing/2014/main" id="{DD83FCC0-1D69-4E60-5A2F-7BB8152666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68" y="1296"/>
                  <a:ext cx="1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22" name="Line 66">
                  <a:extLst>
                    <a:ext uri="{FF2B5EF4-FFF2-40B4-BE49-F238E27FC236}">
                      <a16:creationId xmlns:a16="http://schemas.microsoft.com/office/drawing/2014/main" id="{22F95ABC-8F77-385C-3614-25EEF4D707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04" y="1776"/>
                  <a:ext cx="1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223" name="Line 67">
                  <a:extLst>
                    <a:ext uri="{FF2B5EF4-FFF2-40B4-BE49-F238E27FC236}">
                      <a16:creationId xmlns:a16="http://schemas.microsoft.com/office/drawing/2014/main" id="{14BE6434-B44E-E515-3473-AA680B3A97D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68" y="2304"/>
                  <a:ext cx="15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51205" name="Text Box 74">
            <a:extLst>
              <a:ext uri="{FF2B5EF4-FFF2-40B4-BE49-F238E27FC236}">
                <a16:creationId xmlns:a16="http://schemas.microsoft.com/office/drawing/2014/main" id="{E3F6DA06-6D65-1A64-E15D-2008D7C50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71975"/>
            <a:ext cx="642938" cy="143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600"/>
              <a:t>1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600"/>
              <a:t>2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600"/>
              <a:t>3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600"/>
              <a:t>4</a:t>
            </a:r>
          </a:p>
        </p:txBody>
      </p:sp>
      <p:sp>
        <p:nvSpPr>
          <p:cNvPr id="51206" name="Rectangle 75">
            <a:extLst>
              <a:ext uri="{FF2B5EF4-FFF2-40B4-BE49-F238E27FC236}">
                <a16:creationId xmlns:a16="http://schemas.microsoft.com/office/drawing/2014/main" id="{11BDAD23-7DB2-5574-1DDF-87594FDBF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750" y="2014538"/>
            <a:ext cx="2670175" cy="4454525"/>
          </a:xfrm>
          <a:prstGeom prst="rect">
            <a:avLst/>
          </a:prstGeom>
          <a:noFill/>
          <a:ln w="12700" cap="rnd">
            <a:solidFill>
              <a:schemeClr val="tx1"/>
            </a:solidFill>
            <a:prstDash val="sysDot"/>
            <a:miter lim="800000"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51207" name="Text Box 76">
            <a:extLst>
              <a:ext uri="{FF2B5EF4-FFF2-40B4-BE49-F238E27FC236}">
                <a16:creationId xmlns:a16="http://schemas.microsoft.com/office/drawing/2014/main" id="{5C0085C1-A227-7249-EBEA-4A1522367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" y="1143000"/>
            <a:ext cx="9409113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200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20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20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 b="0">
                <a:latin typeface="Arial" panose="020B0604020202020204" pitchFamily="34" charset="0"/>
              </a:rPr>
              <a:t>Abbiamo un insieme sorgente di 4 elementi. Sono necessari 2 bit (A,B) per codificarlo. Nella rappresentazione decodificata servono invece 4 bit (U</a:t>
            </a:r>
            <a:r>
              <a:rPr lang="it-IT" altLang="it-IT" sz="2400" b="0" baseline="-25000">
                <a:latin typeface="Arial" panose="020B0604020202020204" pitchFamily="34" charset="0"/>
              </a:rPr>
              <a:t>0</a:t>
            </a:r>
            <a:r>
              <a:rPr lang="it-IT" altLang="it-IT" sz="2400" b="0">
                <a:latin typeface="Arial" panose="020B0604020202020204" pitchFamily="34" charset="0"/>
              </a:rPr>
              <a:t>U</a:t>
            </a:r>
            <a:r>
              <a:rPr lang="it-IT" altLang="it-IT" sz="2400" b="0" baseline="-25000">
                <a:latin typeface="Arial" panose="020B0604020202020204" pitchFamily="34" charset="0"/>
              </a:rPr>
              <a:t>1</a:t>
            </a:r>
            <a:r>
              <a:rPr lang="it-IT" altLang="it-IT" sz="2400" b="0">
                <a:latin typeface="Arial" panose="020B0604020202020204" pitchFamily="34" charset="0"/>
              </a:rPr>
              <a:t>U</a:t>
            </a:r>
            <a:r>
              <a:rPr lang="it-IT" altLang="it-IT" sz="2400" b="0" baseline="-25000">
                <a:latin typeface="Arial" panose="020B0604020202020204" pitchFamily="34" charset="0"/>
              </a:rPr>
              <a:t>2</a:t>
            </a:r>
            <a:r>
              <a:rPr lang="it-IT" altLang="it-IT" sz="2400" b="0">
                <a:latin typeface="Arial" panose="020B0604020202020204" pitchFamily="34" charset="0"/>
              </a:rPr>
              <a:t>U</a:t>
            </a:r>
            <a:r>
              <a:rPr lang="it-IT" altLang="it-IT" sz="2400" b="0" baseline="-25000">
                <a:latin typeface="Arial" panose="020B0604020202020204" pitchFamily="34" charset="0"/>
              </a:rPr>
              <a:t>3</a:t>
            </a:r>
            <a:r>
              <a:rPr lang="it-IT" altLang="it-IT" sz="2400" b="0">
                <a:latin typeface="Arial" panose="020B0604020202020204" pitchFamily="34" charset="0"/>
              </a:rPr>
              <a:t>).</a:t>
            </a:r>
          </a:p>
        </p:txBody>
      </p:sp>
      <p:sp>
        <p:nvSpPr>
          <p:cNvPr id="324685" name="Rectangle 77">
            <a:extLst>
              <a:ext uri="{FF2B5EF4-FFF2-40B4-BE49-F238E27FC236}">
                <a16:creationId xmlns:a16="http://schemas.microsoft.com/office/drawing/2014/main" id="{AAAAC2AA-A01F-3053-3001-FB1820282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014538"/>
            <a:ext cx="1517650" cy="4454525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Dot"/>
            <a:miter lim="800000"/>
            <a:headEnd type="none" w="sm" len="sm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51209" name="Segnaposto numero diapositiva 72">
            <a:extLst>
              <a:ext uri="{FF2B5EF4-FFF2-40B4-BE49-F238E27FC236}">
                <a16:creationId xmlns:a16="http://schemas.microsoft.com/office/drawing/2014/main" id="{22B80D7C-B406-E1FF-6209-CB344AD21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EE4F4D-03DD-4D02-8D00-E8AB24A56008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46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46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4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468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CA031B0B-504C-996C-C4D6-C1ECC050B2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8" y="228600"/>
            <a:ext cx="8420100" cy="6096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Il circuito integrato DECODER </a:t>
            </a:r>
          </a:p>
        </p:txBody>
      </p:sp>
      <p:grpSp>
        <p:nvGrpSpPr>
          <p:cNvPr id="53250" name="Group 4">
            <a:extLst>
              <a:ext uri="{FF2B5EF4-FFF2-40B4-BE49-F238E27FC236}">
                <a16:creationId xmlns:a16="http://schemas.microsoft.com/office/drawing/2014/main" id="{07560C97-D8B8-958E-CB50-52F4BC726C71}"/>
              </a:ext>
            </a:extLst>
          </p:cNvPr>
          <p:cNvGrpSpPr>
            <a:grpSpLocks/>
          </p:cNvGrpSpPr>
          <p:nvPr/>
        </p:nvGrpSpPr>
        <p:grpSpPr bwMode="auto">
          <a:xfrm>
            <a:off x="912813" y="1752600"/>
            <a:ext cx="2943225" cy="2886075"/>
            <a:chOff x="531" y="1104"/>
            <a:chExt cx="1711" cy="1818"/>
          </a:xfrm>
        </p:grpSpPr>
        <p:sp>
          <p:nvSpPr>
            <p:cNvPr id="53261" name="Rectangle 5">
              <a:extLst>
                <a:ext uri="{FF2B5EF4-FFF2-40B4-BE49-F238E27FC236}">
                  <a16:creationId xmlns:a16="http://schemas.microsoft.com/office/drawing/2014/main" id="{1BB3B4D7-59D3-9B72-8983-DE49F4773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" y="1204"/>
              <a:ext cx="1711" cy="1684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grpSp>
          <p:nvGrpSpPr>
            <p:cNvPr id="53262" name="Group 6">
              <a:extLst>
                <a:ext uri="{FF2B5EF4-FFF2-40B4-BE49-F238E27FC236}">
                  <a16:creationId xmlns:a16="http://schemas.microsoft.com/office/drawing/2014/main" id="{83EB0B66-12B1-CB4D-6EF9-2C17E311A1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3" y="2578"/>
              <a:ext cx="557" cy="129"/>
              <a:chOff x="276" y="3641"/>
              <a:chExt cx="876" cy="202"/>
            </a:xfrm>
          </p:grpSpPr>
          <p:sp>
            <p:nvSpPr>
              <p:cNvPr id="53298" name="Freeform 7">
                <a:extLst>
                  <a:ext uri="{FF2B5EF4-FFF2-40B4-BE49-F238E27FC236}">
                    <a16:creationId xmlns:a16="http://schemas.microsoft.com/office/drawing/2014/main" id="{19D1D964-8247-F16A-A395-013709076C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9" y="3641"/>
                <a:ext cx="199" cy="202"/>
              </a:xfrm>
              <a:custGeom>
                <a:avLst/>
                <a:gdLst>
                  <a:gd name="T0" fmla="*/ 18434 w 144"/>
                  <a:gd name="T1" fmla="*/ 9383 h 146"/>
                  <a:gd name="T2" fmla="*/ 0 w 144"/>
                  <a:gd name="T3" fmla="*/ 0 h 146"/>
                  <a:gd name="T4" fmla="*/ 0 w 144"/>
                  <a:gd name="T5" fmla="*/ 18981 h 146"/>
                  <a:gd name="T6" fmla="*/ 18434 w 144"/>
                  <a:gd name="T7" fmla="*/ 9383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46"/>
                  <a:gd name="T14" fmla="*/ 144 w 144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46">
                    <a:moveTo>
                      <a:pt x="144" y="72"/>
                    </a:moveTo>
                    <a:lnTo>
                      <a:pt x="0" y="0"/>
                    </a:lnTo>
                    <a:lnTo>
                      <a:pt x="0" y="146"/>
                    </a:lnTo>
                    <a:lnTo>
                      <a:pt x="144" y="7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9" name="Line 8">
                <a:extLst>
                  <a:ext uri="{FF2B5EF4-FFF2-40B4-BE49-F238E27FC236}">
                    <a16:creationId xmlns:a16="http://schemas.microsoft.com/office/drawing/2014/main" id="{F042329B-F8EB-0E75-5E26-A1B1C3DDC5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" y="3741"/>
                <a:ext cx="10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0" name="Oval 9">
                <a:extLst>
                  <a:ext uri="{FF2B5EF4-FFF2-40B4-BE49-F238E27FC236}">
                    <a16:creationId xmlns:a16="http://schemas.microsoft.com/office/drawing/2014/main" id="{A9A45F13-912F-F5FD-C912-DCF93D569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" y="3716"/>
                <a:ext cx="49" cy="5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53301" name="Line 10">
                <a:extLst>
                  <a:ext uri="{FF2B5EF4-FFF2-40B4-BE49-F238E27FC236}">
                    <a16:creationId xmlns:a16="http://schemas.microsoft.com/office/drawing/2014/main" id="{D0B44F11-D002-37B0-31DB-B9334E6EC6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3741"/>
                <a:ext cx="1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2" name="Freeform 11">
                <a:extLst>
                  <a:ext uri="{FF2B5EF4-FFF2-40B4-BE49-F238E27FC236}">
                    <a16:creationId xmlns:a16="http://schemas.microsoft.com/office/drawing/2014/main" id="{30FFADCD-5E60-E7D7-98AB-FA4041A2CA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9" y="3641"/>
                <a:ext cx="199" cy="202"/>
              </a:xfrm>
              <a:custGeom>
                <a:avLst/>
                <a:gdLst>
                  <a:gd name="T0" fmla="*/ 18434 w 144"/>
                  <a:gd name="T1" fmla="*/ 9383 h 146"/>
                  <a:gd name="T2" fmla="*/ 0 w 144"/>
                  <a:gd name="T3" fmla="*/ 0 h 146"/>
                  <a:gd name="T4" fmla="*/ 0 w 144"/>
                  <a:gd name="T5" fmla="*/ 18981 h 146"/>
                  <a:gd name="T6" fmla="*/ 18434 w 144"/>
                  <a:gd name="T7" fmla="*/ 9383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46"/>
                  <a:gd name="T14" fmla="*/ 144 w 144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46">
                    <a:moveTo>
                      <a:pt x="144" y="72"/>
                    </a:moveTo>
                    <a:lnTo>
                      <a:pt x="0" y="0"/>
                    </a:lnTo>
                    <a:lnTo>
                      <a:pt x="0" y="146"/>
                    </a:lnTo>
                    <a:lnTo>
                      <a:pt x="144" y="7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03" name="Line 12">
                <a:extLst>
                  <a:ext uri="{FF2B5EF4-FFF2-40B4-BE49-F238E27FC236}">
                    <a16:creationId xmlns:a16="http://schemas.microsoft.com/office/drawing/2014/main" id="{B0892C22-0271-CC6F-8B07-EC2B3B04C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" y="3741"/>
                <a:ext cx="2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4" name="Line 13">
                <a:extLst>
                  <a:ext uri="{FF2B5EF4-FFF2-40B4-BE49-F238E27FC236}">
                    <a16:creationId xmlns:a16="http://schemas.microsoft.com/office/drawing/2014/main" id="{32705602-99A9-B252-667B-559EBCEC7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1" y="3741"/>
                <a:ext cx="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305" name="Oval 14">
                <a:extLst>
                  <a:ext uri="{FF2B5EF4-FFF2-40B4-BE49-F238E27FC236}">
                    <a16:creationId xmlns:a16="http://schemas.microsoft.com/office/drawing/2014/main" id="{1A096E05-9613-A8D8-C87B-011FA5719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1" y="3716"/>
                <a:ext cx="50" cy="5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  <p:grpSp>
          <p:nvGrpSpPr>
            <p:cNvPr id="53263" name="Group 15">
              <a:extLst>
                <a:ext uri="{FF2B5EF4-FFF2-40B4-BE49-F238E27FC236}">
                  <a16:creationId xmlns:a16="http://schemas.microsoft.com/office/drawing/2014/main" id="{6DF54D11-35E3-3B89-2B5C-AD2BE45562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1287"/>
              <a:ext cx="244" cy="212"/>
              <a:chOff x="2245" y="1306"/>
              <a:chExt cx="532" cy="494"/>
            </a:xfrm>
          </p:grpSpPr>
          <p:sp>
            <p:nvSpPr>
              <p:cNvPr id="53296" name="Freeform 16">
                <a:extLst>
                  <a:ext uri="{FF2B5EF4-FFF2-40B4-BE49-F238E27FC236}">
                    <a16:creationId xmlns:a16="http://schemas.microsoft.com/office/drawing/2014/main" id="{F359E4AB-BA94-1C73-B6C7-DF30E6206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306"/>
                <a:ext cx="304" cy="494"/>
              </a:xfrm>
              <a:custGeom>
                <a:avLst/>
                <a:gdLst>
                  <a:gd name="T0" fmla="*/ 304 w 304"/>
                  <a:gd name="T1" fmla="*/ 0 h 494"/>
                  <a:gd name="T2" fmla="*/ 0 w 304"/>
                  <a:gd name="T3" fmla="*/ 0 h 494"/>
                  <a:gd name="T4" fmla="*/ 0 w 304"/>
                  <a:gd name="T5" fmla="*/ 494 h 494"/>
                  <a:gd name="T6" fmla="*/ 304 w 304"/>
                  <a:gd name="T7" fmla="*/ 492 h 4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494"/>
                  <a:gd name="T14" fmla="*/ 304 w 304"/>
                  <a:gd name="T15" fmla="*/ 494 h 4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494">
                    <a:moveTo>
                      <a:pt x="304" y="0"/>
                    </a:moveTo>
                    <a:lnTo>
                      <a:pt x="0" y="0"/>
                    </a:lnTo>
                    <a:lnTo>
                      <a:pt x="0" y="494"/>
                    </a:lnTo>
                    <a:lnTo>
                      <a:pt x="304" y="49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7" name="Freeform 17">
                <a:extLst>
                  <a:ext uri="{FF2B5EF4-FFF2-40B4-BE49-F238E27FC236}">
                    <a16:creationId xmlns:a16="http://schemas.microsoft.com/office/drawing/2014/main" id="{D0E56059-E020-CC15-2CC6-5A2D9ACD2E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306"/>
                <a:ext cx="228" cy="492"/>
              </a:xfrm>
              <a:custGeom>
                <a:avLst/>
                <a:gdLst>
                  <a:gd name="T0" fmla="*/ 0 w 228"/>
                  <a:gd name="T1" fmla="*/ 492 h 492"/>
                  <a:gd name="T2" fmla="*/ 54 w 228"/>
                  <a:gd name="T3" fmla="*/ 476 h 492"/>
                  <a:gd name="T4" fmla="*/ 100 w 228"/>
                  <a:gd name="T5" fmla="*/ 454 h 492"/>
                  <a:gd name="T6" fmla="*/ 120 w 228"/>
                  <a:gd name="T7" fmla="*/ 440 h 492"/>
                  <a:gd name="T8" fmla="*/ 138 w 228"/>
                  <a:gd name="T9" fmla="*/ 426 h 492"/>
                  <a:gd name="T10" fmla="*/ 172 w 228"/>
                  <a:gd name="T11" fmla="*/ 394 h 492"/>
                  <a:gd name="T12" fmla="*/ 196 w 228"/>
                  <a:gd name="T13" fmla="*/ 358 h 492"/>
                  <a:gd name="T14" fmla="*/ 206 w 228"/>
                  <a:gd name="T15" fmla="*/ 338 h 492"/>
                  <a:gd name="T16" fmla="*/ 214 w 228"/>
                  <a:gd name="T17" fmla="*/ 320 h 492"/>
                  <a:gd name="T18" fmla="*/ 224 w 228"/>
                  <a:gd name="T19" fmla="*/ 280 h 492"/>
                  <a:gd name="T20" fmla="*/ 228 w 228"/>
                  <a:gd name="T21" fmla="*/ 238 h 492"/>
                  <a:gd name="T22" fmla="*/ 224 w 228"/>
                  <a:gd name="T23" fmla="*/ 198 h 492"/>
                  <a:gd name="T24" fmla="*/ 214 w 228"/>
                  <a:gd name="T25" fmla="*/ 158 h 492"/>
                  <a:gd name="T26" fmla="*/ 196 w 228"/>
                  <a:gd name="T27" fmla="*/ 122 h 492"/>
                  <a:gd name="T28" fmla="*/ 172 w 228"/>
                  <a:gd name="T29" fmla="*/ 88 h 492"/>
                  <a:gd name="T30" fmla="*/ 156 w 228"/>
                  <a:gd name="T31" fmla="*/ 72 h 492"/>
                  <a:gd name="T32" fmla="*/ 138 w 228"/>
                  <a:gd name="T33" fmla="*/ 58 h 492"/>
                  <a:gd name="T34" fmla="*/ 130 w 228"/>
                  <a:gd name="T35" fmla="*/ 50 h 492"/>
                  <a:gd name="T36" fmla="*/ 120 w 228"/>
                  <a:gd name="T37" fmla="*/ 44 h 492"/>
                  <a:gd name="T38" fmla="*/ 100 w 228"/>
                  <a:gd name="T39" fmla="*/ 32 h 492"/>
                  <a:gd name="T40" fmla="*/ 54 w 228"/>
                  <a:gd name="T41" fmla="*/ 12 h 492"/>
                  <a:gd name="T42" fmla="*/ 0 w 228"/>
                  <a:gd name="T43" fmla="*/ 0 h 4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8"/>
                  <a:gd name="T67" fmla="*/ 0 h 492"/>
                  <a:gd name="T68" fmla="*/ 228 w 228"/>
                  <a:gd name="T69" fmla="*/ 492 h 4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8" h="492">
                    <a:moveTo>
                      <a:pt x="0" y="492"/>
                    </a:moveTo>
                    <a:lnTo>
                      <a:pt x="54" y="476"/>
                    </a:lnTo>
                    <a:lnTo>
                      <a:pt x="100" y="454"/>
                    </a:lnTo>
                    <a:lnTo>
                      <a:pt x="120" y="440"/>
                    </a:lnTo>
                    <a:lnTo>
                      <a:pt x="138" y="426"/>
                    </a:lnTo>
                    <a:lnTo>
                      <a:pt x="172" y="394"/>
                    </a:lnTo>
                    <a:lnTo>
                      <a:pt x="196" y="358"/>
                    </a:lnTo>
                    <a:lnTo>
                      <a:pt x="206" y="338"/>
                    </a:lnTo>
                    <a:lnTo>
                      <a:pt x="214" y="320"/>
                    </a:lnTo>
                    <a:lnTo>
                      <a:pt x="224" y="280"/>
                    </a:lnTo>
                    <a:lnTo>
                      <a:pt x="228" y="238"/>
                    </a:lnTo>
                    <a:lnTo>
                      <a:pt x="224" y="198"/>
                    </a:lnTo>
                    <a:lnTo>
                      <a:pt x="214" y="158"/>
                    </a:lnTo>
                    <a:lnTo>
                      <a:pt x="196" y="122"/>
                    </a:lnTo>
                    <a:lnTo>
                      <a:pt x="172" y="88"/>
                    </a:lnTo>
                    <a:lnTo>
                      <a:pt x="156" y="72"/>
                    </a:lnTo>
                    <a:lnTo>
                      <a:pt x="138" y="58"/>
                    </a:lnTo>
                    <a:lnTo>
                      <a:pt x="130" y="50"/>
                    </a:lnTo>
                    <a:lnTo>
                      <a:pt x="120" y="44"/>
                    </a:lnTo>
                    <a:lnTo>
                      <a:pt x="100" y="32"/>
                    </a:lnTo>
                    <a:lnTo>
                      <a:pt x="54" y="1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264" name="Group 18">
              <a:extLst>
                <a:ext uri="{FF2B5EF4-FFF2-40B4-BE49-F238E27FC236}">
                  <a16:creationId xmlns:a16="http://schemas.microsoft.com/office/drawing/2014/main" id="{37DE8892-BE09-805D-BEE0-F24BC69E4D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1592"/>
              <a:ext cx="244" cy="212"/>
              <a:chOff x="2245" y="1306"/>
              <a:chExt cx="532" cy="494"/>
            </a:xfrm>
          </p:grpSpPr>
          <p:sp>
            <p:nvSpPr>
              <p:cNvPr id="53294" name="Freeform 19">
                <a:extLst>
                  <a:ext uri="{FF2B5EF4-FFF2-40B4-BE49-F238E27FC236}">
                    <a16:creationId xmlns:a16="http://schemas.microsoft.com/office/drawing/2014/main" id="{17C571D9-DB55-7419-A973-B85AE0A369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306"/>
                <a:ext cx="304" cy="494"/>
              </a:xfrm>
              <a:custGeom>
                <a:avLst/>
                <a:gdLst>
                  <a:gd name="T0" fmla="*/ 304 w 304"/>
                  <a:gd name="T1" fmla="*/ 0 h 494"/>
                  <a:gd name="T2" fmla="*/ 0 w 304"/>
                  <a:gd name="T3" fmla="*/ 0 h 494"/>
                  <a:gd name="T4" fmla="*/ 0 w 304"/>
                  <a:gd name="T5" fmla="*/ 494 h 494"/>
                  <a:gd name="T6" fmla="*/ 304 w 304"/>
                  <a:gd name="T7" fmla="*/ 492 h 4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494"/>
                  <a:gd name="T14" fmla="*/ 304 w 304"/>
                  <a:gd name="T15" fmla="*/ 494 h 4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494">
                    <a:moveTo>
                      <a:pt x="304" y="0"/>
                    </a:moveTo>
                    <a:lnTo>
                      <a:pt x="0" y="0"/>
                    </a:lnTo>
                    <a:lnTo>
                      <a:pt x="0" y="494"/>
                    </a:lnTo>
                    <a:lnTo>
                      <a:pt x="304" y="49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5" name="Freeform 20">
                <a:extLst>
                  <a:ext uri="{FF2B5EF4-FFF2-40B4-BE49-F238E27FC236}">
                    <a16:creationId xmlns:a16="http://schemas.microsoft.com/office/drawing/2014/main" id="{B04EA703-922D-71C3-F023-D9823587EB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306"/>
                <a:ext cx="228" cy="492"/>
              </a:xfrm>
              <a:custGeom>
                <a:avLst/>
                <a:gdLst>
                  <a:gd name="T0" fmla="*/ 0 w 228"/>
                  <a:gd name="T1" fmla="*/ 492 h 492"/>
                  <a:gd name="T2" fmla="*/ 54 w 228"/>
                  <a:gd name="T3" fmla="*/ 476 h 492"/>
                  <a:gd name="T4" fmla="*/ 100 w 228"/>
                  <a:gd name="T5" fmla="*/ 454 h 492"/>
                  <a:gd name="T6" fmla="*/ 120 w 228"/>
                  <a:gd name="T7" fmla="*/ 440 h 492"/>
                  <a:gd name="T8" fmla="*/ 138 w 228"/>
                  <a:gd name="T9" fmla="*/ 426 h 492"/>
                  <a:gd name="T10" fmla="*/ 172 w 228"/>
                  <a:gd name="T11" fmla="*/ 394 h 492"/>
                  <a:gd name="T12" fmla="*/ 196 w 228"/>
                  <a:gd name="T13" fmla="*/ 358 h 492"/>
                  <a:gd name="T14" fmla="*/ 206 w 228"/>
                  <a:gd name="T15" fmla="*/ 338 h 492"/>
                  <a:gd name="T16" fmla="*/ 214 w 228"/>
                  <a:gd name="T17" fmla="*/ 320 h 492"/>
                  <a:gd name="T18" fmla="*/ 224 w 228"/>
                  <a:gd name="T19" fmla="*/ 280 h 492"/>
                  <a:gd name="T20" fmla="*/ 228 w 228"/>
                  <a:gd name="T21" fmla="*/ 238 h 492"/>
                  <a:gd name="T22" fmla="*/ 224 w 228"/>
                  <a:gd name="T23" fmla="*/ 198 h 492"/>
                  <a:gd name="T24" fmla="*/ 214 w 228"/>
                  <a:gd name="T25" fmla="*/ 158 h 492"/>
                  <a:gd name="T26" fmla="*/ 196 w 228"/>
                  <a:gd name="T27" fmla="*/ 122 h 492"/>
                  <a:gd name="T28" fmla="*/ 172 w 228"/>
                  <a:gd name="T29" fmla="*/ 88 h 492"/>
                  <a:gd name="T30" fmla="*/ 156 w 228"/>
                  <a:gd name="T31" fmla="*/ 72 h 492"/>
                  <a:gd name="T32" fmla="*/ 138 w 228"/>
                  <a:gd name="T33" fmla="*/ 58 h 492"/>
                  <a:gd name="T34" fmla="*/ 130 w 228"/>
                  <a:gd name="T35" fmla="*/ 50 h 492"/>
                  <a:gd name="T36" fmla="*/ 120 w 228"/>
                  <a:gd name="T37" fmla="*/ 44 h 492"/>
                  <a:gd name="T38" fmla="*/ 100 w 228"/>
                  <a:gd name="T39" fmla="*/ 32 h 492"/>
                  <a:gd name="T40" fmla="*/ 54 w 228"/>
                  <a:gd name="T41" fmla="*/ 12 h 492"/>
                  <a:gd name="T42" fmla="*/ 0 w 228"/>
                  <a:gd name="T43" fmla="*/ 0 h 4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8"/>
                  <a:gd name="T67" fmla="*/ 0 h 492"/>
                  <a:gd name="T68" fmla="*/ 228 w 228"/>
                  <a:gd name="T69" fmla="*/ 492 h 4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8" h="492">
                    <a:moveTo>
                      <a:pt x="0" y="492"/>
                    </a:moveTo>
                    <a:lnTo>
                      <a:pt x="54" y="476"/>
                    </a:lnTo>
                    <a:lnTo>
                      <a:pt x="100" y="454"/>
                    </a:lnTo>
                    <a:lnTo>
                      <a:pt x="120" y="440"/>
                    </a:lnTo>
                    <a:lnTo>
                      <a:pt x="138" y="426"/>
                    </a:lnTo>
                    <a:lnTo>
                      <a:pt x="172" y="394"/>
                    </a:lnTo>
                    <a:lnTo>
                      <a:pt x="196" y="358"/>
                    </a:lnTo>
                    <a:lnTo>
                      <a:pt x="206" y="338"/>
                    </a:lnTo>
                    <a:lnTo>
                      <a:pt x="214" y="320"/>
                    </a:lnTo>
                    <a:lnTo>
                      <a:pt x="224" y="280"/>
                    </a:lnTo>
                    <a:lnTo>
                      <a:pt x="228" y="238"/>
                    </a:lnTo>
                    <a:lnTo>
                      <a:pt x="224" y="198"/>
                    </a:lnTo>
                    <a:lnTo>
                      <a:pt x="214" y="158"/>
                    </a:lnTo>
                    <a:lnTo>
                      <a:pt x="196" y="122"/>
                    </a:lnTo>
                    <a:lnTo>
                      <a:pt x="172" y="88"/>
                    </a:lnTo>
                    <a:lnTo>
                      <a:pt x="156" y="72"/>
                    </a:lnTo>
                    <a:lnTo>
                      <a:pt x="138" y="58"/>
                    </a:lnTo>
                    <a:lnTo>
                      <a:pt x="130" y="50"/>
                    </a:lnTo>
                    <a:lnTo>
                      <a:pt x="120" y="44"/>
                    </a:lnTo>
                    <a:lnTo>
                      <a:pt x="100" y="32"/>
                    </a:lnTo>
                    <a:lnTo>
                      <a:pt x="54" y="1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265" name="Group 21">
              <a:extLst>
                <a:ext uri="{FF2B5EF4-FFF2-40B4-BE49-F238E27FC236}">
                  <a16:creationId xmlns:a16="http://schemas.microsoft.com/office/drawing/2014/main" id="{89F48506-1B86-ED7B-4BBF-52A6FBEEE9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1921"/>
              <a:ext cx="244" cy="211"/>
              <a:chOff x="2245" y="1306"/>
              <a:chExt cx="532" cy="494"/>
            </a:xfrm>
          </p:grpSpPr>
          <p:sp>
            <p:nvSpPr>
              <p:cNvPr id="53292" name="Freeform 22">
                <a:extLst>
                  <a:ext uri="{FF2B5EF4-FFF2-40B4-BE49-F238E27FC236}">
                    <a16:creationId xmlns:a16="http://schemas.microsoft.com/office/drawing/2014/main" id="{610A2508-2FFC-D8C9-23A5-C5D74AB223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306"/>
                <a:ext cx="304" cy="494"/>
              </a:xfrm>
              <a:custGeom>
                <a:avLst/>
                <a:gdLst>
                  <a:gd name="T0" fmla="*/ 304 w 304"/>
                  <a:gd name="T1" fmla="*/ 0 h 494"/>
                  <a:gd name="T2" fmla="*/ 0 w 304"/>
                  <a:gd name="T3" fmla="*/ 0 h 494"/>
                  <a:gd name="T4" fmla="*/ 0 w 304"/>
                  <a:gd name="T5" fmla="*/ 494 h 494"/>
                  <a:gd name="T6" fmla="*/ 304 w 304"/>
                  <a:gd name="T7" fmla="*/ 492 h 4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494"/>
                  <a:gd name="T14" fmla="*/ 304 w 304"/>
                  <a:gd name="T15" fmla="*/ 494 h 4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494">
                    <a:moveTo>
                      <a:pt x="304" y="0"/>
                    </a:moveTo>
                    <a:lnTo>
                      <a:pt x="0" y="0"/>
                    </a:lnTo>
                    <a:lnTo>
                      <a:pt x="0" y="494"/>
                    </a:lnTo>
                    <a:lnTo>
                      <a:pt x="304" y="49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3" name="Freeform 23">
                <a:extLst>
                  <a:ext uri="{FF2B5EF4-FFF2-40B4-BE49-F238E27FC236}">
                    <a16:creationId xmlns:a16="http://schemas.microsoft.com/office/drawing/2014/main" id="{BFD64FF4-5EB8-6628-EBBB-8615345AB3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306"/>
                <a:ext cx="228" cy="492"/>
              </a:xfrm>
              <a:custGeom>
                <a:avLst/>
                <a:gdLst>
                  <a:gd name="T0" fmla="*/ 0 w 228"/>
                  <a:gd name="T1" fmla="*/ 492 h 492"/>
                  <a:gd name="T2" fmla="*/ 54 w 228"/>
                  <a:gd name="T3" fmla="*/ 476 h 492"/>
                  <a:gd name="T4" fmla="*/ 100 w 228"/>
                  <a:gd name="T5" fmla="*/ 454 h 492"/>
                  <a:gd name="T6" fmla="*/ 120 w 228"/>
                  <a:gd name="T7" fmla="*/ 440 h 492"/>
                  <a:gd name="T8" fmla="*/ 138 w 228"/>
                  <a:gd name="T9" fmla="*/ 426 h 492"/>
                  <a:gd name="T10" fmla="*/ 172 w 228"/>
                  <a:gd name="T11" fmla="*/ 394 h 492"/>
                  <a:gd name="T12" fmla="*/ 196 w 228"/>
                  <a:gd name="T13" fmla="*/ 358 h 492"/>
                  <a:gd name="T14" fmla="*/ 206 w 228"/>
                  <a:gd name="T15" fmla="*/ 338 h 492"/>
                  <a:gd name="T16" fmla="*/ 214 w 228"/>
                  <a:gd name="T17" fmla="*/ 320 h 492"/>
                  <a:gd name="T18" fmla="*/ 224 w 228"/>
                  <a:gd name="T19" fmla="*/ 280 h 492"/>
                  <a:gd name="T20" fmla="*/ 228 w 228"/>
                  <a:gd name="T21" fmla="*/ 238 h 492"/>
                  <a:gd name="T22" fmla="*/ 224 w 228"/>
                  <a:gd name="T23" fmla="*/ 198 h 492"/>
                  <a:gd name="T24" fmla="*/ 214 w 228"/>
                  <a:gd name="T25" fmla="*/ 158 h 492"/>
                  <a:gd name="T26" fmla="*/ 196 w 228"/>
                  <a:gd name="T27" fmla="*/ 122 h 492"/>
                  <a:gd name="T28" fmla="*/ 172 w 228"/>
                  <a:gd name="T29" fmla="*/ 88 h 492"/>
                  <a:gd name="T30" fmla="*/ 156 w 228"/>
                  <a:gd name="T31" fmla="*/ 72 h 492"/>
                  <a:gd name="T32" fmla="*/ 138 w 228"/>
                  <a:gd name="T33" fmla="*/ 58 h 492"/>
                  <a:gd name="T34" fmla="*/ 130 w 228"/>
                  <a:gd name="T35" fmla="*/ 50 h 492"/>
                  <a:gd name="T36" fmla="*/ 120 w 228"/>
                  <a:gd name="T37" fmla="*/ 44 h 492"/>
                  <a:gd name="T38" fmla="*/ 100 w 228"/>
                  <a:gd name="T39" fmla="*/ 32 h 492"/>
                  <a:gd name="T40" fmla="*/ 54 w 228"/>
                  <a:gd name="T41" fmla="*/ 12 h 492"/>
                  <a:gd name="T42" fmla="*/ 0 w 228"/>
                  <a:gd name="T43" fmla="*/ 0 h 4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8"/>
                  <a:gd name="T67" fmla="*/ 0 h 492"/>
                  <a:gd name="T68" fmla="*/ 228 w 228"/>
                  <a:gd name="T69" fmla="*/ 492 h 4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8" h="492">
                    <a:moveTo>
                      <a:pt x="0" y="492"/>
                    </a:moveTo>
                    <a:lnTo>
                      <a:pt x="54" y="476"/>
                    </a:lnTo>
                    <a:lnTo>
                      <a:pt x="100" y="454"/>
                    </a:lnTo>
                    <a:lnTo>
                      <a:pt x="120" y="440"/>
                    </a:lnTo>
                    <a:lnTo>
                      <a:pt x="138" y="426"/>
                    </a:lnTo>
                    <a:lnTo>
                      <a:pt x="172" y="394"/>
                    </a:lnTo>
                    <a:lnTo>
                      <a:pt x="196" y="358"/>
                    </a:lnTo>
                    <a:lnTo>
                      <a:pt x="206" y="338"/>
                    </a:lnTo>
                    <a:lnTo>
                      <a:pt x="214" y="320"/>
                    </a:lnTo>
                    <a:lnTo>
                      <a:pt x="224" y="280"/>
                    </a:lnTo>
                    <a:lnTo>
                      <a:pt x="228" y="238"/>
                    </a:lnTo>
                    <a:lnTo>
                      <a:pt x="224" y="198"/>
                    </a:lnTo>
                    <a:lnTo>
                      <a:pt x="214" y="158"/>
                    </a:lnTo>
                    <a:lnTo>
                      <a:pt x="196" y="122"/>
                    </a:lnTo>
                    <a:lnTo>
                      <a:pt x="172" y="88"/>
                    </a:lnTo>
                    <a:lnTo>
                      <a:pt x="156" y="72"/>
                    </a:lnTo>
                    <a:lnTo>
                      <a:pt x="138" y="58"/>
                    </a:lnTo>
                    <a:lnTo>
                      <a:pt x="130" y="50"/>
                    </a:lnTo>
                    <a:lnTo>
                      <a:pt x="120" y="44"/>
                    </a:lnTo>
                    <a:lnTo>
                      <a:pt x="100" y="32"/>
                    </a:lnTo>
                    <a:lnTo>
                      <a:pt x="54" y="1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3266" name="Group 24">
              <a:extLst>
                <a:ext uri="{FF2B5EF4-FFF2-40B4-BE49-F238E27FC236}">
                  <a16:creationId xmlns:a16="http://schemas.microsoft.com/office/drawing/2014/main" id="{39280497-2EFB-26A8-5336-56CA76C4E6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2" y="2226"/>
              <a:ext cx="244" cy="211"/>
              <a:chOff x="2245" y="1306"/>
              <a:chExt cx="532" cy="494"/>
            </a:xfrm>
          </p:grpSpPr>
          <p:sp>
            <p:nvSpPr>
              <p:cNvPr id="53290" name="Freeform 25">
                <a:extLst>
                  <a:ext uri="{FF2B5EF4-FFF2-40B4-BE49-F238E27FC236}">
                    <a16:creationId xmlns:a16="http://schemas.microsoft.com/office/drawing/2014/main" id="{B252B122-990D-BF67-2820-5D26DFBFDC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5" y="1306"/>
                <a:ext cx="304" cy="494"/>
              </a:xfrm>
              <a:custGeom>
                <a:avLst/>
                <a:gdLst>
                  <a:gd name="T0" fmla="*/ 304 w 304"/>
                  <a:gd name="T1" fmla="*/ 0 h 494"/>
                  <a:gd name="T2" fmla="*/ 0 w 304"/>
                  <a:gd name="T3" fmla="*/ 0 h 494"/>
                  <a:gd name="T4" fmla="*/ 0 w 304"/>
                  <a:gd name="T5" fmla="*/ 494 h 494"/>
                  <a:gd name="T6" fmla="*/ 304 w 304"/>
                  <a:gd name="T7" fmla="*/ 492 h 4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04"/>
                  <a:gd name="T13" fmla="*/ 0 h 494"/>
                  <a:gd name="T14" fmla="*/ 304 w 304"/>
                  <a:gd name="T15" fmla="*/ 494 h 4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04" h="494">
                    <a:moveTo>
                      <a:pt x="304" y="0"/>
                    </a:moveTo>
                    <a:lnTo>
                      <a:pt x="0" y="0"/>
                    </a:lnTo>
                    <a:lnTo>
                      <a:pt x="0" y="494"/>
                    </a:lnTo>
                    <a:lnTo>
                      <a:pt x="304" y="49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91" name="Freeform 26">
                <a:extLst>
                  <a:ext uri="{FF2B5EF4-FFF2-40B4-BE49-F238E27FC236}">
                    <a16:creationId xmlns:a16="http://schemas.microsoft.com/office/drawing/2014/main" id="{45A77DE1-40F4-D968-8F00-98078B14B4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9" y="1306"/>
                <a:ext cx="228" cy="492"/>
              </a:xfrm>
              <a:custGeom>
                <a:avLst/>
                <a:gdLst>
                  <a:gd name="T0" fmla="*/ 0 w 228"/>
                  <a:gd name="T1" fmla="*/ 492 h 492"/>
                  <a:gd name="T2" fmla="*/ 54 w 228"/>
                  <a:gd name="T3" fmla="*/ 476 h 492"/>
                  <a:gd name="T4" fmla="*/ 100 w 228"/>
                  <a:gd name="T5" fmla="*/ 454 h 492"/>
                  <a:gd name="T6" fmla="*/ 120 w 228"/>
                  <a:gd name="T7" fmla="*/ 440 h 492"/>
                  <a:gd name="T8" fmla="*/ 138 w 228"/>
                  <a:gd name="T9" fmla="*/ 426 h 492"/>
                  <a:gd name="T10" fmla="*/ 172 w 228"/>
                  <a:gd name="T11" fmla="*/ 394 h 492"/>
                  <a:gd name="T12" fmla="*/ 196 w 228"/>
                  <a:gd name="T13" fmla="*/ 358 h 492"/>
                  <a:gd name="T14" fmla="*/ 206 w 228"/>
                  <a:gd name="T15" fmla="*/ 338 h 492"/>
                  <a:gd name="T16" fmla="*/ 214 w 228"/>
                  <a:gd name="T17" fmla="*/ 320 h 492"/>
                  <a:gd name="T18" fmla="*/ 224 w 228"/>
                  <a:gd name="T19" fmla="*/ 280 h 492"/>
                  <a:gd name="T20" fmla="*/ 228 w 228"/>
                  <a:gd name="T21" fmla="*/ 238 h 492"/>
                  <a:gd name="T22" fmla="*/ 224 w 228"/>
                  <a:gd name="T23" fmla="*/ 198 h 492"/>
                  <a:gd name="T24" fmla="*/ 214 w 228"/>
                  <a:gd name="T25" fmla="*/ 158 h 492"/>
                  <a:gd name="T26" fmla="*/ 196 w 228"/>
                  <a:gd name="T27" fmla="*/ 122 h 492"/>
                  <a:gd name="T28" fmla="*/ 172 w 228"/>
                  <a:gd name="T29" fmla="*/ 88 h 492"/>
                  <a:gd name="T30" fmla="*/ 156 w 228"/>
                  <a:gd name="T31" fmla="*/ 72 h 492"/>
                  <a:gd name="T32" fmla="*/ 138 w 228"/>
                  <a:gd name="T33" fmla="*/ 58 h 492"/>
                  <a:gd name="T34" fmla="*/ 130 w 228"/>
                  <a:gd name="T35" fmla="*/ 50 h 492"/>
                  <a:gd name="T36" fmla="*/ 120 w 228"/>
                  <a:gd name="T37" fmla="*/ 44 h 492"/>
                  <a:gd name="T38" fmla="*/ 100 w 228"/>
                  <a:gd name="T39" fmla="*/ 32 h 492"/>
                  <a:gd name="T40" fmla="*/ 54 w 228"/>
                  <a:gd name="T41" fmla="*/ 12 h 492"/>
                  <a:gd name="T42" fmla="*/ 0 w 228"/>
                  <a:gd name="T43" fmla="*/ 0 h 492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228"/>
                  <a:gd name="T67" fmla="*/ 0 h 492"/>
                  <a:gd name="T68" fmla="*/ 228 w 228"/>
                  <a:gd name="T69" fmla="*/ 492 h 492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228" h="492">
                    <a:moveTo>
                      <a:pt x="0" y="492"/>
                    </a:moveTo>
                    <a:lnTo>
                      <a:pt x="54" y="476"/>
                    </a:lnTo>
                    <a:lnTo>
                      <a:pt x="100" y="454"/>
                    </a:lnTo>
                    <a:lnTo>
                      <a:pt x="120" y="440"/>
                    </a:lnTo>
                    <a:lnTo>
                      <a:pt x="138" y="426"/>
                    </a:lnTo>
                    <a:lnTo>
                      <a:pt x="172" y="394"/>
                    </a:lnTo>
                    <a:lnTo>
                      <a:pt x="196" y="358"/>
                    </a:lnTo>
                    <a:lnTo>
                      <a:pt x="206" y="338"/>
                    </a:lnTo>
                    <a:lnTo>
                      <a:pt x="214" y="320"/>
                    </a:lnTo>
                    <a:lnTo>
                      <a:pt x="224" y="280"/>
                    </a:lnTo>
                    <a:lnTo>
                      <a:pt x="228" y="238"/>
                    </a:lnTo>
                    <a:lnTo>
                      <a:pt x="224" y="198"/>
                    </a:lnTo>
                    <a:lnTo>
                      <a:pt x="214" y="158"/>
                    </a:lnTo>
                    <a:lnTo>
                      <a:pt x="196" y="122"/>
                    </a:lnTo>
                    <a:lnTo>
                      <a:pt x="172" y="88"/>
                    </a:lnTo>
                    <a:lnTo>
                      <a:pt x="156" y="72"/>
                    </a:lnTo>
                    <a:lnTo>
                      <a:pt x="138" y="58"/>
                    </a:lnTo>
                    <a:lnTo>
                      <a:pt x="130" y="50"/>
                    </a:lnTo>
                    <a:lnTo>
                      <a:pt x="120" y="44"/>
                    </a:lnTo>
                    <a:lnTo>
                      <a:pt x="100" y="32"/>
                    </a:lnTo>
                    <a:lnTo>
                      <a:pt x="54" y="12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3267" name="Text Box 27">
              <a:extLst>
                <a:ext uri="{FF2B5EF4-FFF2-40B4-BE49-F238E27FC236}">
                  <a16:creationId xmlns:a16="http://schemas.microsoft.com/office/drawing/2014/main" id="{6681BDA7-A8CA-FDB3-8361-B27CA9B15E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" y="2505"/>
              <a:ext cx="271" cy="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A</a:t>
              </a:r>
            </a:p>
            <a:p>
              <a:pPr>
                <a:lnSpc>
                  <a:spcPct val="85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B</a:t>
              </a:r>
              <a:r>
                <a:rPr lang="it-IT" altLang="it-IT" sz="2400"/>
                <a:t> </a:t>
              </a:r>
            </a:p>
          </p:txBody>
        </p:sp>
        <p:sp>
          <p:nvSpPr>
            <p:cNvPr id="53268" name="Line 28">
              <a:extLst>
                <a:ext uri="{FF2B5EF4-FFF2-40B4-BE49-F238E27FC236}">
                  <a16:creationId xmlns:a16="http://schemas.microsoft.com/office/drawing/2014/main" id="{4795BF07-0E2E-9B37-4055-F09D7FFCE1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1393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9" name="Line 29">
              <a:extLst>
                <a:ext uri="{FF2B5EF4-FFF2-40B4-BE49-F238E27FC236}">
                  <a16:creationId xmlns:a16="http://schemas.microsoft.com/office/drawing/2014/main" id="{5D73C21A-24C2-D384-F4A2-CFFCE21496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1698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0" name="Line 30">
              <a:extLst>
                <a:ext uri="{FF2B5EF4-FFF2-40B4-BE49-F238E27FC236}">
                  <a16:creationId xmlns:a16="http://schemas.microsoft.com/office/drawing/2014/main" id="{651C40C2-AA0E-94AA-9AF7-D750ABBCF8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2034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1" name="Line 31">
              <a:extLst>
                <a:ext uri="{FF2B5EF4-FFF2-40B4-BE49-F238E27FC236}">
                  <a16:creationId xmlns:a16="http://schemas.microsoft.com/office/drawing/2014/main" id="{CF2BAA95-17CF-6CC5-7E85-4F96F3BDD8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66" y="2339"/>
              <a:ext cx="33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3272" name="Group 32">
              <a:extLst>
                <a:ext uri="{FF2B5EF4-FFF2-40B4-BE49-F238E27FC236}">
                  <a16:creationId xmlns:a16="http://schemas.microsoft.com/office/drawing/2014/main" id="{F95C33EF-0B04-6D71-AA38-E94248C035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0" y="2735"/>
              <a:ext cx="557" cy="129"/>
              <a:chOff x="276" y="3641"/>
              <a:chExt cx="876" cy="202"/>
            </a:xfrm>
          </p:grpSpPr>
          <p:sp>
            <p:nvSpPr>
              <p:cNvPr id="53282" name="Freeform 33">
                <a:extLst>
                  <a:ext uri="{FF2B5EF4-FFF2-40B4-BE49-F238E27FC236}">
                    <a16:creationId xmlns:a16="http://schemas.microsoft.com/office/drawing/2014/main" id="{CC6C7D29-67B7-0980-78AC-826DDAE9EC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79" y="3641"/>
                <a:ext cx="199" cy="202"/>
              </a:xfrm>
              <a:custGeom>
                <a:avLst/>
                <a:gdLst>
                  <a:gd name="T0" fmla="*/ 18434 w 144"/>
                  <a:gd name="T1" fmla="*/ 9383 h 146"/>
                  <a:gd name="T2" fmla="*/ 0 w 144"/>
                  <a:gd name="T3" fmla="*/ 0 h 146"/>
                  <a:gd name="T4" fmla="*/ 0 w 144"/>
                  <a:gd name="T5" fmla="*/ 18981 h 146"/>
                  <a:gd name="T6" fmla="*/ 18434 w 144"/>
                  <a:gd name="T7" fmla="*/ 9383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46"/>
                  <a:gd name="T14" fmla="*/ 144 w 144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46">
                    <a:moveTo>
                      <a:pt x="144" y="72"/>
                    </a:moveTo>
                    <a:lnTo>
                      <a:pt x="0" y="0"/>
                    </a:lnTo>
                    <a:lnTo>
                      <a:pt x="0" y="146"/>
                    </a:lnTo>
                    <a:lnTo>
                      <a:pt x="144" y="7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83" name="Line 34">
                <a:extLst>
                  <a:ext uri="{FF2B5EF4-FFF2-40B4-BE49-F238E27FC236}">
                    <a16:creationId xmlns:a16="http://schemas.microsoft.com/office/drawing/2014/main" id="{AF51A311-2355-FE5F-FEF7-55B0DCB99B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6" y="3741"/>
                <a:ext cx="10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4" name="Oval 35">
                <a:extLst>
                  <a:ext uri="{FF2B5EF4-FFF2-40B4-BE49-F238E27FC236}">
                    <a16:creationId xmlns:a16="http://schemas.microsoft.com/office/drawing/2014/main" id="{0A0AE1D3-6AB1-BE8B-D0D2-E86D3E580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" y="3716"/>
                <a:ext cx="49" cy="5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53285" name="Line 36">
                <a:extLst>
                  <a:ext uri="{FF2B5EF4-FFF2-40B4-BE49-F238E27FC236}">
                    <a16:creationId xmlns:a16="http://schemas.microsoft.com/office/drawing/2014/main" id="{2750BB7E-29BE-B6A4-8C9D-ECA3F91D5E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2" y="3741"/>
                <a:ext cx="12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6" name="Freeform 37">
                <a:extLst>
                  <a:ext uri="{FF2B5EF4-FFF2-40B4-BE49-F238E27FC236}">
                    <a16:creationId xmlns:a16="http://schemas.microsoft.com/office/drawing/2014/main" id="{779EB6AD-2ADC-B82C-EEAB-3925481250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849" y="3641"/>
                <a:ext cx="199" cy="202"/>
              </a:xfrm>
              <a:custGeom>
                <a:avLst/>
                <a:gdLst>
                  <a:gd name="T0" fmla="*/ 18434 w 144"/>
                  <a:gd name="T1" fmla="*/ 9383 h 146"/>
                  <a:gd name="T2" fmla="*/ 0 w 144"/>
                  <a:gd name="T3" fmla="*/ 0 h 146"/>
                  <a:gd name="T4" fmla="*/ 0 w 144"/>
                  <a:gd name="T5" fmla="*/ 18981 h 146"/>
                  <a:gd name="T6" fmla="*/ 18434 w 144"/>
                  <a:gd name="T7" fmla="*/ 9383 h 14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4"/>
                  <a:gd name="T13" fmla="*/ 0 h 146"/>
                  <a:gd name="T14" fmla="*/ 144 w 144"/>
                  <a:gd name="T15" fmla="*/ 146 h 14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4" h="146">
                    <a:moveTo>
                      <a:pt x="144" y="72"/>
                    </a:moveTo>
                    <a:lnTo>
                      <a:pt x="0" y="0"/>
                    </a:lnTo>
                    <a:lnTo>
                      <a:pt x="0" y="146"/>
                    </a:lnTo>
                    <a:lnTo>
                      <a:pt x="144" y="72"/>
                    </a:lnTo>
                  </a:path>
                </a:pathLst>
              </a:custGeom>
              <a:solidFill>
                <a:schemeClr val="bg1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287" name="Line 38">
                <a:extLst>
                  <a:ext uri="{FF2B5EF4-FFF2-40B4-BE49-F238E27FC236}">
                    <a16:creationId xmlns:a16="http://schemas.microsoft.com/office/drawing/2014/main" id="{9A666123-7F41-E581-B566-D767F2709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1" y="3741"/>
                <a:ext cx="21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8" name="Line 39">
                <a:extLst>
                  <a:ext uri="{FF2B5EF4-FFF2-40B4-BE49-F238E27FC236}">
                    <a16:creationId xmlns:a16="http://schemas.microsoft.com/office/drawing/2014/main" id="{DAC7DA7D-83F3-24D1-7D61-4A1B4CB0A9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1" y="3741"/>
                <a:ext cx="51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9" name="Oval 40">
                <a:extLst>
                  <a:ext uri="{FF2B5EF4-FFF2-40B4-BE49-F238E27FC236}">
                    <a16:creationId xmlns:a16="http://schemas.microsoft.com/office/drawing/2014/main" id="{14ED9C19-F1E3-D8C1-71D6-1BDF9DA267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1" y="3716"/>
                <a:ext cx="50" cy="5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  <p:sp>
          <p:nvSpPr>
            <p:cNvPr id="53273" name="Freeform 41">
              <a:extLst>
                <a:ext uri="{FF2B5EF4-FFF2-40B4-BE49-F238E27FC236}">
                  <a16:creationId xmlns:a16="http://schemas.microsoft.com/office/drawing/2014/main" id="{FC6BA992-E91F-D72C-4D7B-DA3D483CF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1332"/>
              <a:ext cx="457" cy="1312"/>
            </a:xfrm>
            <a:custGeom>
              <a:avLst/>
              <a:gdLst>
                <a:gd name="T0" fmla="*/ 0 w 720"/>
                <a:gd name="T1" fmla="*/ 3 h 2064"/>
                <a:gd name="T2" fmla="*/ 0 w 720"/>
                <a:gd name="T3" fmla="*/ 0 h 2064"/>
                <a:gd name="T4" fmla="*/ 1 w 720"/>
                <a:gd name="T5" fmla="*/ 0 h 2064"/>
                <a:gd name="T6" fmla="*/ 0 60000 65536"/>
                <a:gd name="T7" fmla="*/ 0 60000 65536"/>
                <a:gd name="T8" fmla="*/ 0 60000 65536"/>
                <a:gd name="T9" fmla="*/ 0 w 720"/>
                <a:gd name="T10" fmla="*/ 0 h 2064"/>
                <a:gd name="T11" fmla="*/ 720 w 720"/>
                <a:gd name="T12" fmla="*/ 2064 h 20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064">
                  <a:moveTo>
                    <a:pt x="0" y="2064"/>
                  </a:moveTo>
                  <a:lnTo>
                    <a:pt x="0" y="0"/>
                  </a:lnTo>
                  <a:lnTo>
                    <a:pt x="72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4" name="Line 42">
              <a:extLst>
                <a:ext uri="{FF2B5EF4-FFF2-40B4-BE49-F238E27FC236}">
                  <a16:creationId xmlns:a16="http://schemas.microsoft.com/office/drawing/2014/main" id="{D8D92079-73DA-5397-F620-62FDCB338A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5" y="1973"/>
              <a:ext cx="457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5" name="Freeform 43">
              <a:extLst>
                <a:ext uri="{FF2B5EF4-FFF2-40B4-BE49-F238E27FC236}">
                  <a16:creationId xmlns:a16="http://schemas.microsoft.com/office/drawing/2014/main" id="{B5A5C44A-246D-37B7-F38A-09EF2DAE6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6" y="1454"/>
              <a:ext cx="396" cy="1342"/>
            </a:xfrm>
            <a:custGeom>
              <a:avLst/>
              <a:gdLst>
                <a:gd name="T0" fmla="*/ 0 w 720"/>
                <a:gd name="T1" fmla="*/ 3 h 2064"/>
                <a:gd name="T2" fmla="*/ 0 w 720"/>
                <a:gd name="T3" fmla="*/ 0 h 2064"/>
                <a:gd name="T4" fmla="*/ 1 w 720"/>
                <a:gd name="T5" fmla="*/ 0 h 2064"/>
                <a:gd name="T6" fmla="*/ 0 60000 65536"/>
                <a:gd name="T7" fmla="*/ 0 60000 65536"/>
                <a:gd name="T8" fmla="*/ 0 60000 65536"/>
                <a:gd name="T9" fmla="*/ 0 w 720"/>
                <a:gd name="T10" fmla="*/ 0 h 2064"/>
                <a:gd name="T11" fmla="*/ 720 w 720"/>
                <a:gd name="T12" fmla="*/ 2064 h 20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064">
                  <a:moveTo>
                    <a:pt x="0" y="2064"/>
                  </a:moveTo>
                  <a:lnTo>
                    <a:pt x="0" y="0"/>
                  </a:lnTo>
                  <a:lnTo>
                    <a:pt x="72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6" name="Freeform 44">
              <a:extLst>
                <a:ext uri="{FF2B5EF4-FFF2-40B4-BE49-F238E27FC236}">
                  <a16:creationId xmlns:a16="http://schemas.microsoft.com/office/drawing/2014/main" id="{C86A8047-F329-3FB1-4733-39130F8AC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637"/>
              <a:ext cx="152" cy="1007"/>
            </a:xfrm>
            <a:custGeom>
              <a:avLst/>
              <a:gdLst>
                <a:gd name="T0" fmla="*/ 0 w 720"/>
                <a:gd name="T1" fmla="*/ 0 h 2064"/>
                <a:gd name="T2" fmla="*/ 0 w 720"/>
                <a:gd name="T3" fmla="*/ 0 h 2064"/>
                <a:gd name="T4" fmla="*/ 0 w 720"/>
                <a:gd name="T5" fmla="*/ 0 h 2064"/>
                <a:gd name="T6" fmla="*/ 0 60000 65536"/>
                <a:gd name="T7" fmla="*/ 0 60000 65536"/>
                <a:gd name="T8" fmla="*/ 0 60000 65536"/>
                <a:gd name="T9" fmla="*/ 0 w 720"/>
                <a:gd name="T10" fmla="*/ 0 h 2064"/>
                <a:gd name="T11" fmla="*/ 720 w 720"/>
                <a:gd name="T12" fmla="*/ 2064 h 20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064">
                  <a:moveTo>
                    <a:pt x="0" y="2064"/>
                  </a:moveTo>
                  <a:lnTo>
                    <a:pt x="0" y="0"/>
                  </a:lnTo>
                  <a:lnTo>
                    <a:pt x="72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7" name="Freeform 45">
              <a:extLst>
                <a:ext uri="{FF2B5EF4-FFF2-40B4-BE49-F238E27FC236}">
                  <a16:creationId xmlns:a16="http://schemas.microsoft.com/office/drawing/2014/main" id="{A6DC0518-A89B-FB5C-F7AD-D7AA48D7A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095"/>
              <a:ext cx="152" cy="701"/>
            </a:xfrm>
            <a:custGeom>
              <a:avLst/>
              <a:gdLst>
                <a:gd name="T0" fmla="*/ 0 w 240"/>
                <a:gd name="T1" fmla="*/ 1 h 1104"/>
                <a:gd name="T2" fmla="*/ 1 w 240"/>
                <a:gd name="T3" fmla="*/ 1 h 1104"/>
                <a:gd name="T4" fmla="*/ 1 w 240"/>
                <a:gd name="T5" fmla="*/ 0 h 1104"/>
                <a:gd name="T6" fmla="*/ 1 w 240"/>
                <a:gd name="T7" fmla="*/ 0 h 1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40"/>
                <a:gd name="T13" fmla="*/ 0 h 1104"/>
                <a:gd name="T14" fmla="*/ 240 w 240"/>
                <a:gd name="T15" fmla="*/ 1104 h 1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40" h="1104">
                  <a:moveTo>
                    <a:pt x="0" y="1104"/>
                  </a:moveTo>
                  <a:lnTo>
                    <a:pt x="96" y="1104"/>
                  </a:lnTo>
                  <a:lnTo>
                    <a:pt x="96" y="0"/>
                  </a:lnTo>
                  <a:lnTo>
                    <a:pt x="24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8" name="Line 46">
              <a:extLst>
                <a:ext uri="{FF2B5EF4-FFF2-40B4-BE49-F238E27FC236}">
                  <a16:creationId xmlns:a16="http://schemas.microsoft.com/office/drawing/2014/main" id="{E99071DC-060D-1818-34AA-4C27F208B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6" y="1729"/>
              <a:ext cx="39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9" name="Line 47">
              <a:extLst>
                <a:ext uri="{FF2B5EF4-FFF2-40B4-BE49-F238E27FC236}">
                  <a16:creationId xmlns:a16="http://schemas.microsoft.com/office/drawing/2014/main" id="{DBCC9ABA-8398-2459-9D02-98EA28182B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0" y="2278"/>
              <a:ext cx="15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0" name="Line 48">
              <a:extLst>
                <a:ext uri="{FF2B5EF4-FFF2-40B4-BE49-F238E27FC236}">
                  <a16:creationId xmlns:a16="http://schemas.microsoft.com/office/drawing/2014/main" id="{B4676D55-1EB7-742B-E9B9-99DEAE7A8D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1" y="2369"/>
              <a:ext cx="9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81" name="Text Box 49">
              <a:extLst>
                <a:ext uri="{FF2B5EF4-FFF2-40B4-BE49-F238E27FC236}">
                  <a16:creationId xmlns:a16="http://schemas.microsoft.com/office/drawing/2014/main" id="{CD996117-B4FE-B793-99D7-30E3F891E0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8" y="1104"/>
              <a:ext cx="284" cy="1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16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U</a:t>
              </a:r>
              <a:r>
                <a:rPr lang="it-IT" altLang="it-IT" sz="2000" baseline="-25000"/>
                <a:t>0</a:t>
              </a:r>
              <a:endParaRPr lang="it-IT" altLang="it-IT" sz="2000"/>
            </a:p>
            <a:p>
              <a:pPr>
                <a:lnSpc>
                  <a:spcPct val="16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U</a:t>
              </a:r>
              <a:r>
                <a:rPr lang="it-IT" altLang="it-IT" sz="2000" baseline="-25000"/>
                <a:t>1</a:t>
              </a:r>
            </a:p>
            <a:p>
              <a:pPr>
                <a:lnSpc>
                  <a:spcPct val="16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U</a:t>
              </a:r>
              <a:r>
                <a:rPr lang="it-IT" altLang="it-IT" sz="2000" baseline="-25000"/>
                <a:t>2</a:t>
              </a:r>
            </a:p>
            <a:p>
              <a:pPr>
                <a:lnSpc>
                  <a:spcPct val="16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U</a:t>
              </a:r>
              <a:r>
                <a:rPr lang="it-IT" altLang="it-IT" sz="2000" baseline="-25000"/>
                <a:t>3</a:t>
              </a:r>
            </a:p>
          </p:txBody>
        </p:sp>
      </p:grpSp>
      <p:grpSp>
        <p:nvGrpSpPr>
          <p:cNvPr id="53251" name="Group 51">
            <a:extLst>
              <a:ext uri="{FF2B5EF4-FFF2-40B4-BE49-F238E27FC236}">
                <a16:creationId xmlns:a16="http://schemas.microsoft.com/office/drawing/2014/main" id="{F2707AB8-5C79-60A0-35E2-DAA6CD54B5D5}"/>
              </a:ext>
            </a:extLst>
          </p:cNvPr>
          <p:cNvGrpSpPr>
            <a:grpSpLocks/>
          </p:cNvGrpSpPr>
          <p:nvPr/>
        </p:nvGrpSpPr>
        <p:grpSpPr bwMode="auto">
          <a:xfrm>
            <a:off x="908050" y="2211388"/>
            <a:ext cx="1709738" cy="1714500"/>
            <a:chOff x="528" y="1393"/>
            <a:chExt cx="994" cy="1080"/>
          </a:xfrm>
        </p:grpSpPr>
        <p:sp>
          <p:nvSpPr>
            <p:cNvPr id="53255" name="Line 52">
              <a:extLst>
                <a:ext uri="{FF2B5EF4-FFF2-40B4-BE49-F238E27FC236}">
                  <a16:creationId xmlns:a16="http://schemas.microsoft.com/office/drawing/2014/main" id="{CCF620AF-CB00-3FB6-5B7E-B130ACCD3C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1" y="1393"/>
              <a:ext cx="60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6" name="Line 53">
              <a:extLst>
                <a:ext uri="{FF2B5EF4-FFF2-40B4-BE49-F238E27FC236}">
                  <a16:creationId xmlns:a16="http://schemas.microsoft.com/office/drawing/2014/main" id="{76775579-8E6C-FD55-0C74-AC354D3C6E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1" y="1692"/>
              <a:ext cx="60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7" name="Line 54">
              <a:extLst>
                <a:ext uri="{FF2B5EF4-FFF2-40B4-BE49-F238E27FC236}">
                  <a16:creationId xmlns:a16="http://schemas.microsoft.com/office/drawing/2014/main" id="{07568313-5018-D84A-C546-FC5D76EB1F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1" y="2034"/>
              <a:ext cx="601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8" name="Line 55">
              <a:extLst>
                <a:ext uri="{FF2B5EF4-FFF2-40B4-BE49-F238E27FC236}">
                  <a16:creationId xmlns:a16="http://schemas.microsoft.com/office/drawing/2014/main" id="{45AD57FD-125B-780B-7CFF-AB3EAA1A4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10" y="2333"/>
              <a:ext cx="70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59" name="Line 56">
              <a:extLst>
                <a:ext uri="{FF2B5EF4-FFF2-40B4-BE49-F238E27FC236}">
                  <a16:creationId xmlns:a16="http://schemas.microsoft.com/office/drawing/2014/main" id="{2D9139E1-B55A-045B-F958-4B78803FD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1393"/>
              <a:ext cx="0" cy="94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60" name="Text Box 57">
              <a:extLst>
                <a:ext uri="{FF2B5EF4-FFF2-40B4-BE49-F238E27FC236}">
                  <a16:creationId xmlns:a16="http://schemas.microsoft.com/office/drawing/2014/main" id="{353FCB1E-E49C-3CDB-833D-01361E886D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2223"/>
              <a:ext cx="33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defTabSz="762000"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000"/>
                <a:t>EN</a:t>
              </a:r>
              <a:endParaRPr lang="it-IT" altLang="it-IT" sz="2400"/>
            </a:p>
          </p:txBody>
        </p:sp>
      </p:grpSp>
      <p:sp>
        <p:nvSpPr>
          <p:cNvPr id="53252" name="Text Box 58">
            <a:extLst>
              <a:ext uri="{FF2B5EF4-FFF2-40B4-BE49-F238E27FC236}">
                <a16:creationId xmlns:a16="http://schemas.microsoft.com/office/drawing/2014/main" id="{4A2BEBAC-AA02-5EF4-7C76-F499CABF6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588" y="5127625"/>
            <a:ext cx="977741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/>
              <a:t>Quando EN=1 (segnale di abilitazione), vale 1 l</a:t>
            </a:r>
            <a:r>
              <a:rPr lang="ja-JP" altLang="it-IT" sz="2400"/>
              <a:t>’</a:t>
            </a:r>
            <a:r>
              <a:rPr lang="it-IT" altLang="ja-JP" sz="2400"/>
              <a:t>uscita il cui pedice, in decimale, corrisponde al numero binario in ingresso (</a:t>
            </a:r>
            <a:r>
              <a:rPr lang="it-IT" altLang="ja-JP" sz="2400" b="0"/>
              <a:t>A bit di minor peso</a:t>
            </a:r>
            <a:r>
              <a:rPr lang="it-IT" altLang="ja-JP" sz="2400"/>
              <a:t>).</a:t>
            </a:r>
            <a:endParaRPr lang="it-IT" altLang="it-IT" sz="3600"/>
          </a:p>
        </p:txBody>
      </p:sp>
      <p:sp>
        <p:nvSpPr>
          <p:cNvPr id="326715" name="Text Box 59">
            <a:extLst>
              <a:ext uri="{FF2B5EF4-FFF2-40B4-BE49-F238E27FC236}">
                <a16:creationId xmlns:a16="http://schemas.microsoft.com/office/drawing/2014/main" id="{BC95106B-4F95-225D-A9C4-0DA0764DC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550" y="2211388"/>
            <a:ext cx="1593850" cy="2244725"/>
          </a:xfrm>
          <a:prstGeom prst="rect">
            <a:avLst/>
          </a:prstGeom>
          <a:solidFill>
            <a:srgbClr val="DDDDDD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defTabSz="76200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defTabSz="7620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defTabSz="7620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SN74139 (MSI) 	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    	     U</a:t>
            </a:r>
            <a:r>
              <a:rPr lang="it-IT" altLang="it-IT" sz="2000" baseline="-25000"/>
              <a:t>0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                U</a:t>
            </a:r>
            <a:r>
              <a:rPr lang="it-IT" altLang="it-IT" sz="2000" baseline="-25000"/>
              <a:t>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EN	     U</a:t>
            </a:r>
            <a:r>
              <a:rPr lang="it-IT" altLang="it-IT" sz="2000" baseline="-25000"/>
              <a:t>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A 	     U</a:t>
            </a:r>
            <a:r>
              <a:rPr lang="it-IT" altLang="it-IT" sz="2000" baseline="-25000"/>
              <a:t>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B</a:t>
            </a:r>
          </a:p>
        </p:txBody>
      </p:sp>
      <p:sp>
        <p:nvSpPr>
          <p:cNvPr id="53254" name="Segnaposto numero diapositiva 57">
            <a:extLst>
              <a:ext uri="{FF2B5EF4-FFF2-40B4-BE49-F238E27FC236}">
                <a16:creationId xmlns:a16="http://schemas.microsoft.com/office/drawing/2014/main" id="{8305B0AB-07F8-C516-4E50-BDD3131F2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2F4B61-39BA-4874-893B-2686EBB7F5C3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it-IT" altLang="it-IT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67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Volo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6715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F6EA3C75-17EE-7757-E76C-2B686B0D6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3" y="214313"/>
            <a:ext cx="8674100" cy="4445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Decodificatore binario (1/2)	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8C2C4B7A-9693-A5F5-7C1D-C0EB38014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1013" y="1431925"/>
            <a:ext cx="9191625" cy="4816475"/>
          </a:xfrm>
        </p:spPr>
        <p:txBody>
          <a:bodyPr/>
          <a:lstStyle/>
          <a:p>
            <a:pPr algn="just" eaLnBrk="1" hangingPunct="1"/>
            <a:r>
              <a:rPr lang="it-IT" altLang="it-IT" b="1">
                <a:ea typeface="ＭＳ Ｐゴシック" panose="020B0600070205080204" pitchFamily="34" charset="-128"/>
              </a:rPr>
              <a:t>Decoder Binario</a:t>
            </a:r>
          </a:p>
          <a:p>
            <a:pPr lvl="1" algn="just" eaLnBrk="1" hangingPunct="1"/>
            <a:r>
              <a:rPr lang="it-IT" altLang="it-IT" i="1">
                <a:ea typeface="ＭＳ Ｐゴシック" panose="020B0600070205080204" pitchFamily="34" charset="-128"/>
              </a:rPr>
              <a:t>m </a:t>
            </a:r>
            <a:r>
              <a:rPr lang="it-IT" altLang="it-IT">
                <a:ea typeface="ＭＳ Ｐゴシック" panose="020B0600070205080204" pitchFamily="34" charset="-128"/>
              </a:rPr>
              <a:t>ingressi binari su cui è inviata la parola codice,</a:t>
            </a:r>
          </a:p>
          <a:p>
            <a:pPr lvl="1" algn="just" eaLnBrk="1" hangingPunct="1"/>
            <a:r>
              <a:rPr lang="it-IT" altLang="it-IT">
                <a:ea typeface="ＭＳ Ｐゴシック" panose="020B0600070205080204" pitchFamily="34" charset="-128"/>
              </a:rPr>
              <a:t>ingresso di abilitazione </a:t>
            </a:r>
            <a:r>
              <a:rPr lang="it-IT" altLang="it-IT">
                <a:latin typeface="Symbol" panose="05050102010706020507" pitchFamily="18" charset="2"/>
                <a:ea typeface="ＭＳ Ｐゴシック" panose="020B0600070205080204" pitchFamily="34" charset="-128"/>
              </a:rPr>
              <a:t>a</a:t>
            </a:r>
            <a:r>
              <a:rPr lang="it-IT" altLang="it-IT" i="1">
                <a:ea typeface="ＭＳ Ｐゴシック" panose="020B0600070205080204" pitchFamily="34" charset="-128"/>
              </a:rPr>
              <a:t> (opzionale)</a:t>
            </a:r>
          </a:p>
          <a:p>
            <a:pPr lvl="1" algn="just" eaLnBrk="1" hangingPunct="1"/>
            <a:r>
              <a:rPr lang="it-IT" altLang="it-IT" i="1">
                <a:ea typeface="ＭＳ Ｐゴシック" panose="020B0600070205080204" pitchFamily="34" charset="-128"/>
              </a:rPr>
              <a:t>n </a:t>
            </a:r>
            <a:r>
              <a:rPr lang="it-IT" altLang="it-IT">
                <a:ea typeface="ＭＳ Ｐゴシック" panose="020B0600070205080204" pitchFamily="34" charset="-128"/>
              </a:rPr>
              <a:t>uscite (n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≤2</a:t>
            </a:r>
            <a:r>
              <a:rPr lang="it-IT" altLang="it-IT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 eaLnBrk="1" hangingPunct="1"/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 eaLnBrk="1" hangingPunct="1"/>
            <a:endParaRPr lang="it-IT" altLang="it-IT" sz="36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5299" name="Rectangle 4">
            <a:extLst>
              <a:ext uri="{FF2B5EF4-FFF2-40B4-BE49-F238E27FC236}">
                <a16:creationId xmlns:a16="http://schemas.microsoft.com/office/drawing/2014/main" id="{98DE0247-4FCF-F964-2D5D-CBB3680CC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pic>
        <p:nvPicPr>
          <p:cNvPr id="55300" name="Picture 8">
            <a:extLst>
              <a:ext uri="{FF2B5EF4-FFF2-40B4-BE49-F238E27FC236}">
                <a16:creationId xmlns:a16="http://schemas.microsoft.com/office/drawing/2014/main" id="{E4214391-1478-1283-9787-EEBD49ADC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877" r="56761" b="25014"/>
          <a:stretch>
            <a:fillRect/>
          </a:stretch>
        </p:blipFill>
        <p:spPr bwMode="auto">
          <a:xfrm>
            <a:off x="4343400" y="3505200"/>
            <a:ext cx="3227388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5301" name="Segnaposto numero diapositiva 5">
            <a:extLst>
              <a:ext uri="{FF2B5EF4-FFF2-40B4-BE49-F238E27FC236}">
                <a16:creationId xmlns:a16="http://schemas.microsoft.com/office/drawing/2014/main" id="{1A6C9792-EB22-4308-ACE3-50B35166B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311C35C-F516-4F93-93C7-7F01402F9B8C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32</a:t>
            </a:fld>
            <a:endParaRPr lang="it-IT" altLang="it-IT"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egnaposto numero diapositiva 3">
            <a:extLst>
              <a:ext uri="{FF2B5EF4-FFF2-40B4-BE49-F238E27FC236}">
                <a16:creationId xmlns:a16="http://schemas.microsoft.com/office/drawing/2014/main" id="{2FA951FE-6B0D-9747-0D09-7A0FADB83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672E5B2-6648-4534-A8CD-8BCF27BBB7D0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33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4DDAFBD1-D190-E433-A70E-734156E8B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Decodificatore binario (2/2)	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952CD451-57CF-EEE9-6EBD-64246405EF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" y="1301750"/>
            <a:ext cx="9190038" cy="4816475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</a:pPr>
            <a:r>
              <a:rPr lang="it-IT" altLang="it-IT" b="1">
                <a:solidFill>
                  <a:srgbClr val="FF3300"/>
                </a:solidFill>
                <a:ea typeface="ＭＳ Ｐゴシック" panose="020B0600070205080204" pitchFamily="34" charset="-128"/>
              </a:rPr>
              <a:t>Decoder Binario Completo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=2</a:t>
            </a:r>
            <a:r>
              <a:rPr lang="it-IT" altLang="it-IT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 i="1">
                <a:ea typeface="ＭＳ Ｐゴシック" panose="020B0600070205080204" pitchFamily="34" charset="-128"/>
              </a:rPr>
              <a:t>F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0</a:t>
            </a:r>
            <a:r>
              <a:rPr lang="it-IT" altLang="it-IT" i="1">
                <a:ea typeface="ＭＳ Ｐゴシック" panose="020B0600070205080204" pitchFamily="34" charset="-128"/>
              </a:rPr>
              <a:t> = P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0</a:t>
            </a:r>
            <a:r>
              <a:rPr lang="it-IT" altLang="it-IT" i="1">
                <a:ea typeface="ＭＳ Ｐゴシック" panose="020B0600070205080204" pitchFamily="34" charset="-128"/>
              </a:rPr>
              <a:t>;   F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1</a:t>
            </a:r>
            <a:r>
              <a:rPr lang="it-IT" altLang="it-IT" i="1">
                <a:ea typeface="ＭＳ Ｐゴシック" panose="020B0600070205080204" pitchFamily="34" charset="-128"/>
              </a:rPr>
              <a:t> = P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1</a:t>
            </a:r>
            <a:r>
              <a:rPr lang="it-IT" altLang="it-IT" i="1">
                <a:ea typeface="ＭＳ Ｐゴシック" panose="020B0600070205080204" pitchFamily="34" charset="-128"/>
              </a:rPr>
              <a:t>; . . .; F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n-1</a:t>
            </a:r>
            <a:r>
              <a:rPr lang="it-IT" altLang="it-IT" i="1">
                <a:ea typeface="ＭＳ Ｐゴシック" panose="020B0600070205080204" pitchFamily="34" charset="-128"/>
              </a:rPr>
              <a:t> = P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n-1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 b="1">
                <a:ea typeface="ＭＳ Ｐゴシック" panose="020B0600070205080204" pitchFamily="34" charset="-128"/>
              </a:rPr>
              <a:t>Equazione</a:t>
            </a:r>
            <a:r>
              <a:rPr lang="it-IT" altLang="it-IT" i="1">
                <a:ea typeface="ＭＳ Ｐゴシック" panose="020B0600070205080204" pitchFamily="34" charset="-128"/>
              </a:rPr>
              <a:t> </a:t>
            </a:r>
          </a:p>
          <a:p>
            <a:pPr lvl="1" algn="ctr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it-IT" altLang="it-IT" i="1">
                <a:ea typeface="ＭＳ Ｐゴシック" panose="020B0600070205080204" pitchFamily="34" charset="-128"/>
              </a:rPr>
              <a:t>F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 </a:t>
            </a:r>
            <a:r>
              <a:rPr lang="it-IT" altLang="it-IT" i="1">
                <a:ea typeface="ＭＳ Ｐゴシック" panose="020B0600070205080204" pitchFamily="34" charset="-128"/>
              </a:rPr>
              <a:t>= a 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•</a:t>
            </a:r>
            <a:r>
              <a:rPr lang="it-IT" altLang="it-IT" i="1">
                <a:ea typeface="ＭＳ Ｐゴシック" panose="020B0600070205080204" pitchFamily="34" charset="-128"/>
              </a:rPr>
              <a:t> P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 </a:t>
            </a:r>
            <a:r>
              <a:rPr lang="it-IT" altLang="it-IT" i="1">
                <a:ea typeface="ＭＳ Ｐゴシック" panose="020B0600070205080204" pitchFamily="34" charset="-128"/>
              </a:rPr>
              <a:t>   i Є [0, 2</a:t>
            </a:r>
            <a:r>
              <a:rPr lang="it-IT" altLang="it-IT" i="1" baseline="30000">
                <a:ea typeface="ＭＳ Ｐゴシック" panose="020B0600070205080204" pitchFamily="34" charset="-128"/>
              </a:rPr>
              <a:t>n</a:t>
            </a:r>
            <a:r>
              <a:rPr lang="it-IT" altLang="it-IT" i="1">
                <a:ea typeface="ＭＳ Ｐゴシック" panose="020B0600070205080204" pitchFamily="34" charset="-128"/>
              </a:rPr>
              <a:t>-1]</a:t>
            </a:r>
            <a:r>
              <a:rPr lang="it-IT" altLang="it-IT">
                <a:ea typeface="ＭＳ Ｐゴシック" panose="020B0600070205080204" pitchFamily="34" charset="-128"/>
              </a:rPr>
              <a:t> </a:t>
            </a:r>
            <a:r>
              <a:rPr lang="it-IT" altLang="it-IT" sz="2800" i="1">
                <a:ea typeface="ＭＳ Ｐゴシック" panose="020B0600070205080204" pitchFamily="34" charset="-128"/>
              </a:rPr>
              <a:t>  </a:t>
            </a:r>
            <a:r>
              <a:rPr lang="it-IT" altLang="it-IT" sz="2000" i="1">
                <a:ea typeface="ＭＳ Ｐゴシック" panose="020B0600070205080204" pitchFamily="34" charset="-128"/>
              </a:rPr>
              <a:t> (1-att)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è indipendente dal particolare codice da decodificare</a:t>
            </a: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b="1">
                <a:solidFill>
                  <a:srgbClr val="FF3300"/>
                </a:solidFill>
                <a:ea typeface="ＭＳ Ｐゴシック" panose="020B0600070205080204" pitchFamily="34" charset="-128"/>
              </a:rPr>
              <a:t>Decoder Binario Incompleto</a:t>
            </a: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&lt;2</a:t>
            </a:r>
            <a:r>
              <a:rPr lang="it-IT" altLang="it-IT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m</a:t>
            </a: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Si pone n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=</a:t>
            </a:r>
            <a:r>
              <a:rPr lang="it-IT" altLang="ja-JP">
                <a:ea typeface="ＭＳ Ｐゴシック" panose="020B0600070205080204" pitchFamily="34" charset="-128"/>
                <a:cs typeface="Arial" panose="020B0604020202020204" pitchFamily="34" charset="0"/>
              </a:rPr>
              <a:t>2</a:t>
            </a:r>
            <a:r>
              <a:rPr lang="it-IT" altLang="ja-JP" baseline="30000">
                <a:ea typeface="ＭＳ Ｐゴシック" panose="020B0600070205080204" pitchFamily="34" charset="-128"/>
                <a:cs typeface="Arial" panose="020B0604020202020204" pitchFamily="34" charset="0"/>
              </a:rPr>
              <a:t>m </a:t>
            </a:r>
            <a:r>
              <a:rPr lang="it-IT" altLang="ja-JP">
                <a:ea typeface="ＭＳ Ｐゴシック" panose="020B0600070205080204" pitchFamily="34" charset="-128"/>
                <a:cs typeface="Arial" panose="020B0604020202020204" pitchFamily="34" charset="0"/>
              </a:rPr>
              <a:t>e si realizza la rete come sottorete della rete completa</a:t>
            </a:r>
            <a:endParaRPr lang="it-IT" altLang="ja-JP" b="1">
              <a:solidFill>
                <a:schemeClr val="accent1"/>
              </a:solidFill>
              <a:ea typeface="ＭＳ Ｐゴシック" panose="020B0600070205080204" pitchFamily="34" charset="-128"/>
            </a:endParaRPr>
          </a:p>
          <a:p>
            <a:pPr lvl="1" algn="just" eaLnBrk="1" hangingPunct="1">
              <a:lnSpc>
                <a:spcPct val="8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è dipendente dal particolare codice da decodificare</a:t>
            </a:r>
            <a:endParaRPr lang="it-IT" altLang="it-IT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lvl="1" algn="just" eaLnBrk="1" hangingPunct="1">
              <a:lnSpc>
                <a:spcPct val="80000"/>
              </a:lnSpc>
            </a:pPr>
            <a:endParaRPr lang="it-IT" altLang="it-IT" sz="28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</a:pPr>
            <a:endParaRPr lang="it-IT" altLang="it-IT" sz="3200"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algn="just" eaLnBrk="1" hangingPunct="1">
              <a:lnSpc>
                <a:spcPct val="80000"/>
              </a:lnSpc>
            </a:pPr>
            <a:endParaRPr lang="it-IT" altLang="it-IT" sz="4000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6324" name="Rectangle 4">
            <a:extLst>
              <a:ext uri="{FF2B5EF4-FFF2-40B4-BE49-F238E27FC236}">
                <a16:creationId xmlns:a16="http://schemas.microsoft.com/office/drawing/2014/main" id="{A22486EF-B61B-5493-68F8-B1C6252BE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egnaposto numero diapositiva 3">
            <a:extLst>
              <a:ext uri="{FF2B5EF4-FFF2-40B4-BE49-F238E27FC236}">
                <a16:creationId xmlns:a16="http://schemas.microsoft.com/office/drawing/2014/main" id="{11A40A64-7163-BB2A-4B83-A4C35F3B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8BC4ACD-F790-4A8F-B253-027EC61066BF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34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FD8B716F-113A-1563-D072-2CB907B761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Decodificatore incompleto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9EF93D1D-3E7C-5A71-CD43-EB75BB5824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solidFill>
                  <a:srgbClr val="FF0000"/>
                </a:solidFill>
                <a:ea typeface="ＭＳ Ｐゴシック" panose="020B0600070205080204" pitchFamily="34" charset="-128"/>
              </a:rPr>
              <a:t>Decoder ad hoc per il codice 8-4-2-1 (per cifre decimali)</a:t>
            </a:r>
          </a:p>
        </p:txBody>
      </p:sp>
      <p:sp>
        <p:nvSpPr>
          <p:cNvPr id="58372" name="Rectangle 6">
            <a:extLst>
              <a:ext uri="{FF2B5EF4-FFF2-40B4-BE49-F238E27FC236}">
                <a16:creationId xmlns:a16="http://schemas.microsoft.com/office/drawing/2014/main" id="{51BA0E66-5576-C879-5067-6371500C3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71813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58373" name="Object 5">
            <a:extLst>
              <a:ext uri="{FF2B5EF4-FFF2-40B4-BE49-F238E27FC236}">
                <a16:creationId xmlns:a16="http://schemas.microsoft.com/office/drawing/2014/main" id="{FD92C286-9A6A-43B4-807E-D4016C860A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850" y="2490788"/>
          <a:ext cx="5803900" cy="1471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DSMT4">
                  <p:embed/>
                </p:oleObj>
              </mc:Choice>
              <mc:Fallback>
                <p:oleObj name="Equation" r:id="rId3" imgW="0" imgH="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490788"/>
                        <a:ext cx="5803900" cy="1471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4" name="Rectangle 9">
            <a:extLst>
              <a:ext uri="{FF2B5EF4-FFF2-40B4-BE49-F238E27FC236}">
                <a16:creationId xmlns:a16="http://schemas.microsoft.com/office/drawing/2014/main" id="{0C12FC42-04F1-915D-1740-29F778FD8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313" y="4711700"/>
            <a:ext cx="959643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b="0">
                <a:solidFill>
                  <a:schemeClr val="tx2"/>
                </a:solidFill>
              </a:rPr>
              <a:t>La rete così ottenuta ha un numero di porte </a:t>
            </a:r>
            <a:r>
              <a:rPr lang="it-IT" altLang="it-IT" b="0" i="1">
                <a:solidFill>
                  <a:schemeClr val="tx2"/>
                </a:solidFill>
              </a:rPr>
              <a:t>and </a:t>
            </a:r>
            <a:r>
              <a:rPr lang="it-IT" altLang="it-IT" b="0">
                <a:solidFill>
                  <a:schemeClr val="tx2"/>
                </a:solidFill>
              </a:rPr>
              <a:t>uguale alla rete realizzata come sottorete di rete completa, ma non tutte le sue porte sono a 4 ingressi e quindi è di costo </a:t>
            </a:r>
            <a:r>
              <a:rPr lang="it-IT" altLang="it-IT" b="0" i="1">
                <a:solidFill>
                  <a:schemeClr val="tx2"/>
                </a:solidFill>
              </a:rPr>
              <a:t>Ci </a:t>
            </a:r>
            <a:r>
              <a:rPr lang="it-IT" altLang="it-IT" b="0">
                <a:solidFill>
                  <a:schemeClr val="tx2"/>
                </a:solidFill>
              </a:rPr>
              <a:t>inferiore</a:t>
            </a:r>
            <a:r>
              <a:rPr lang="it-IT" altLang="it-IT" b="0"/>
              <a:t>.</a:t>
            </a:r>
            <a:r>
              <a:rPr lang="it-IT" altLang="it-IT"/>
              <a:t> </a:t>
            </a:r>
          </a:p>
        </p:txBody>
      </p:sp>
      <p:graphicFrame>
        <p:nvGraphicFramePr>
          <p:cNvPr id="263244" name="Group 76">
            <a:extLst>
              <a:ext uri="{FF2B5EF4-FFF2-40B4-BE49-F238E27FC236}">
                <a16:creationId xmlns:a16="http://schemas.microsoft.com/office/drawing/2014/main" id="{516FEBFC-62C1-4D0E-1DE8-4E68941AF83E}"/>
              </a:ext>
            </a:extLst>
          </p:cNvPr>
          <p:cNvGraphicFramePr>
            <a:graphicFrameLocks noGrp="1"/>
          </p:cNvGraphicFramePr>
          <p:nvPr/>
        </p:nvGraphicFramePr>
        <p:xfrm>
          <a:off x="7183438" y="2493963"/>
          <a:ext cx="1647825" cy="1760538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0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4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8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5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9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3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7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2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F</a:t>
                      </a:r>
                      <a:r>
                        <a:rPr kumimoji="0" lang="it-IT" sz="1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6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-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8402" name="Line 67">
            <a:extLst>
              <a:ext uri="{FF2B5EF4-FFF2-40B4-BE49-F238E27FC236}">
                <a16:creationId xmlns:a16="http://schemas.microsoft.com/office/drawing/2014/main" id="{5CF944F8-3F55-3FCA-F24E-37E0E383D0D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11975" y="2309813"/>
            <a:ext cx="271463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8403" name="Text Box 68">
            <a:extLst>
              <a:ext uri="{FF2B5EF4-FFF2-40B4-BE49-F238E27FC236}">
                <a16:creationId xmlns:a16="http://schemas.microsoft.com/office/drawing/2014/main" id="{C4D12F3E-C16D-C760-17CA-D1427E87D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3125" y="2246313"/>
            <a:ext cx="16557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400"/>
              <a:t>00    01     11     10</a:t>
            </a:r>
          </a:p>
        </p:txBody>
      </p:sp>
      <p:sp>
        <p:nvSpPr>
          <p:cNvPr id="58404" name="Text Box 69">
            <a:extLst>
              <a:ext uri="{FF2B5EF4-FFF2-40B4-BE49-F238E27FC236}">
                <a16:creationId xmlns:a16="http://schemas.microsoft.com/office/drawing/2014/main" id="{7CEAAEC3-5CE6-801F-2CF6-D14183ECE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925" y="2584450"/>
            <a:ext cx="434975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00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01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11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10</a:t>
            </a:r>
          </a:p>
        </p:txBody>
      </p:sp>
      <p:sp>
        <p:nvSpPr>
          <p:cNvPr id="58405" name="Text Box 70">
            <a:extLst>
              <a:ext uri="{FF2B5EF4-FFF2-40B4-BE49-F238E27FC236}">
                <a16:creationId xmlns:a16="http://schemas.microsoft.com/office/drawing/2014/main" id="{BEFD17C5-9560-8959-5707-39773EB9A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8788" y="1939925"/>
            <a:ext cx="1358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/>
              <a:t>C</a:t>
            </a:r>
            <a:r>
              <a:rPr lang="it-IT" altLang="it-IT" sz="1800" baseline="-25000"/>
              <a:t>3</a:t>
            </a:r>
            <a:r>
              <a:rPr lang="it-IT" altLang="it-IT" sz="1800"/>
              <a:t>C</a:t>
            </a:r>
            <a:r>
              <a:rPr lang="it-IT" altLang="it-IT" sz="1800" baseline="-25000"/>
              <a:t>2</a:t>
            </a:r>
          </a:p>
        </p:txBody>
      </p:sp>
      <p:sp>
        <p:nvSpPr>
          <p:cNvPr id="58406" name="Text Box 71">
            <a:extLst>
              <a:ext uri="{FF2B5EF4-FFF2-40B4-BE49-F238E27FC236}">
                <a16:creationId xmlns:a16="http://schemas.microsoft.com/office/drawing/2014/main" id="{A446F18D-10F3-34DD-87F2-2AA4A13D5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363" y="2306638"/>
            <a:ext cx="9096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/>
              <a:t>C</a:t>
            </a:r>
            <a:r>
              <a:rPr lang="it-IT" altLang="it-IT" sz="1800" baseline="-25000"/>
              <a:t>1</a:t>
            </a:r>
            <a:r>
              <a:rPr lang="it-IT" altLang="it-IT" sz="1800"/>
              <a:t>C</a:t>
            </a:r>
            <a:r>
              <a:rPr lang="it-IT" altLang="it-IT" sz="1800" baseline="-25000"/>
              <a:t>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egnaposto numero diapositiva 3">
            <a:extLst>
              <a:ext uri="{FF2B5EF4-FFF2-40B4-BE49-F238E27FC236}">
                <a16:creationId xmlns:a16="http://schemas.microsoft.com/office/drawing/2014/main" id="{6B00C2F6-D809-D305-C6A5-FCB0A1358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2632A560-9D9E-4C98-AD52-E267262F1E57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35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60418" name="Rectangle 7">
            <a:extLst>
              <a:ext uri="{FF2B5EF4-FFF2-40B4-BE49-F238E27FC236}">
                <a16:creationId xmlns:a16="http://schemas.microsoft.com/office/drawing/2014/main" id="{D1CB9DDE-20F5-4024-B1B4-A3D04EB634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8915400" cy="481647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Più decoder possono essere composti…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Semiselezione (4/16)</a:t>
            </a: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1818969B-791C-872F-588F-2F58EE52D5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Decodificatori composti</a:t>
            </a:r>
          </a:p>
        </p:txBody>
      </p:sp>
      <p:sp>
        <p:nvSpPr>
          <p:cNvPr id="60420" name="Text Box 10">
            <a:extLst>
              <a:ext uri="{FF2B5EF4-FFF2-40B4-BE49-F238E27FC236}">
                <a16:creationId xmlns:a16="http://schemas.microsoft.com/office/drawing/2014/main" id="{E3C9B380-4EA2-2482-3088-4C3AD6510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9775" y="2476500"/>
            <a:ext cx="3384550" cy="246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>
                <a:solidFill>
                  <a:srgbClr val="FF0000"/>
                </a:solidFill>
              </a:rPr>
              <a:t>Es: 2 decodificatori di metà ampiezza (4 uscite)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>
                <a:solidFill>
                  <a:srgbClr val="FF0000"/>
                </a:solidFill>
              </a:rPr>
              <a:t>1 porta AND per ciascuna delle uscite </a:t>
            </a:r>
          </a:p>
        </p:txBody>
      </p:sp>
      <p:pic>
        <p:nvPicPr>
          <p:cNvPr id="60421" name="Picture 11">
            <a:extLst>
              <a:ext uri="{FF2B5EF4-FFF2-40B4-BE49-F238E27FC236}">
                <a16:creationId xmlns:a16="http://schemas.microsoft.com/office/drawing/2014/main" id="{4CB52A38-EEF5-E25B-AE39-EEBAB4C7D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2347913"/>
            <a:ext cx="4483100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22" name="CasellaDiTesto 6">
            <a:extLst>
              <a:ext uri="{FF2B5EF4-FFF2-40B4-BE49-F238E27FC236}">
                <a16:creationId xmlns:a16="http://schemas.microsoft.com/office/drawing/2014/main" id="{AA24C217-9737-1773-6529-9EA0185D5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86125"/>
            <a:ext cx="419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0</a:t>
            </a:r>
          </a:p>
        </p:txBody>
      </p:sp>
      <p:sp>
        <p:nvSpPr>
          <p:cNvPr id="60423" name="CasellaDiTesto 7">
            <a:extLst>
              <a:ext uri="{FF2B5EF4-FFF2-40B4-BE49-F238E27FC236}">
                <a16:creationId xmlns:a16="http://schemas.microsoft.com/office/drawing/2014/main" id="{0FFB702B-B12F-0C4D-B915-644105AB4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608388"/>
            <a:ext cx="4191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1</a:t>
            </a:r>
          </a:p>
        </p:txBody>
      </p:sp>
      <p:sp>
        <p:nvSpPr>
          <p:cNvPr id="60424" name="CasellaDiTesto 8">
            <a:extLst>
              <a:ext uri="{FF2B5EF4-FFF2-40B4-BE49-F238E27FC236}">
                <a16:creationId xmlns:a16="http://schemas.microsoft.com/office/drawing/2014/main" id="{4D05C676-CECB-A11F-B5C1-6389D321C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895725"/>
            <a:ext cx="419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2</a:t>
            </a:r>
          </a:p>
        </p:txBody>
      </p:sp>
      <p:sp>
        <p:nvSpPr>
          <p:cNvPr id="60425" name="CasellaDiTesto 9">
            <a:extLst>
              <a:ext uri="{FF2B5EF4-FFF2-40B4-BE49-F238E27FC236}">
                <a16:creationId xmlns:a16="http://schemas.microsoft.com/office/drawing/2014/main" id="{5309CF07-9A15-2D4F-1F5B-C13986C6C8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217988"/>
            <a:ext cx="4191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3</a:t>
            </a:r>
          </a:p>
        </p:txBody>
      </p:sp>
      <p:sp>
        <p:nvSpPr>
          <p:cNvPr id="60426" name="CasellaDiTesto 10">
            <a:extLst>
              <a:ext uri="{FF2B5EF4-FFF2-40B4-BE49-F238E27FC236}">
                <a16:creationId xmlns:a16="http://schemas.microsoft.com/office/drawing/2014/main" id="{3E2E4193-35EF-82E0-0124-89176BDF0E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5800725"/>
            <a:ext cx="419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4</a:t>
            </a:r>
          </a:p>
        </p:txBody>
      </p:sp>
      <p:sp>
        <p:nvSpPr>
          <p:cNvPr id="60427" name="CasellaDiTesto 11">
            <a:extLst>
              <a:ext uri="{FF2B5EF4-FFF2-40B4-BE49-F238E27FC236}">
                <a16:creationId xmlns:a16="http://schemas.microsoft.com/office/drawing/2014/main" id="{F5374CB3-DA91-9C88-4D52-CE453F092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7100" y="5818188"/>
            <a:ext cx="419100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5</a:t>
            </a:r>
          </a:p>
        </p:txBody>
      </p:sp>
      <p:sp>
        <p:nvSpPr>
          <p:cNvPr id="60428" name="CasellaDiTesto 12">
            <a:extLst>
              <a:ext uri="{FF2B5EF4-FFF2-40B4-BE49-F238E27FC236}">
                <a16:creationId xmlns:a16="http://schemas.microsoft.com/office/drawing/2014/main" id="{483BB765-6E78-14F1-C77E-127E56C89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791200"/>
            <a:ext cx="4191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6</a:t>
            </a:r>
          </a:p>
        </p:txBody>
      </p:sp>
      <p:sp>
        <p:nvSpPr>
          <p:cNvPr id="60429" name="CasellaDiTesto 13">
            <a:extLst>
              <a:ext uri="{FF2B5EF4-FFF2-40B4-BE49-F238E27FC236}">
                <a16:creationId xmlns:a16="http://schemas.microsoft.com/office/drawing/2014/main" id="{97CE224E-1B8B-E5D0-B7DB-B4EB80932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5807075"/>
            <a:ext cx="4191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200"/>
              <a:t>a</a:t>
            </a:r>
            <a:r>
              <a:rPr lang="it-IT" altLang="it-IT" sz="2200" baseline="-25000"/>
              <a:t>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egnaposto numero diapositiva 3">
            <a:extLst>
              <a:ext uri="{FF2B5EF4-FFF2-40B4-BE49-F238E27FC236}">
                <a16:creationId xmlns:a16="http://schemas.microsoft.com/office/drawing/2014/main" id="{D82C228D-DC6D-CDE4-C560-39090CF51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668C356-263C-45E1-8921-761328610CF4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36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17BB2258-F09A-6B5E-0FBB-79DA5DC0EE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39738" y="1339850"/>
            <a:ext cx="8915400" cy="4816475"/>
          </a:xfrm>
        </p:spPr>
        <p:txBody>
          <a:bodyPr/>
          <a:lstStyle/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Schema ad albero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7BB504D5-2F17-6383-B0E6-481802234F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Decodificatori composti</a:t>
            </a:r>
          </a:p>
        </p:txBody>
      </p:sp>
      <p:pic>
        <p:nvPicPr>
          <p:cNvPr id="61444" name="Picture 6">
            <a:extLst>
              <a:ext uri="{FF2B5EF4-FFF2-40B4-BE49-F238E27FC236}">
                <a16:creationId xmlns:a16="http://schemas.microsoft.com/office/drawing/2014/main" id="{BFE42532-B8BE-33B3-2D29-35AD54A2C8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19" t="12968" r="50586" b="12968"/>
          <a:stretch>
            <a:fillRect/>
          </a:stretch>
        </p:blipFill>
        <p:spPr bwMode="auto">
          <a:xfrm>
            <a:off x="709613" y="1985963"/>
            <a:ext cx="4235450" cy="443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45" name="Text Box 8">
            <a:extLst>
              <a:ext uri="{FF2B5EF4-FFF2-40B4-BE49-F238E27FC236}">
                <a16:creationId xmlns:a16="http://schemas.microsoft.com/office/drawing/2014/main" id="{EFE5A571-2F49-E932-A725-8D5000F7E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863" y="1816100"/>
            <a:ext cx="3903662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801688" indent="-344488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 b="0">
                <a:solidFill>
                  <a:schemeClr val="tx2"/>
                </a:solidFill>
              </a:rPr>
              <a:t>E</a:t>
            </a:r>
            <a:r>
              <a:rPr lang="ja-JP" altLang="it-IT" sz="2000" b="0">
                <a:solidFill>
                  <a:schemeClr val="tx2"/>
                </a:solidFill>
              </a:rPr>
              <a:t>’</a:t>
            </a:r>
            <a:r>
              <a:rPr lang="it-IT" altLang="ja-JP" sz="2000" b="0">
                <a:solidFill>
                  <a:schemeClr val="tx2"/>
                </a:solidFill>
              </a:rPr>
              <a:t> possibile realizzare un decoder di </a:t>
            </a:r>
          </a:p>
          <a:p>
            <a:pPr lvl="1" eaLnBrk="1" hangingPunct="1">
              <a:lnSpc>
                <a:spcPct val="75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it-IT" altLang="it-IT" sz="2000" b="0">
                <a:solidFill>
                  <a:schemeClr val="tx2"/>
                </a:solidFill>
              </a:rPr>
              <a:t>n uscite (Es. 16)</a:t>
            </a:r>
          </a:p>
          <a:p>
            <a:pPr lvl="1" eaLnBrk="1" hangingPunct="1">
              <a:lnSpc>
                <a:spcPct val="75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it-IT" altLang="it-IT" sz="2000" b="0">
                <a:solidFill>
                  <a:schemeClr val="tx2"/>
                </a:solidFill>
              </a:rPr>
              <a:t>log</a:t>
            </a:r>
            <a:r>
              <a:rPr lang="it-IT" altLang="it-IT" sz="2000" b="0" baseline="-25000">
                <a:solidFill>
                  <a:schemeClr val="tx2"/>
                </a:solidFill>
              </a:rPr>
              <a:t>2</a:t>
            </a:r>
            <a:r>
              <a:rPr lang="it-IT" altLang="it-IT" sz="2000" b="0">
                <a:solidFill>
                  <a:schemeClr val="tx2"/>
                </a:solidFill>
              </a:rPr>
              <a:t>n ingressi (Es. 4)</a:t>
            </a: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endParaRPr lang="it-IT" altLang="it-IT" sz="2000" b="0">
              <a:solidFill>
                <a:schemeClr val="tx2"/>
              </a:solidFill>
            </a:endParaRPr>
          </a:p>
          <a:p>
            <a:pPr eaLnBrk="1" hangingPunct="1">
              <a:lnSpc>
                <a:spcPct val="75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 b="0">
                <a:solidFill>
                  <a:schemeClr val="tx2"/>
                </a:solidFill>
              </a:rPr>
              <a:t>attraverso decoder a </a:t>
            </a:r>
          </a:p>
          <a:p>
            <a:pPr lvl="1" eaLnBrk="1" hangingPunct="1">
              <a:spcBef>
                <a:spcPct val="0"/>
              </a:spcBef>
              <a:buClrTx/>
              <a:buFontTx/>
              <a:buChar char="•"/>
            </a:pPr>
            <a:r>
              <a:rPr lang="it-IT" altLang="it-IT" sz="2000" b="0">
                <a:solidFill>
                  <a:schemeClr val="tx2"/>
                </a:solidFill>
              </a:rPr>
              <a:t>m uscite (Es. 4)</a:t>
            </a:r>
          </a:p>
          <a:p>
            <a:pPr lvl="1" eaLnBrk="1" hangingPunct="1">
              <a:spcBef>
                <a:spcPct val="0"/>
              </a:spcBef>
              <a:buClrTx/>
              <a:buFontTx/>
              <a:buChar char="•"/>
            </a:pPr>
            <a:r>
              <a:rPr lang="it-IT" altLang="it-IT" sz="2000" b="0">
                <a:solidFill>
                  <a:schemeClr val="tx2"/>
                </a:solidFill>
              </a:rPr>
              <a:t>log</a:t>
            </a:r>
            <a:r>
              <a:rPr lang="it-IT" altLang="it-IT" sz="2000" b="0" baseline="-25000">
                <a:solidFill>
                  <a:schemeClr val="tx2"/>
                </a:solidFill>
              </a:rPr>
              <a:t>2</a:t>
            </a:r>
            <a:r>
              <a:rPr lang="it-IT" altLang="it-IT" sz="2000" b="0">
                <a:solidFill>
                  <a:schemeClr val="tx2"/>
                </a:solidFill>
              </a:rPr>
              <a:t>m ingressi (Es. 2)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000" b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Char char="•"/>
            </a:pPr>
            <a:endParaRPr lang="it-IT" altLang="it-IT" sz="2000" b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it-IT" altLang="it-IT" sz="2000" b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D655F571-1DBC-2F37-66F1-DA4B6045E2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28600"/>
            <a:ext cx="9575800" cy="6858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Composizione modulare di Decoder 4:16</a:t>
            </a:r>
          </a:p>
        </p:txBody>
      </p:sp>
      <p:grpSp>
        <p:nvGrpSpPr>
          <p:cNvPr id="62466" name="Group 88">
            <a:extLst>
              <a:ext uri="{FF2B5EF4-FFF2-40B4-BE49-F238E27FC236}">
                <a16:creationId xmlns:a16="http://schemas.microsoft.com/office/drawing/2014/main" id="{A4A88D0D-2A7E-9249-7A11-30633D4834F3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227138"/>
            <a:ext cx="6224588" cy="5154612"/>
            <a:chOff x="1308" y="672"/>
            <a:chExt cx="3973" cy="3489"/>
          </a:xfrm>
        </p:grpSpPr>
        <p:grpSp>
          <p:nvGrpSpPr>
            <p:cNvPr id="62468" name="Group 3">
              <a:extLst>
                <a:ext uri="{FF2B5EF4-FFF2-40B4-BE49-F238E27FC236}">
                  <a16:creationId xmlns:a16="http://schemas.microsoft.com/office/drawing/2014/main" id="{64082612-28C6-64A9-2889-DB059CB9959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085"/>
              <a:ext cx="572" cy="2544"/>
              <a:chOff x="2304" y="1085"/>
              <a:chExt cx="528" cy="2544"/>
            </a:xfrm>
          </p:grpSpPr>
          <p:sp>
            <p:nvSpPr>
              <p:cNvPr id="62549" name="Freeform 4">
                <a:extLst>
                  <a:ext uri="{FF2B5EF4-FFF2-40B4-BE49-F238E27FC236}">
                    <a16:creationId xmlns:a16="http://schemas.microsoft.com/office/drawing/2014/main" id="{DFAB33CB-9670-47BC-10EA-F962DB0E1C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2621"/>
                <a:ext cx="528" cy="1008"/>
              </a:xfrm>
              <a:custGeom>
                <a:avLst/>
                <a:gdLst>
                  <a:gd name="T0" fmla="*/ 0 w 528"/>
                  <a:gd name="T1" fmla="*/ 0 h 1008"/>
                  <a:gd name="T2" fmla="*/ 0 w 528"/>
                  <a:gd name="T3" fmla="*/ 1008 h 1008"/>
                  <a:gd name="T4" fmla="*/ 528 w 528"/>
                  <a:gd name="T5" fmla="*/ 1008 h 1008"/>
                  <a:gd name="T6" fmla="*/ 0 60000 65536"/>
                  <a:gd name="T7" fmla="*/ 0 60000 65536"/>
                  <a:gd name="T8" fmla="*/ 0 60000 65536"/>
                  <a:gd name="T9" fmla="*/ 0 w 528"/>
                  <a:gd name="T10" fmla="*/ 0 h 1008"/>
                  <a:gd name="T11" fmla="*/ 528 w 528"/>
                  <a:gd name="T12" fmla="*/ 1008 h 10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8" h="1008">
                    <a:moveTo>
                      <a:pt x="0" y="0"/>
                    </a:moveTo>
                    <a:lnTo>
                      <a:pt x="0" y="1008"/>
                    </a:lnTo>
                    <a:lnTo>
                      <a:pt x="528" y="1008"/>
                    </a:lnTo>
                  </a:path>
                </a:pathLst>
              </a:cu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0" name="Freeform 5">
                <a:extLst>
                  <a:ext uri="{FF2B5EF4-FFF2-40B4-BE49-F238E27FC236}">
                    <a16:creationId xmlns:a16="http://schemas.microsoft.com/office/drawing/2014/main" id="{B7A0C6EB-E924-68D1-8073-17A5F7324B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4" y="2442"/>
                <a:ext cx="528" cy="384"/>
              </a:xfrm>
              <a:custGeom>
                <a:avLst/>
                <a:gdLst>
                  <a:gd name="T0" fmla="*/ 0 w 528"/>
                  <a:gd name="T1" fmla="*/ 0 h 384"/>
                  <a:gd name="T2" fmla="*/ 96 w 528"/>
                  <a:gd name="T3" fmla="*/ 0 h 384"/>
                  <a:gd name="T4" fmla="*/ 96 w 528"/>
                  <a:gd name="T5" fmla="*/ 384 h 384"/>
                  <a:gd name="T6" fmla="*/ 528 w 528"/>
                  <a:gd name="T7" fmla="*/ 384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8"/>
                  <a:gd name="T13" fmla="*/ 0 h 384"/>
                  <a:gd name="T14" fmla="*/ 528 w 528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8" h="384">
                    <a:moveTo>
                      <a:pt x="0" y="0"/>
                    </a:moveTo>
                    <a:lnTo>
                      <a:pt x="96" y="0"/>
                    </a:lnTo>
                    <a:lnTo>
                      <a:pt x="96" y="384"/>
                    </a:lnTo>
                    <a:lnTo>
                      <a:pt x="528" y="384"/>
                    </a:lnTo>
                  </a:path>
                </a:pathLst>
              </a:cu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1" name="Freeform 6">
                <a:extLst>
                  <a:ext uri="{FF2B5EF4-FFF2-40B4-BE49-F238E27FC236}">
                    <a16:creationId xmlns:a16="http://schemas.microsoft.com/office/drawing/2014/main" id="{5FB106F9-F53B-5F9D-506B-63B0726393D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304" y="1944"/>
                <a:ext cx="528" cy="293"/>
              </a:xfrm>
              <a:custGeom>
                <a:avLst/>
                <a:gdLst>
                  <a:gd name="T0" fmla="*/ 0 w 528"/>
                  <a:gd name="T1" fmla="*/ 0 h 384"/>
                  <a:gd name="T2" fmla="*/ 96 w 528"/>
                  <a:gd name="T3" fmla="*/ 0 h 384"/>
                  <a:gd name="T4" fmla="*/ 96 w 528"/>
                  <a:gd name="T5" fmla="*/ 6 h 384"/>
                  <a:gd name="T6" fmla="*/ 528 w 528"/>
                  <a:gd name="T7" fmla="*/ 6 h 38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8"/>
                  <a:gd name="T13" fmla="*/ 0 h 384"/>
                  <a:gd name="T14" fmla="*/ 528 w 528"/>
                  <a:gd name="T15" fmla="*/ 384 h 38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8" h="384">
                    <a:moveTo>
                      <a:pt x="0" y="0"/>
                    </a:moveTo>
                    <a:lnTo>
                      <a:pt x="96" y="0"/>
                    </a:lnTo>
                    <a:lnTo>
                      <a:pt x="96" y="384"/>
                    </a:lnTo>
                    <a:lnTo>
                      <a:pt x="528" y="384"/>
                    </a:lnTo>
                  </a:path>
                </a:pathLst>
              </a:cu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2552" name="Freeform 7">
                <a:extLst>
                  <a:ext uri="{FF2B5EF4-FFF2-40B4-BE49-F238E27FC236}">
                    <a16:creationId xmlns:a16="http://schemas.microsoft.com/office/drawing/2014/main" id="{E9D6EF10-077C-A0BD-D6CB-2EF7C5F490EB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2304" y="1085"/>
                <a:ext cx="528" cy="982"/>
              </a:xfrm>
              <a:custGeom>
                <a:avLst/>
                <a:gdLst>
                  <a:gd name="T0" fmla="*/ 0 w 528"/>
                  <a:gd name="T1" fmla="*/ 0 h 1008"/>
                  <a:gd name="T2" fmla="*/ 0 w 528"/>
                  <a:gd name="T3" fmla="*/ 681 h 1008"/>
                  <a:gd name="T4" fmla="*/ 528 w 528"/>
                  <a:gd name="T5" fmla="*/ 681 h 1008"/>
                  <a:gd name="T6" fmla="*/ 0 60000 65536"/>
                  <a:gd name="T7" fmla="*/ 0 60000 65536"/>
                  <a:gd name="T8" fmla="*/ 0 60000 65536"/>
                  <a:gd name="T9" fmla="*/ 0 w 528"/>
                  <a:gd name="T10" fmla="*/ 0 h 1008"/>
                  <a:gd name="T11" fmla="*/ 528 w 528"/>
                  <a:gd name="T12" fmla="*/ 1008 h 10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8" h="1008">
                    <a:moveTo>
                      <a:pt x="0" y="0"/>
                    </a:moveTo>
                    <a:lnTo>
                      <a:pt x="0" y="1008"/>
                    </a:lnTo>
                    <a:lnTo>
                      <a:pt x="528" y="1008"/>
                    </a:lnTo>
                  </a:path>
                </a:pathLst>
              </a:cu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2469" name="Group 8">
              <a:extLst>
                <a:ext uri="{FF2B5EF4-FFF2-40B4-BE49-F238E27FC236}">
                  <a16:creationId xmlns:a16="http://schemas.microsoft.com/office/drawing/2014/main" id="{F6D02834-EEC3-F090-5407-0CC3A66434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52" y="1824"/>
              <a:ext cx="1177" cy="958"/>
              <a:chOff x="1248" y="1824"/>
              <a:chExt cx="1086" cy="958"/>
            </a:xfrm>
          </p:grpSpPr>
          <p:grpSp>
            <p:nvGrpSpPr>
              <p:cNvPr id="62536" name="Group 9">
                <a:extLst>
                  <a:ext uri="{FF2B5EF4-FFF2-40B4-BE49-F238E27FC236}">
                    <a16:creationId xmlns:a16="http://schemas.microsoft.com/office/drawing/2014/main" id="{73989C21-B475-719F-8F91-60D3BE4651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48" y="1962"/>
                <a:ext cx="1056" cy="820"/>
                <a:chOff x="1248" y="1962"/>
                <a:chExt cx="1056" cy="820"/>
              </a:xfrm>
            </p:grpSpPr>
            <p:grpSp>
              <p:nvGrpSpPr>
                <p:cNvPr id="62538" name="Group 10">
                  <a:extLst>
                    <a:ext uri="{FF2B5EF4-FFF2-40B4-BE49-F238E27FC236}">
                      <a16:creationId xmlns:a16="http://schemas.microsoft.com/office/drawing/2014/main" id="{78401730-22F7-2F39-40F0-81E45302FC9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40" y="1962"/>
                  <a:ext cx="864" cy="755"/>
                  <a:chOff x="3168" y="1981"/>
                  <a:chExt cx="864" cy="755"/>
                </a:xfrm>
              </p:grpSpPr>
              <p:grpSp>
                <p:nvGrpSpPr>
                  <p:cNvPr id="62540" name="Group 11">
                    <a:extLst>
                      <a:ext uri="{FF2B5EF4-FFF2-40B4-BE49-F238E27FC236}">
                        <a16:creationId xmlns:a16="http://schemas.microsoft.com/office/drawing/2014/main" id="{310CB39C-5A0D-0BFD-0643-6D5D61586D0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360" y="1981"/>
                    <a:ext cx="672" cy="755"/>
                    <a:chOff x="4464" y="816"/>
                    <a:chExt cx="672" cy="755"/>
                  </a:xfrm>
                </p:grpSpPr>
                <p:sp>
                  <p:nvSpPr>
                    <p:cNvPr id="62544" name="Rectangle 12">
                      <a:extLst>
                        <a:ext uri="{FF2B5EF4-FFF2-40B4-BE49-F238E27FC236}">
                          <a16:creationId xmlns:a16="http://schemas.microsoft.com/office/drawing/2014/main" id="{37343095-D78E-2B0C-3040-15EBE66034F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464" y="816"/>
                      <a:ext cx="480" cy="755"/>
                    </a:xfrm>
                    <a:prstGeom prst="rect">
                      <a:avLst/>
                    </a:prstGeom>
                    <a:solidFill>
                      <a:srgbClr val="DDDDDD"/>
                    </a:solidFill>
                    <a:ln w="9525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defTabSz="762000">
                        <a:spcBef>
                          <a:spcPct val="20000"/>
                        </a:spcBef>
                        <a:buClr>
                          <a:schemeClr val="tx1"/>
                        </a:buClr>
                        <a:buSzPct val="75000"/>
                        <a:buFont typeface="Wingdings" panose="05000000000000000000" pitchFamily="2" charset="2"/>
                        <a:buChar char="Ø"/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defTabSz="762000">
                        <a:spcBef>
                          <a:spcPct val="20000"/>
                        </a:spcBef>
                        <a:buClr>
                          <a:srgbClr val="E5405D"/>
                        </a:buClr>
                        <a:buChar char="»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defTabSz="762000">
                        <a:spcBef>
                          <a:spcPct val="20000"/>
                        </a:spcBef>
                        <a:buClr>
                          <a:schemeClr val="tx1"/>
                        </a:buClr>
                        <a:buFont typeface="Symbol" panose="05050102010706020507" pitchFamily="18" charset="2"/>
                        <a:buChar char="¨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defTabSz="762000">
                        <a:spcBef>
                          <a:spcPct val="20000"/>
                        </a:spcBef>
                        <a:buClr>
                          <a:srgbClr val="E5405D"/>
                        </a:buClr>
                        <a:buSzPct val="64000"/>
                        <a:buFont typeface="Monotype Sorts" charset="2"/>
                        <a:buChar char="l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defTabSz="762000">
                        <a:spcBef>
                          <a:spcPct val="20000"/>
                        </a:spcBef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defTabSz="7620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Char char="»"/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it-IT" altLang="it-IT" sz="2000"/>
                        <a:t>DEC</a:t>
                      </a:r>
                    </a:p>
                    <a:p>
                      <a:pPr algn="ctr">
                        <a:spcBef>
                          <a:spcPct val="0"/>
                        </a:spcBef>
                        <a:buClrTx/>
                        <a:buSzTx/>
                        <a:buFontTx/>
                        <a:buNone/>
                      </a:pPr>
                      <a:r>
                        <a:rPr lang="it-IT" altLang="it-IT" sz="2000"/>
                        <a:t>2:4</a:t>
                      </a:r>
                    </a:p>
                  </p:txBody>
                </p:sp>
                <p:sp>
                  <p:nvSpPr>
                    <p:cNvPr id="62545" name="Line 13">
                      <a:extLst>
                        <a:ext uri="{FF2B5EF4-FFF2-40B4-BE49-F238E27FC236}">
                          <a16:creationId xmlns:a16="http://schemas.microsoft.com/office/drawing/2014/main" id="{0A0CC950-3D8C-1B24-FA1A-7620A60D8DD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44" y="912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46" name="Line 14">
                      <a:extLst>
                        <a:ext uri="{FF2B5EF4-FFF2-40B4-BE49-F238E27FC236}">
                          <a16:creationId xmlns:a16="http://schemas.microsoft.com/office/drawing/2014/main" id="{CCE43966-14B5-AB63-FD6B-2D04576AFCA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44" y="1083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47" name="Line 15">
                      <a:extLst>
                        <a:ext uri="{FF2B5EF4-FFF2-40B4-BE49-F238E27FC236}">
                          <a16:creationId xmlns:a16="http://schemas.microsoft.com/office/drawing/2014/main" id="{F1A5F84B-B2FD-8810-D80D-925F86A08FD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44" y="1296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48" name="Line 16">
                      <a:extLst>
                        <a:ext uri="{FF2B5EF4-FFF2-40B4-BE49-F238E27FC236}">
                          <a16:creationId xmlns:a16="http://schemas.microsoft.com/office/drawing/2014/main" id="{C70B985C-F5BB-2664-2CE3-DA5F9C8841C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4944" y="1488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2541" name="Line 17">
                    <a:extLst>
                      <a:ext uri="{FF2B5EF4-FFF2-40B4-BE49-F238E27FC236}">
                        <a16:creationId xmlns:a16="http://schemas.microsoft.com/office/drawing/2014/main" id="{D60240D9-A21D-D9E3-2D95-2C61F8B4568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304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2542" name="Line 18">
                    <a:extLst>
                      <a:ext uri="{FF2B5EF4-FFF2-40B4-BE49-F238E27FC236}">
                        <a16:creationId xmlns:a16="http://schemas.microsoft.com/office/drawing/2014/main" id="{A11E6C47-CAB9-0949-6DFB-562CA617E0B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461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2543" name="Line 19">
                    <a:extLst>
                      <a:ext uri="{FF2B5EF4-FFF2-40B4-BE49-F238E27FC236}">
                        <a16:creationId xmlns:a16="http://schemas.microsoft.com/office/drawing/2014/main" id="{2347ABE5-2987-8C97-60CA-024E7087D0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590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62539" name="Text Box 20">
                  <a:extLst>
                    <a:ext uri="{FF2B5EF4-FFF2-40B4-BE49-F238E27FC236}">
                      <a16:creationId xmlns:a16="http://schemas.microsoft.com/office/drawing/2014/main" id="{4893FE5B-7063-D803-2111-092B2E074F5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48" y="2101"/>
                  <a:ext cx="217" cy="68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defTabSz="762000">
                    <a:spcBef>
                      <a:spcPct val="20000"/>
                    </a:spcBef>
                    <a:buClr>
                      <a:schemeClr val="tx1"/>
                    </a:buClr>
                    <a:buSzPct val="75000"/>
                    <a:buFont typeface="Wingdings" panose="05000000000000000000" pitchFamily="2" charset="2"/>
                    <a:buChar char="Ø"/>
                    <a:defRPr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1pPr>
                  <a:lvl2pPr marL="742950" indent="-285750" defTabSz="762000">
                    <a:spcBef>
                      <a:spcPct val="20000"/>
                    </a:spcBef>
                    <a:buClr>
                      <a:srgbClr val="E5405D"/>
                    </a:buClr>
                    <a:buChar char="»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2pPr>
                  <a:lvl3pPr marL="1143000" indent="-228600" defTabSz="762000">
                    <a:spcBef>
                      <a:spcPct val="20000"/>
                    </a:spcBef>
                    <a:buClr>
                      <a:schemeClr val="tx1"/>
                    </a:buClr>
                    <a:buFont typeface="Symbol" panose="05050102010706020507" pitchFamily="18" charset="2"/>
                    <a:buChar char="¨"/>
                    <a:defRPr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3pPr>
                  <a:lvl4pPr marL="1600200" indent="-228600" defTabSz="762000">
                    <a:spcBef>
                      <a:spcPct val="20000"/>
                    </a:spcBef>
                    <a:buClr>
                      <a:srgbClr val="E5405D"/>
                    </a:buClr>
                    <a:buSzPct val="64000"/>
                    <a:buFont typeface="Monotype Sorts" charset="2"/>
                    <a:buChar char="l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4pPr>
                  <a:lvl5pPr marL="2057400" indent="-228600" defTabSz="762000">
                    <a:spcBef>
                      <a:spcPct val="20000"/>
                    </a:spcBef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5pPr>
                  <a:lvl6pPr marL="25146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6pPr>
                  <a:lvl7pPr marL="29718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7pPr>
                  <a:lvl8pPr marL="34290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8pPr>
                  <a:lvl9pPr marL="3886200" indent="-228600" defTabSz="7620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it-IT" altLang="it-IT" sz="2000"/>
                    <a:t>1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it-IT" altLang="it-IT" sz="2000"/>
                    <a:t>C</a:t>
                  </a:r>
                </a:p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it-IT" altLang="it-IT" sz="2000"/>
                    <a:t>D</a:t>
                  </a:r>
                </a:p>
              </p:txBody>
            </p:sp>
          </p:grpSp>
          <p:sp>
            <p:nvSpPr>
              <p:cNvPr id="62537" name="Text Box 21">
                <a:extLst>
                  <a:ext uri="{FF2B5EF4-FFF2-40B4-BE49-F238E27FC236}">
                    <a16:creationId xmlns:a16="http://schemas.microsoft.com/office/drawing/2014/main" id="{4232E954-4A09-9A89-E66B-71567C6EBD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8" y="1824"/>
                <a:ext cx="266" cy="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</p:grpSp>
        <p:grpSp>
          <p:nvGrpSpPr>
            <p:cNvPr id="62470" name="Group 22">
              <a:extLst>
                <a:ext uri="{FF2B5EF4-FFF2-40B4-BE49-F238E27FC236}">
                  <a16:creationId xmlns:a16="http://schemas.microsoft.com/office/drawing/2014/main" id="{1A1D1601-F737-6BBD-6BBF-DC6EDFB51F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08" y="672"/>
              <a:ext cx="2521" cy="3489"/>
              <a:chOff x="1207" y="672"/>
              <a:chExt cx="2327" cy="3489"/>
            </a:xfrm>
          </p:grpSpPr>
          <p:grpSp>
            <p:nvGrpSpPr>
              <p:cNvPr id="62495" name="Group 23">
                <a:extLst>
                  <a:ext uri="{FF2B5EF4-FFF2-40B4-BE49-F238E27FC236}">
                    <a16:creationId xmlns:a16="http://schemas.microsoft.com/office/drawing/2014/main" id="{2D83C0ED-0233-9BB4-ABB6-41C118D84F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07" y="816"/>
                <a:ext cx="2289" cy="3345"/>
                <a:chOff x="1207" y="816"/>
                <a:chExt cx="2289" cy="3345"/>
              </a:xfrm>
            </p:grpSpPr>
            <p:sp>
              <p:nvSpPr>
                <p:cNvPr id="62500" name="Line 24">
                  <a:extLst>
                    <a:ext uri="{FF2B5EF4-FFF2-40B4-BE49-F238E27FC236}">
                      <a16:creationId xmlns:a16="http://schemas.microsoft.com/office/drawing/2014/main" id="{0952B7BC-F447-E3DA-9118-E6D202EF53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88" y="4013"/>
                  <a:ext cx="33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501" name="Line 25">
                  <a:extLst>
                    <a:ext uri="{FF2B5EF4-FFF2-40B4-BE49-F238E27FC236}">
                      <a16:creationId xmlns:a16="http://schemas.microsoft.com/office/drawing/2014/main" id="{82EB06B5-02C7-DE4F-DCFD-17D7E363DE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92" y="3869"/>
                  <a:ext cx="440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62502" name="Group 26">
                  <a:extLst>
                    <a:ext uri="{FF2B5EF4-FFF2-40B4-BE49-F238E27FC236}">
                      <a16:creationId xmlns:a16="http://schemas.microsoft.com/office/drawing/2014/main" id="{5D49CDA6-C6A5-23ED-1CB8-252A6C926E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07" y="816"/>
                  <a:ext cx="2289" cy="3345"/>
                  <a:chOff x="1263" y="816"/>
                  <a:chExt cx="2289" cy="3345"/>
                </a:xfrm>
              </p:grpSpPr>
              <p:grpSp>
                <p:nvGrpSpPr>
                  <p:cNvPr id="62503" name="Group 27">
                    <a:extLst>
                      <a:ext uri="{FF2B5EF4-FFF2-40B4-BE49-F238E27FC236}">
                        <a16:creationId xmlns:a16="http://schemas.microsoft.com/office/drawing/2014/main" id="{3088FA23-8050-FCF3-BA8F-22C74157C7C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80" y="816"/>
                    <a:ext cx="672" cy="3264"/>
                    <a:chOff x="4464" y="816"/>
                    <a:chExt cx="672" cy="3264"/>
                  </a:xfrm>
                </p:grpSpPr>
                <p:grpSp>
                  <p:nvGrpSpPr>
                    <p:cNvPr id="62512" name="Group 28">
                      <a:extLst>
                        <a:ext uri="{FF2B5EF4-FFF2-40B4-BE49-F238E27FC236}">
                          <a16:creationId xmlns:a16="http://schemas.microsoft.com/office/drawing/2014/main" id="{80CD53F7-7916-3059-FCD4-B3F8960C0DB2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816"/>
                      <a:ext cx="672" cy="755"/>
                      <a:chOff x="4464" y="816"/>
                      <a:chExt cx="672" cy="755"/>
                    </a:xfrm>
                  </p:grpSpPr>
                  <p:sp>
                    <p:nvSpPr>
                      <p:cNvPr id="62531" name="Rectangle 29">
                        <a:extLst>
                          <a:ext uri="{FF2B5EF4-FFF2-40B4-BE49-F238E27FC236}">
                            <a16:creationId xmlns:a16="http://schemas.microsoft.com/office/drawing/2014/main" id="{BD264746-A027-C3AA-55B9-19EA4EFB94B4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816"/>
                        <a:ext cx="480" cy="75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75000"/>
                          <a:buFont typeface="Wingdings" panose="05000000000000000000" pitchFamily="2" charset="2"/>
                          <a:buChar char="Ø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Char char="»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Symbol" panose="05050102010706020507" pitchFamily="18" charset="2"/>
                          <a:buChar char="¨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SzPct val="64000"/>
                          <a:buFont typeface="Monotype Sorts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 defTabSz="7620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DEC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2:4</a:t>
                        </a:r>
                      </a:p>
                    </p:txBody>
                  </p:sp>
                  <p:sp>
                    <p:nvSpPr>
                      <p:cNvPr id="62532" name="Line 30">
                        <a:extLst>
                          <a:ext uri="{FF2B5EF4-FFF2-40B4-BE49-F238E27FC236}">
                            <a16:creationId xmlns:a16="http://schemas.microsoft.com/office/drawing/2014/main" id="{2A47CE00-1A0B-744D-E7CB-1DAC4719948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912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33" name="Line 31">
                        <a:extLst>
                          <a:ext uri="{FF2B5EF4-FFF2-40B4-BE49-F238E27FC236}">
                            <a16:creationId xmlns:a16="http://schemas.microsoft.com/office/drawing/2014/main" id="{578ED3D0-0456-A2C0-B723-48B8595EE05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083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34" name="Line 32">
                        <a:extLst>
                          <a:ext uri="{FF2B5EF4-FFF2-40B4-BE49-F238E27FC236}">
                            <a16:creationId xmlns:a16="http://schemas.microsoft.com/office/drawing/2014/main" id="{30174E6D-7D31-BA5E-44E1-5C9709FB607E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296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35" name="Line 33">
                        <a:extLst>
                          <a:ext uri="{FF2B5EF4-FFF2-40B4-BE49-F238E27FC236}">
                            <a16:creationId xmlns:a16="http://schemas.microsoft.com/office/drawing/2014/main" id="{9EC920AE-E28D-30A4-A557-411931BBCF9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488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62513" name="Group 34">
                      <a:extLst>
                        <a:ext uri="{FF2B5EF4-FFF2-40B4-BE49-F238E27FC236}">
                          <a16:creationId xmlns:a16="http://schemas.microsoft.com/office/drawing/2014/main" id="{BC0AEF28-C175-609F-9033-C415FBCEE71D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1667"/>
                      <a:ext cx="672" cy="755"/>
                      <a:chOff x="4464" y="816"/>
                      <a:chExt cx="672" cy="755"/>
                    </a:xfrm>
                  </p:grpSpPr>
                  <p:sp>
                    <p:nvSpPr>
                      <p:cNvPr id="62526" name="Rectangle 35">
                        <a:extLst>
                          <a:ext uri="{FF2B5EF4-FFF2-40B4-BE49-F238E27FC236}">
                            <a16:creationId xmlns:a16="http://schemas.microsoft.com/office/drawing/2014/main" id="{26E2C017-882C-5F00-8426-63F74B5C510B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816"/>
                        <a:ext cx="480" cy="75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75000"/>
                          <a:buFont typeface="Wingdings" panose="05000000000000000000" pitchFamily="2" charset="2"/>
                          <a:buChar char="Ø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Char char="»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Symbol" panose="05050102010706020507" pitchFamily="18" charset="2"/>
                          <a:buChar char="¨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SzPct val="64000"/>
                          <a:buFont typeface="Monotype Sorts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 defTabSz="7620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DEC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2:4</a:t>
                        </a:r>
                      </a:p>
                    </p:txBody>
                  </p:sp>
                  <p:sp>
                    <p:nvSpPr>
                      <p:cNvPr id="62527" name="Line 36">
                        <a:extLst>
                          <a:ext uri="{FF2B5EF4-FFF2-40B4-BE49-F238E27FC236}">
                            <a16:creationId xmlns:a16="http://schemas.microsoft.com/office/drawing/2014/main" id="{A7203E90-B110-2E8A-C11C-30131E88B4B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912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8" name="Line 37">
                        <a:extLst>
                          <a:ext uri="{FF2B5EF4-FFF2-40B4-BE49-F238E27FC236}">
                            <a16:creationId xmlns:a16="http://schemas.microsoft.com/office/drawing/2014/main" id="{96D301C1-E693-4C31-2EF2-8113583925F0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083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9" name="Line 38">
                        <a:extLst>
                          <a:ext uri="{FF2B5EF4-FFF2-40B4-BE49-F238E27FC236}">
                            <a16:creationId xmlns:a16="http://schemas.microsoft.com/office/drawing/2014/main" id="{EC6447CC-C504-38FB-37CB-B7F7A2B1F06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296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30" name="Line 39">
                        <a:extLst>
                          <a:ext uri="{FF2B5EF4-FFF2-40B4-BE49-F238E27FC236}">
                            <a16:creationId xmlns:a16="http://schemas.microsoft.com/office/drawing/2014/main" id="{0B37C7B1-157C-C765-798D-7A4838D0B3D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488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62514" name="Group 40">
                      <a:extLst>
                        <a:ext uri="{FF2B5EF4-FFF2-40B4-BE49-F238E27FC236}">
                          <a16:creationId xmlns:a16="http://schemas.microsoft.com/office/drawing/2014/main" id="{87D52C5B-206E-B889-2A58-6F690C726C6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2494"/>
                      <a:ext cx="672" cy="755"/>
                      <a:chOff x="4464" y="816"/>
                      <a:chExt cx="672" cy="755"/>
                    </a:xfrm>
                  </p:grpSpPr>
                  <p:sp>
                    <p:nvSpPr>
                      <p:cNvPr id="62521" name="Rectangle 41">
                        <a:extLst>
                          <a:ext uri="{FF2B5EF4-FFF2-40B4-BE49-F238E27FC236}">
                            <a16:creationId xmlns:a16="http://schemas.microsoft.com/office/drawing/2014/main" id="{B5FF3B4B-359C-9B05-AB86-7C277E09713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816"/>
                        <a:ext cx="480" cy="75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75000"/>
                          <a:buFont typeface="Wingdings" panose="05000000000000000000" pitchFamily="2" charset="2"/>
                          <a:buChar char="Ø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Char char="»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Symbol" panose="05050102010706020507" pitchFamily="18" charset="2"/>
                          <a:buChar char="¨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SzPct val="64000"/>
                          <a:buFont typeface="Monotype Sorts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 defTabSz="7620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DEC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2:4</a:t>
                        </a:r>
                      </a:p>
                    </p:txBody>
                  </p:sp>
                  <p:sp>
                    <p:nvSpPr>
                      <p:cNvPr id="62522" name="Line 42">
                        <a:extLst>
                          <a:ext uri="{FF2B5EF4-FFF2-40B4-BE49-F238E27FC236}">
                            <a16:creationId xmlns:a16="http://schemas.microsoft.com/office/drawing/2014/main" id="{81225EED-949B-569A-D87A-E342D0E22CD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912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3" name="Line 43">
                        <a:extLst>
                          <a:ext uri="{FF2B5EF4-FFF2-40B4-BE49-F238E27FC236}">
                            <a16:creationId xmlns:a16="http://schemas.microsoft.com/office/drawing/2014/main" id="{AD35E3D8-5614-EF0C-4443-0F59B4E510D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083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4" name="Line 44">
                        <a:extLst>
                          <a:ext uri="{FF2B5EF4-FFF2-40B4-BE49-F238E27FC236}">
                            <a16:creationId xmlns:a16="http://schemas.microsoft.com/office/drawing/2014/main" id="{E5245A68-5038-C8D4-04A8-EA31E1CC8E4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296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5" name="Line 45">
                        <a:extLst>
                          <a:ext uri="{FF2B5EF4-FFF2-40B4-BE49-F238E27FC236}">
                            <a16:creationId xmlns:a16="http://schemas.microsoft.com/office/drawing/2014/main" id="{2385138B-DB77-40E1-E6A3-C9AD0D2E1F9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488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62515" name="Group 46">
                      <a:extLst>
                        <a:ext uri="{FF2B5EF4-FFF2-40B4-BE49-F238E27FC236}">
                          <a16:creationId xmlns:a16="http://schemas.microsoft.com/office/drawing/2014/main" id="{4618EF7C-5C4D-1EEB-1A31-FCF3B862A5D9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4464" y="3325"/>
                      <a:ext cx="672" cy="755"/>
                      <a:chOff x="4464" y="816"/>
                      <a:chExt cx="672" cy="755"/>
                    </a:xfrm>
                  </p:grpSpPr>
                  <p:sp>
                    <p:nvSpPr>
                      <p:cNvPr id="62516" name="Rectangle 47">
                        <a:extLst>
                          <a:ext uri="{FF2B5EF4-FFF2-40B4-BE49-F238E27FC236}">
                            <a16:creationId xmlns:a16="http://schemas.microsoft.com/office/drawing/2014/main" id="{6DB6A79B-9CE4-2A2C-BE83-CF6CE9810542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4" y="816"/>
                        <a:ext cx="480" cy="755"/>
                      </a:xfrm>
                      <a:prstGeom prst="rect">
                        <a:avLst/>
                      </a:prstGeom>
                      <a:solidFill>
                        <a:srgbClr val="DDDDDD"/>
                      </a:solidFill>
                      <a:ln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:ln>
                    </p:spPr>
                    <p:txBody>
                      <a:bodyPr wrap="none" anchor="ctr"/>
                      <a:lstStyle>
                        <a:lvl1pPr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SzPct val="75000"/>
                          <a:buFont typeface="Wingdings" panose="05000000000000000000" pitchFamily="2" charset="2"/>
                          <a:buChar char="Ø"/>
                          <a:defRPr sz="28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1pPr>
                        <a:lvl2pPr marL="742950" indent="-28575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Char char="»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2pPr>
                        <a:lvl3pPr marL="1143000" indent="-228600" defTabSz="762000">
                          <a:spcBef>
                            <a:spcPct val="20000"/>
                          </a:spcBef>
                          <a:buClr>
                            <a:schemeClr val="tx1"/>
                          </a:buClr>
                          <a:buFont typeface="Symbol" panose="05050102010706020507" pitchFamily="18" charset="2"/>
                          <a:buChar char="¨"/>
                          <a:defRPr sz="24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3pPr>
                        <a:lvl4pPr marL="1600200" indent="-228600" defTabSz="762000">
                          <a:spcBef>
                            <a:spcPct val="20000"/>
                          </a:spcBef>
                          <a:buClr>
                            <a:srgbClr val="E5405D"/>
                          </a:buClr>
                          <a:buSzPct val="64000"/>
                          <a:buFont typeface="Monotype Sorts" charset="2"/>
                          <a:buChar char="l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4pPr>
                        <a:lvl5pPr marL="2057400" indent="-228600" defTabSz="762000">
                          <a:spcBef>
                            <a:spcPct val="20000"/>
                          </a:spcBef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5pPr>
                        <a:lvl6pPr marL="25146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6pPr>
                        <a:lvl7pPr marL="29718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7pPr>
                        <a:lvl8pPr marL="34290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8pPr>
                        <a:lvl9pPr marL="3886200" indent="-228600" defTabSz="762000" eaLnBrk="0" fontAlgn="base" hangingPunct="0">
                          <a:spcBef>
                            <a:spcPct val="20000"/>
                          </a:spcBef>
                          <a:spcAft>
                            <a:spcPct val="0"/>
                          </a:spcAft>
                          <a:buClr>
                            <a:schemeClr val="hlink"/>
                          </a:buClr>
                          <a:buChar char="»"/>
                          <a:defRPr sz="200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ＭＳ Ｐゴシック" panose="020B0600070205080204" pitchFamily="34" charset="-128"/>
                          </a:defRPr>
                        </a:lvl9pPr>
                      </a:lstStyle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DEC</a:t>
                        </a:r>
                      </a:p>
                      <a:p>
                        <a:pPr algn="ctr">
                          <a:spcBef>
                            <a:spcPct val="0"/>
                          </a:spcBef>
                          <a:buClrTx/>
                          <a:buSzTx/>
                          <a:buFontTx/>
                          <a:buNone/>
                        </a:pPr>
                        <a:r>
                          <a:rPr lang="it-IT" altLang="it-IT" sz="2000"/>
                          <a:t>2:4</a:t>
                        </a:r>
                      </a:p>
                    </p:txBody>
                  </p:sp>
                  <p:sp>
                    <p:nvSpPr>
                      <p:cNvPr id="62517" name="Line 48">
                        <a:extLst>
                          <a:ext uri="{FF2B5EF4-FFF2-40B4-BE49-F238E27FC236}">
                            <a16:creationId xmlns:a16="http://schemas.microsoft.com/office/drawing/2014/main" id="{D6B16ADD-80AA-2303-D1E7-9B5D097F6E3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912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18" name="Line 49">
                        <a:extLst>
                          <a:ext uri="{FF2B5EF4-FFF2-40B4-BE49-F238E27FC236}">
                            <a16:creationId xmlns:a16="http://schemas.microsoft.com/office/drawing/2014/main" id="{DFD1B28D-A2A8-8EAE-918A-AD5A279DDDB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083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19" name="Line 50">
                        <a:extLst>
                          <a:ext uri="{FF2B5EF4-FFF2-40B4-BE49-F238E27FC236}">
                            <a16:creationId xmlns:a16="http://schemas.microsoft.com/office/drawing/2014/main" id="{D70AF6AC-4B68-8366-F6A0-A8FE724783F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296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62520" name="Line 51">
                        <a:extLst>
                          <a:ext uri="{FF2B5EF4-FFF2-40B4-BE49-F238E27FC236}">
                            <a16:creationId xmlns:a16="http://schemas.microsoft.com/office/drawing/2014/main" id="{C5AB8D82-DB77-703F-3BF7-6FBC8D78CA1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4944" y="1488"/>
                        <a:ext cx="192" cy="0"/>
                      </a:xfrm>
                      <a:prstGeom prst="line">
                        <a:avLst/>
                      </a:prstGeom>
                      <a:noFill/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endParaRPr lang="en-US"/>
                      </a:p>
                    </p:txBody>
                  </p:sp>
                </p:grpSp>
              </p:grpSp>
              <p:grpSp>
                <p:nvGrpSpPr>
                  <p:cNvPr id="62504" name="Group 52">
                    <a:extLst>
                      <a:ext uri="{FF2B5EF4-FFF2-40B4-BE49-F238E27FC236}">
                        <a16:creationId xmlns:a16="http://schemas.microsoft.com/office/drawing/2014/main" id="{C4C04854-BA05-212F-8D7C-75562806810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84" y="1325"/>
                    <a:ext cx="1296" cy="2688"/>
                    <a:chOff x="1536" y="1325"/>
                    <a:chExt cx="1296" cy="2688"/>
                  </a:xfrm>
                </p:grpSpPr>
                <p:sp>
                  <p:nvSpPr>
                    <p:cNvPr id="62506" name="Freeform 53">
                      <a:extLst>
                        <a:ext uri="{FF2B5EF4-FFF2-40B4-BE49-F238E27FC236}">
                          <a16:creationId xmlns:a16="http://schemas.microsoft.com/office/drawing/2014/main" id="{0B1FE6CE-30F7-30D7-6A06-50C9D688D6A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36" y="1325"/>
                      <a:ext cx="1296" cy="2544"/>
                    </a:xfrm>
                    <a:custGeom>
                      <a:avLst/>
                      <a:gdLst>
                        <a:gd name="T0" fmla="*/ 1296 w 1296"/>
                        <a:gd name="T1" fmla="*/ 0 h 2544"/>
                        <a:gd name="T2" fmla="*/ 912 w 1296"/>
                        <a:gd name="T3" fmla="*/ 0 h 2544"/>
                        <a:gd name="T4" fmla="*/ 912 w 1296"/>
                        <a:gd name="T5" fmla="*/ 2544 h 2544"/>
                        <a:gd name="T6" fmla="*/ 0 w 1296"/>
                        <a:gd name="T7" fmla="*/ 2544 h 2544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1296"/>
                        <a:gd name="T13" fmla="*/ 0 h 2544"/>
                        <a:gd name="T14" fmla="*/ 1296 w 1296"/>
                        <a:gd name="T15" fmla="*/ 2544 h 2544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1296" h="2544">
                          <a:moveTo>
                            <a:pt x="1296" y="0"/>
                          </a:moveTo>
                          <a:lnTo>
                            <a:pt x="912" y="0"/>
                          </a:lnTo>
                          <a:lnTo>
                            <a:pt x="912" y="2544"/>
                          </a:lnTo>
                          <a:lnTo>
                            <a:pt x="0" y="25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07" name="Freeform 54">
                      <a:extLst>
                        <a:ext uri="{FF2B5EF4-FFF2-40B4-BE49-F238E27FC236}">
                          <a16:creationId xmlns:a16="http://schemas.microsoft.com/office/drawing/2014/main" id="{3591FB80-D530-59E0-44B9-8E9C38B0EA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36" y="1469"/>
                      <a:ext cx="1296" cy="2544"/>
                    </a:xfrm>
                    <a:custGeom>
                      <a:avLst/>
                      <a:gdLst>
                        <a:gd name="T0" fmla="*/ 1296 w 1296"/>
                        <a:gd name="T1" fmla="*/ 0 h 2544"/>
                        <a:gd name="T2" fmla="*/ 1008 w 1296"/>
                        <a:gd name="T3" fmla="*/ 0 h 2544"/>
                        <a:gd name="T4" fmla="*/ 1008 w 1296"/>
                        <a:gd name="T5" fmla="*/ 2544 h 2544"/>
                        <a:gd name="T6" fmla="*/ 144 w 1296"/>
                        <a:gd name="T7" fmla="*/ 2544 h 2544"/>
                        <a:gd name="T8" fmla="*/ 0 w 1296"/>
                        <a:gd name="T9" fmla="*/ 2544 h 2544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296"/>
                        <a:gd name="T16" fmla="*/ 0 h 2544"/>
                        <a:gd name="T17" fmla="*/ 1296 w 1296"/>
                        <a:gd name="T18" fmla="*/ 2544 h 2544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296" h="2544">
                          <a:moveTo>
                            <a:pt x="1296" y="0"/>
                          </a:moveTo>
                          <a:lnTo>
                            <a:pt x="1008" y="0"/>
                          </a:lnTo>
                          <a:lnTo>
                            <a:pt x="1008" y="2544"/>
                          </a:lnTo>
                          <a:lnTo>
                            <a:pt x="144" y="2544"/>
                          </a:lnTo>
                          <a:lnTo>
                            <a:pt x="0" y="2544"/>
                          </a:lnTo>
                        </a:path>
                      </a:pathLst>
                    </a:cu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08" name="Line 55">
                      <a:extLst>
                        <a:ext uri="{FF2B5EF4-FFF2-40B4-BE49-F238E27FC236}">
                          <a16:creationId xmlns:a16="http://schemas.microsoft.com/office/drawing/2014/main" id="{622A6B4B-11DD-EE52-114F-0462E9667AD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44" y="3149"/>
                      <a:ext cx="28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09" name="Line 56">
                      <a:extLst>
                        <a:ext uri="{FF2B5EF4-FFF2-40B4-BE49-F238E27FC236}">
                          <a16:creationId xmlns:a16="http://schemas.microsoft.com/office/drawing/2014/main" id="{E689CBDF-24D9-8C0B-D7F8-F4D46DAF5F3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48" y="3053"/>
                      <a:ext cx="38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10" name="Line 57">
                      <a:extLst>
                        <a:ext uri="{FF2B5EF4-FFF2-40B4-BE49-F238E27FC236}">
                          <a16:creationId xmlns:a16="http://schemas.microsoft.com/office/drawing/2014/main" id="{ACFE106F-BB50-A78D-2B45-D24F898B29F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448" y="2189"/>
                      <a:ext cx="38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2511" name="Line 58">
                      <a:extLst>
                        <a:ext uri="{FF2B5EF4-FFF2-40B4-BE49-F238E27FC236}">
                          <a16:creationId xmlns:a16="http://schemas.microsoft.com/office/drawing/2014/main" id="{B2D4DD30-E28E-C2A4-4CC9-D33451F110D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544" y="2320"/>
                      <a:ext cx="288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62505" name="Text Box 59">
                    <a:extLst>
                      <a:ext uri="{FF2B5EF4-FFF2-40B4-BE49-F238E27FC236}">
                        <a16:creationId xmlns:a16="http://schemas.microsoft.com/office/drawing/2014/main" id="{CDB8D053-982C-CBDC-FB76-53A1AACCAE7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63" y="3686"/>
                    <a:ext cx="217" cy="47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/>
                      <a:t>A</a:t>
                    </a:r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/>
                      <a:t>B</a:t>
                    </a:r>
                    <a:endParaRPr lang="it-IT" altLang="it-IT" sz="2400"/>
                  </a:p>
                </p:txBody>
              </p:sp>
            </p:grpSp>
          </p:grpSp>
          <p:sp>
            <p:nvSpPr>
              <p:cNvPr id="62496" name="Text Box 60">
                <a:extLst>
                  <a:ext uri="{FF2B5EF4-FFF2-40B4-BE49-F238E27FC236}">
                    <a16:creationId xmlns:a16="http://schemas.microsoft.com/office/drawing/2014/main" id="{8A7D09F9-C01F-BD6E-DCDE-5823C77B37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4" y="672"/>
                <a:ext cx="266" cy="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  <p:sp>
            <p:nvSpPr>
              <p:cNvPr id="62497" name="Text Box 61">
                <a:extLst>
                  <a:ext uri="{FF2B5EF4-FFF2-40B4-BE49-F238E27FC236}">
                    <a16:creationId xmlns:a16="http://schemas.microsoft.com/office/drawing/2014/main" id="{268774E4-4635-38B6-6743-E5384BA775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1536"/>
                <a:ext cx="266" cy="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  <p:sp>
            <p:nvSpPr>
              <p:cNvPr id="62498" name="Text Box 62">
                <a:extLst>
                  <a:ext uri="{FF2B5EF4-FFF2-40B4-BE49-F238E27FC236}">
                    <a16:creationId xmlns:a16="http://schemas.microsoft.com/office/drawing/2014/main" id="{92212731-10B9-C0A1-058C-A5BA3B456A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2351"/>
                <a:ext cx="266" cy="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  <p:sp>
            <p:nvSpPr>
              <p:cNvPr id="62499" name="Text Box 63">
                <a:extLst>
                  <a:ext uri="{FF2B5EF4-FFF2-40B4-BE49-F238E27FC236}">
                    <a16:creationId xmlns:a16="http://schemas.microsoft.com/office/drawing/2014/main" id="{6099275D-1A83-66CC-588A-17C286A523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68" y="3206"/>
                <a:ext cx="266" cy="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 defTabSz="76200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 defTabSz="7620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 defTabSz="7620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 defTabSz="7620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defTabSz="7620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0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1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2</a:t>
                </a:r>
              </a:p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it-IT" altLang="it-IT" sz="2000"/>
                  <a:t>U</a:t>
                </a:r>
                <a:r>
                  <a:rPr lang="it-IT" altLang="it-IT" sz="2000" baseline="-25000"/>
                  <a:t>3</a:t>
                </a:r>
              </a:p>
            </p:txBody>
          </p:sp>
        </p:grpSp>
        <p:grpSp>
          <p:nvGrpSpPr>
            <p:cNvPr id="62471" name="Group 64">
              <a:extLst>
                <a:ext uri="{FF2B5EF4-FFF2-40B4-BE49-F238E27FC236}">
                  <a16:creationId xmlns:a16="http://schemas.microsoft.com/office/drawing/2014/main" id="{E9A8C797-DE51-6EA3-9392-4524DE41C05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7" y="672"/>
              <a:ext cx="3574" cy="3489"/>
              <a:chOff x="1576" y="672"/>
              <a:chExt cx="3299" cy="3489"/>
            </a:xfrm>
          </p:grpSpPr>
          <p:grpSp>
            <p:nvGrpSpPr>
              <p:cNvPr id="62472" name="Group 65">
                <a:extLst>
                  <a:ext uri="{FF2B5EF4-FFF2-40B4-BE49-F238E27FC236}">
                    <a16:creationId xmlns:a16="http://schemas.microsoft.com/office/drawing/2014/main" id="{A2B8DA45-7A2C-017D-FB5A-DB45AA93B7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96" y="729"/>
                <a:ext cx="1379" cy="3432"/>
                <a:chOff x="3496" y="729"/>
                <a:chExt cx="1379" cy="3432"/>
              </a:xfrm>
            </p:grpSpPr>
            <p:grpSp>
              <p:nvGrpSpPr>
                <p:cNvPr id="62474" name="Group 66">
                  <a:extLst>
                    <a:ext uri="{FF2B5EF4-FFF2-40B4-BE49-F238E27FC236}">
                      <a16:creationId xmlns:a16="http://schemas.microsoft.com/office/drawing/2014/main" id="{51EBDDD9-4F72-EC42-9561-AC68502D7A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560" y="729"/>
                  <a:ext cx="315" cy="3432"/>
                  <a:chOff x="3556" y="729"/>
                  <a:chExt cx="315" cy="3432"/>
                </a:xfrm>
              </p:grpSpPr>
              <p:sp>
                <p:nvSpPr>
                  <p:cNvPr id="62491" name="Text Box 67">
                    <a:extLst>
                      <a:ext uri="{FF2B5EF4-FFF2-40B4-BE49-F238E27FC236}">
                        <a16:creationId xmlns:a16="http://schemas.microsoft.com/office/drawing/2014/main" id="{D0A02295-1B6F-F9F1-70FA-AEAC214A89E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6" y="729"/>
                    <a:ext cx="265" cy="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0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2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3</a:t>
                    </a:r>
                    <a:endParaRPr lang="it-IT" altLang="it-IT" sz="2000" baseline="-25000"/>
                  </a:p>
                </p:txBody>
              </p:sp>
              <p:sp>
                <p:nvSpPr>
                  <p:cNvPr id="62492" name="Text Box 68">
                    <a:extLst>
                      <a:ext uri="{FF2B5EF4-FFF2-40B4-BE49-F238E27FC236}">
                        <a16:creationId xmlns:a16="http://schemas.microsoft.com/office/drawing/2014/main" id="{F87B4A94-7939-FF04-B3C0-CE53096954C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6" y="1615"/>
                    <a:ext cx="265" cy="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4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5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6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7</a:t>
                    </a:r>
                  </a:p>
                </p:txBody>
              </p:sp>
              <p:sp>
                <p:nvSpPr>
                  <p:cNvPr id="62493" name="Text Box 69">
                    <a:extLst>
                      <a:ext uri="{FF2B5EF4-FFF2-40B4-BE49-F238E27FC236}">
                        <a16:creationId xmlns:a16="http://schemas.microsoft.com/office/drawing/2014/main" id="{A30FE5B9-6982-F857-D7B8-6595D7F537E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6" y="2448"/>
                    <a:ext cx="315" cy="88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8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9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10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11</a:t>
                    </a:r>
                    <a:endParaRPr lang="it-IT" altLang="it-IT" sz="2000" baseline="-25000"/>
                  </a:p>
                </p:txBody>
              </p:sp>
              <p:sp>
                <p:nvSpPr>
                  <p:cNvPr id="62494" name="Text Box 70">
                    <a:extLst>
                      <a:ext uri="{FF2B5EF4-FFF2-40B4-BE49-F238E27FC236}">
                        <a16:creationId xmlns:a16="http://schemas.microsoft.com/office/drawing/2014/main" id="{15C3639C-7400-0F78-10D7-9629C825C10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556" y="3274"/>
                    <a:ext cx="315" cy="88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defTabSz="762000">
                      <a:spcBef>
                        <a:spcPct val="20000"/>
                      </a:spcBef>
                      <a:buClr>
                        <a:schemeClr val="tx1"/>
                      </a:buClr>
                      <a:buSzPct val="75000"/>
                      <a:buFont typeface="Wingdings" panose="05000000000000000000" pitchFamily="2" charset="2"/>
                      <a:buChar char="Ø"/>
                      <a:defRPr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1pPr>
                    <a:lvl2pPr marL="742950" indent="-285750" defTabSz="762000">
                      <a:spcBef>
                        <a:spcPct val="20000"/>
                      </a:spcBef>
                      <a:buClr>
                        <a:srgbClr val="E5405D"/>
                      </a:buClr>
                      <a:buChar char="»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2pPr>
                    <a:lvl3pPr marL="1143000" indent="-228600" defTabSz="762000">
                      <a:spcBef>
                        <a:spcPct val="20000"/>
                      </a:spcBef>
                      <a:buClr>
                        <a:schemeClr val="tx1"/>
                      </a:buClr>
                      <a:buFont typeface="Symbol" panose="05050102010706020507" pitchFamily="18" charset="2"/>
                      <a:buChar char="¨"/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3pPr>
                    <a:lvl4pPr marL="1600200" indent="-228600" defTabSz="762000">
                      <a:spcBef>
                        <a:spcPct val="20000"/>
                      </a:spcBef>
                      <a:buClr>
                        <a:srgbClr val="E5405D"/>
                      </a:buClr>
                      <a:buSzPct val="64000"/>
                      <a:buFont typeface="Monotype Sorts" charset="2"/>
                      <a:buChar char="l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4pPr>
                    <a:lvl5pPr marL="2057400" indent="-228600" defTabSz="762000">
                      <a:spcBef>
                        <a:spcPct val="20000"/>
                      </a:spcBef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5pPr>
                    <a:lvl6pPr marL="25146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6pPr>
                    <a:lvl7pPr marL="29718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7pPr>
                    <a:lvl8pPr marL="34290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8pPr>
                    <a:lvl9pPr marL="3886200" indent="-228600" defTabSz="7620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Char char="»"/>
                      <a:defRPr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12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13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14</a:t>
                    </a:r>
                  </a:p>
                  <a:p>
                    <a:pPr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it-IT" altLang="it-IT" sz="2000">
                        <a:solidFill>
                          <a:schemeClr val="accent2"/>
                        </a:solidFill>
                      </a:rPr>
                      <a:t>U</a:t>
                    </a:r>
                    <a:r>
                      <a:rPr lang="it-IT" altLang="it-IT" sz="2000" baseline="-25000">
                        <a:solidFill>
                          <a:schemeClr val="accent2"/>
                        </a:solidFill>
                      </a:rPr>
                      <a:t>15</a:t>
                    </a:r>
                    <a:endParaRPr lang="it-IT" altLang="it-IT" sz="2000" baseline="-25000"/>
                  </a:p>
                </p:txBody>
              </p:sp>
            </p:grpSp>
            <p:sp>
              <p:nvSpPr>
                <p:cNvPr id="62475" name="Line 71">
                  <a:extLst>
                    <a:ext uri="{FF2B5EF4-FFF2-40B4-BE49-F238E27FC236}">
                      <a16:creationId xmlns:a16="http://schemas.microsoft.com/office/drawing/2014/main" id="{D75BDF14-A224-DACD-C79C-5EA693A918B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6" y="912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76" name="Line 72">
                  <a:extLst>
                    <a:ext uri="{FF2B5EF4-FFF2-40B4-BE49-F238E27FC236}">
                      <a16:creationId xmlns:a16="http://schemas.microsoft.com/office/drawing/2014/main" id="{5264EC50-224B-51BB-84A5-B31170FB22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1079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77" name="Line 73">
                  <a:extLst>
                    <a:ext uri="{FF2B5EF4-FFF2-40B4-BE49-F238E27FC236}">
                      <a16:creationId xmlns:a16="http://schemas.microsoft.com/office/drawing/2014/main" id="{30DCEB86-D6F0-F1DD-9730-9B7D5B0727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1296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78" name="Line 74">
                  <a:extLst>
                    <a:ext uri="{FF2B5EF4-FFF2-40B4-BE49-F238E27FC236}">
                      <a16:creationId xmlns:a16="http://schemas.microsoft.com/office/drawing/2014/main" id="{9E8FD8F7-D5C5-17F4-35D9-6B0CF944656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96" y="1488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79" name="Line 75">
                  <a:extLst>
                    <a:ext uri="{FF2B5EF4-FFF2-40B4-BE49-F238E27FC236}">
                      <a16:creationId xmlns:a16="http://schemas.microsoft.com/office/drawing/2014/main" id="{09185D08-D73A-6175-5215-18DBBAE8809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1776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0" name="Line 76">
                  <a:extLst>
                    <a:ext uri="{FF2B5EF4-FFF2-40B4-BE49-F238E27FC236}">
                      <a16:creationId xmlns:a16="http://schemas.microsoft.com/office/drawing/2014/main" id="{33E152EA-E482-1269-401A-1DC379B2217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1942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1" name="Line 77">
                  <a:extLst>
                    <a:ext uri="{FF2B5EF4-FFF2-40B4-BE49-F238E27FC236}">
                      <a16:creationId xmlns:a16="http://schemas.microsoft.com/office/drawing/2014/main" id="{8E14975E-8A66-FEFC-53B4-F694A9621D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160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2" name="Line 78">
                  <a:extLst>
                    <a:ext uri="{FF2B5EF4-FFF2-40B4-BE49-F238E27FC236}">
                      <a16:creationId xmlns:a16="http://schemas.microsoft.com/office/drawing/2014/main" id="{10DCA0E2-4F04-79AD-5FEA-3515CD843C5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352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3" name="Line 79">
                  <a:extLst>
                    <a:ext uri="{FF2B5EF4-FFF2-40B4-BE49-F238E27FC236}">
                      <a16:creationId xmlns:a16="http://schemas.microsoft.com/office/drawing/2014/main" id="{6E061557-268F-DDD9-4395-5BC4B4BC400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592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4" name="Line 80">
                  <a:extLst>
                    <a:ext uri="{FF2B5EF4-FFF2-40B4-BE49-F238E27FC236}">
                      <a16:creationId xmlns:a16="http://schemas.microsoft.com/office/drawing/2014/main" id="{4AAAC1FA-04FA-D7CE-ADCC-BD1FF4746C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758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5" name="Line 81">
                  <a:extLst>
                    <a:ext uri="{FF2B5EF4-FFF2-40B4-BE49-F238E27FC236}">
                      <a16:creationId xmlns:a16="http://schemas.microsoft.com/office/drawing/2014/main" id="{ED6DEE54-0223-1E4E-5BAD-74FF664348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2976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6" name="Line 82">
                  <a:extLst>
                    <a:ext uri="{FF2B5EF4-FFF2-40B4-BE49-F238E27FC236}">
                      <a16:creationId xmlns:a16="http://schemas.microsoft.com/office/drawing/2014/main" id="{FD67F6C8-CDA2-E1DE-D41E-371A9623737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168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7" name="Line 83">
                  <a:extLst>
                    <a:ext uri="{FF2B5EF4-FFF2-40B4-BE49-F238E27FC236}">
                      <a16:creationId xmlns:a16="http://schemas.microsoft.com/office/drawing/2014/main" id="{3FBB1A9C-9DDE-BAB0-EFAC-BA4962BA519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408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8" name="Line 84">
                  <a:extLst>
                    <a:ext uri="{FF2B5EF4-FFF2-40B4-BE49-F238E27FC236}">
                      <a16:creationId xmlns:a16="http://schemas.microsoft.com/office/drawing/2014/main" id="{E5AC5409-46BE-0B79-C44F-F2FE9B28437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600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89" name="Line 85">
                  <a:extLst>
                    <a:ext uri="{FF2B5EF4-FFF2-40B4-BE49-F238E27FC236}">
                      <a16:creationId xmlns:a16="http://schemas.microsoft.com/office/drawing/2014/main" id="{4D38FA54-6930-E6DC-9C81-F10E3128DE0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804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490" name="Line 86">
                  <a:extLst>
                    <a:ext uri="{FF2B5EF4-FFF2-40B4-BE49-F238E27FC236}">
                      <a16:creationId xmlns:a16="http://schemas.microsoft.com/office/drawing/2014/main" id="{140549C8-0A26-AB1B-85EB-8B76985A0F5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04" y="3984"/>
                  <a:ext cx="1064" cy="0"/>
                </a:xfrm>
                <a:prstGeom prst="line">
                  <a:avLst/>
                </a:prstGeom>
                <a:noFill/>
                <a:ln w="9525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62473" name="Rectangle 87">
                <a:extLst>
                  <a:ext uri="{FF2B5EF4-FFF2-40B4-BE49-F238E27FC236}">
                    <a16:creationId xmlns:a16="http://schemas.microsoft.com/office/drawing/2014/main" id="{16A5FCF0-04F5-E5D1-D532-A40C9BA38D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6" y="672"/>
                <a:ext cx="2840" cy="3456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</p:grpSp>
      <p:sp>
        <p:nvSpPr>
          <p:cNvPr id="62467" name="Segnaposto numero diapositiva 88">
            <a:extLst>
              <a:ext uri="{FF2B5EF4-FFF2-40B4-BE49-F238E27FC236}">
                <a16:creationId xmlns:a16="http://schemas.microsoft.com/office/drawing/2014/main" id="{3B4AA3CE-7C92-E422-060A-10BCE721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410D87-4009-4EE9-9899-1F52E8DD51E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37</a:t>
            </a:fld>
            <a:endParaRPr lang="it-IT" altLang="it-IT" sz="1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9528830-265B-F69A-172E-1E97C17CA9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79375"/>
            <a:ext cx="9740900" cy="685800"/>
          </a:xfrm>
        </p:spPr>
        <p:txBody>
          <a:bodyPr/>
          <a:lstStyle/>
          <a:p>
            <a:pPr algn="ctr" eaLnBrk="1" hangingPunct="1"/>
            <a:r>
              <a:rPr lang="it-IT" altLang="it-IT">
                <a:ea typeface="ＭＳ Ｐゴシック" panose="020B0600070205080204" pitchFamily="34" charset="-128"/>
              </a:rPr>
              <a:t>Esempio (semplificato) di utilizzo di Decoder (1/2)</a:t>
            </a:r>
          </a:p>
        </p:txBody>
      </p:sp>
      <p:sp>
        <p:nvSpPr>
          <p:cNvPr id="64514" name="Rectangle 4">
            <a:extLst>
              <a:ext uri="{FF2B5EF4-FFF2-40B4-BE49-F238E27FC236}">
                <a16:creationId xmlns:a16="http://schemas.microsoft.com/office/drawing/2014/main" id="{A6EBCA57-C41C-0A22-B142-8A68CE9AF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00" y="1277938"/>
            <a:ext cx="9740900" cy="489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I decoder sono utilizzati in moltissime applicazioni.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Un esempio è la selezione dell'input/output da parte del processore.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Ogni porta di I/O possiede un indirizzo (univoco).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Quando il processore vuole comunicare con una determinata periferica esso produce il codice dell'indirizzo della porta di I/O al quale la periferica è connessa.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endParaRPr lang="it-IT" altLang="it-IT" sz="2600" b="0"/>
          </a:p>
          <a:p>
            <a:pPr eaLnBrk="1" hangingPunct="1">
              <a:spcBef>
                <a:spcPct val="0"/>
              </a:spcBef>
              <a:buClrTx/>
              <a:buSzTx/>
              <a:buFontTx/>
              <a:buChar char="•"/>
            </a:pPr>
            <a:r>
              <a:rPr lang="it-IT" altLang="it-IT" sz="2600" b="0"/>
              <a:t> L'indirizzo (binario) della porta è fornito in input al decoder il quale attraverso il suo output abilita la corrispondente porta di I/O.</a:t>
            </a:r>
          </a:p>
        </p:txBody>
      </p:sp>
      <p:sp>
        <p:nvSpPr>
          <p:cNvPr id="64515" name="Segnaposto numero diapositiva 3">
            <a:extLst>
              <a:ext uri="{FF2B5EF4-FFF2-40B4-BE49-F238E27FC236}">
                <a16:creationId xmlns:a16="http://schemas.microsoft.com/office/drawing/2014/main" id="{13E2D337-CCC0-7DD6-A17C-E45F24D90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59F186-61CB-401A-BD19-6AA51788D35B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38</a:t>
            </a:fld>
            <a:endParaRPr lang="it-IT" altLang="it-IT" sz="1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1" name="Picture 2">
            <a:extLst>
              <a:ext uri="{FF2B5EF4-FFF2-40B4-BE49-F238E27FC236}">
                <a16:creationId xmlns:a16="http://schemas.microsoft.com/office/drawing/2014/main" id="{ED2365C4-5521-7023-2EE6-3F00D1DA9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52550"/>
            <a:ext cx="990600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562" name="Rectangle 3">
            <a:extLst>
              <a:ext uri="{FF2B5EF4-FFF2-40B4-BE49-F238E27FC236}">
                <a16:creationId xmlns:a16="http://schemas.microsoft.com/office/drawing/2014/main" id="{EDA37584-4A0F-D492-4487-4F9292938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" y="188913"/>
            <a:ext cx="9740900" cy="685800"/>
          </a:xfrm>
          <a:noFill/>
        </p:spPr>
        <p:txBody>
          <a:bodyPr anchor="ctr"/>
          <a:lstStyle/>
          <a:p>
            <a:pPr algn="ctr" eaLnBrk="1" hangingPunct="1"/>
            <a:r>
              <a:rPr lang="it-IT" altLang="it-IT">
                <a:ea typeface="ＭＳ Ｐゴシック" panose="020B0600070205080204" pitchFamily="34" charset="-128"/>
              </a:rPr>
              <a:t>Esempio (semplificato) di utilizzo di Decoder (2/2)</a:t>
            </a:r>
          </a:p>
        </p:txBody>
      </p:sp>
      <p:sp>
        <p:nvSpPr>
          <p:cNvPr id="66563" name="Segnaposto numero diapositiva 3">
            <a:extLst>
              <a:ext uri="{FF2B5EF4-FFF2-40B4-BE49-F238E27FC236}">
                <a16:creationId xmlns:a16="http://schemas.microsoft.com/office/drawing/2014/main" id="{8CCAE30A-B09D-063F-FCAA-8B39DAE76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37C435-B4EA-49A9-A6DA-83B4739B7B44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39</a:t>
            </a:fld>
            <a:endParaRPr lang="it-IT" altLang="it-IT" sz="1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356D513E-C9C3-13A6-5E60-2A897CF771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142875"/>
            <a:ext cx="8420100" cy="6096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Codificatore (Encoder)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DA7569F3-B6AD-3242-0746-79D45D6AA7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7850" y="1219200"/>
            <a:ext cx="8420100" cy="4114800"/>
          </a:xfrm>
        </p:spPr>
        <p:txBody>
          <a:bodyPr/>
          <a:lstStyle/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Un codificatore è una macchina che riceve in ingresso una rappresentazione decodificata (linee U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400">
                <a:ea typeface="ＭＳ Ｐゴシック" panose="020B0600070205080204" pitchFamily="34" charset="-128"/>
              </a:rPr>
              <a:t>, … U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N-1</a:t>
            </a:r>
            <a:r>
              <a:rPr lang="it-IT" altLang="it-IT" sz="2400">
                <a:ea typeface="ＭＳ Ｐゴシック" panose="020B0600070205080204" pitchFamily="34" charset="-128"/>
              </a:rPr>
              <a:t>) e fornisce in uscita la parola codice associata a U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400">
                <a:ea typeface="ＭＳ Ｐゴシック" panose="020B0600070205080204" pitchFamily="34" charset="-128"/>
              </a:rPr>
              <a:t> se U</a:t>
            </a:r>
            <a:r>
              <a:rPr lang="it-IT" altLang="it-IT" sz="24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400">
                <a:ea typeface="ＭＳ Ｐゴシック" panose="020B0600070205080204" pitchFamily="34" charset="-128"/>
              </a:rPr>
              <a:t>=1 (più in generale se è attivo).</a:t>
            </a:r>
          </a:p>
        </p:txBody>
      </p:sp>
      <p:grpSp>
        <p:nvGrpSpPr>
          <p:cNvPr id="68611" name="Group 15">
            <a:extLst>
              <a:ext uri="{FF2B5EF4-FFF2-40B4-BE49-F238E27FC236}">
                <a16:creationId xmlns:a16="http://schemas.microsoft.com/office/drawing/2014/main" id="{4AF904A8-8FC2-2C4F-1CE6-965F6D53647B}"/>
              </a:ext>
            </a:extLst>
          </p:cNvPr>
          <p:cNvGrpSpPr>
            <a:grpSpLocks/>
          </p:cNvGrpSpPr>
          <p:nvPr/>
        </p:nvGrpSpPr>
        <p:grpSpPr bwMode="auto">
          <a:xfrm>
            <a:off x="2547938" y="3048000"/>
            <a:ext cx="4843462" cy="3048000"/>
            <a:chOff x="1560" y="2208"/>
            <a:chExt cx="3051" cy="1920"/>
          </a:xfrm>
        </p:grpSpPr>
        <p:sp>
          <p:nvSpPr>
            <p:cNvPr id="68613" name="AutoShape 4">
              <a:extLst>
                <a:ext uri="{FF2B5EF4-FFF2-40B4-BE49-F238E27FC236}">
                  <a16:creationId xmlns:a16="http://schemas.microsoft.com/office/drawing/2014/main" id="{0F95F679-D478-E73A-7A3A-78BFAF3F8A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 flipV="1">
              <a:off x="2228" y="2736"/>
              <a:ext cx="1680" cy="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500 w 21600"/>
                <a:gd name="T13" fmla="*/ 4500 h 21600"/>
                <a:gd name="T14" fmla="*/ 17100 w 21600"/>
                <a:gd name="T15" fmla="*/ 1710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614" name="Line 5">
              <a:extLst>
                <a:ext uri="{FF2B5EF4-FFF2-40B4-BE49-F238E27FC236}">
                  <a16:creationId xmlns:a16="http://schemas.microsoft.com/office/drawing/2014/main" id="{1ED6F73C-4EFC-EF7B-C570-42EF5A86B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0" y="2352"/>
              <a:ext cx="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5" name="Line 6">
              <a:extLst>
                <a:ext uri="{FF2B5EF4-FFF2-40B4-BE49-F238E27FC236}">
                  <a16:creationId xmlns:a16="http://schemas.microsoft.com/office/drawing/2014/main" id="{B903695D-766B-02FA-5571-F2AD98EEC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0" y="3648"/>
              <a:ext cx="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6" name="Line 7">
              <a:extLst>
                <a:ext uri="{FF2B5EF4-FFF2-40B4-BE49-F238E27FC236}">
                  <a16:creationId xmlns:a16="http://schemas.microsoft.com/office/drawing/2014/main" id="{A378E0D0-0318-64D2-6068-ABADEDD86D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2736"/>
              <a:ext cx="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7" name="Line 8">
              <a:extLst>
                <a:ext uri="{FF2B5EF4-FFF2-40B4-BE49-F238E27FC236}">
                  <a16:creationId xmlns:a16="http://schemas.microsoft.com/office/drawing/2014/main" id="{A7C64C36-5115-89D9-C4F6-E72C24CBDE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3360"/>
              <a:ext cx="5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18" name="Text Box 9">
              <a:extLst>
                <a:ext uri="{FF2B5EF4-FFF2-40B4-BE49-F238E27FC236}">
                  <a16:creationId xmlns:a16="http://schemas.microsoft.com/office/drawing/2014/main" id="{31B9A36F-35C4-9EB4-D3FF-4B9EA2250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2496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  <a:r>
                <a:rPr lang="it-IT" altLang="it-IT" sz="2400" b="0" baseline="-25000"/>
                <a:t>o</a:t>
              </a:r>
            </a:p>
          </p:txBody>
        </p:sp>
        <p:sp>
          <p:nvSpPr>
            <p:cNvPr id="68619" name="Text Box 10">
              <a:extLst>
                <a:ext uri="{FF2B5EF4-FFF2-40B4-BE49-F238E27FC236}">
                  <a16:creationId xmlns:a16="http://schemas.microsoft.com/office/drawing/2014/main" id="{816D0E14-E653-7C33-CBA2-E843AEA8D9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3216"/>
              <a:ext cx="45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  <a:r>
                <a:rPr lang="it-IT" altLang="it-IT" sz="2400" b="0" baseline="-25000"/>
                <a:t>m-1</a:t>
              </a:r>
            </a:p>
          </p:txBody>
        </p:sp>
        <p:sp>
          <p:nvSpPr>
            <p:cNvPr id="68620" name="Text Box 11">
              <a:extLst>
                <a:ext uri="{FF2B5EF4-FFF2-40B4-BE49-F238E27FC236}">
                  <a16:creationId xmlns:a16="http://schemas.microsoft.com/office/drawing/2014/main" id="{DB0F9FD5-501B-7511-2C9F-8FC6784FF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2" y="2208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U</a:t>
              </a:r>
              <a:r>
                <a:rPr lang="it-IT" altLang="it-IT" sz="2400" b="0" baseline="-25000"/>
                <a:t>0</a:t>
              </a:r>
            </a:p>
          </p:txBody>
        </p:sp>
        <p:sp>
          <p:nvSpPr>
            <p:cNvPr id="68621" name="Text Box 12">
              <a:extLst>
                <a:ext uri="{FF2B5EF4-FFF2-40B4-BE49-F238E27FC236}">
                  <a16:creationId xmlns:a16="http://schemas.microsoft.com/office/drawing/2014/main" id="{79715DC0-A968-0B96-3C10-EDFC948FB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0" y="3504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U</a:t>
              </a:r>
              <a:r>
                <a:rPr lang="it-IT" altLang="it-IT" sz="2400" b="0" baseline="-25000"/>
                <a:t>N-1</a:t>
              </a:r>
            </a:p>
          </p:txBody>
        </p:sp>
        <p:sp>
          <p:nvSpPr>
            <p:cNvPr id="68622" name="Line 13">
              <a:extLst>
                <a:ext uri="{FF2B5EF4-FFF2-40B4-BE49-F238E27FC236}">
                  <a16:creationId xmlns:a16="http://schemas.microsoft.com/office/drawing/2014/main" id="{63A5A652-D6A5-2BCC-77A3-BDB5779D7F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6" y="3792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623" name="Text Box 14">
              <a:extLst>
                <a:ext uri="{FF2B5EF4-FFF2-40B4-BE49-F238E27FC236}">
                  <a16:creationId xmlns:a16="http://schemas.microsoft.com/office/drawing/2014/main" id="{53AD366D-00A1-4B38-D34E-C80C2EB0C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9" y="3840"/>
              <a:ext cx="23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endParaRPr lang="it-IT" altLang="it-IT" sz="2400" b="0"/>
            </a:p>
          </p:txBody>
        </p:sp>
      </p:grpSp>
      <p:sp>
        <p:nvSpPr>
          <p:cNvPr id="68612" name="Segnaposto numero diapositiva 15">
            <a:extLst>
              <a:ext uri="{FF2B5EF4-FFF2-40B4-BE49-F238E27FC236}">
                <a16:creationId xmlns:a16="http://schemas.microsoft.com/office/drawing/2014/main" id="{4E56FAAF-380B-84AC-9C5E-CA6603C1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4E8BA77-7D41-4EAC-BB20-4652E0861B74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40</a:t>
            </a:fld>
            <a:endParaRPr lang="it-IT" altLang="it-IT"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>
            <a:extLst>
              <a:ext uri="{FF2B5EF4-FFF2-40B4-BE49-F238E27FC236}">
                <a16:creationId xmlns:a16="http://schemas.microsoft.com/office/drawing/2014/main" id="{88220C9B-DA18-16CB-6B05-548E522CE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34" name="Rectangle 3">
            <a:extLst>
              <a:ext uri="{FF2B5EF4-FFF2-40B4-BE49-F238E27FC236}">
                <a16:creationId xmlns:a16="http://schemas.microsoft.com/office/drawing/2014/main" id="{C4FD9394-1A23-6EA6-1377-95599C93D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35" name="Rectangle 4">
            <a:extLst>
              <a:ext uri="{FF2B5EF4-FFF2-40B4-BE49-F238E27FC236}">
                <a16:creationId xmlns:a16="http://schemas.microsoft.com/office/drawing/2014/main" id="{FF059C66-0242-3E80-0120-06FB688F3B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36" name="Rectangle 5">
            <a:extLst>
              <a:ext uri="{FF2B5EF4-FFF2-40B4-BE49-F238E27FC236}">
                <a16:creationId xmlns:a16="http://schemas.microsoft.com/office/drawing/2014/main" id="{0FCC0F9F-AD08-A63E-8012-99538D508B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166813"/>
            <a:ext cx="8915400" cy="504507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Rete di codifica binaria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 i="1">
                <a:ea typeface="ＭＳ Ｐゴシック" panose="020B0600070205080204" pitchFamily="34" charset="-128"/>
              </a:rPr>
              <a:t>n </a:t>
            </a:r>
            <a:r>
              <a:rPr lang="it-IT" altLang="it-IT" sz="1800">
                <a:ea typeface="ＭＳ Ｐゴシック" panose="020B0600070205080204" pitchFamily="34" charset="-128"/>
              </a:rPr>
              <a:t>ingressi (ciascuno associato ad uno degli oggetti da codificare),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 i="1">
                <a:ea typeface="ＭＳ Ｐゴシック" panose="020B0600070205080204" pitchFamily="34" charset="-128"/>
              </a:rPr>
              <a:t>m </a:t>
            </a:r>
            <a:r>
              <a:rPr lang="it-IT" altLang="it-IT" sz="1800">
                <a:ea typeface="ＭＳ Ｐゴシック" panose="020B0600070205080204" pitchFamily="34" charset="-128"/>
              </a:rPr>
              <a:t>uscite binarie (sulle quali è rappresentata la parola codice)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un ingresso di abilitazione </a:t>
            </a:r>
            <a:r>
              <a:rPr lang="it-IT" altLang="it-IT" sz="2000" i="1">
                <a:latin typeface="Symbol" panose="05050102010706020507" pitchFamily="18" charset="2"/>
                <a:ea typeface="ＭＳ Ｐゴシック" panose="020B0600070205080204" pitchFamily="34" charset="-128"/>
              </a:rPr>
              <a:t>a </a:t>
            </a:r>
            <a:r>
              <a:rPr lang="it-IT" altLang="it-IT" sz="1800">
                <a:ea typeface="ＭＳ Ｐゴシック" panose="020B0600070205080204" pitchFamily="34" charset="-128"/>
              </a:rPr>
              <a:t>(opzionale). 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un'uscita ausiliaria </a:t>
            </a:r>
            <a:r>
              <a:rPr lang="it-IT" altLang="it-IT" sz="1800" i="1">
                <a:ea typeface="ＭＳ Ｐゴシック" panose="020B0600070205080204" pitchFamily="34" charset="-128"/>
              </a:rPr>
              <a:t>p </a:t>
            </a:r>
            <a:r>
              <a:rPr lang="it-IT" altLang="it-IT" sz="1800">
                <a:ea typeface="ＭＳ Ｐゴシック" panose="020B0600070205080204" pitchFamily="34" charset="-128"/>
              </a:rPr>
              <a:t>che segnala la condizione "assenza di informazione da codificatore</a:t>
            </a:r>
            <a:r>
              <a:rPr lang="ja-JP" altLang="it-IT" sz="1800">
                <a:ea typeface="ＭＳ Ｐゴシック" panose="020B0600070205080204" pitchFamily="34" charset="-128"/>
              </a:rPr>
              <a:t>“</a:t>
            </a:r>
            <a:r>
              <a:rPr lang="it-IT" altLang="ja-JP" sz="1800">
                <a:ea typeface="ＭＳ Ｐゴシック" panose="020B0600070205080204" pitchFamily="34" charset="-128"/>
              </a:rPr>
              <a:t>(opzionale).</a:t>
            </a:r>
          </a:p>
          <a:p>
            <a:pPr lvl="1" eaLnBrk="1" hangingPunct="1">
              <a:lnSpc>
                <a:spcPct val="80000"/>
              </a:lnSpc>
            </a:pPr>
            <a:endParaRPr lang="it-IT" altLang="it-IT" sz="1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400">
              <a:solidFill>
                <a:schemeClr val="accent1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Il comportamento di una rete è descritto da una tabella in cui ad ogni ingresso si associa la parola codice che lo rappresenta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1800">
              <a:ea typeface="ＭＳ Ｐゴシック" panose="020B0600070205080204" pitchFamily="34" charset="-128"/>
            </a:endParaRPr>
          </a:p>
        </p:txBody>
      </p:sp>
      <p:sp>
        <p:nvSpPr>
          <p:cNvPr id="69637" name="Rectangle 6">
            <a:extLst>
              <a:ext uri="{FF2B5EF4-FFF2-40B4-BE49-F238E27FC236}">
                <a16:creationId xmlns:a16="http://schemas.microsoft.com/office/drawing/2014/main" id="{1D94F4C7-80FD-90E3-0FF4-6E101FE98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38" name="Rectangle 7">
            <a:extLst>
              <a:ext uri="{FF2B5EF4-FFF2-40B4-BE49-F238E27FC236}">
                <a16:creationId xmlns:a16="http://schemas.microsoft.com/office/drawing/2014/main" id="{4004121E-8CA2-2903-B179-B94A5165E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288" y="106363"/>
            <a:ext cx="89154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b="0">
                <a:solidFill>
                  <a:schemeClr val="tx2"/>
                </a:solidFill>
                <a:latin typeface="Verdana" panose="020B0604030504040204" pitchFamily="34" charset="0"/>
              </a:rPr>
              <a:t>Reti di codifica (codificatori) (1/3)</a:t>
            </a:r>
          </a:p>
        </p:txBody>
      </p:sp>
      <p:sp>
        <p:nvSpPr>
          <p:cNvPr id="69639" name="Rectangle 8">
            <a:extLst>
              <a:ext uri="{FF2B5EF4-FFF2-40B4-BE49-F238E27FC236}">
                <a16:creationId xmlns:a16="http://schemas.microsoft.com/office/drawing/2014/main" id="{E3A238AF-7BB9-BD8F-B2BC-DEE010A318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40" name="Rectangle 55">
            <a:extLst>
              <a:ext uri="{FF2B5EF4-FFF2-40B4-BE49-F238E27FC236}">
                <a16:creationId xmlns:a16="http://schemas.microsoft.com/office/drawing/2014/main" id="{B7869407-F22D-01D5-9C0B-4C152ECFA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69641" name="Segnaposto numero diapositiva 9">
            <a:extLst>
              <a:ext uri="{FF2B5EF4-FFF2-40B4-BE49-F238E27FC236}">
                <a16:creationId xmlns:a16="http://schemas.microsoft.com/office/drawing/2014/main" id="{F1644523-E824-FD73-E039-10EBB8D7A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9C942AD-6D56-4CBC-A3D2-188F7AF8267D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41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egnaposto numero diapositiva 3">
            <a:extLst>
              <a:ext uri="{FF2B5EF4-FFF2-40B4-BE49-F238E27FC236}">
                <a16:creationId xmlns:a16="http://schemas.microsoft.com/office/drawing/2014/main" id="{4978CA8F-BE8E-6A4B-3DE9-32C408F4C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968B74A-ACD4-4403-A88E-225B927E38BE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42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70658" name="Rectangle 2">
            <a:extLst>
              <a:ext uri="{FF2B5EF4-FFF2-40B4-BE49-F238E27FC236}">
                <a16:creationId xmlns:a16="http://schemas.microsoft.com/office/drawing/2014/main" id="{6BF4571B-1092-C41B-0AE0-686A1A5AF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Reti di codifica (codificatori) (2/3)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BEED8085-C127-8EBC-10E4-6D2C1ACB4A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it-IT" altLang="it-IT" sz="2800">
                <a:ea typeface="ＭＳ Ｐゴシック" panose="020B0600070205080204" pitchFamily="34" charset="-128"/>
              </a:rPr>
              <a:t>Condizione di vincolo sugli ingressi</a:t>
            </a:r>
          </a:p>
          <a:p>
            <a:pPr lvl="1" eaLnBrk="1" hangingPunct="1"/>
            <a:endParaRPr lang="it-IT" altLang="it-IT" sz="2800">
              <a:ea typeface="ＭＳ Ｐゴシック" panose="020B0600070205080204" pitchFamily="34" charset="-128"/>
            </a:endParaRPr>
          </a:p>
          <a:p>
            <a:pPr lvl="1" eaLnBrk="1" hangingPunct="1"/>
            <a:r>
              <a:rPr lang="it-IT" altLang="it-IT" sz="2800">
                <a:ea typeface="ＭＳ Ｐゴシック" panose="020B0600070205080204" pitchFamily="34" charset="-128"/>
              </a:rPr>
              <a:t>Uscita p</a:t>
            </a: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lvl="1"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</p:txBody>
      </p:sp>
      <p:graphicFrame>
        <p:nvGraphicFramePr>
          <p:cNvPr id="70660" name="Object 5">
            <a:extLst>
              <a:ext uri="{FF2B5EF4-FFF2-40B4-BE49-F238E27FC236}">
                <a16:creationId xmlns:a16="http://schemas.microsoft.com/office/drawing/2014/main" id="{1D931ADB-BC5B-704D-3630-85AE022F10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75000" y="2489200"/>
          <a:ext cx="1957388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2489200"/>
                        <a:ext cx="1957388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1" name="Object 6">
            <a:extLst>
              <a:ext uri="{FF2B5EF4-FFF2-40B4-BE49-F238E27FC236}">
                <a16:creationId xmlns:a16="http://schemas.microsoft.com/office/drawing/2014/main" id="{B003DF99-671E-C2E3-9343-354BC16D0A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67088" y="1905000"/>
          <a:ext cx="2776537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7088" y="1905000"/>
                        <a:ext cx="2776537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0662" name="Picture 7">
            <a:extLst>
              <a:ext uri="{FF2B5EF4-FFF2-40B4-BE49-F238E27FC236}">
                <a16:creationId xmlns:a16="http://schemas.microsoft.com/office/drawing/2014/main" id="{ED331E0A-36DF-C88D-46B4-EC57CFFEFA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611" b="21938"/>
          <a:stretch>
            <a:fillRect/>
          </a:stretch>
        </p:blipFill>
        <p:spPr bwMode="auto">
          <a:xfrm>
            <a:off x="550863" y="3397250"/>
            <a:ext cx="3865562" cy="287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663" name="Picture 46">
            <a:extLst>
              <a:ext uri="{FF2B5EF4-FFF2-40B4-BE49-F238E27FC236}">
                <a16:creationId xmlns:a16="http://schemas.microsoft.com/office/drawing/2014/main" id="{F8FEDD4C-C028-EB2F-17FB-5DF3863C1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324" b="20091"/>
          <a:stretch>
            <a:fillRect/>
          </a:stretch>
        </p:blipFill>
        <p:spPr bwMode="auto">
          <a:xfrm>
            <a:off x="4365625" y="3490913"/>
            <a:ext cx="4137025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64" name="AutoShape 47">
            <a:extLst>
              <a:ext uri="{FF2B5EF4-FFF2-40B4-BE49-F238E27FC236}">
                <a16:creationId xmlns:a16="http://schemas.microsoft.com/office/drawing/2014/main" id="{1BBAD1F2-0AE3-BAC9-E838-4C55050FC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3188" y="2349500"/>
            <a:ext cx="3452812" cy="1054100"/>
          </a:xfrm>
          <a:prstGeom prst="wedgeEllipseCallout">
            <a:avLst>
              <a:gd name="adj1" fmla="val -44370"/>
              <a:gd name="adj2" fmla="val 1073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400">
                <a:solidFill>
                  <a:schemeClr val="bg1"/>
                </a:solidFill>
              </a:rPr>
              <a:t>Ingressi 0-attivi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sz="2400">
              <a:solidFill>
                <a:schemeClr val="bg1"/>
              </a:solidFill>
            </a:endParaRPr>
          </a:p>
        </p:txBody>
      </p:sp>
      <p:sp>
        <p:nvSpPr>
          <p:cNvPr id="70665" name="Rectangle 49">
            <a:extLst>
              <a:ext uri="{FF2B5EF4-FFF2-40B4-BE49-F238E27FC236}">
                <a16:creationId xmlns:a16="http://schemas.microsoft.com/office/drawing/2014/main" id="{004ABA89-09AB-F1D3-6345-F0E5ECDE3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70666" name="Object 48">
            <a:extLst>
              <a:ext uri="{FF2B5EF4-FFF2-40B4-BE49-F238E27FC236}">
                <a16:creationId xmlns:a16="http://schemas.microsoft.com/office/drawing/2014/main" id="{0E0C14C3-F327-6020-096F-A8053534C1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70750" y="2806700"/>
          <a:ext cx="1785938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0" imgH="0" progId="Equation.DSMT4">
                  <p:embed/>
                </p:oleObj>
              </mc:Choice>
              <mc:Fallback>
                <p:oleObj name="Equation" r:id="rId7" imgW="0" imgH="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0" y="2806700"/>
                        <a:ext cx="1785938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3">
            <a:extLst>
              <a:ext uri="{FF2B5EF4-FFF2-40B4-BE49-F238E27FC236}">
                <a16:creationId xmlns:a16="http://schemas.microsoft.com/office/drawing/2014/main" id="{DB4FBE25-752C-AB0C-3056-01267E960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0688" y="1470025"/>
            <a:ext cx="8899525" cy="46482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Codificatore 8-4-2-1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71682" name="Rectangle 4">
            <a:extLst>
              <a:ext uri="{FF2B5EF4-FFF2-40B4-BE49-F238E27FC236}">
                <a16:creationId xmlns:a16="http://schemas.microsoft.com/office/drawing/2014/main" id="{679760EC-5ACD-38F7-8C42-C4195E736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475" y="152400"/>
            <a:ext cx="89154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b="0">
                <a:solidFill>
                  <a:schemeClr val="tx2"/>
                </a:solidFill>
                <a:latin typeface="Verdana" panose="020B0604030504040204" pitchFamily="34" charset="0"/>
              </a:rPr>
              <a:t>Reti di codifica (codificatori) (3/3)</a:t>
            </a:r>
          </a:p>
        </p:txBody>
      </p:sp>
      <p:sp>
        <p:nvSpPr>
          <p:cNvPr id="71683" name="Rectangle 7">
            <a:extLst>
              <a:ext uri="{FF2B5EF4-FFF2-40B4-BE49-F238E27FC236}">
                <a16:creationId xmlns:a16="http://schemas.microsoft.com/office/drawing/2014/main" id="{C6CD2FA6-33E9-8A4B-4F98-A35D8E9A8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71684" name="Object 6">
            <a:extLst>
              <a:ext uri="{FF2B5EF4-FFF2-40B4-BE49-F238E27FC236}">
                <a16:creationId xmlns:a16="http://schemas.microsoft.com/office/drawing/2014/main" id="{4DC033C8-B70E-16EA-51F6-EA9A97BF88C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1038" y="2227263"/>
          <a:ext cx="4381500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DSMT4">
                  <p:embed/>
                </p:oleObj>
              </mc:Choice>
              <mc:Fallback>
                <p:oleObj name="Equation" r:id="rId3" imgW="0" imgH="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038" y="2227263"/>
                        <a:ext cx="4381500" cy="211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685" name="Group 9">
            <a:extLst>
              <a:ext uri="{FF2B5EF4-FFF2-40B4-BE49-F238E27FC236}">
                <a16:creationId xmlns:a16="http://schemas.microsoft.com/office/drawing/2014/main" id="{706072BE-7CC3-C06E-F3F2-7731FB404E16}"/>
              </a:ext>
            </a:extLst>
          </p:cNvPr>
          <p:cNvGrpSpPr>
            <a:grpSpLocks/>
          </p:cNvGrpSpPr>
          <p:nvPr/>
        </p:nvGrpSpPr>
        <p:grpSpPr bwMode="auto">
          <a:xfrm>
            <a:off x="5738813" y="1470025"/>
            <a:ext cx="2997200" cy="3673475"/>
            <a:chOff x="687" y="2130"/>
            <a:chExt cx="1455" cy="2010"/>
          </a:xfrm>
        </p:grpSpPr>
        <p:grpSp>
          <p:nvGrpSpPr>
            <p:cNvPr id="71687" name="Group 10">
              <a:extLst>
                <a:ext uri="{FF2B5EF4-FFF2-40B4-BE49-F238E27FC236}">
                  <a16:creationId xmlns:a16="http://schemas.microsoft.com/office/drawing/2014/main" id="{C64691BF-070A-4FE6-623D-5C25438F90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" y="2162"/>
              <a:ext cx="1353" cy="1978"/>
              <a:chOff x="687" y="2162"/>
              <a:chExt cx="1353" cy="1978"/>
            </a:xfrm>
          </p:grpSpPr>
          <p:grpSp>
            <p:nvGrpSpPr>
              <p:cNvPr id="71689" name="Group 11">
                <a:extLst>
                  <a:ext uri="{FF2B5EF4-FFF2-40B4-BE49-F238E27FC236}">
                    <a16:creationId xmlns:a16="http://schemas.microsoft.com/office/drawing/2014/main" id="{BFAF3107-89C9-30E6-5354-8C4BDD2EE3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7" y="2162"/>
                <a:ext cx="1353" cy="1978"/>
                <a:chOff x="687" y="2162"/>
                <a:chExt cx="1353" cy="1978"/>
              </a:xfrm>
            </p:grpSpPr>
            <p:graphicFrame>
              <p:nvGraphicFramePr>
                <p:cNvPr id="71691" name="Object 12">
                  <a:extLst>
                    <a:ext uri="{FF2B5EF4-FFF2-40B4-BE49-F238E27FC236}">
                      <a16:creationId xmlns:a16="http://schemas.microsoft.com/office/drawing/2014/main" id="{46CD3ECE-D6D8-AB32-2E97-A4BB86CA577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687" y="2162"/>
                <a:ext cx="1353" cy="19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Picture" r:id="rId5" imgW="0" imgH="0" progId="Word.Picture.8">
                        <p:embed/>
                      </p:oleObj>
                    </mc:Choice>
                    <mc:Fallback>
                      <p:oleObj name="Picture" r:id="rId5" imgW="0" imgH="0" progId="Word.Picture.8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 l="5435" t="12163" r="60976" b="3476"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687" y="2162"/>
                              <a:ext cx="1353" cy="1978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1692" name="Line 13">
                  <a:extLst>
                    <a:ext uri="{FF2B5EF4-FFF2-40B4-BE49-F238E27FC236}">
                      <a16:creationId xmlns:a16="http://schemas.microsoft.com/office/drawing/2014/main" id="{C4E4451C-D97A-D6A8-9C56-20CEAA84E6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12" y="2168"/>
                  <a:ext cx="131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1690" name="Line 14">
                <a:extLst>
                  <a:ext uri="{FF2B5EF4-FFF2-40B4-BE49-F238E27FC236}">
                    <a16:creationId xmlns:a16="http://schemas.microsoft.com/office/drawing/2014/main" id="{8F52C771-447F-2158-AB46-D6593732C5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2166"/>
                <a:ext cx="0" cy="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1688" name="Rectangle 15">
              <a:extLst>
                <a:ext uri="{FF2B5EF4-FFF2-40B4-BE49-F238E27FC236}">
                  <a16:creationId xmlns:a16="http://schemas.microsoft.com/office/drawing/2014/main" id="{013AC05C-72C2-0E0F-7026-763958383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2" y="2130"/>
              <a:ext cx="120" cy="1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71686" name="Segnaposto numero diapositiva 12">
            <a:extLst>
              <a:ext uri="{FF2B5EF4-FFF2-40B4-BE49-F238E27FC236}">
                <a16:creationId xmlns:a16="http://schemas.microsoft.com/office/drawing/2014/main" id="{05468C04-64E6-6916-37DE-82E95EA7B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FB5BF6F-2E86-4E19-8980-2F148D4C82B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43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egnaposto numero diapositiva 5">
            <a:extLst>
              <a:ext uri="{FF2B5EF4-FFF2-40B4-BE49-F238E27FC236}">
                <a16:creationId xmlns:a16="http://schemas.microsoft.com/office/drawing/2014/main" id="{9FF3B1DB-2C9F-5BBF-0ADA-F4ACA9244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C7E5C40-4EB0-407A-86B3-5EA724A9400F}" type="slidenum">
              <a:rPr lang="it-IT" altLang="it-IT" sz="1400" smtClean="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44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CAB97D4-7B57-433F-0642-F5A784EEAF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9563" y="361950"/>
            <a:ext cx="8915400" cy="35242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Reti di codifica a priorità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0417DF7C-4CDA-9E3D-37C8-A79C7F0DC62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2586038"/>
            <a:ext cx="5653088" cy="3300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Rete a priorità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n </a:t>
            </a:r>
            <a:r>
              <a:rPr lang="it-IT" altLang="it-IT" sz="2000">
                <a:ea typeface="ＭＳ Ｐゴシック" panose="020B0600070205080204" pitchFamily="34" charset="-128"/>
              </a:rPr>
              <a:t>ingressi </a:t>
            </a:r>
            <a:r>
              <a:rPr lang="it-IT" altLang="it-IT" sz="2000" i="1">
                <a:ea typeface="ＭＳ Ｐゴシック" panose="020B0600070205080204" pitchFamily="34" charset="-128"/>
              </a:rPr>
              <a:t>X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</a:t>
            </a:r>
            <a:endParaRPr lang="it-IT" altLang="it-IT" sz="200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 i="1">
                <a:ea typeface="ＭＳ Ｐゴシック" panose="020B0600070205080204" pitchFamily="34" charset="-128"/>
              </a:rPr>
              <a:t>n </a:t>
            </a:r>
            <a:r>
              <a:rPr lang="it-IT" altLang="it-IT" sz="2000">
                <a:ea typeface="ＭＳ Ｐゴシック" panose="020B0600070205080204" pitchFamily="34" charset="-128"/>
              </a:rPr>
              <a:t>uscite corrispondenti </a:t>
            </a:r>
            <a:r>
              <a:rPr lang="it-IT" altLang="it-IT" sz="2000" i="1">
                <a:ea typeface="ＭＳ Ｐゴシック" panose="020B0600070205080204" pitchFamily="34" charset="-128"/>
              </a:rPr>
              <a:t>F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, che rappresentano gli ingressi del codificatore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fra gli ingressi è definita una priorità, ad esempio:</a:t>
            </a:r>
          </a:p>
          <a:p>
            <a:pPr lvl="2" eaLnBrk="1" hangingPunct="1">
              <a:lnSpc>
                <a:spcPct val="80000"/>
              </a:lnSpc>
            </a:pPr>
            <a:r>
              <a:rPr lang="it-IT" altLang="it-IT" sz="1800">
                <a:ea typeface="ＭＳ Ｐゴシック" panose="020B0600070205080204" pitchFamily="34" charset="-128"/>
              </a:rPr>
              <a:t> per fissare le idee </a:t>
            </a:r>
            <a:br>
              <a:rPr lang="it-IT" altLang="it-IT" sz="1800">
                <a:ea typeface="ＭＳ Ｐゴシック" panose="020B0600070205080204" pitchFamily="34" charset="-128"/>
              </a:rPr>
            </a:br>
            <a:r>
              <a:rPr lang="it-IT" altLang="it-IT" sz="1800" i="1">
                <a:ea typeface="ＭＳ Ｐゴシック" panose="020B0600070205080204" pitchFamily="34" charset="-128"/>
              </a:rPr>
              <a:t>«X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1800" i="1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</a:rPr>
              <a:t>è prioritario su </a:t>
            </a:r>
            <a:r>
              <a:rPr lang="it-IT" altLang="it-IT" sz="1800" i="1">
                <a:ea typeface="ＭＳ Ｐゴシック" panose="020B0600070205080204" pitchFamily="34" charset="-128"/>
              </a:rPr>
              <a:t>X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j</a:t>
            </a:r>
            <a:r>
              <a:rPr lang="it-IT" altLang="it-IT" sz="1800" i="1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</a:rPr>
              <a:t>se </a:t>
            </a:r>
            <a:r>
              <a:rPr lang="it-IT" altLang="it-IT" sz="1800" i="1">
                <a:ea typeface="ＭＳ Ｐゴシック" panose="020B0600070205080204" pitchFamily="34" charset="-128"/>
              </a:rPr>
              <a:t>i </a:t>
            </a:r>
            <a:r>
              <a:rPr lang="it-IT" altLang="it-IT" sz="1800">
                <a:ea typeface="ＭＳ Ｐゴシック" panose="020B0600070205080204" pitchFamily="34" charset="-128"/>
              </a:rPr>
              <a:t>&lt; </a:t>
            </a:r>
            <a:r>
              <a:rPr lang="it-IT" altLang="it-IT" sz="1800" i="1">
                <a:ea typeface="ＭＳ Ｐゴシック" panose="020B0600070205080204" pitchFamily="34" charset="-128"/>
              </a:rPr>
              <a:t>j» 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L'uscita </a:t>
            </a:r>
            <a:r>
              <a:rPr lang="it-IT" altLang="it-IT" sz="2000" i="1">
                <a:ea typeface="ＭＳ Ｐゴシック" panose="020B0600070205080204" pitchFamily="34" charset="-128"/>
              </a:rPr>
              <a:t>Y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 </a:t>
            </a:r>
            <a:r>
              <a:rPr lang="it-IT" altLang="it-IT" sz="2000">
                <a:ea typeface="ＭＳ Ｐゴシック" panose="020B0600070205080204" pitchFamily="34" charset="-128"/>
              </a:rPr>
              <a:t>è alta se e solo se </a:t>
            </a:r>
            <a:r>
              <a:rPr lang="it-IT" altLang="it-IT" sz="2000" i="1">
                <a:ea typeface="ＭＳ Ｐゴシック" panose="020B0600070205080204" pitchFamily="34" charset="-128"/>
              </a:rPr>
              <a:t>X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 i="1">
                <a:ea typeface="ＭＳ Ｐゴシック" panose="020B0600070205080204" pitchFamily="34" charset="-128"/>
              </a:rPr>
              <a:t> </a:t>
            </a:r>
            <a:r>
              <a:rPr lang="it-IT" altLang="it-IT" sz="2000">
                <a:ea typeface="ＭＳ Ｐゴシック" panose="020B0600070205080204" pitchFamily="34" charset="-128"/>
              </a:rPr>
              <a:t>è alto e tutti gli altri ingressi prioritari su </a:t>
            </a:r>
            <a:r>
              <a:rPr lang="it-IT" altLang="it-IT" sz="2000" i="1">
                <a:ea typeface="ＭＳ Ｐゴシック" panose="020B0600070205080204" pitchFamily="34" charset="-128"/>
              </a:rPr>
              <a:t>X</a:t>
            </a:r>
            <a:r>
              <a:rPr lang="it-IT" altLang="it-IT" sz="2000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 i="1">
                <a:ea typeface="ＭＳ Ｐゴシック" panose="020B0600070205080204" pitchFamily="34" charset="-128"/>
              </a:rPr>
              <a:t> </a:t>
            </a:r>
            <a:r>
              <a:rPr lang="it-IT" altLang="it-IT" sz="2000">
                <a:ea typeface="ＭＳ Ｐゴシック" panose="020B0600070205080204" pitchFamily="34" charset="-128"/>
              </a:rPr>
              <a:t>sono bassi.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it-IT" altLang="it-IT" sz="2000">
              <a:ea typeface="ＭＳ Ｐゴシック" panose="020B0600070205080204" pitchFamily="34" charset="-128"/>
            </a:endParaRPr>
          </a:p>
        </p:txBody>
      </p:sp>
      <p:graphicFrame>
        <p:nvGraphicFramePr>
          <p:cNvPr id="73732" name="Rectangle 9">
            <a:extLst>
              <a:ext uri="{FF2B5EF4-FFF2-40B4-BE49-F238E27FC236}">
                <a16:creationId xmlns:a16="http://schemas.microsoft.com/office/drawing/2014/main" id="{7C2FF7BF-B90F-3C80-6467-03E7D8F34E5E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5327650" y="1314450"/>
          <a:ext cx="3789363" cy="23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Rectangle 9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650" y="1314450"/>
                        <a:ext cx="3789363" cy="233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3" name="Rectangle 5">
            <a:extLst>
              <a:ext uri="{FF2B5EF4-FFF2-40B4-BE49-F238E27FC236}">
                <a16:creationId xmlns:a16="http://schemas.microsoft.com/office/drawing/2014/main" id="{F3CBB367-AC54-4656-8610-B41A6F844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73734" name="Rectangle 8">
            <a:extLst>
              <a:ext uri="{FF2B5EF4-FFF2-40B4-BE49-F238E27FC236}">
                <a16:creationId xmlns:a16="http://schemas.microsoft.com/office/drawing/2014/main" id="{9D518881-5E91-C815-F5F9-4B59CFB1B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1422400"/>
            <a:ext cx="89154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Char char="q"/>
            </a:pPr>
            <a:r>
              <a:rPr lang="it-IT" altLang="it-IT" sz="2000" b="0"/>
              <a:t>Un codificatore può essere preceduto da una </a:t>
            </a:r>
            <a:r>
              <a:rPr lang="ja-JP" altLang="it-IT" sz="2000" b="0"/>
              <a:t>“</a:t>
            </a:r>
            <a:r>
              <a:rPr lang="it-IT" altLang="ja-JP" sz="2000" b="0"/>
              <a:t>rete a priorità</a:t>
            </a:r>
            <a:r>
              <a:rPr lang="ja-JP" altLang="it-IT" sz="2000" b="0"/>
              <a:t>”</a:t>
            </a:r>
            <a:r>
              <a:rPr lang="it-IT" altLang="ja-JP" sz="2000" b="0"/>
              <a:t> che, in caso di più ingressi contemporaneamente alti, filtra quello con priorità assegnata maggiore</a:t>
            </a:r>
          </a:p>
          <a:p>
            <a:pPr eaLnBrk="1" hangingPunct="1">
              <a:buSzTx/>
              <a:buFont typeface="Wingdings" panose="05000000000000000000" pitchFamily="2" charset="2"/>
              <a:buNone/>
            </a:pPr>
            <a:endParaRPr lang="it-IT" altLang="it-IT" sz="2000" b="0"/>
          </a:p>
        </p:txBody>
      </p:sp>
      <p:graphicFrame>
        <p:nvGraphicFramePr>
          <p:cNvPr id="73735" name="Object 11">
            <a:extLst>
              <a:ext uri="{FF2B5EF4-FFF2-40B4-BE49-F238E27FC236}">
                <a16:creationId xmlns:a16="http://schemas.microsoft.com/office/drawing/2014/main" id="{38D13160-3C70-42EF-3886-91E886127AB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430963" y="2470150"/>
          <a:ext cx="2992437" cy="2332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0963" y="2470150"/>
                        <a:ext cx="2992437" cy="2332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B517C1A5-6E70-A943-7233-6E336E39D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FA5C5C32-E1E5-D1A6-BA03-45FD0FE531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54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5400">
                <a:ea typeface="ＭＳ Ｐゴシック" panose="020B0600070205080204" pitchFamily="34" charset="-128"/>
              </a:rPr>
              <a:t>Multiplexer e Demultiplexer</a:t>
            </a:r>
          </a:p>
        </p:txBody>
      </p:sp>
      <p:sp>
        <p:nvSpPr>
          <p:cNvPr id="74755" name="Segnaposto numero diapositiva 3">
            <a:extLst>
              <a:ext uri="{FF2B5EF4-FFF2-40B4-BE49-F238E27FC236}">
                <a16:creationId xmlns:a16="http://schemas.microsoft.com/office/drawing/2014/main" id="{19D55417-0DF9-27E6-0DC5-9A4965D0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374754-3C1F-44A2-B79F-36E4C3FDA223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45</a:t>
            </a:fld>
            <a:endParaRPr lang="it-IT" altLang="it-IT" sz="14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>
            <a:extLst>
              <a:ext uri="{FF2B5EF4-FFF2-40B4-BE49-F238E27FC236}">
                <a16:creationId xmlns:a16="http://schemas.microsoft.com/office/drawing/2014/main" id="{37F6368F-8057-C231-A03A-61DE3DDF8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8" y="260350"/>
            <a:ext cx="8674100" cy="4445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Multiplexer lineare</a:t>
            </a:r>
          </a:p>
        </p:txBody>
      </p:sp>
      <p:sp>
        <p:nvSpPr>
          <p:cNvPr id="75778" name="Rectangle 3">
            <a:extLst>
              <a:ext uri="{FF2B5EF4-FFF2-40B4-BE49-F238E27FC236}">
                <a16:creationId xmlns:a16="http://schemas.microsoft.com/office/drawing/2014/main" id="{67D11D19-9DE6-D458-BFB2-900010442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550" y="1000125"/>
            <a:ext cx="5295900" cy="5181600"/>
          </a:xfrm>
        </p:spPr>
        <p:txBody>
          <a:bodyPr/>
          <a:lstStyle/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Un </a:t>
            </a:r>
            <a:r>
              <a:rPr lang="it-IT" altLang="it-IT" sz="2400" i="1">
                <a:ea typeface="ＭＳ Ｐゴシック" panose="020B0600070205080204" pitchFamily="34" charset="-128"/>
              </a:rPr>
              <a:t>Multiplexer lineare (</a:t>
            </a:r>
            <a:r>
              <a:rPr lang="it-IT" altLang="it-IT" sz="2400">
                <a:ea typeface="ＭＳ Ｐゴシック" panose="020B0600070205080204" pitchFamily="34" charset="-128"/>
              </a:rPr>
              <a:t>ML) è una macchina con: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n ingressi-dati (A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,…,A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n-1</a:t>
            </a:r>
            <a:r>
              <a:rPr lang="it-IT" altLang="it-IT" sz="2000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n segnali binari di selezione (</a:t>
            </a:r>
            <a:r>
              <a:rPr lang="el-GR" altLang="it-IT" sz="2000">
                <a:ea typeface="ＭＳ Ｐゴシック" panose="020B0600070205080204" pitchFamily="34" charset="-128"/>
              </a:rPr>
              <a:t>α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0</a:t>
            </a:r>
            <a:r>
              <a:rPr lang="it-IT" altLang="it-IT" sz="2000">
                <a:ea typeface="ＭＳ Ｐゴシック" panose="020B0600070205080204" pitchFamily="34" charset="-128"/>
              </a:rPr>
              <a:t>,…, </a:t>
            </a:r>
            <a:r>
              <a:rPr lang="el-GR" altLang="it-IT" sz="2000">
                <a:ea typeface="ＭＳ Ｐゴシック" panose="020B0600070205080204" pitchFamily="34" charset="-128"/>
              </a:rPr>
              <a:t>α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n-1</a:t>
            </a:r>
            <a:r>
              <a:rPr lang="it-IT" altLang="it-IT" sz="2000">
                <a:ea typeface="ＭＳ Ｐゴシック" panose="020B0600070205080204" pitchFamily="34" charset="-128"/>
              </a:rPr>
              <a:t>), </a:t>
            </a:r>
            <a:r>
              <a:rPr lang="it-IT" altLang="it-IT" sz="2000" b="1">
                <a:ea typeface="ＭＳ Ｐゴシック" panose="020B0600070205080204" pitchFamily="34" charset="-128"/>
              </a:rPr>
              <a:t>dei quali al più uno è attivo</a:t>
            </a:r>
          </a:p>
          <a:p>
            <a:pPr lvl="1" eaLnBrk="1" hangingPunct="1"/>
            <a:r>
              <a:rPr lang="it-IT" altLang="it-IT" sz="2000">
                <a:ea typeface="ＭＳ Ｐゴシック" panose="020B0600070205080204" pitchFamily="34" charset="-128"/>
              </a:rPr>
              <a:t>una uscita-dati B, che assume </a:t>
            </a:r>
          </a:p>
          <a:p>
            <a:pPr lvl="2" eaLnBrk="1" hangingPunct="1"/>
            <a:r>
              <a:rPr lang="it-IT" altLang="it-IT" sz="2000">
                <a:ea typeface="ＭＳ Ｐゴシック" panose="020B0600070205080204" pitchFamily="34" charset="-128"/>
              </a:rPr>
              <a:t> valore A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000">
                <a:ea typeface="ＭＳ Ｐゴシック" panose="020B0600070205080204" pitchFamily="34" charset="-128"/>
              </a:rPr>
              <a:t> se è attivo </a:t>
            </a:r>
            <a:r>
              <a:rPr lang="el-GR" altLang="it-IT" sz="2000">
                <a:ea typeface="ＭＳ Ｐゴシック" panose="020B0600070205080204" pitchFamily="34" charset="-128"/>
              </a:rPr>
              <a:t>α</a:t>
            </a:r>
            <a:r>
              <a:rPr lang="it-IT" altLang="it-IT" sz="2000">
                <a:ea typeface="ＭＳ Ｐゴシック" panose="020B0600070205080204" pitchFamily="34" charset="-128"/>
              </a:rPr>
              <a:t> </a:t>
            </a:r>
            <a:r>
              <a:rPr lang="it-IT" altLang="it-IT" sz="2000" baseline="-25000">
                <a:ea typeface="ＭＳ Ｐゴシック" panose="020B0600070205080204" pitchFamily="34" charset="-128"/>
              </a:rPr>
              <a:t>i</a:t>
            </a:r>
          </a:p>
          <a:p>
            <a:pPr lvl="2" eaLnBrk="1" hangingPunct="1"/>
            <a:r>
              <a:rPr lang="it-IT" altLang="it-IT" sz="2000">
                <a:ea typeface="ＭＳ Ｐゴシック" panose="020B0600070205080204" pitchFamily="34" charset="-128"/>
              </a:rPr>
              <a:t> neutro se nessuna delle selezioni è attiva </a:t>
            </a:r>
          </a:p>
          <a:p>
            <a:pPr eaLnBrk="1" hangingPunct="1"/>
            <a:r>
              <a:rPr lang="it-IT" altLang="it-IT" sz="2400">
                <a:ea typeface="ＭＳ Ｐゴシック" panose="020B0600070205080204" pitchFamily="34" charset="-128"/>
              </a:rPr>
              <a:t>E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 una macchina che viene utilizzata quando più linee devono essere convogliate verso un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unica linea di uscita (bus)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pSp>
        <p:nvGrpSpPr>
          <p:cNvPr id="75779" name="Group 4">
            <a:extLst>
              <a:ext uri="{FF2B5EF4-FFF2-40B4-BE49-F238E27FC236}">
                <a16:creationId xmlns:a16="http://schemas.microsoft.com/office/drawing/2014/main" id="{60D118AF-2046-8B7F-5DAE-9FF4633835C4}"/>
              </a:ext>
            </a:extLst>
          </p:cNvPr>
          <p:cNvGrpSpPr>
            <a:grpSpLocks/>
          </p:cNvGrpSpPr>
          <p:nvPr/>
        </p:nvGrpSpPr>
        <p:grpSpPr bwMode="auto">
          <a:xfrm>
            <a:off x="4881563" y="1285875"/>
            <a:ext cx="4594225" cy="3810000"/>
            <a:chOff x="3024" y="1152"/>
            <a:chExt cx="2894" cy="2400"/>
          </a:xfrm>
        </p:grpSpPr>
        <p:sp>
          <p:nvSpPr>
            <p:cNvPr id="75781" name="Rectangle 5">
              <a:extLst>
                <a:ext uri="{FF2B5EF4-FFF2-40B4-BE49-F238E27FC236}">
                  <a16:creationId xmlns:a16="http://schemas.microsoft.com/office/drawing/2014/main" id="{CEEC5059-9806-E684-3F16-7CDFF16B96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152"/>
              <a:ext cx="1004" cy="158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5782" name="AutoShape 6">
              <a:extLst>
                <a:ext uri="{FF2B5EF4-FFF2-40B4-BE49-F238E27FC236}">
                  <a16:creationId xmlns:a16="http://schemas.microsoft.com/office/drawing/2014/main" id="{31283086-3B02-F99D-FAD8-8E0A41D49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3" y="1394"/>
              <a:ext cx="590" cy="314"/>
            </a:xfrm>
            <a:prstGeom prst="rightArrow">
              <a:avLst>
                <a:gd name="adj1" fmla="val 50000"/>
                <a:gd name="adj2" fmla="val 46975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5783" name="AutoShape 7">
              <a:extLst>
                <a:ext uri="{FF2B5EF4-FFF2-40B4-BE49-F238E27FC236}">
                  <a16:creationId xmlns:a16="http://schemas.microsoft.com/office/drawing/2014/main" id="{1D5DBE36-DC43-7490-5DD2-43A982EBC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" y="2265"/>
              <a:ext cx="590" cy="314"/>
            </a:xfrm>
            <a:prstGeom prst="rightArrow">
              <a:avLst>
                <a:gd name="adj1" fmla="val 50000"/>
                <a:gd name="adj2" fmla="val 46975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5784" name="AutoShape 8">
              <a:extLst>
                <a:ext uri="{FF2B5EF4-FFF2-40B4-BE49-F238E27FC236}">
                  <a16:creationId xmlns:a16="http://schemas.microsoft.com/office/drawing/2014/main" id="{34E52009-9797-EDAF-2B09-45272401F8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28" y="1804"/>
              <a:ext cx="590" cy="314"/>
            </a:xfrm>
            <a:prstGeom prst="rightArrow">
              <a:avLst>
                <a:gd name="adj1" fmla="val 50000"/>
                <a:gd name="adj2" fmla="val 46975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5785" name="Line 9">
              <a:extLst>
                <a:ext uri="{FF2B5EF4-FFF2-40B4-BE49-F238E27FC236}">
                  <a16:creationId xmlns:a16="http://schemas.microsoft.com/office/drawing/2014/main" id="{CF78747A-87CA-6FCF-25BD-9E73338513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7" y="2749"/>
              <a:ext cx="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6" name="Line 10">
              <a:extLst>
                <a:ext uri="{FF2B5EF4-FFF2-40B4-BE49-F238E27FC236}">
                  <a16:creationId xmlns:a16="http://schemas.microsoft.com/office/drawing/2014/main" id="{640FA7A9-72AD-A8CF-FB27-123998137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2770"/>
              <a:ext cx="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7" name="Text Box 11">
              <a:extLst>
                <a:ext uri="{FF2B5EF4-FFF2-40B4-BE49-F238E27FC236}">
                  <a16:creationId xmlns:a16="http://schemas.microsoft.com/office/drawing/2014/main" id="{1BA4B46A-ACD9-0608-7638-CA2E12A6C5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5" y="1735"/>
              <a:ext cx="94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MUXL</a:t>
              </a:r>
            </a:p>
          </p:txBody>
        </p:sp>
        <p:sp>
          <p:nvSpPr>
            <p:cNvPr id="75788" name="Text Box 12">
              <a:extLst>
                <a:ext uri="{FF2B5EF4-FFF2-40B4-BE49-F238E27FC236}">
                  <a16:creationId xmlns:a16="http://schemas.microsoft.com/office/drawing/2014/main" id="{B69B9D24-20B4-5F2A-823C-AC306E6A35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317"/>
              <a:ext cx="491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0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5789" name="Text Box 13">
              <a:extLst>
                <a:ext uri="{FF2B5EF4-FFF2-40B4-BE49-F238E27FC236}">
                  <a16:creationId xmlns:a16="http://schemas.microsoft.com/office/drawing/2014/main" id="{9F6CA059-0C2F-767F-29C6-E2C903C127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247"/>
              <a:ext cx="699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n-1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5790" name="Text Box 14">
              <a:extLst>
                <a:ext uri="{FF2B5EF4-FFF2-40B4-BE49-F238E27FC236}">
                  <a16:creationId xmlns:a16="http://schemas.microsoft.com/office/drawing/2014/main" id="{552F799C-593C-FB14-8ADE-F27707D717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" y="1440"/>
              <a:ext cx="49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75791" name="Text Box 15">
              <a:extLst>
                <a:ext uri="{FF2B5EF4-FFF2-40B4-BE49-F238E27FC236}">
                  <a16:creationId xmlns:a16="http://schemas.microsoft.com/office/drawing/2014/main" id="{619AC34C-8D19-D470-B915-EFFC68360A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8" y="3101"/>
              <a:ext cx="492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Symbol" panose="05050102010706020507" pitchFamily="18" charset="2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0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5792" name="Text Box 16">
              <a:extLst>
                <a:ext uri="{FF2B5EF4-FFF2-40B4-BE49-F238E27FC236}">
                  <a16:creationId xmlns:a16="http://schemas.microsoft.com/office/drawing/2014/main" id="{25A92C99-03F3-693E-F6B0-20D08E6347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" y="3111"/>
              <a:ext cx="491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Symbol" panose="05050102010706020507" pitchFamily="18" charset="2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n-1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</p:grpSp>
      <p:sp>
        <p:nvSpPr>
          <p:cNvPr id="75780" name="Segnaposto numero diapositiva 16">
            <a:extLst>
              <a:ext uri="{FF2B5EF4-FFF2-40B4-BE49-F238E27FC236}">
                <a16:creationId xmlns:a16="http://schemas.microsoft.com/office/drawing/2014/main" id="{6D68CDF6-E3F1-B274-FBC2-3D180663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5CA8D7C-6E17-40E3-8D28-5E001A891B7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46</a:t>
            </a:fld>
            <a:endParaRPr lang="it-IT" altLang="it-IT" sz="1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B82F582D-0247-E262-1C0F-B66536E62C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60350"/>
            <a:ext cx="8674100" cy="4445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Multiplexer binario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7D8183AC-B56D-58AD-4290-E156874EA3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0025" y="1219200"/>
            <a:ext cx="4456113" cy="5181600"/>
          </a:xfrm>
        </p:spPr>
        <p:txBody>
          <a:bodyPr/>
          <a:lstStyle/>
          <a:p>
            <a:pPr algn="just" eaLnBrk="1" hangingPunct="1"/>
            <a:r>
              <a:rPr lang="it-IT" altLang="it-IT">
                <a:ea typeface="ＭＳ Ｐゴシック" panose="020B0600070205080204" pitchFamily="34" charset="-128"/>
              </a:rPr>
              <a:t>Se i dati A</a:t>
            </a:r>
            <a:r>
              <a:rPr lang="it-IT" altLang="it-IT" baseline="-30000">
                <a:ea typeface="ＭＳ Ｐゴシック" panose="020B0600070205080204" pitchFamily="34" charset="-128"/>
              </a:rPr>
              <a:t>i </a:t>
            </a:r>
            <a:r>
              <a:rPr lang="it-IT" altLang="it-IT">
                <a:ea typeface="ＭＳ Ｐゴシック" panose="020B0600070205080204" pitchFamily="34" charset="-128"/>
              </a:rPr>
              <a:t> e B sono quelli che viaggiano su un bus …</a:t>
            </a:r>
          </a:p>
          <a:p>
            <a:pPr lvl="1" algn="just" eaLnBrk="1" hangingPunct="1"/>
            <a:r>
              <a:rPr lang="it-IT" altLang="it-IT">
                <a:ea typeface="ＭＳ Ｐゴシック" panose="020B0600070205080204" pitchFamily="34" charset="-128"/>
              </a:rPr>
              <a:t>si parla di multiplexer o demultiplexer </a:t>
            </a:r>
          </a:p>
          <a:p>
            <a:pPr algn="just" eaLnBrk="1" hangingPunct="1"/>
            <a:r>
              <a:rPr lang="it-IT" altLang="it-IT">
                <a:ea typeface="ＭＳ Ｐゴシック" panose="020B0600070205080204" pitchFamily="34" charset="-128"/>
              </a:rPr>
              <a:t>Se i dati A</a:t>
            </a:r>
            <a:r>
              <a:rPr lang="it-IT" altLang="it-IT" baseline="-30000">
                <a:ea typeface="ＭＳ Ｐゴシック" panose="020B0600070205080204" pitchFamily="34" charset="-128"/>
              </a:rPr>
              <a:t>i </a:t>
            </a:r>
            <a:r>
              <a:rPr lang="it-IT" altLang="it-IT">
                <a:ea typeface="ＭＳ Ｐゴシック" panose="020B0600070205080204" pitchFamily="34" charset="-128"/>
              </a:rPr>
              <a:t> e B sono semplici bit …</a:t>
            </a:r>
          </a:p>
          <a:p>
            <a:pPr lvl="1" algn="just" eaLnBrk="1" hangingPunct="1"/>
            <a:r>
              <a:rPr lang="it-IT" altLang="it-IT">
                <a:ea typeface="ＭＳ Ｐゴシック" panose="020B0600070205080204" pitchFamily="34" charset="-128"/>
              </a:rPr>
              <a:t>si parla di multiplexer o demultiplexer binario</a:t>
            </a:r>
          </a:p>
        </p:txBody>
      </p:sp>
      <p:grpSp>
        <p:nvGrpSpPr>
          <p:cNvPr id="76803" name="Group 4">
            <a:extLst>
              <a:ext uri="{FF2B5EF4-FFF2-40B4-BE49-F238E27FC236}">
                <a16:creationId xmlns:a16="http://schemas.microsoft.com/office/drawing/2014/main" id="{CEB4C09A-601A-6C92-A32A-51C698AA2E8C}"/>
              </a:ext>
            </a:extLst>
          </p:cNvPr>
          <p:cNvGrpSpPr>
            <a:grpSpLocks/>
          </p:cNvGrpSpPr>
          <p:nvPr/>
        </p:nvGrpSpPr>
        <p:grpSpPr bwMode="auto">
          <a:xfrm>
            <a:off x="4808538" y="1428750"/>
            <a:ext cx="4648200" cy="3810000"/>
            <a:chOff x="3024" y="1200"/>
            <a:chExt cx="2928" cy="2400"/>
          </a:xfrm>
        </p:grpSpPr>
        <p:sp>
          <p:nvSpPr>
            <p:cNvPr id="76806" name="Rectangle 5">
              <a:extLst>
                <a:ext uri="{FF2B5EF4-FFF2-40B4-BE49-F238E27FC236}">
                  <a16:creationId xmlns:a16="http://schemas.microsoft.com/office/drawing/2014/main" id="{FDC24B7A-AD9A-1BAD-D55C-9BF1D21C5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9" y="1200"/>
              <a:ext cx="1004" cy="1582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6807" name="Line 6">
              <a:extLst>
                <a:ext uri="{FF2B5EF4-FFF2-40B4-BE49-F238E27FC236}">
                  <a16:creationId xmlns:a16="http://schemas.microsoft.com/office/drawing/2014/main" id="{71AB561D-94F5-3011-0598-D8DD56A063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7" y="2797"/>
              <a:ext cx="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08" name="Line 7">
              <a:extLst>
                <a:ext uri="{FF2B5EF4-FFF2-40B4-BE49-F238E27FC236}">
                  <a16:creationId xmlns:a16="http://schemas.microsoft.com/office/drawing/2014/main" id="{A5952E8C-15BC-FA21-D139-7A8B04D834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2818"/>
              <a:ext cx="0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809" name="Text Box 8">
              <a:extLst>
                <a:ext uri="{FF2B5EF4-FFF2-40B4-BE49-F238E27FC236}">
                  <a16:creationId xmlns:a16="http://schemas.microsoft.com/office/drawing/2014/main" id="{88C9B686-6E6D-F729-2F89-776B6D7718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5" y="1783"/>
              <a:ext cx="94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MUXL</a:t>
              </a:r>
            </a:p>
          </p:txBody>
        </p:sp>
        <p:sp>
          <p:nvSpPr>
            <p:cNvPr id="76810" name="Text Box 9">
              <a:extLst>
                <a:ext uri="{FF2B5EF4-FFF2-40B4-BE49-F238E27FC236}">
                  <a16:creationId xmlns:a16="http://schemas.microsoft.com/office/drawing/2014/main" id="{F94B077B-8721-7C32-A80A-0603179111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1365"/>
              <a:ext cx="491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0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6811" name="Text Box 10">
              <a:extLst>
                <a:ext uri="{FF2B5EF4-FFF2-40B4-BE49-F238E27FC236}">
                  <a16:creationId xmlns:a16="http://schemas.microsoft.com/office/drawing/2014/main" id="{22721918-4710-0092-C14B-052832ED87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2295"/>
              <a:ext cx="699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n-1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6812" name="Text Box 11">
              <a:extLst>
                <a:ext uri="{FF2B5EF4-FFF2-40B4-BE49-F238E27FC236}">
                  <a16:creationId xmlns:a16="http://schemas.microsoft.com/office/drawing/2014/main" id="{DE44C796-7C18-40BD-BCFD-0DD7C27BC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1" y="1488"/>
              <a:ext cx="491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76813" name="Text Box 12">
              <a:extLst>
                <a:ext uri="{FF2B5EF4-FFF2-40B4-BE49-F238E27FC236}">
                  <a16:creationId xmlns:a16="http://schemas.microsoft.com/office/drawing/2014/main" id="{1D27BFE6-166B-982B-4926-FE4D62CA7A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8" y="3149"/>
              <a:ext cx="492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Symbol" panose="05050102010706020507" pitchFamily="18" charset="2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0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6814" name="Text Box 13">
              <a:extLst>
                <a:ext uri="{FF2B5EF4-FFF2-40B4-BE49-F238E27FC236}">
                  <a16:creationId xmlns:a16="http://schemas.microsoft.com/office/drawing/2014/main" id="{C0ACB232-D2E3-4CDF-21AB-9DEBB4A53C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8" y="3159"/>
              <a:ext cx="491" cy="4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700">
                  <a:latin typeface="Symbol" panose="05050102010706020507" pitchFamily="18" charset="2"/>
                </a:rPr>
                <a:t>a</a:t>
              </a:r>
              <a:r>
                <a:rPr lang="it-IT" altLang="it-IT" sz="3700" baseline="-25000">
                  <a:latin typeface="Arial" panose="020B0604020202020204" pitchFamily="34" charset="0"/>
                </a:rPr>
                <a:t>n-1</a:t>
              </a:r>
              <a:endParaRPr lang="it-IT" altLang="it-IT" sz="3700">
                <a:latin typeface="Arial" panose="020B0604020202020204" pitchFamily="34" charset="0"/>
              </a:endParaRPr>
            </a:p>
          </p:txBody>
        </p:sp>
        <p:sp>
          <p:nvSpPr>
            <p:cNvPr id="76815" name="Line 14">
              <a:extLst>
                <a:ext uri="{FF2B5EF4-FFF2-40B4-BE49-F238E27FC236}">
                  <a16:creationId xmlns:a16="http://schemas.microsoft.com/office/drawing/2014/main" id="{D38FB370-A3D9-7A47-D22A-9DB75F166C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584"/>
              <a:ext cx="69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6" name="Line 15">
              <a:extLst>
                <a:ext uri="{FF2B5EF4-FFF2-40B4-BE49-F238E27FC236}">
                  <a16:creationId xmlns:a16="http://schemas.microsoft.com/office/drawing/2014/main" id="{2662DE75-736A-475C-EA23-5B29DC2AFB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2448"/>
              <a:ext cx="69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817" name="Line 16">
              <a:extLst>
                <a:ext uri="{FF2B5EF4-FFF2-40B4-BE49-F238E27FC236}">
                  <a16:creationId xmlns:a16="http://schemas.microsoft.com/office/drawing/2014/main" id="{84CB45A7-154F-1909-D5BB-1A80B3B625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6" y="2016"/>
              <a:ext cx="696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76804" name="Picture 8">
            <a:extLst>
              <a:ext uri="{FF2B5EF4-FFF2-40B4-BE49-F238E27FC236}">
                <a16:creationId xmlns:a16="http://schemas.microsoft.com/office/drawing/2014/main" id="{147EF5D0-FD5C-69F5-F068-D498A9908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0" y="5000625"/>
            <a:ext cx="2073275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805" name="Segnaposto numero diapositiva 17">
            <a:extLst>
              <a:ext uri="{FF2B5EF4-FFF2-40B4-BE49-F238E27FC236}">
                <a16:creationId xmlns:a16="http://schemas.microsoft.com/office/drawing/2014/main" id="{5C1A662B-FA7A-2748-E24F-565CB115E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E6FA60-0AE0-40A7-8C81-00354DFE926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47</a:t>
            </a:fld>
            <a:endParaRPr lang="it-IT" altLang="it-IT" sz="1400"/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3D30FCC3-D0C3-AC18-BCE4-264CE342E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8" y="228600"/>
            <a:ext cx="8420100" cy="5334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Multiplexer Indirizzabile</a:t>
            </a:r>
          </a:p>
        </p:txBody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EFC06C29-5C7B-1CA1-366E-4E64073B38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7850" y="1219200"/>
            <a:ext cx="8420100" cy="16002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E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 un Multiplexer Lineare i cui segnali di abilitazione sono collegati con le uscite di un decodificatore 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grpSp>
        <p:nvGrpSpPr>
          <p:cNvPr id="77827" name="Group 20">
            <a:extLst>
              <a:ext uri="{FF2B5EF4-FFF2-40B4-BE49-F238E27FC236}">
                <a16:creationId xmlns:a16="http://schemas.microsoft.com/office/drawing/2014/main" id="{76769834-9BB8-2597-9EBC-2E71DC33D867}"/>
              </a:ext>
            </a:extLst>
          </p:cNvPr>
          <p:cNvGrpSpPr>
            <a:grpSpLocks/>
          </p:cNvGrpSpPr>
          <p:nvPr/>
        </p:nvGrpSpPr>
        <p:grpSpPr bwMode="auto">
          <a:xfrm>
            <a:off x="1733550" y="2286000"/>
            <a:ext cx="6165850" cy="3670300"/>
            <a:chOff x="1092" y="1776"/>
            <a:chExt cx="3884" cy="2312"/>
          </a:xfrm>
        </p:grpSpPr>
        <p:sp>
          <p:nvSpPr>
            <p:cNvPr id="77830" name="Text Box 4">
              <a:extLst>
                <a:ext uri="{FF2B5EF4-FFF2-40B4-BE49-F238E27FC236}">
                  <a16:creationId xmlns:a16="http://schemas.microsoft.com/office/drawing/2014/main" id="{24926CC9-CB36-EB66-B7B9-75FBDC5E78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6" y="1920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r>
                <a:rPr lang="it-IT" altLang="it-IT" sz="2400" b="0" baseline="-25000"/>
                <a:t>0</a:t>
              </a:r>
            </a:p>
          </p:txBody>
        </p:sp>
        <p:sp>
          <p:nvSpPr>
            <p:cNvPr id="77831" name="Text Box 5">
              <a:extLst>
                <a:ext uri="{FF2B5EF4-FFF2-40B4-BE49-F238E27FC236}">
                  <a16:creationId xmlns:a16="http://schemas.microsoft.com/office/drawing/2014/main" id="{ECA3BC53-2275-A238-00DD-3A50658238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2" y="2496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r>
                <a:rPr lang="it-IT" altLang="it-IT" sz="2400" b="0" baseline="-25000"/>
                <a:t>N-1</a:t>
              </a:r>
            </a:p>
          </p:txBody>
        </p:sp>
        <p:sp>
          <p:nvSpPr>
            <p:cNvPr id="77832" name="Text Box 6">
              <a:extLst>
                <a:ext uri="{FF2B5EF4-FFF2-40B4-BE49-F238E27FC236}">
                  <a16:creationId xmlns:a16="http://schemas.microsoft.com/office/drawing/2014/main" id="{2D3DE076-470A-9666-D8B6-742814B1FF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32" y="240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B</a:t>
              </a:r>
              <a:endParaRPr lang="it-IT" altLang="it-IT" sz="2400" b="0" baseline="-25000"/>
            </a:p>
          </p:txBody>
        </p:sp>
        <p:sp>
          <p:nvSpPr>
            <p:cNvPr id="77833" name="Rectangle 7">
              <a:extLst>
                <a:ext uri="{FF2B5EF4-FFF2-40B4-BE49-F238E27FC236}">
                  <a16:creationId xmlns:a16="http://schemas.microsoft.com/office/drawing/2014/main" id="{20718FC4-C26C-169B-B28A-3715593E89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968"/>
              <a:ext cx="1008" cy="9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34" name="AutoShape 8">
              <a:extLst>
                <a:ext uri="{FF2B5EF4-FFF2-40B4-BE49-F238E27FC236}">
                  <a16:creationId xmlns:a16="http://schemas.microsoft.com/office/drawing/2014/main" id="{EA51FDDE-43A3-3910-7F95-942DE7EF39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112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35" name="AutoShape 9">
              <a:extLst>
                <a:ext uri="{FF2B5EF4-FFF2-40B4-BE49-F238E27FC236}">
                  <a16:creationId xmlns:a16="http://schemas.microsoft.com/office/drawing/2014/main" id="{103ED1FC-C891-F956-5DDA-20B9E9155F0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2550" y="3292"/>
              <a:ext cx="1106" cy="27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2 w 21600"/>
                <a:gd name="T13" fmla="*/ 4490 h 21600"/>
                <a:gd name="T14" fmla="*/ 17108 w 21600"/>
                <a:gd name="T15" fmla="*/ 171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6" name="Line 10">
              <a:extLst>
                <a:ext uri="{FF2B5EF4-FFF2-40B4-BE49-F238E27FC236}">
                  <a16:creationId xmlns:a16="http://schemas.microsoft.com/office/drawing/2014/main" id="{804F64D0-6EC1-CB97-F76E-D2DC3E3AC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3013"/>
              <a:ext cx="0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7" name="Line 11">
              <a:extLst>
                <a:ext uri="{FF2B5EF4-FFF2-40B4-BE49-F238E27FC236}">
                  <a16:creationId xmlns:a16="http://schemas.microsoft.com/office/drawing/2014/main" id="{54D4E574-A2F3-865E-27E1-AF48859FF4E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7" y="3013"/>
              <a:ext cx="0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838" name="AutoShape 12">
              <a:extLst>
                <a:ext uri="{FF2B5EF4-FFF2-40B4-BE49-F238E27FC236}">
                  <a16:creationId xmlns:a16="http://schemas.microsoft.com/office/drawing/2014/main" id="{A4E94407-4580-96BE-437B-6B570932AA7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876" y="3777"/>
              <a:ext cx="488" cy="134"/>
            </a:xfrm>
            <a:prstGeom prst="rightArrow">
              <a:avLst>
                <a:gd name="adj1" fmla="val 50000"/>
                <a:gd name="adj2" fmla="val 9104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39" name="Text Box 13">
              <a:extLst>
                <a:ext uri="{FF2B5EF4-FFF2-40B4-BE49-F238E27FC236}">
                  <a16:creationId xmlns:a16="http://schemas.microsoft.com/office/drawing/2014/main" id="{EE5CBFF4-4EA3-3747-8585-E53BC3ED4A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8" y="2976"/>
              <a:ext cx="3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r>
                <a:rPr lang="it-IT" altLang="it-IT" sz="2400" b="0" baseline="-25000">
                  <a:sym typeface="Symbol" panose="05050102010706020507" pitchFamily="18" charset="2"/>
                </a:rPr>
                <a:t>0</a:t>
              </a:r>
              <a:endParaRPr lang="it-IT" altLang="it-IT" sz="2400" b="0" baseline="-25000"/>
            </a:p>
          </p:txBody>
        </p:sp>
        <p:sp>
          <p:nvSpPr>
            <p:cNvPr id="77840" name="Text Box 14">
              <a:extLst>
                <a:ext uri="{FF2B5EF4-FFF2-40B4-BE49-F238E27FC236}">
                  <a16:creationId xmlns:a16="http://schemas.microsoft.com/office/drawing/2014/main" id="{5CD7C28A-ADCC-2E2A-BDE6-4E3134DED1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976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r>
                <a:rPr lang="it-IT" altLang="it-IT" sz="2400" b="0" baseline="-25000">
                  <a:sym typeface="Symbol" panose="05050102010706020507" pitchFamily="18" charset="2"/>
                </a:rPr>
                <a:t>N-1</a:t>
              </a:r>
              <a:endParaRPr lang="it-IT" altLang="it-IT" sz="2400" b="0" baseline="-25000"/>
            </a:p>
          </p:txBody>
        </p:sp>
        <p:sp>
          <p:nvSpPr>
            <p:cNvPr id="77841" name="Text Box 15">
              <a:extLst>
                <a:ext uri="{FF2B5EF4-FFF2-40B4-BE49-F238E27FC236}">
                  <a16:creationId xmlns:a16="http://schemas.microsoft.com/office/drawing/2014/main" id="{D3E2CA1F-4F0E-F0B2-103F-C53E7EA3A3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56" y="2256"/>
              <a:ext cx="5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MUX</a:t>
              </a:r>
            </a:p>
          </p:txBody>
        </p:sp>
        <p:sp>
          <p:nvSpPr>
            <p:cNvPr id="77842" name="Rectangle 16">
              <a:extLst>
                <a:ext uri="{FF2B5EF4-FFF2-40B4-BE49-F238E27FC236}">
                  <a16:creationId xmlns:a16="http://schemas.microsoft.com/office/drawing/2014/main" id="{2541FB77-952A-7170-8BF2-C645C0276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1776"/>
              <a:ext cx="2444" cy="18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43" name="AutoShape 17">
              <a:extLst>
                <a:ext uri="{FF2B5EF4-FFF2-40B4-BE49-F238E27FC236}">
                  <a16:creationId xmlns:a16="http://schemas.microsoft.com/office/drawing/2014/main" id="{E84CA891-3863-092C-4AA5-08DC05F2D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640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44" name="AutoShape 18">
              <a:extLst>
                <a:ext uri="{FF2B5EF4-FFF2-40B4-BE49-F238E27FC236}">
                  <a16:creationId xmlns:a16="http://schemas.microsoft.com/office/drawing/2014/main" id="{9DC6A4A5-A303-06A2-DE16-345C165C64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352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7845" name="Text Box 19">
              <a:extLst>
                <a:ext uri="{FF2B5EF4-FFF2-40B4-BE49-F238E27FC236}">
                  <a16:creationId xmlns:a16="http://schemas.microsoft.com/office/drawing/2014/main" id="{3D5EC222-9EF1-FECA-EC8F-FA5A9BB7E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5" y="3722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</a:p>
          </p:txBody>
        </p:sp>
      </p:grpSp>
      <p:pic>
        <p:nvPicPr>
          <p:cNvPr id="77828" name="Picture 10">
            <a:extLst>
              <a:ext uri="{FF2B5EF4-FFF2-40B4-BE49-F238E27FC236}">
                <a16:creationId xmlns:a16="http://schemas.microsoft.com/office/drawing/2014/main" id="{FC9F18B3-9017-133F-5E4A-4C8FC7AD9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700" y="5470525"/>
            <a:ext cx="383540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29" name="Segnaposto numero diapositiva 21">
            <a:extLst>
              <a:ext uri="{FF2B5EF4-FFF2-40B4-BE49-F238E27FC236}">
                <a16:creationId xmlns:a16="http://schemas.microsoft.com/office/drawing/2014/main" id="{430CF49C-F63D-233F-ADB7-EE978355A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5F1FC0C-45F1-4BCF-A151-924BCA956176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48</a:t>
            </a:fld>
            <a:endParaRPr lang="it-IT" altLang="it-IT" sz="14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egnaposto numero diapositiva 3">
            <a:extLst>
              <a:ext uri="{FF2B5EF4-FFF2-40B4-BE49-F238E27FC236}">
                <a16:creationId xmlns:a16="http://schemas.microsoft.com/office/drawing/2014/main" id="{45C7AE7A-21C6-1D14-1744-5746AA717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0FF309C-E71B-4333-BAB1-DEE0E57A8ED4}" type="slidenum">
              <a:rPr lang="it-IT" altLang="it-IT" sz="1400" smtClean="0">
                <a:latin typeface="Arial" panose="020B0604020202020204" pitchFamily="34" charset="0"/>
              </a:rPr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it-IT" altLang="it-IT" sz="1400">
              <a:latin typeface="Arial" panose="020B0604020202020204" pitchFamily="34" charset="0"/>
            </a:endParaRPr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0B59FE8D-A9C7-CE09-3ED1-0576CCAF04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Multiplexer composti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B320CC41-F300-0758-6AB2-17B403E8E9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4638" y="1314450"/>
            <a:ext cx="9466262" cy="4816475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Realizzazione di un MUX16 attraverso MUX4</a:t>
            </a:r>
          </a:p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78852" name="Rectangle 7">
            <a:extLst>
              <a:ext uri="{FF2B5EF4-FFF2-40B4-BE49-F238E27FC236}">
                <a16:creationId xmlns:a16="http://schemas.microsoft.com/office/drawing/2014/main" id="{8D3EE0EC-C081-70E1-4C86-75D44269C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pic>
        <p:nvPicPr>
          <p:cNvPr id="78853" name="Picture 13">
            <a:extLst>
              <a:ext uri="{FF2B5EF4-FFF2-40B4-BE49-F238E27FC236}">
                <a16:creationId xmlns:a16="http://schemas.microsoft.com/office/drawing/2014/main" id="{52E3A926-AAE8-C484-6FC0-6CD486127F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54" r="38313"/>
          <a:stretch>
            <a:fillRect/>
          </a:stretch>
        </p:blipFill>
        <p:spPr bwMode="auto">
          <a:xfrm>
            <a:off x="1253391" y="1964383"/>
            <a:ext cx="5383212" cy="450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4" name="Text Box 15">
            <a:extLst>
              <a:ext uri="{FF2B5EF4-FFF2-40B4-BE49-F238E27FC236}">
                <a16:creationId xmlns:a16="http://schemas.microsoft.com/office/drawing/2014/main" id="{374E2572-F8D3-3899-7A67-241BA85EA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3838" y="2276475"/>
            <a:ext cx="2806700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0">
                <a:solidFill>
                  <a:schemeClr val="tx2"/>
                </a:solidFill>
              </a:rPr>
              <a:t>Un MUX16 può essere realizzato attraverso 5 MUX4.</a:t>
            </a:r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 b="0">
                <a:solidFill>
                  <a:schemeClr val="tx2"/>
                </a:solidFill>
              </a:rPr>
              <a:t>Due degli ingressi di selezione consentono di scegliere il mux da leggere mentre gli altri 2 consentono di selezionare l</a:t>
            </a:r>
            <a:r>
              <a:rPr lang="ja-JP" altLang="it-IT" sz="1800" b="0">
                <a:solidFill>
                  <a:schemeClr val="tx2"/>
                </a:solidFill>
              </a:rPr>
              <a:t>’</a:t>
            </a:r>
            <a:r>
              <a:rPr lang="it-IT" altLang="ja-JP" sz="1800" b="0">
                <a:solidFill>
                  <a:schemeClr val="tx2"/>
                </a:solidFill>
              </a:rPr>
              <a:t>ingresso per ciascun mux.</a:t>
            </a:r>
            <a:endParaRPr lang="it-IT" altLang="it-IT" sz="1800" b="0">
              <a:solidFill>
                <a:schemeClr val="tx2"/>
              </a:solidFill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6E9A2034-97B5-08B6-F5A2-26946646287E}"/>
              </a:ext>
            </a:extLst>
          </p:cNvPr>
          <p:cNvSpPr/>
          <p:nvPr/>
        </p:nvSpPr>
        <p:spPr bwMode="auto">
          <a:xfrm>
            <a:off x="914400" y="1643063"/>
            <a:ext cx="681038" cy="1214437"/>
          </a:xfrm>
          <a:prstGeom prst="rect">
            <a:avLst/>
          </a:prstGeom>
          <a:noFill/>
          <a:ln w="12700" cap="flat" cmpd="sng" algn="ctr">
            <a:solidFill>
              <a:schemeClr val="tx1">
                <a:lumMod val="65000"/>
                <a:lumOff val="35000"/>
              </a:schemeClr>
            </a:solidFill>
            <a:prstDash val="dash"/>
            <a:round/>
            <a:headEnd type="none" w="sm" len="sm"/>
            <a:tailEnd type="triangle" w="lg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2">
            <a:extLst>
              <a:ext uri="{FF2B5EF4-FFF2-40B4-BE49-F238E27FC236}">
                <a16:creationId xmlns:a16="http://schemas.microsoft.com/office/drawing/2014/main" id="{8D09B683-DAA8-3845-B8F4-9479345526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838" y="323850"/>
            <a:ext cx="8674100" cy="444500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Demultiplexer lineare</a:t>
            </a:r>
          </a:p>
        </p:txBody>
      </p:sp>
      <p:sp>
        <p:nvSpPr>
          <p:cNvPr id="79874" name="Rectangle 3">
            <a:extLst>
              <a:ext uri="{FF2B5EF4-FFF2-40B4-BE49-F238E27FC236}">
                <a16:creationId xmlns:a16="http://schemas.microsoft.com/office/drawing/2014/main" id="{6B671F14-C468-12FD-77D2-DC05F08774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2075" y="1343025"/>
            <a:ext cx="6013450" cy="5181600"/>
          </a:xfrm>
        </p:spPr>
        <p:txBody>
          <a:bodyPr/>
          <a:lstStyle/>
          <a:p>
            <a:pPr eaLnBrk="1" hangingPunct="1"/>
            <a:r>
              <a:rPr lang="it-IT" altLang="it-IT" i="1">
                <a:ea typeface="ＭＳ Ｐゴシック" panose="020B0600070205080204" pitchFamily="34" charset="-128"/>
              </a:rPr>
              <a:t> </a:t>
            </a:r>
            <a:r>
              <a:rPr lang="it-IT" altLang="it-IT">
                <a:ea typeface="ＭＳ Ｐゴシック" panose="020B0600070205080204" pitchFamily="34" charset="-128"/>
              </a:rPr>
              <a:t>Un </a:t>
            </a:r>
            <a:r>
              <a:rPr lang="it-IT" altLang="it-IT" i="1">
                <a:ea typeface="ＭＳ Ｐゴシック" panose="020B0600070205080204" pitchFamily="34" charset="-128"/>
              </a:rPr>
              <a:t>Demultiplexer Lineare</a:t>
            </a:r>
            <a:r>
              <a:rPr lang="it-IT" altLang="it-IT">
                <a:ea typeface="ＭＳ Ｐゴシック" panose="020B0600070205080204" pitchFamily="34" charset="-128"/>
              </a:rPr>
              <a:t> (DL) è una macchina con: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1 ingresso-dati B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n segnali binari di selezione (</a:t>
            </a:r>
            <a:r>
              <a:rPr lang="el-GR" altLang="it-IT">
                <a:ea typeface="ＭＳ Ｐゴシック" panose="020B0600070205080204" pitchFamily="34" charset="-128"/>
              </a:rPr>
              <a:t>α</a:t>
            </a:r>
            <a:r>
              <a:rPr lang="it-IT" altLang="it-IT" baseline="-25000">
                <a:ea typeface="ＭＳ Ｐゴシック" panose="020B0600070205080204" pitchFamily="34" charset="-128"/>
              </a:rPr>
              <a:t>0</a:t>
            </a:r>
            <a:r>
              <a:rPr lang="it-IT" altLang="it-IT">
                <a:ea typeface="ＭＳ Ｐゴシック" panose="020B0600070205080204" pitchFamily="34" charset="-128"/>
              </a:rPr>
              <a:t>,…, </a:t>
            </a:r>
            <a:r>
              <a:rPr lang="el-GR" altLang="it-IT">
                <a:ea typeface="ＭＳ Ｐゴシック" panose="020B0600070205080204" pitchFamily="34" charset="-128"/>
              </a:rPr>
              <a:t>α</a:t>
            </a:r>
            <a:r>
              <a:rPr lang="it-IT" altLang="it-IT" baseline="-25000">
                <a:ea typeface="ＭＳ Ｐゴシック" panose="020B0600070205080204" pitchFamily="34" charset="-128"/>
              </a:rPr>
              <a:t>n-1</a:t>
            </a:r>
            <a:r>
              <a:rPr lang="it-IT" altLang="it-IT">
                <a:ea typeface="ＭＳ Ｐゴシック" panose="020B0600070205080204" pitchFamily="34" charset="-128"/>
              </a:rPr>
              <a:t>), dei quali al più uno è attivo</a:t>
            </a:r>
          </a:p>
          <a:p>
            <a:pPr lvl="1" eaLnBrk="1" hangingPunct="1"/>
            <a:r>
              <a:rPr lang="it-IT" altLang="it-IT">
                <a:ea typeface="ＭＳ Ｐゴシック" panose="020B0600070205080204" pitchFamily="34" charset="-128"/>
              </a:rPr>
              <a:t>n uscite-dati (A</a:t>
            </a:r>
            <a:r>
              <a:rPr lang="it-IT" altLang="it-IT" baseline="-25000">
                <a:ea typeface="ＭＳ Ｐゴシック" panose="020B0600070205080204" pitchFamily="34" charset="-128"/>
              </a:rPr>
              <a:t>0</a:t>
            </a:r>
            <a:r>
              <a:rPr lang="it-IT" altLang="it-IT">
                <a:ea typeface="ＭＳ Ｐゴシック" panose="020B0600070205080204" pitchFamily="34" charset="-128"/>
              </a:rPr>
              <a:t>,…,A</a:t>
            </a:r>
            <a:r>
              <a:rPr lang="it-IT" altLang="it-IT" baseline="-25000">
                <a:ea typeface="ＭＳ Ｐゴシック" panose="020B0600070205080204" pitchFamily="34" charset="-128"/>
              </a:rPr>
              <a:t>n-1</a:t>
            </a:r>
            <a:r>
              <a:rPr lang="it-IT" altLang="it-IT">
                <a:ea typeface="ＭＳ Ｐゴシック" panose="020B0600070205080204" pitchFamily="34" charset="-128"/>
              </a:rPr>
              <a:t>), con </a:t>
            </a:r>
          </a:p>
          <a:p>
            <a:pPr lvl="2" eaLnBrk="1" hangingPunct="1"/>
            <a:r>
              <a:rPr lang="it-IT" altLang="it-IT">
                <a:ea typeface="ＭＳ Ｐゴシック" panose="020B0600070205080204" pitchFamily="34" charset="-128"/>
              </a:rPr>
              <a:t> A</a:t>
            </a:r>
            <a:r>
              <a:rPr lang="it-IT" altLang="it-IT" baseline="-25000">
                <a:ea typeface="ＭＳ Ｐゴシック" panose="020B0600070205080204" pitchFamily="34" charset="-128"/>
              </a:rPr>
              <a:t>i</a:t>
            </a:r>
            <a:r>
              <a:rPr lang="it-IT" altLang="it-IT">
                <a:ea typeface="ＭＳ Ｐゴシック" panose="020B0600070205080204" pitchFamily="34" charset="-128"/>
              </a:rPr>
              <a:t>=B se è attivo </a:t>
            </a:r>
            <a:r>
              <a:rPr lang="el-GR" altLang="it-IT">
                <a:ea typeface="ＭＳ Ｐゴシック" panose="020B0600070205080204" pitchFamily="34" charset="-128"/>
              </a:rPr>
              <a:t>α</a:t>
            </a:r>
            <a:r>
              <a:rPr lang="it-IT" altLang="it-IT" baseline="-25000">
                <a:ea typeface="ＭＳ Ｐゴシック" panose="020B0600070205080204" pitchFamily="34" charset="-128"/>
              </a:rPr>
              <a:t>i</a:t>
            </a:r>
            <a:endParaRPr lang="it-IT" altLang="it-IT">
              <a:ea typeface="ＭＳ Ｐゴシック" panose="020B0600070205080204" pitchFamily="34" charset="-128"/>
            </a:endParaRPr>
          </a:p>
          <a:p>
            <a:pPr lvl="2" eaLnBrk="1" hangingPunct="1"/>
            <a:r>
              <a:rPr lang="it-IT" altLang="it-IT">
                <a:ea typeface="ＭＳ Ｐゴシック" panose="020B0600070205080204" pitchFamily="34" charset="-128"/>
              </a:rPr>
              <a:t> neutro se nessuna delle selezioni è attiva </a:t>
            </a:r>
          </a:p>
        </p:txBody>
      </p:sp>
      <p:grpSp>
        <p:nvGrpSpPr>
          <p:cNvPr id="79875" name="Group 4">
            <a:extLst>
              <a:ext uri="{FF2B5EF4-FFF2-40B4-BE49-F238E27FC236}">
                <a16:creationId xmlns:a16="http://schemas.microsoft.com/office/drawing/2014/main" id="{7FA81686-EB1E-346B-41C5-BCA2C9073D74}"/>
              </a:ext>
            </a:extLst>
          </p:cNvPr>
          <p:cNvGrpSpPr>
            <a:grpSpLocks/>
          </p:cNvGrpSpPr>
          <p:nvPr/>
        </p:nvGrpSpPr>
        <p:grpSpPr bwMode="auto">
          <a:xfrm>
            <a:off x="5357813" y="2724150"/>
            <a:ext cx="4419600" cy="3513138"/>
            <a:chOff x="2832" y="1291"/>
            <a:chExt cx="2784" cy="2213"/>
          </a:xfrm>
        </p:grpSpPr>
        <p:sp>
          <p:nvSpPr>
            <p:cNvPr id="79877" name="Text Box 5">
              <a:extLst>
                <a:ext uri="{FF2B5EF4-FFF2-40B4-BE49-F238E27FC236}">
                  <a16:creationId xmlns:a16="http://schemas.microsoft.com/office/drawing/2014/main" id="{B240B1A5-4050-459E-7949-A598058ED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2016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Arial" panose="020B0604020202020204" pitchFamily="34" charset="0"/>
                </a:rPr>
                <a:t>A</a:t>
              </a:r>
              <a:r>
                <a:rPr lang="it-IT" altLang="it-IT" sz="3300" baseline="-25000">
                  <a:latin typeface="Arial" panose="020B0604020202020204" pitchFamily="34" charset="0"/>
                </a:rPr>
                <a:t>n-1</a:t>
              </a:r>
              <a:endParaRPr lang="it-IT" altLang="it-IT" sz="3300">
                <a:latin typeface="Arial" panose="020B0604020202020204" pitchFamily="34" charset="0"/>
              </a:endParaRPr>
            </a:p>
          </p:txBody>
        </p:sp>
        <p:sp>
          <p:nvSpPr>
            <p:cNvPr id="79878" name="AutoShape 6">
              <a:extLst>
                <a:ext uri="{FF2B5EF4-FFF2-40B4-BE49-F238E27FC236}">
                  <a16:creationId xmlns:a16="http://schemas.microsoft.com/office/drawing/2014/main" id="{9B334C2F-6E71-D53E-E244-2B548E7570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3" y="2365"/>
              <a:ext cx="723" cy="277"/>
            </a:xfrm>
            <a:prstGeom prst="rightArrow">
              <a:avLst>
                <a:gd name="adj1" fmla="val 50000"/>
                <a:gd name="adj2" fmla="val 65253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9879" name="Rectangle 7">
              <a:extLst>
                <a:ext uri="{FF2B5EF4-FFF2-40B4-BE49-F238E27FC236}">
                  <a16:creationId xmlns:a16="http://schemas.microsoft.com/office/drawing/2014/main" id="{3C1CDE42-702F-BA55-92BD-D4C87E050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" y="1384"/>
              <a:ext cx="1229" cy="1394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9880" name="AutoShape 8">
              <a:extLst>
                <a:ext uri="{FF2B5EF4-FFF2-40B4-BE49-F238E27FC236}">
                  <a16:creationId xmlns:a16="http://schemas.microsoft.com/office/drawing/2014/main" id="{EDEAB401-C419-7C0C-6A9F-DF849BAB9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597"/>
              <a:ext cx="722" cy="277"/>
            </a:xfrm>
            <a:prstGeom prst="rightArrow">
              <a:avLst>
                <a:gd name="adj1" fmla="val 50000"/>
                <a:gd name="adj2" fmla="val 65162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9881" name="AutoShape 9">
              <a:extLst>
                <a:ext uri="{FF2B5EF4-FFF2-40B4-BE49-F238E27FC236}">
                  <a16:creationId xmlns:a16="http://schemas.microsoft.com/office/drawing/2014/main" id="{385F5774-CC54-9012-D334-148FFADDBB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959"/>
              <a:ext cx="722" cy="276"/>
            </a:xfrm>
            <a:prstGeom prst="rightArrow">
              <a:avLst>
                <a:gd name="adj1" fmla="val 50000"/>
                <a:gd name="adj2" fmla="val 65399"/>
              </a:avLst>
            </a:prstGeom>
            <a:solidFill>
              <a:srgbClr val="FFFFFF"/>
            </a:solidFill>
            <a:ln w="381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79882" name="Line 10">
              <a:extLst>
                <a:ext uri="{FF2B5EF4-FFF2-40B4-BE49-F238E27FC236}">
                  <a16:creationId xmlns:a16="http://schemas.microsoft.com/office/drawing/2014/main" id="{1E9549D7-D91C-C5C8-3D3E-117F3CD42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7" y="2791"/>
              <a:ext cx="0" cy="4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83" name="Line 11">
              <a:extLst>
                <a:ext uri="{FF2B5EF4-FFF2-40B4-BE49-F238E27FC236}">
                  <a16:creationId xmlns:a16="http://schemas.microsoft.com/office/drawing/2014/main" id="{40C321BC-4B79-C6D7-0FA2-8C75EABD89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0" y="2810"/>
              <a:ext cx="0" cy="41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84" name="Text Box 12">
              <a:extLst>
                <a:ext uri="{FF2B5EF4-FFF2-40B4-BE49-F238E27FC236}">
                  <a16:creationId xmlns:a16="http://schemas.microsoft.com/office/drawing/2014/main" id="{6D6D83AB-2A64-903F-9709-F5EB55759D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4" y="1904"/>
              <a:ext cx="1156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600">
                  <a:latin typeface="Arial" panose="020B0604020202020204" pitchFamily="34" charset="0"/>
                </a:rPr>
                <a:t>DMUXL</a:t>
              </a:r>
            </a:p>
          </p:txBody>
        </p:sp>
        <p:sp>
          <p:nvSpPr>
            <p:cNvPr id="79885" name="Text Box 13">
              <a:extLst>
                <a:ext uri="{FF2B5EF4-FFF2-40B4-BE49-F238E27FC236}">
                  <a16:creationId xmlns:a16="http://schemas.microsoft.com/office/drawing/2014/main" id="{62F863BB-191C-76BF-B16F-F6EB16EB1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74" y="1291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Arial" panose="020B0604020202020204" pitchFamily="34" charset="0"/>
                </a:rPr>
                <a:t>A</a:t>
              </a:r>
              <a:r>
                <a:rPr lang="it-IT" altLang="it-IT" sz="3300" baseline="-25000">
                  <a:latin typeface="Arial" panose="020B0604020202020204" pitchFamily="34" charset="0"/>
                </a:rPr>
                <a:t>0</a:t>
              </a:r>
              <a:endParaRPr lang="it-IT" altLang="it-IT" sz="3300">
                <a:latin typeface="Arial" panose="020B0604020202020204" pitchFamily="34" charset="0"/>
              </a:endParaRPr>
            </a:p>
          </p:txBody>
        </p:sp>
        <p:sp>
          <p:nvSpPr>
            <p:cNvPr id="79886" name="Text Box 14">
              <a:extLst>
                <a:ext uri="{FF2B5EF4-FFF2-40B4-BE49-F238E27FC236}">
                  <a16:creationId xmlns:a16="http://schemas.microsoft.com/office/drawing/2014/main" id="{4AC6B202-3E2E-B73A-3BC3-B096F21441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706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79887" name="Text Box 15">
              <a:extLst>
                <a:ext uri="{FF2B5EF4-FFF2-40B4-BE49-F238E27FC236}">
                  <a16:creationId xmlns:a16="http://schemas.microsoft.com/office/drawing/2014/main" id="{B1463167-5D4F-C160-4F5B-140733BAE5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1" y="3106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Symbol" panose="05050102010706020507" pitchFamily="18" charset="2"/>
                </a:rPr>
                <a:t>a</a:t>
              </a:r>
              <a:r>
                <a:rPr lang="it-IT" altLang="it-IT" sz="3300" baseline="-25000">
                  <a:latin typeface="Arial" panose="020B0604020202020204" pitchFamily="34" charset="0"/>
                </a:rPr>
                <a:t>0</a:t>
              </a:r>
              <a:endParaRPr lang="it-IT" altLang="it-IT" sz="3300">
                <a:latin typeface="Arial" panose="020B0604020202020204" pitchFamily="34" charset="0"/>
              </a:endParaRPr>
            </a:p>
          </p:txBody>
        </p:sp>
        <p:sp>
          <p:nvSpPr>
            <p:cNvPr id="79888" name="Text Box 16">
              <a:extLst>
                <a:ext uri="{FF2B5EF4-FFF2-40B4-BE49-F238E27FC236}">
                  <a16:creationId xmlns:a16="http://schemas.microsoft.com/office/drawing/2014/main" id="{1DF6ED9F-EAA6-519B-B5E0-CB05CC143B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7" y="3115"/>
              <a:ext cx="602" cy="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3300">
                  <a:latin typeface="Symbol" panose="05050102010706020507" pitchFamily="18" charset="2"/>
                </a:rPr>
                <a:t>a</a:t>
              </a:r>
              <a:r>
                <a:rPr lang="it-IT" altLang="it-IT" sz="3300" baseline="-25000">
                  <a:latin typeface="Arial" panose="020B0604020202020204" pitchFamily="34" charset="0"/>
                </a:rPr>
                <a:t>n-1</a:t>
              </a:r>
              <a:endParaRPr lang="it-IT" altLang="it-IT" sz="3300">
                <a:latin typeface="Arial" panose="020B0604020202020204" pitchFamily="34" charset="0"/>
              </a:endParaRPr>
            </a:p>
          </p:txBody>
        </p:sp>
      </p:grpSp>
      <p:sp>
        <p:nvSpPr>
          <p:cNvPr id="79876" name="Segnaposto numero diapositiva 16">
            <a:extLst>
              <a:ext uri="{FF2B5EF4-FFF2-40B4-BE49-F238E27FC236}">
                <a16:creationId xmlns:a16="http://schemas.microsoft.com/office/drawing/2014/main" id="{E6776171-1502-03F6-349F-A2F16AFFB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6DBAD38-24E4-4B6E-89BE-B3B000CAD52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it-IT" altLang="it-IT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0AD3CA12-DCD2-6BC3-412F-04C4E2A28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88" y="228600"/>
            <a:ext cx="84201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="b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800" b="0">
                <a:latin typeface="Book Antiqua" panose="02040602050305030304" pitchFamily="18" charset="0"/>
              </a:rPr>
              <a:t>Demultiplexer Indirizzabile</a:t>
            </a:r>
          </a:p>
        </p:txBody>
      </p:sp>
      <p:sp>
        <p:nvSpPr>
          <p:cNvPr id="80898" name="Rectangle 3">
            <a:extLst>
              <a:ext uri="{FF2B5EF4-FFF2-40B4-BE49-F238E27FC236}">
                <a16:creationId xmlns:a16="http://schemas.microsoft.com/office/drawing/2014/main" id="{7DED88BB-9515-F71C-B81B-6F2D76D63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" y="1219200"/>
            <a:ext cx="8585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SzTx/>
              <a:buFontTx/>
              <a:buChar char="•"/>
            </a:pPr>
            <a:r>
              <a:rPr lang="it-IT" altLang="it-IT" b="0"/>
              <a:t>E</a:t>
            </a:r>
            <a:r>
              <a:rPr lang="ja-JP" altLang="it-IT" b="0"/>
              <a:t>’</a:t>
            </a:r>
            <a:r>
              <a:rPr lang="it-IT" altLang="ja-JP" b="0"/>
              <a:t> un Demultiplexer Lineare i cui segnali di abilitazione sono collegati con le uscite di un decodificatore</a:t>
            </a:r>
            <a:r>
              <a:rPr lang="it-IT" altLang="ja-JP" sz="3200" b="0"/>
              <a:t> </a:t>
            </a:r>
            <a:endParaRPr lang="it-IT" altLang="it-IT" sz="3200" b="0"/>
          </a:p>
        </p:txBody>
      </p:sp>
      <p:grpSp>
        <p:nvGrpSpPr>
          <p:cNvPr id="80899" name="Group 20">
            <a:extLst>
              <a:ext uri="{FF2B5EF4-FFF2-40B4-BE49-F238E27FC236}">
                <a16:creationId xmlns:a16="http://schemas.microsoft.com/office/drawing/2014/main" id="{124B7253-F50C-7BE0-AEF3-673D9CC61C3F}"/>
              </a:ext>
            </a:extLst>
          </p:cNvPr>
          <p:cNvGrpSpPr>
            <a:grpSpLocks/>
          </p:cNvGrpSpPr>
          <p:nvPr/>
        </p:nvGrpSpPr>
        <p:grpSpPr bwMode="auto">
          <a:xfrm>
            <a:off x="1238250" y="2357438"/>
            <a:ext cx="6169025" cy="3670300"/>
            <a:chOff x="1248" y="1776"/>
            <a:chExt cx="3886" cy="2312"/>
          </a:xfrm>
        </p:grpSpPr>
        <p:sp>
          <p:nvSpPr>
            <p:cNvPr id="80902" name="Text Box 4">
              <a:extLst>
                <a:ext uri="{FF2B5EF4-FFF2-40B4-BE49-F238E27FC236}">
                  <a16:creationId xmlns:a16="http://schemas.microsoft.com/office/drawing/2014/main" id="{72E18A58-4499-0752-D420-7EF1A186A5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8" y="1824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r>
                <a:rPr lang="it-IT" altLang="it-IT" sz="2400" b="0" baseline="-25000"/>
                <a:t>0</a:t>
              </a:r>
            </a:p>
          </p:txBody>
        </p:sp>
        <p:sp>
          <p:nvSpPr>
            <p:cNvPr id="80903" name="Text Box 5">
              <a:extLst>
                <a:ext uri="{FF2B5EF4-FFF2-40B4-BE49-F238E27FC236}">
                  <a16:creationId xmlns:a16="http://schemas.microsoft.com/office/drawing/2014/main" id="{288EFEA7-70BC-65CA-2218-C29AAD3BEB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80" y="2688"/>
              <a:ext cx="45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r>
                <a:rPr lang="it-IT" altLang="it-IT" sz="2400" b="0" baseline="-25000"/>
                <a:t>N-1</a:t>
              </a:r>
            </a:p>
          </p:txBody>
        </p:sp>
        <p:sp>
          <p:nvSpPr>
            <p:cNvPr id="80904" name="Text Box 6">
              <a:extLst>
                <a:ext uri="{FF2B5EF4-FFF2-40B4-BE49-F238E27FC236}">
                  <a16:creationId xmlns:a16="http://schemas.microsoft.com/office/drawing/2014/main" id="{60FAA582-FDF8-F25A-B9CD-CA43BCC350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56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B</a:t>
              </a:r>
              <a:endParaRPr lang="it-IT" altLang="it-IT" sz="2400" b="0" baseline="-25000"/>
            </a:p>
          </p:txBody>
        </p:sp>
        <p:sp>
          <p:nvSpPr>
            <p:cNvPr id="80905" name="Rectangle 7">
              <a:extLst>
                <a:ext uri="{FF2B5EF4-FFF2-40B4-BE49-F238E27FC236}">
                  <a16:creationId xmlns:a16="http://schemas.microsoft.com/office/drawing/2014/main" id="{1295C403-2B52-3308-5306-F15FE25EE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968"/>
              <a:ext cx="1008" cy="9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06" name="AutoShape 8">
              <a:extLst>
                <a:ext uri="{FF2B5EF4-FFF2-40B4-BE49-F238E27FC236}">
                  <a16:creationId xmlns:a16="http://schemas.microsoft.com/office/drawing/2014/main" id="{20AD3A55-A9EA-FD64-B082-CE4130AA8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688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07" name="AutoShape 9">
              <a:extLst>
                <a:ext uri="{FF2B5EF4-FFF2-40B4-BE49-F238E27FC236}">
                  <a16:creationId xmlns:a16="http://schemas.microsoft.com/office/drawing/2014/main" id="{1FA147D4-82F0-F101-DF01-45A2062AE05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 flipV="1">
              <a:off x="2550" y="3292"/>
              <a:ext cx="1106" cy="27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2 w 21600"/>
                <a:gd name="T13" fmla="*/ 4490 h 21600"/>
                <a:gd name="T14" fmla="*/ 17108 w 21600"/>
                <a:gd name="T15" fmla="*/ 171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908" name="Line 10">
              <a:extLst>
                <a:ext uri="{FF2B5EF4-FFF2-40B4-BE49-F238E27FC236}">
                  <a16:creationId xmlns:a16="http://schemas.microsoft.com/office/drawing/2014/main" id="{8C7C22AD-0373-90C9-B24E-694AB746A4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3" y="3013"/>
              <a:ext cx="0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09" name="Line 11">
              <a:extLst>
                <a:ext uri="{FF2B5EF4-FFF2-40B4-BE49-F238E27FC236}">
                  <a16:creationId xmlns:a16="http://schemas.microsoft.com/office/drawing/2014/main" id="{F3ED50BE-F158-F7BE-55BC-2439DE466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7" y="3013"/>
              <a:ext cx="0" cy="2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910" name="AutoShape 12">
              <a:extLst>
                <a:ext uri="{FF2B5EF4-FFF2-40B4-BE49-F238E27FC236}">
                  <a16:creationId xmlns:a16="http://schemas.microsoft.com/office/drawing/2014/main" id="{771944B7-A173-5D43-9D53-E072C431294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876" y="3777"/>
              <a:ext cx="488" cy="134"/>
            </a:xfrm>
            <a:prstGeom prst="rightArrow">
              <a:avLst>
                <a:gd name="adj1" fmla="val 50000"/>
                <a:gd name="adj2" fmla="val 91045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11" name="Text Box 13">
              <a:extLst>
                <a:ext uri="{FF2B5EF4-FFF2-40B4-BE49-F238E27FC236}">
                  <a16:creationId xmlns:a16="http://schemas.microsoft.com/office/drawing/2014/main" id="{01559886-6EC1-76E4-C636-C42FE944A6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8" y="2976"/>
              <a:ext cx="3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r>
                <a:rPr lang="it-IT" altLang="it-IT" sz="2400" b="0" baseline="-25000">
                  <a:sym typeface="Symbol" panose="05050102010706020507" pitchFamily="18" charset="2"/>
                </a:rPr>
                <a:t>0</a:t>
              </a:r>
              <a:endParaRPr lang="it-IT" altLang="it-IT" sz="2400" b="0" baseline="-25000"/>
            </a:p>
          </p:txBody>
        </p:sp>
        <p:sp>
          <p:nvSpPr>
            <p:cNvPr id="80912" name="Text Box 14">
              <a:extLst>
                <a:ext uri="{FF2B5EF4-FFF2-40B4-BE49-F238E27FC236}">
                  <a16:creationId xmlns:a16="http://schemas.microsoft.com/office/drawing/2014/main" id="{69EAF931-28F1-F7DB-5015-A54E85A15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2" y="2976"/>
              <a:ext cx="43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>
                  <a:sym typeface="Symbol" panose="05050102010706020507" pitchFamily="18" charset="2"/>
                </a:rPr>
                <a:t></a:t>
              </a:r>
              <a:r>
                <a:rPr lang="it-IT" altLang="it-IT" sz="2400" b="0" baseline="-25000">
                  <a:sym typeface="Symbol" panose="05050102010706020507" pitchFamily="18" charset="2"/>
                </a:rPr>
                <a:t>N-1</a:t>
              </a:r>
              <a:endParaRPr lang="it-IT" altLang="it-IT" sz="2400" b="0" baseline="-25000"/>
            </a:p>
          </p:txBody>
        </p:sp>
        <p:sp>
          <p:nvSpPr>
            <p:cNvPr id="80913" name="Text Box 15">
              <a:extLst>
                <a:ext uri="{FF2B5EF4-FFF2-40B4-BE49-F238E27FC236}">
                  <a16:creationId xmlns:a16="http://schemas.microsoft.com/office/drawing/2014/main" id="{B1875138-5E7C-FE69-7C8E-B01027D7D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2" y="2256"/>
              <a:ext cx="82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DEMUX</a:t>
              </a:r>
            </a:p>
          </p:txBody>
        </p:sp>
        <p:sp>
          <p:nvSpPr>
            <p:cNvPr id="80914" name="Rectangle 16">
              <a:extLst>
                <a:ext uri="{FF2B5EF4-FFF2-40B4-BE49-F238E27FC236}">
                  <a16:creationId xmlns:a16="http://schemas.microsoft.com/office/drawing/2014/main" id="{DCB1FECD-E0EA-E068-6F08-10AC1F3F6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4" y="1776"/>
              <a:ext cx="2444" cy="187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15" name="AutoShape 17">
              <a:extLst>
                <a:ext uri="{FF2B5EF4-FFF2-40B4-BE49-F238E27FC236}">
                  <a16:creationId xmlns:a16="http://schemas.microsoft.com/office/drawing/2014/main" id="{CCC81BB3-5B73-2F30-CBD0-A3598B04A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352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16" name="AutoShape 18">
              <a:extLst>
                <a:ext uri="{FF2B5EF4-FFF2-40B4-BE49-F238E27FC236}">
                  <a16:creationId xmlns:a16="http://schemas.microsoft.com/office/drawing/2014/main" id="{F8E06950-65B4-882B-5DED-3576E55DFE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" y="2064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0917" name="Text Box 19">
              <a:extLst>
                <a:ext uri="{FF2B5EF4-FFF2-40B4-BE49-F238E27FC236}">
                  <a16:creationId xmlns:a16="http://schemas.microsoft.com/office/drawing/2014/main" id="{2FCB87C5-3C0D-D235-7CB3-9FAD710E5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5" y="3722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</a:t>
              </a:r>
            </a:p>
          </p:txBody>
        </p:sp>
      </p:grpSp>
      <p:pic>
        <p:nvPicPr>
          <p:cNvPr id="80900" name="Picture 9">
            <a:extLst>
              <a:ext uri="{FF2B5EF4-FFF2-40B4-BE49-F238E27FC236}">
                <a16:creationId xmlns:a16="http://schemas.microsoft.com/office/drawing/2014/main" id="{6764457B-4FF1-F404-E4D5-A40B24AE8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75" y="5572125"/>
            <a:ext cx="46577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901" name="Segnaposto numero diapositiva 21">
            <a:extLst>
              <a:ext uri="{FF2B5EF4-FFF2-40B4-BE49-F238E27FC236}">
                <a16:creationId xmlns:a16="http://schemas.microsoft.com/office/drawing/2014/main" id="{CEE2FAFF-147F-4179-D4B8-AE7DEA410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C662BD1-DFF8-44C0-9B84-E9014C24A058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it-IT" altLang="it-IT" sz="1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Titolo 1">
            <a:extLst>
              <a:ext uri="{FF2B5EF4-FFF2-40B4-BE49-F238E27FC236}">
                <a16:creationId xmlns:a16="http://schemas.microsoft.com/office/drawing/2014/main" id="{94FF3F43-3855-AEFF-ACCE-D04C2E60F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altLang="it-IT" cap="none">
                <a:ea typeface="ＭＳ Ｐゴシック" panose="020B0600070205080204" pitchFamily="34" charset="-128"/>
              </a:rPr>
              <a:t>XOR ED EQ</a:t>
            </a:r>
          </a:p>
        </p:txBody>
      </p:sp>
      <p:sp>
        <p:nvSpPr>
          <p:cNvPr id="81922" name="Segnaposto testo 2">
            <a:extLst>
              <a:ext uri="{FF2B5EF4-FFF2-40B4-BE49-F238E27FC236}">
                <a16:creationId xmlns:a16="http://schemas.microsoft.com/office/drawing/2014/main" id="{0695C85F-FEAC-9022-E7C5-6E79DB4095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81923" name="Segnaposto numero diapositiva 3">
            <a:extLst>
              <a:ext uri="{FF2B5EF4-FFF2-40B4-BE49-F238E27FC236}">
                <a16:creationId xmlns:a16="http://schemas.microsoft.com/office/drawing/2014/main" id="{6751A9D2-D10B-B3C0-8F3F-6FA7DC0E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3246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EC906A3-B136-412C-9FD5-E504C95E8061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3F7602E8-40DD-E1E5-0489-B2CB37834D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Funzioni XOR ed EQ (1/3)</a:t>
            </a:r>
            <a:endParaRPr lang="it-IT" altLang="it-IT" sz="2500" b="1">
              <a:ea typeface="ＭＳ Ｐゴシック" panose="020B0600070205080204" pitchFamily="34" charset="-128"/>
            </a:endParaRPr>
          </a:p>
        </p:txBody>
      </p:sp>
      <p:sp>
        <p:nvSpPr>
          <p:cNvPr id="82946" name="Rectangle 102">
            <a:extLst>
              <a:ext uri="{FF2B5EF4-FFF2-40B4-BE49-F238E27FC236}">
                <a16:creationId xmlns:a16="http://schemas.microsoft.com/office/drawing/2014/main" id="{3D8D5EBA-8C4E-14B8-010F-F32A6DB19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190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613" tIns="47306" rIns="94613" bIns="47306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2947" name="Object 3">
            <a:extLst>
              <a:ext uri="{FF2B5EF4-FFF2-40B4-BE49-F238E27FC236}">
                <a16:creationId xmlns:a16="http://schemas.microsoft.com/office/drawing/2014/main" id="{C46FFD52-2301-1E74-8166-0CCD7E81D56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050" y="4379913"/>
          <a:ext cx="8728075" cy="156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50" y="4379913"/>
                        <a:ext cx="8728075" cy="156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Rectangle 103">
            <a:extLst>
              <a:ext uri="{FF2B5EF4-FFF2-40B4-BE49-F238E27FC236}">
                <a16:creationId xmlns:a16="http://schemas.microsoft.com/office/drawing/2014/main" id="{BBB70466-5679-4EC8-B727-555CB6056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314450"/>
            <a:ext cx="8915400" cy="481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13" tIns="47306" rIns="94613" bIns="47306"/>
          <a:lstStyle>
            <a:lvl1pPr marL="354013" indent="-354013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68350" indent="-295275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81100" indent="-23495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r>
              <a:rPr lang="it-IT" altLang="it-IT" sz="2200"/>
              <a:t>Le funzioni XOR (    ) ed EQ (</a:t>
            </a:r>
            <a:r>
              <a:rPr lang="it-IT" altLang="it-IT" sz="2200">
                <a:cs typeface="Arial" panose="020B0604020202020204" pitchFamily="34" charset="0"/>
              </a:rPr>
              <a:t>≡) assumono una notevole rilevanza dal punto di vista pratico</a:t>
            </a:r>
          </a:p>
          <a:p>
            <a:pPr lvl="1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it-IT" altLang="it-IT" sz="2200">
                <a:cs typeface="Arial" panose="020B0604020202020204" pitchFamily="34" charset="0"/>
              </a:rPr>
              <a:t>XOR: rappresenta la cifra-somma delle cifre-addendi x ed y, </a:t>
            </a:r>
            <a:r>
              <a:rPr lang="it-IT" altLang="it-IT" sz="2200" i="1">
                <a:cs typeface="Arial" panose="020B0604020202020204" pitchFamily="34" charset="0"/>
              </a:rPr>
              <a:t>somma modulo 2.</a:t>
            </a:r>
          </a:p>
          <a:p>
            <a:pPr lvl="2" eaLnBrk="1" hangingPunct="1">
              <a:buClr>
                <a:schemeClr val="accent1"/>
              </a:buClr>
              <a:buSzPct val="65000"/>
              <a:buFont typeface="Wingdings" panose="05000000000000000000" pitchFamily="2" charset="2"/>
              <a:buChar char="p"/>
            </a:pPr>
            <a:r>
              <a:rPr lang="it-IT" altLang="it-IT" sz="2200">
                <a:cs typeface="Arial" panose="020B0604020202020204" pitchFamily="34" charset="0"/>
              </a:rPr>
              <a:t>Assume particolare importanza in aritmetica</a:t>
            </a:r>
          </a:p>
          <a:p>
            <a:pPr lvl="1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r>
              <a:rPr lang="it-IT" altLang="it-IT" sz="2200">
                <a:cs typeface="Arial" panose="020B0604020202020204" pitchFamily="34" charset="0"/>
              </a:rPr>
              <a:t>EQ: consente di generare una variabile che indica se due bit sono uguali o diversi.</a:t>
            </a:r>
          </a:p>
          <a:p>
            <a:pPr lvl="1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it-IT" altLang="it-IT" sz="2200">
              <a:cs typeface="Arial" panose="020B0604020202020204" pitchFamily="34" charset="0"/>
            </a:endParaRPr>
          </a:p>
          <a:p>
            <a:pPr lvl="1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it-IT" altLang="it-IT" sz="2200">
              <a:cs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 sz="2200">
              <a:cs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 sz="2200">
              <a:cs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 sz="2200">
              <a:cs typeface="Arial" panose="020B0604020202020204" pitchFamily="34" charset="0"/>
            </a:endParaRP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 sz="2200">
              <a:cs typeface="Arial" panose="020B0604020202020204" pitchFamily="34" charset="0"/>
            </a:endParaRPr>
          </a:p>
        </p:txBody>
      </p:sp>
      <p:graphicFrame>
        <p:nvGraphicFramePr>
          <p:cNvPr id="82949" name="Object 4">
            <a:extLst>
              <a:ext uri="{FF2B5EF4-FFF2-40B4-BE49-F238E27FC236}">
                <a16:creationId xmlns:a16="http://schemas.microsoft.com/office/drawing/2014/main" id="{29EBB9CE-7A48-64E7-73DC-8284801A6E78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048000" y="1381125"/>
          <a:ext cx="447675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1381125"/>
                        <a:ext cx="447675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50" name="Segnaposto numero diapositiva 6">
            <a:extLst>
              <a:ext uri="{FF2B5EF4-FFF2-40B4-BE49-F238E27FC236}">
                <a16:creationId xmlns:a16="http://schemas.microsoft.com/office/drawing/2014/main" id="{7899DD40-3C6F-67B8-1142-57B82C6B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711E29D-68E3-4468-B07F-CA3B4D935437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egnaposto numero diapositiva 3">
            <a:extLst>
              <a:ext uri="{FF2B5EF4-FFF2-40B4-BE49-F238E27FC236}">
                <a16:creationId xmlns:a16="http://schemas.microsoft.com/office/drawing/2014/main" id="{83809BE7-F73D-6925-BD58-F55D05489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75D8F70D-F787-4E41-8262-F7A5556B092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it-IT" altLang="it-IT" sz="140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38EBFBEE-E179-E310-0182-47DA062B7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Funzioni Xor e Eq</a:t>
            </a:r>
          </a:p>
        </p:txBody>
      </p:sp>
      <p:sp>
        <p:nvSpPr>
          <p:cNvPr id="83971" name="Rectangle 5">
            <a:extLst>
              <a:ext uri="{FF2B5EF4-FFF2-40B4-BE49-F238E27FC236}">
                <a16:creationId xmlns:a16="http://schemas.microsoft.com/office/drawing/2014/main" id="{3B0E42D8-F7DE-B912-1C82-A70F39149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87700"/>
            <a:ext cx="1873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23" tIns="48424" rIns="93123" bIns="48424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3972" name="Object 4">
            <a:extLst>
              <a:ext uri="{FF2B5EF4-FFF2-40B4-BE49-F238E27FC236}">
                <a16:creationId xmlns:a16="http://schemas.microsoft.com/office/drawing/2014/main" id="{19C25656-F914-1898-6888-7EE59494B5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1263" y="2667000"/>
          <a:ext cx="6237287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1263" y="2667000"/>
                        <a:ext cx="6237287" cy="1289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3" name="Text Box 6">
            <a:extLst>
              <a:ext uri="{FF2B5EF4-FFF2-40B4-BE49-F238E27FC236}">
                <a16:creationId xmlns:a16="http://schemas.microsoft.com/office/drawing/2014/main" id="{D89F02C7-B667-E7A0-14BA-4066E5A089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3788" y="1827213"/>
            <a:ext cx="3449637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3" tIns="48424" rIns="93123" bIns="48424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/>
              <a:t>somma modulo 2</a:t>
            </a:r>
          </a:p>
        </p:txBody>
      </p:sp>
      <p:sp>
        <p:nvSpPr>
          <p:cNvPr id="83974" name="Text Box 7">
            <a:extLst>
              <a:ext uri="{FF2B5EF4-FFF2-40B4-BE49-F238E27FC236}">
                <a16:creationId xmlns:a16="http://schemas.microsoft.com/office/drawing/2014/main" id="{6875EACA-2E88-5458-7714-BF352926A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9700" y="4572000"/>
            <a:ext cx="3448050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3" tIns="48424" rIns="93123" bIns="48424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/>
              <a:t>eguaglianza</a:t>
            </a:r>
          </a:p>
        </p:txBody>
      </p:sp>
      <p:sp>
        <p:nvSpPr>
          <p:cNvPr id="83975" name="Line 8">
            <a:extLst>
              <a:ext uri="{FF2B5EF4-FFF2-40B4-BE49-F238E27FC236}">
                <a16:creationId xmlns:a16="http://schemas.microsoft.com/office/drawing/2014/main" id="{94CF3F42-5C00-D85E-18E2-049D648127D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92325" y="2286000"/>
            <a:ext cx="1393825" cy="30480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3123" tIns="48424" rIns="93123" bIns="48424">
            <a:spAutoFit/>
          </a:bodyPr>
          <a:lstStyle/>
          <a:p>
            <a:endParaRPr lang="en-US"/>
          </a:p>
        </p:txBody>
      </p:sp>
      <p:sp>
        <p:nvSpPr>
          <p:cNvPr id="83976" name="Line 9">
            <a:extLst>
              <a:ext uri="{FF2B5EF4-FFF2-40B4-BE49-F238E27FC236}">
                <a16:creationId xmlns:a16="http://schemas.microsoft.com/office/drawing/2014/main" id="{567198E2-EB1D-551F-6F66-73A8D7FEAA0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66938" y="3963988"/>
            <a:ext cx="365125" cy="531812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3123" tIns="48424" rIns="93123" bIns="48424">
            <a:spAutoFit/>
          </a:bodyPr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42">
            <a:extLst>
              <a:ext uri="{FF2B5EF4-FFF2-40B4-BE49-F238E27FC236}">
                <a16:creationId xmlns:a16="http://schemas.microsoft.com/office/drawing/2014/main" id="{1AAF6CCC-B4FA-4A30-C252-1F3CFB892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314450"/>
            <a:ext cx="8915400" cy="489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613" tIns="47306" rIns="94613" bIns="47306"/>
          <a:lstStyle>
            <a:lvl1pPr marL="354013" indent="-354013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68350" indent="-295275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r>
              <a:rPr lang="it-IT" altLang="it-IT" sz="2900">
                <a:solidFill>
                  <a:schemeClr val="tx2"/>
                </a:solidFill>
              </a:rPr>
              <a:t>Applicando le regole generali di trasformazione in forma NAND e NOR, si ha:</a:t>
            </a:r>
          </a:p>
          <a:p>
            <a:pPr lvl="1" algn="ctr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it-IT" altLang="it-IT" sz="2800">
              <a:solidFill>
                <a:schemeClr val="tx2"/>
              </a:solidFill>
            </a:endParaRPr>
          </a:p>
          <a:p>
            <a:pPr lvl="1" algn="ctr" eaLnBrk="1" hangingPunct="1">
              <a:buClr>
                <a:schemeClr val="tx2"/>
              </a:buClr>
              <a:buSzPct val="75000"/>
              <a:buFont typeface="Wingdings" panose="05000000000000000000" pitchFamily="2" charset="2"/>
              <a:buChar char="n"/>
            </a:pPr>
            <a:endParaRPr lang="it-IT" altLang="it-IT" sz="2800">
              <a:solidFill>
                <a:schemeClr val="tx2"/>
              </a:solidFill>
            </a:endParaRPr>
          </a:p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>
              <a:solidFill>
                <a:schemeClr val="tx2"/>
              </a:solidFill>
            </a:endParaRPr>
          </a:p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>
              <a:solidFill>
                <a:schemeClr val="tx2"/>
              </a:solidFill>
            </a:endParaRPr>
          </a:p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>
              <a:solidFill>
                <a:schemeClr val="tx2"/>
              </a:solidFill>
            </a:endParaRPr>
          </a:p>
          <a:p>
            <a:pPr algn="ctr" eaLnBrk="1" hangingPunct="1">
              <a:buClr>
                <a:schemeClr val="bg2"/>
              </a:buClr>
              <a:buFont typeface="Wingdings" panose="05000000000000000000" pitchFamily="2" charset="2"/>
              <a:buChar char="p"/>
            </a:pPr>
            <a:endParaRPr lang="it-IT" altLang="it-IT">
              <a:solidFill>
                <a:schemeClr val="tx2"/>
              </a:solidFill>
            </a:endParaRPr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7F7290E6-E882-9925-3A20-E0EF1F506B10}"/>
              </a:ext>
            </a:extLst>
          </p:cNvPr>
          <p:cNvSpPr>
            <a:spLocks noGrp="1" noChangeArrowheads="1"/>
          </p:cNvSpPr>
          <p:nvPr>
            <p:ph type="title" sz="quarter"/>
          </p:nvPr>
        </p:nvSpPr>
        <p:spPr>
          <a:xfrm>
            <a:off x="74613" y="26988"/>
            <a:ext cx="8915400" cy="91122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Funzioni Xor e Eq</a:t>
            </a:r>
          </a:p>
        </p:txBody>
      </p:sp>
      <p:graphicFrame>
        <p:nvGraphicFramePr>
          <p:cNvPr id="105570" name="Group 98">
            <a:extLst>
              <a:ext uri="{FF2B5EF4-FFF2-40B4-BE49-F238E27FC236}">
                <a16:creationId xmlns:a16="http://schemas.microsoft.com/office/drawing/2014/main" id="{D7E5DF66-1149-DD0B-0033-798B8AD399C4}"/>
              </a:ext>
            </a:extLst>
          </p:cNvPr>
          <p:cNvGraphicFramePr>
            <a:graphicFrameLocks noGrp="1"/>
          </p:cNvGraphicFramePr>
          <p:nvPr>
            <p:ph sz="quarter" idx="1"/>
          </p:nvPr>
        </p:nvGraphicFramePr>
        <p:xfrm>
          <a:off x="495300" y="2584450"/>
          <a:ext cx="8832850" cy="3302001"/>
        </p:xfrm>
        <a:graphic>
          <a:graphicData uri="http://schemas.openxmlformats.org/drawingml/2006/table">
            <a:tbl>
              <a:tblPr/>
              <a:tblGrid>
                <a:gridCol w="4746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6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XOR IN FORMA NAND (2 liv)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XOR IN FORMA NAND (3 liv)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XOR IN FORMA NOR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EQ IN FORMA NAND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9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it-IT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EQ IN FORMA NOR</a:t>
                      </a:r>
                    </a:p>
                  </a:txBody>
                  <a:tcPr marL="99060" marR="99060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it-IT" sz="24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85015" name="Object 2">
            <a:extLst>
              <a:ext uri="{FF2B5EF4-FFF2-40B4-BE49-F238E27FC236}">
                <a16:creationId xmlns:a16="http://schemas.microsoft.com/office/drawing/2014/main" id="{1BF74F7E-2CE5-C917-0997-220D984A9946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5653088" y="4010025"/>
          <a:ext cx="327501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DSMT4">
                  <p:embed/>
                </p:oleObj>
              </mc:Choice>
              <mc:Fallback>
                <p:oleObj name="Equation" r:id="rId2" imgW="0" imgH="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3088" y="4010025"/>
                        <a:ext cx="327501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16" name="Object 3">
            <a:extLst>
              <a:ext uri="{FF2B5EF4-FFF2-40B4-BE49-F238E27FC236}">
                <a16:creationId xmlns:a16="http://schemas.microsoft.com/office/drawing/2014/main" id="{45A6EA51-7854-3044-0662-11F5316B72C8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011863" y="5300663"/>
          <a:ext cx="2670175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DSMT4">
                  <p:embed/>
                </p:oleObj>
              </mc:Choice>
              <mc:Fallback>
                <p:oleObj name="Equation" r:id="rId4" imgW="0" imgH="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5300663"/>
                        <a:ext cx="2670175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17" name="Rectangle 44">
            <a:extLst>
              <a:ext uri="{FF2B5EF4-FFF2-40B4-BE49-F238E27FC236}">
                <a16:creationId xmlns:a16="http://schemas.microsoft.com/office/drawing/2014/main" id="{A631ED5D-E5DF-569F-0EE8-8965C6F14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90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613" tIns="47306" rIns="94613" bIns="47306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85018" name="Rectangle 65">
            <a:extLst>
              <a:ext uri="{FF2B5EF4-FFF2-40B4-BE49-F238E27FC236}">
                <a16:creationId xmlns:a16="http://schemas.microsoft.com/office/drawing/2014/main" id="{E57A9C2E-0589-00DD-A85B-87CD0BB7B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90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613" tIns="47306" rIns="94613" bIns="47306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5019" name="Object 4">
            <a:extLst>
              <a:ext uri="{FF2B5EF4-FFF2-40B4-BE49-F238E27FC236}">
                <a16:creationId xmlns:a16="http://schemas.microsoft.com/office/drawing/2014/main" id="{22F6A004-8284-CE20-6360-C6D9CB5B8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81663" y="2736850"/>
          <a:ext cx="307975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DSMT4">
                  <p:embed/>
                </p:oleObj>
              </mc:Choice>
              <mc:Fallback>
                <p:oleObj name="Equation" r:id="rId6" imgW="0" imgH="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1663" y="2736850"/>
                        <a:ext cx="307975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0" name="Rectangle 75">
            <a:extLst>
              <a:ext uri="{FF2B5EF4-FFF2-40B4-BE49-F238E27FC236}">
                <a16:creationId xmlns:a16="http://schemas.microsoft.com/office/drawing/2014/main" id="{96655260-64B6-35B0-C462-F7916E1C5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0400"/>
            <a:ext cx="190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4613" tIns="47306" rIns="94613" bIns="47306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5021" name="Object 5">
            <a:extLst>
              <a:ext uri="{FF2B5EF4-FFF2-40B4-BE49-F238E27FC236}">
                <a16:creationId xmlns:a16="http://schemas.microsoft.com/office/drawing/2014/main" id="{A664DFE5-1C65-E121-4F6C-546FB7CEC0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30875" y="3238500"/>
          <a:ext cx="3078163" cy="700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DSMT4">
                  <p:embed/>
                </p:oleObj>
              </mc:Choice>
              <mc:Fallback>
                <p:oleObj name="Equation" r:id="rId8" imgW="0" imgH="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0875" y="3238500"/>
                        <a:ext cx="3078163" cy="700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2" name="Object 6">
            <a:extLst>
              <a:ext uri="{FF2B5EF4-FFF2-40B4-BE49-F238E27FC236}">
                <a16:creationId xmlns:a16="http://schemas.microsoft.com/office/drawing/2014/main" id="{D4D47F66-977A-0A93-CC18-9F016040C2C4}"/>
              </a:ext>
            </a:extLst>
          </p:cNvPr>
          <p:cNvGraphicFramePr>
            <a:graphicFrameLocks noGrp="1" noChangeAspect="1"/>
          </p:cNvGraphicFramePr>
          <p:nvPr>
            <p:ph sz="quarter" idx="4"/>
          </p:nvPr>
        </p:nvGraphicFramePr>
        <p:xfrm>
          <a:off x="5873750" y="4621213"/>
          <a:ext cx="26431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0" imgH="0" progId="Equation.DSMT4">
                  <p:embed/>
                </p:oleObj>
              </mc:Choice>
              <mc:Fallback>
                <p:oleObj name="Equation" r:id="rId10" imgW="0" imgH="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3750" y="4621213"/>
                        <a:ext cx="26431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3" name="Segnaposto numero diapositiva 12">
            <a:extLst>
              <a:ext uri="{FF2B5EF4-FFF2-40B4-BE49-F238E27FC236}">
                <a16:creationId xmlns:a16="http://schemas.microsoft.com/office/drawing/2014/main" id="{91517324-34AA-521B-9932-829804E00C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607C224-6073-463B-BD78-AF7E406CE9C8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egnaposto numero diapositiva 3">
            <a:extLst>
              <a:ext uri="{FF2B5EF4-FFF2-40B4-BE49-F238E27FC236}">
                <a16:creationId xmlns:a16="http://schemas.microsoft.com/office/drawing/2014/main" id="{B8E4AA63-8121-65CB-EB9F-BACC67E6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A1C0514-0DDC-4DE7-8F94-181B5CEDB9F5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it-IT" altLang="it-IT" sz="140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EC5E93D4-327A-B2A1-4679-3BA784CCEB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Funzione XOR</a:t>
            </a:r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CC3DCB39-E2D0-3AF0-306D-95DDF90DE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Forme alternative:</a:t>
            </a:r>
          </a:p>
        </p:txBody>
      </p:sp>
      <p:sp>
        <p:nvSpPr>
          <p:cNvPr id="86020" name="Rectangle 5">
            <a:extLst>
              <a:ext uri="{FF2B5EF4-FFF2-40B4-BE49-F238E27FC236}">
                <a16:creationId xmlns:a16="http://schemas.microsoft.com/office/drawing/2014/main" id="{1612B7EF-E657-0602-31D3-8B680B657E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8350"/>
            <a:ext cx="1873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23" tIns="48424" rIns="93123" bIns="48424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6021" name="Object 4">
            <a:extLst>
              <a:ext uri="{FF2B5EF4-FFF2-40B4-BE49-F238E27FC236}">
                <a16:creationId xmlns:a16="http://schemas.microsoft.com/office/drawing/2014/main" id="{E057FBB0-796E-2783-4A0C-4459B8A033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3625" y="2716213"/>
          <a:ext cx="4362450" cy="71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25" y="2716213"/>
                        <a:ext cx="4362450" cy="712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2" name="Rectangle 7">
            <a:extLst>
              <a:ext uri="{FF2B5EF4-FFF2-40B4-BE49-F238E27FC236}">
                <a16:creationId xmlns:a16="http://schemas.microsoft.com/office/drawing/2014/main" id="{5215AC9B-AB05-5DCA-19B8-AB2500D10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7175" y="3187700"/>
            <a:ext cx="187325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23" tIns="48424" rIns="93123" bIns="48424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6023" name="Object 6">
            <a:extLst>
              <a:ext uri="{FF2B5EF4-FFF2-40B4-BE49-F238E27FC236}">
                <a16:creationId xmlns:a16="http://schemas.microsoft.com/office/drawing/2014/main" id="{DA799C15-0D6E-7728-A87B-B929482D98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3425" y="4213225"/>
          <a:ext cx="5062538" cy="1349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25" y="4213225"/>
                        <a:ext cx="5062538" cy="1349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6024" name="Text Box 8">
            <a:extLst>
              <a:ext uri="{FF2B5EF4-FFF2-40B4-BE49-F238E27FC236}">
                <a16:creationId xmlns:a16="http://schemas.microsoft.com/office/drawing/2014/main" id="{9B53B817-6D95-7898-C1C8-03D9340B5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7088" y="2325688"/>
            <a:ext cx="3449637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3" tIns="48424" rIns="93123" bIns="48424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/>
              <a:t>forma a 2 livelli (costo di porte 5 includendo anche la NOT)</a:t>
            </a:r>
          </a:p>
        </p:txBody>
      </p:sp>
      <p:sp>
        <p:nvSpPr>
          <p:cNvPr id="86025" name="Text Box 10">
            <a:extLst>
              <a:ext uri="{FF2B5EF4-FFF2-40B4-BE49-F238E27FC236}">
                <a16:creationId xmlns:a16="http://schemas.microsoft.com/office/drawing/2014/main" id="{7ABE9656-4C5C-2368-171F-F9DDC94A15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4230688"/>
            <a:ext cx="3449638" cy="182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3" tIns="48424" rIns="93123" bIns="48424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/>
              <a:t>forma a 3 livelli (costo di porte 4 riutilizzando un fattore comune)</a:t>
            </a: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egnaposto numero diapositiva 3">
            <a:extLst>
              <a:ext uri="{FF2B5EF4-FFF2-40B4-BE49-F238E27FC236}">
                <a16:creationId xmlns:a16="http://schemas.microsoft.com/office/drawing/2014/main" id="{FD22F230-6676-7185-9120-181CAE01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CDEC87A-0AA2-403B-9D76-5B77D94229F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it-IT" altLang="it-IT" sz="1400"/>
          </a:p>
        </p:txBody>
      </p:sp>
      <p:sp>
        <p:nvSpPr>
          <p:cNvPr id="87042" name="Rectangle 2">
            <a:extLst>
              <a:ext uri="{FF2B5EF4-FFF2-40B4-BE49-F238E27FC236}">
                <a16:creationId xmlns:a16="http://schemas.microsoft.com/office/drawing/2014/main" id="{1B454CB3-83E8-9A87-2848-33362EEA7F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Proprietà della XOR e di Eq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65D7B0C1-A985-916F-C201-2774142BB9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A differenza di NAND e NOR, la XOR e la Eq non costituiscono un insieme funzionalmente completo</a:t>
            </a:r>
          </a:p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Permettono però di ottenere una NOT</a:t>
            </a:r>
          </a:p>
        </p:txBody>
      </p:sp>
      <p:sp>
        <p:nvSpPr>
          <p:cNvPr id="87044" name="Rectangle 5">
            <a:extLst>
              <a:ext uri="{FF2B5EF4-FFF2-40B4-BE49-F238E27FC236}">
                <a16:creationId xmlns:a16="http://schemas.microsoft.com/office/drawing/2014/main" id="{6FCFB905-BB21-69C2-E30E-09CE6F58F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201988"/>
            <a:ext cx="187325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123" tIns="48424" rIns="93123" bIns="48424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87045" name="Object 4">
            <a:extLst>
              <a:ext uri="{FF2B5EF4-FFF2-40B4-BE49-F238E27FC236}">
                <a16:creationId xmlns:a16="http://schemas.microsoft.com/office/drawing/2014/main" id="{ECFD0DF6-F243-344E-5848-9DB195FA71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6750" y="4191000"/>
          <a:ext cx="3684588" cy="144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750" y="4191000"/>
                        <a:ext cx="3684588" cy="1446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2">
            <a:extLst>
              <a:ext uri="{FF2B5EF4-FFF2-40B4-BE49-F238E27FC236}">
                <a16:creationId xmlns:a16="http://schemas.microsoft.com/office/drawing/2014/main" id="{7EDC0F14-F277-4249-F42D-A129442E00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88066" name="Rectangle 3">
            <a:extLst>
              <a:ext uri="{FF2B5EF4-FFF2-40B4-BE49-F238E27FC236}">
                <a16:creationId xmlns:a16="http://schemas.microsoft.com/office/drawing/2014/main" id="{B34680C9-3EF8-5C6D-9A36-CDF59373A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4000">
                <a:ea typeface="ＭＳ Ｐゴシック" panose="020B0600070205080204" pitchFamily="34" charset="-128"/>
              </a:rPr>
              <a:t>COMPARATORI</a:t>
            </a:r>
          </a:p>
        </p:txBody>
      </p:sp>
      <p:sp>
        <p:nvSpPr>
          <p:cNvPr id="88067" name="Segnaposto numero diapositiva 3">
            <a:extLst>
              <a:ext uri="{FF2B5EF4-FFF2-40B4-BE49-F238E27FC236}">
                <a16:creationId xmlns:a16="http://schemas.microsoft.com/office/drawing/2014/main" id="{7F752E32-4AEC-A989-58E3-E69DB2162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B900F02-8F90-47E5-BB5D-807A1569995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it-IT" altLang="it-IT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375D44D2-6830-BF69-18CB-05488FFC1F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484188"/>
            <a:ext cx="8193088" cy="207962"/>
          </a:xfrm>
          <a:noFill/>
        </p:spPr>
        <p:txBody>
          <a:bodyPr/>
          <a:lstStyle/>
          <a:p>
            <a:pPr eaLnBrk="1" hangingPunct="1"/>
            <a:r>
              <a:rPr lang="it-IT" altLang="it-IT" sz="3800">
                <a:ea typeface="ＭＳ Ｐゴシック" panose="020B0600070205080204" pitchFamily="34" charset="-128"/>
              </a:rPr>
              <a:t>Comparatore</a:t>
            </a:r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DB23D594-23B1-57CD-673D-94A898A00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219200"/>
            <a:ext cx="93726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>
                <a:ea typeface="ＭＳ Ｐゴシック" panose="020B0600070205080204" pitchFamily="34" charset="-128"/>
              </a:rPr>
              <a:t>Spesso accade che occorra confrontare due dati A e B in quanto l'unità di controllo dell'architettura deve proseguire con algoritmi differenti a seconda che i due dati siano eguali o diversi. </a:t>
            </a:r>
          </a:p>
          <a:p>
            <a:pPr eaLnBrk="1" hangingPunct="1">
              <a:lnSpc>
                <a:spcPct val="90000"/>
              </a:lnSpc>
            </a:pP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i="1">
                <a:ea typeface="ＭＳ Ｐゴシック" panose="020B0600070205080204" pitchFamily="34" charset="-128"/>
              </a:rPr>
              <a:t>Il comparatore è una macchina che ha in ingresso due dati (A, B) ed in uscita un segnale booleano </a:t>
            </a:r>
            <a:r>
              <a:rPr lang="it-IT" altLang="it-IT" b="1" i="1">
                <a:ea typeface="ＭＳ Ｐゴシック" panose="020B0600070205080204" pitchFamily="34" charset="-128"/>
              </a:rPr>
              <a:t>eq </a:t>
            </a:r>
            <a:r>
              <a:rPr lang="it-IT" altLang="it-IT" i="1">
                <a:ea typeface="ＭＳ Ｐゴシック" panose="020B0600070205080204" pitchFamily="34" charset="-128"/>
              </a:rPr>
              <a:t>che è 1 se è A=B.</a:t>
            </a:r>
            <a:endParaRPr lang="it-IT" altLang="it-IT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>
              <a:ea typeface="ＭＳ Ｐゴシック" panose="020B0600070205080204" pitchFamily="34" charset="-128"/>
            </a:endParaRPr>
          </a:p>
        </p:txBody>
      </p:sp>
      <p:grpSp>
        <p:nvGrpSpPr>
          <p:cNvPr id="89091" name="Group 4">
            <a:extLst>
              <a:ext uri="{FF2B5EF4-FFF2-40B4-BE49-F238E27FC236}">
                <a16:creationId xmlns:a16="http://schemas.microsoft.com/office/drawing/2014/main" id="{17F2417C-8318-C225-9327-4F7F13B68F44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4581525"/>
            <a:ext cx="4421188" cy="1624013"/>
            <a:chOff x="1664" y="2337"/>
            <a:chExt cx="2785" cy="1023"/>
          </a:xfrm>
        </p:grpSpPr>
        <p:sp>
          <p:nvSpPr>
            <p:cNvPr id="89093" name="Text Box 5">
              <a:extLst>
                <a:ext uri="{FF2B5EF4-FFF2-40B4-BE49-F238E27FC236}">
                  <a16:creationId xmlns:a16="http://schemas.microsoft.com/office/drawing/2014/main" id="{122CE140-1AAF-39DC-ED36-D7DAB1B44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4" y="2337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A</a:t>
              </a:r>
              <a:endParaRPr lang="it-IT" altLang="it-IT" sz="2400" b="0" baseline="-25000"/>
            </a:p>
          </p:txBody>
        </p:sp>
        <p:sp>
          <p:nvSpPr>
            <p:cNvPr id="89094" name="Text Box 6">
              <a:extLst>
                <a:ext uri="{FF2B5EF4-FFF2-40B4-BE49-F238E27FC236}">
                  <a16:creationId xmlns:a16="http://schemas.microsoft.com/office/drawing/2014/main" id="{BBF4F71D-5CE3-D782-D56B-A5916D0475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4" y="2865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B</a:t>
              </a:r>
              <a:endParaRPr lang="it-IT" altLang="it-IT" sz="2400" b="0" baseline="-25000"/>
            </a:p>
          </p:txBody>
        </p:sp>
        <p:sp>
          <p:nvSpPr>
            <p:cNvPr id="89095" name="Text Box 7">
              <a:extLst>
                <a:ext uri="{FF2B5EF4-FFF2-40B4-BE49-F238E27FC236}">
                  <a16:creationId xmlns:a16="http://schemas.microsoft.com/office/drawing/2014/main" id="{A8E5B10B-63C8-5FBC-7A06-BC88BAE03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2" y="2577"/>
              <a:ext cx="29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eq</a:t>
              </a:r>
              <a:endParaRPr lang="it-IT" altLang="it-IT" sz="2400" b="0" baseline="-25000"/>
            </a:p>
          </p:txBody>
        </p:sp>
        <p:sp>
          <p:nvSpPr>
            <p:cNvPr id="89096" name="Rectangle 8">
              <a:extLst>
                <a:ext uri="{FF2B5EF4-FFF2-40B4-BE49-F238E27FC236}">
                  <a16:creationId xmlns:a16="http://schemas.microsoft.com/office/drawing/2014/main" id="{E3E94841-78D0-611A-AB4D-5030FE575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2385"/>
              <a:ext cx="1272" cy="975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9097" name="AutoShape 9">
              <a:extLst>
                <a:ext uri="{FF2B5EF4-FFF2-40B4-BE49-F238E27FC236}">
                  <a16:creationId xmlns:a16="http://schemas.microsoft.com/office/drawing/2014/main" id="{B25033D3-6093-3DC2-7D17-BE1F7D248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2529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9098" name="Text Box 10">
              <a:extLst>
                <a:ext uri="{FF2B5EF4-FFF2-40B4-BE49-F238E27FC236}">
                  <a16:creationId xmlns:a16="http://schemas.microsoft.com/office/drawing/2014/main" id="{1757A89A-F5E2-D889-D232-D1B8EBE6BA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" y="2721"/>
              <a:ext cx="11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400" b="0"/>
                <a:t>Comparatore</a:t>
              </a:r>
            </a:p>
          </p:txBody>
        </p:sp>
        <p:sp>
          <p:nvSpPr>
            <p:cNvPr id="89099" name="AutoShape 11">
              <a:extLst>
                <a:ext uri="{FF2B5EF4-FFF2-40B4-BE49-F238E27FC236}">
                  <a16:creationId xmlns:a16="http://schemas.microsoft.com/office/drawing/2014/main" id="{CB564098-0ACC-C8DD-B61D-C8ED958A32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64" y="3057"/>
              <a:ext cx="938" cy="144"/>
            </a:xfrm>
            <a:prstGeom prst="rightArrow">
              <a:avLst>
                <a:gd name="adj1" fmla="val 50000"/>
                <a:gd name="adj2" fmla="val 162847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89100" name="Line 12">
              <a:extLst>
                <a:ext uri="{FF2B5EF4-FFF2-40B4-BE49-F238E27FC236}">
                  <a16:creationId xmlns:a16="http://schemas.microsoft.com/office/drawing/2014/main" id="{AE430F40-73CA-B17A-3756-978DB1F0D9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865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9092" name="Segnaposto numero diapositiva 12">
            <a:extLst>
              <a:ext uri="{FF2B5EF4-FFF2-40B4-BE49-F238E27FC236}">
                <a16:creationId xmlns:a16="http://schemas.microsoft.com/office/drawing/2014/main" id="{E5FDFFE3-1BE9-E99A-D8BB-EC0D18C7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DC5A891-D401-47B2-B676-D0D7FD6A167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it-IT" altLang="it-IT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egnaposto numero diapositiva 4">
            <a:extLst>
              <a:ext uri="{FF2B5EF4-FFF2-40B4-BE49-F238E27FC236}">
                <a16:creationId xmlns:a16="http://schemas.microsoft.com/office/drawing/2014/main" id="{616409CF-40A9-3C1E-66BB-1F1856CBE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359F6B7-CAD0-4C63-8152-B056EAB0AD15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it-IT" altLang="it-IT" sz="1400"/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BD279532-5FC8-DBF4-69A1-9055B8D6A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250" y="214313"/>
            <a:ext cx="8674100" cy="444500"/>
          </a:xfrm>
        </p:spPr>
        <p:txBody>
          <a:bodyPr/>
          <a:lstStyle/>
          <a:p>
            <a:r>
              <a:rPr lang="en-US" altLang="it-IT">
                <a:ea typeface="ＭＳ Ｐゴシック" panose="020B0600070205080204" pitchFamily="34" charset="-128"/>
              </a:rPr>
              <a:t>Comparatori </a:t>
            </a:r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980A11CE-BC31-5460-F818-8608C97D48E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4988" y="1285875"/>
            <a:ext cx="8704262" cy="822325"/>
          </a:xfrm>
        </p:spPr>
        <p:txBody>
          <a:bodyPr/>
          <a:lstStyle/>
          <a:p>
            <a:pPr>
              <a:buFontTx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Eguaglianza bit a bit in parallelo</a:t>
            </a:r>
          </a:p>
          <a:p>
            <a:r>
              <a:rPr lang="it-IT" altLang="it-IT" sz="2000">
                <a:ea typeface="ＭＳ Ｐゴシック" panose="020B0600070205080204" pitchFamily="34" charset="-128"/>
              </a:rPr>
              <a:t>Confronto tra due stringhe di bit (parole-codice o numeri)</a:t>
            </a:r>
          </a:p>
        </p:txBody>
      </p:sp>
      <p:pic>
        <p:nvPicPr>
          <p:cNvPr id="90116" name="Picture 5">
            <a:extLst>
              <a:ext uri="{FF2B5EF4-FFF2-40B4-BE49-F238E27FC236}">
                <a16:creationId xmlns:a16="http://schemas.microsoft.com/office/drawing/2014/main" id="{B1407FDF-0876-8E45-4045-3973DCC88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2571750"/>
            <a:ext cx="1758950" cy="1903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6299" name="Rectangle 11">
            <a:extLst>
              <a:ext uri="{FF2B5EF4-FFF2-40B4-BE49-F238E27FC236}">
                <a16:creationId xmlns:a16="http://schemas.microsoft.com/office/drawing/2014/main" id="{AC859B2E-14F0-4276-8ACC-E16B01A47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5033963"/>
            <a:ext cx="8299450" cy="966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Font typeface="Wingdings" charset="0"/>
              <a:buNone/>
              <a:defRPr/>
            </a:pP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Soluzione parallela:</a:t>
            </a:r>
            <a:r>
              <a:rPr lang="it-IT" b="0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</a:p>
          <a:p>
            <a:pPr eaLnBrk="1" hangingPunct="1">
              <a:spcBef>
                <a:spcPct val="20000"/>
              </a:spcBef>
              <a:buFont typeface="Arial" charset="0"/>
              <a:buChar char="•"/>
              <a:defRPr/>
            </a:pPr>
            <a:r>
              <a:rPr lang="it-IT" sz="2400" b="0">
                <a:latin typeface="Times New Roman" charset="0"/>
                <a:ea typeface="ＭＳ Ｐゴシック" charset="0"/>
                <a:cs typeface="ＭＳ Ｐゴシック" charset="0"/>
              </a:rPr>
              <a:t> per n bit, n porte EQ ed una AND ad n ingressi</a:t>
            </a:r>
          </a:p>
        </p:txBody>
      </p:sp>
      <p:pic>
        <p:nvPicPr>
          <p:cNvPr id="90118" name="Picture 13">
            <a:extLst>
              <a:ext uri="{FF2B5EF4-FFF2-40B4-BE49-F238E27FC236}">
                <a16:creationId xmlns:a16="http://schemas.microsoft.com/office/drawing/2014/main" id="{2AAD6965-AF99-45C9-DB09-37DF8B9B7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038" y="3429000"/>
            <a:ext cx="2279650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6303" name="Oval 15">
            <a:extLst>
              <a:ext uri="{FF2B5EF4-FFF2-40B4-BE49-F238E27FC236}">
                <a16:creationId xmlns:a16="http://schemas.microsoft.com/office/drawing/2014/main" id="{FB327F46-6F2D-F3D4-6465-161F85C44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6763" y="4076700"/>
            <a:ext cx="293687" cy="250825"/>
          </a:xfrm>
          <a:prstGeom prst="ellipse">
            <a:avLst/>
          </a:prstGeom>
          <a:noFill/>
          <a:ln w="9525">
            <a:solidFill>
              <a:schemeClr val="tx2"/>
            </a:solidFill>
            <a:round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endParaRPr lang="it-IT">
              <a:latin typeface="Times New Roman" charset="0"/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  <p:transition advTm="51000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2">
            <a:extLst>
              <a:ext uri="{FF2B5EF4-FFF2-40B4-BE49-F238E27FC236}">
                <a16:creationId xmlns:a16="http://schemas.microsoft.com/office/drawing/2014/main" id="{FC5C51F3-8A5A-1FA3-2175-3CF89E4AA8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963" y="260350"/>
            <a:ext cx="9777412" cy="533400"/>
          </a:xfrm>
          <a:noFill/>
        </p:spPr>
        <p:txBody>
          <a:bodyPr/>
          <a:lstStyle/>
          <a:p>
            <a:pPr eaLnBrk="1" hangingPunct="1"/>
            <a:r>
              <a:rPr lang="it-IT" altLang="it-IT" sz="3300">
                <a:ea typeface="ＭＳ Ｐゴシック" panose="020B0600070205080204" pitchFamily="34" charset="-128"/>
              </a:rPr>
              <a:t>COMPARATORI BIT-SERIALE (per un singolo bit)</a:t>
            </a:r>
          </a:p>
        </p:txBody>
      </p:sp>
      <p:sp>
        <p:nvSpPr>
          <p:cNvPr id="92162" name="Rectangle 3">
            <a:extLst>
              <a:ext uri="{FF2B5EF4-FFF2-40B4-BE49-F238E27FC236}">
                <a16:creationId xmlns:a16="http://schemas.microsoft.com/office/drawing/2014/main" id="{AB0C4E07-C79B-E39C-9C0C-EB6D6FB1C4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219200"/>
            <a:ext cx="9753600" cy="160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Per A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= B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la tabella della verità è: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 i="1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endParaRPr lang="it-IT" altLang="it-IT" sz="2400" i="1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Con il pedice n si vuole distinguere l'n-esimo bit in una parola o numero presentato con più bit in serie nel tempo. Da cui:  </a:t>
            </a:r>
          </a:p>
          <a:p>
            <a:pPr eaLnBrk="1" hangingPunct="1">
              <a:lnSpc>
                <a:spcPct val="90000"/>
              </a:lnSpc>
            </a:pPr>
            <a:endParaRPr lang="it-IT" altLang="it-IT" sz="240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 sz="2400">
              <a:solidFill>
                <a:srgbClr val="000000"/>
              </a:solidFill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Cioè E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 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è alto quando A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e B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 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sono uguali.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  A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è minore di B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se                             , 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 A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è maggiore di B</a:t>
            </a:r>
            <a:r>
              <a:rPr lang="it-IT" altLang="it-IT" sz="2400" baseline="-30000">
                <a:solidFill>
                  <a:srgbClr val="000000"/>
                </a:solidFill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 se                          .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it-IT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92163" name="Picture 4" descr="rb_ta1a">
            <a:extLst>
              <a:ext uri="{FF2B5EF4-FFF2-40B4-BE49-F238E27FC236}">
                <a16:creationId xmlns:a16="http://schemas.microsoft.com/office/drawing/2014/main" id="{F196CB33-6809-26A1-C9C3-44E1EC193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6525" y="1412875"/>
            <a:ext cx="1401763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4" name="Picture 5" descr="rb_ta1b">
            <a:extLst>
              <a:ext uri="{FF2B5EF4-FFF2-40B4-BE49-F238E27FC236}">
                <a16:creationId xmlns:a16="http://schemas.microsoft.com/office/drawing/2014/main" id="{73D22E82-170B-8C46-F24D-B256C25F8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688" y="4624388"/>
            <a:ext cx="420687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6" descr="rb_ta1c">
            <a:extLst>
              <a:ext uri="{FF2B5EF4-FFF2-40B4-BE49-F238E27FC236}">
                <a16:creationId xmlns:a16="http://schemas.microsoft.com/office/drawing/2014/main" id="{073F92AE-411D-DE75-E6C2-CE222EE646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969000"/>
            <a:ext cx="17526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6" name="Picture 7" descr="rb_ta1d">
            <a:extLst>
              <a:ext uri="{FF2B5EF4-FFF2-40B4-BE49-F238E27FC236}">
                <a16:creationId xmlns:a16="http://schemas.microsoft.com/office/drawing/2014/main" id="{213F61AF-251B-F64F-284A-32656C9D9F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5646738"/>
            <a:ext cx="1752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7" name="Segnaposto numero diapositiva 7">
            <a:extLst>
              <a:ext uri="{FF2B5EF4-FFF2-40B4-BE49-F238E27FC236}">
                <a16:creationId xmlns:a16="http://schemas.microsoft.com/office/drawing/2014/main" id="{110A078E-F6D6-4DEE-6B2B-D0196A315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2A777AA-E974-49C3-8CE5-8F1E338E1A27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it-IT" altLang="it-IT" sz="1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2F5440D0-F54C-EDD4-3210-F005373AC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228600"/>
            <a:ext cx="9848850" cy="533400"/>
          </a:xfrm>
          <a:noFill/>
        </p:spPr>
        <p:txBody>
          <a:bodyPr/>
          <a:lstStyle/>
          <a:p>
            <a:pPr eaLnBrk="1" hangingPunct="1"/>
            <a:r>
              <a:rPr lang="it-IT" altLang="it-IT" sz="3300">
                <a:ea typeface="ＭＳ Ｐゴシック" panose="020B0600070205080204" pitchFamily="34" charset="-128"/>
              </a:rPr>
              <a:t>COMPARATORI BIT-SERIALE (per un singolo bit)</a:t>
            </a:r>
          </a:p>
        </p:txBody>
      </p:sp>
      <p:sp>
        <p:nvSpPr>
          <p:cNvPr id="93186" name="Rectangle 3">
            <a:extLst>
              <a:ext uri="{FF2B5EF4-FFF2-40B4-BE49-F238E27FC236}">
                <a16:creationId xmlns:a16="http://schemas.microsoft.com/office/drawing/2014/main" id="{7F872ADC-1D17-3922-A51F-8A4DA512CC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9372600" cy="1600200"/>
          </a:xfrm>
        </p:spPr>
        <p:txBody>
          <a:bodyPr/>
          <a:lstStyle/>
          <a:p>
            <a:pPr eaLnBrk="1" hangingPunct="1"/>
            <a:r>
              <a:rPr lang="it-IT" altLang="it-IT" sz="2400">
                <a:solidFill>
                  <a:srgbClr val="000000"/>
                </a:solidFill>
                <a:ea typeface="ＭＳ Ｐゴシック" panose="020B0600070205080204" pitchFamily="34" charset="-128"/>
              </a:rPr>
              <a:t>Il circuito comparatore per il singolo bit-serie nel suo insieme ha tre uscite ed è schematizzato come in figura (NON OTTIMIZZATO):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93187" name="Picture 4" descr="rb_a01">
            <a:extLst>
              <a:ext uri="{FF2B5EF4-FFF2-40B4-BE49-F238E27FC236}">
                <a16:creationId xmlns:a16="http://schemas.microsoft.com/office/drawing/2014/main" id="{5EFCBDF1-C422-5478-23B1-131838097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50" y="2205038"/>
            <a:ext cx="7429500" cy="410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188" name="Segnaposto numero diapositiva 4">
            <a:extLst>
              <a:ext uri="{FF2B5EF4-FFF2-40B4-BE49-F238E27FC236}">
                <a16:creationId xmlns:a16="http://schemas.microsoft.com/office/drawing/2014/main" id="{A0DED89A-6F31-94D5-05DD-96DD68805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991491B-2A37-4DF8-8314-7487D3EDD2B0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it-IT" altLang="it-IT" sz="14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egnaposto numero diapositiva 3">
            <a:extLst>
              <a:ext uri="{FF2B5EF4-FFF2-40B4-BE49-F238E27FC236}">
                <a16:creationId xmlns:a16="http://schemas.microsoft.com/office/drawing/2014/main" id="{0BCECC5C-7727-5DBC-F02B-4432EE502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BA30699-7BEC-494B-B54A-484AD6E5D64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it-IT" altLang="it-IT" sz="1400"/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EA3F3EA8-3D3D-8950-8EE8-E24F972992F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125" y="387350"/>
            <a:ext cx="8674100" cy="444500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87637AF9-46B2-1958-841A-C015F7443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98600" y="1263650"/>
            <a:ext cx="7340600" cy="26860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GB" altLang="it-IT" sz="2400" b="1">
                <a:ea typeface="ＭＳ Ｐゴシック" panose="020B0600070205080204" pitchFamily="34" charset="-128"/>
              </a:rPr>
              <a:t>begin </a:t>
            </a:r>
            <a:endParaRPr lang="en-GB" altLang="it-IT" sz="2400" i="1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it-IT" sz="2400" i="1">
                <a:ea typeface="ＭＳ Ｐゴシック" panose="020B0600070205080204" pitchFamily="34" charset="-128"/>
              </a:rPr>
              <a:t>	egout </a:t>
            </a:r>
            <a:r>
              <a:rPr lang="en-GB" altLang="it-IT" sz="2400">
                <a:ea typeface="ＭＳ Ｐゴシック" panose="020B0600070205080204" pitchFamily="34" charset="-128"/>
              </a:rPr>
              <a:t>: =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=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AND </a:t>
            </a:r>
            <a:r>
              <a:rPr lang="en-GB" altLang="it-IT" sz="2400" i="1">
                <a:ea typeface="ＭＳ Ｐゴシック" panose="020B0600070205080204" pitchFamily="34" charset="-128"/>
              </a:rPr>
              <a:t>egin </a:t>
            </a:r>
            <a:r>
              <a:rPr lang="en-GB" altLang="it-IT" sz="2400">
                <a:ea typeface="ＭＳ Ｐゴシック" panose="020B0600070205080204" pitchFamily="34" charset="-128"/>
              </a:rPr>
              <a:t>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GB" altLang="it-IT" sz="2400" i="1">
                <a:ea typeface="ＭＳ Ｐゴシック" panose="020B0600070205080204" pitchFamily="34" charset="-128"/>
              </a:rPr>
              <a:t>	magout </a:t>
            </a:r>
            <a:r>
              <a:rPr lang="en-GB" altLang="it-IT" sz="2400">
                <a:ea typeface="ＭＳ Ｐゴシック" panose="020B0600070205080204" pitchFamily="34" charset="-128"/>
              </a:rPr>
              <a:t>: =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&gt;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OR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=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AND </a:t>
            </a:r>
            <a:r>
              <a:rPr lang="en-GB" altLang="it-IT" sz="2400" i="1">
                <a:ea typeface="ＭＳ Ｐゴシック" panose="020B0600070205080204" pitchFamily="34" charset="-128"/>
              </a:rPr>
              <a:t>magin </a:t>
            </a:r>
            <a:r>
              <a:rPr lang="en-GB" altLang="it-IT" sz="2400">
                <a:ea typeface="ＭＳ Ｐゴシック" panose="020B0600070205080204" pitchFamily="34" charset="-128"/>
              </a:rPr>
              <a:t>; </a:t>
            </a:r>
            <a:endParaRPr lang="en-GB" altLang="it-IT" sz="2400" i="1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GB" altLang="it-IT" sz="2400" i="1">
                <a:ea typeface="ＭＳ Ｐゴシック" panose="020B0600070205080204" pitchFamily="34" charset="-128"/>
              </a:rPr>
              <a:t>	minout </a:t>
            </a:r>
            <a:r>
              <a:rPr lang="en-GB" altLang="it-IT" sz="2400">
                <a:ea typeface="ＭＳ Ｐゴシック" panose="020B0600070205080204" pitchFamily="34" charset="-128"/>
              </a:rPr>
              <a:t>: =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&lt;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OR </a:t>
            </a:r>
            <a:r>
              <a:rPr lang="en-GB" altLang="it-IT" sz="2400" i="1">
                <a:ea typeface="ＭＳ Ｐゴシック" panose="020B0600070205080204" pitchFamily="34" charset="-128"/>
              </a:rPr>
              <a:t>(X </a:t>
            </a:r>
            <a:r>
              <a:rPr lang="en-GB" altLang="it-IT" sz="2400">
                <a:ea typeface="ＭＳ Ｐゴシック" panose="020B0600070205080204" pitchFamily="34" charset="-128"/>
              </a:rPr>
              <a:t>= </a:t>
            </a:r>
            <a:r>
              <a:rPr lang="en-GB" altLang="it-IT" sz="2400" i="1">
                <a:ea typeface="ＭＳ Ｐゴシック" panose="020B0600070205080204" pitchFamily="34" charset="-128"/>
              </a:rPr>
              <a:t>Y) </a:t>
            </a:r>
            <a:r>
              <a:rPr lang="en-GB" altLang="it-IT" sz="2400">
                <a:ea typeface="ＭＳ Ｐゴシック" panose="020B0600070205080204" pitchFamily="34" charset="-128"/>
              </a:rPr>
              <a:t>AND </a:t>
            </a:r>
            <a:r>
              <a:rPr lang="en-GB" altLang="it-IT" sz="2400" i="1">
                <a:ea typeface="ＭＳ Ｐゴシック" panose="020B0600070205080204" pitchFamily="34" charset="-128"/>
              </a:rPr>
              <a:t>minin </a:t>
            </a:r>
            <a:endParaRPr lang="it-IT" altLang="it-IT" sz="2400" b="1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it-IT" altLang="it-IT" sz="2400" b="1">
                <a:ea typeface="ＭＳ Ｐゴシック" panose="020B0600070205080204" pitchFamily="34" charset="-128"/>
              </a:rPr>
              <a:t>end</a:t>
            </a:r>
            <a:r>
              <a:rPr lang="it-IT" altLang="it-IT" sz="2400">
                <a:ea typeface="ＭＳ Ｐゴシック" panose="020B0600070205080204" pitchFamily="34" charset="-128"/>
              </a:rPr>
              <a:t>; </a:t>
            </a:r>
          </a:p>
        </p:txBody>
      </p:sp>
      <p:pic>
        <p:nvPicPr>
          <p:cNvPr id="94212" name="Picture 7">
            <a:extLst>
              <a:ext uri="{FF2B5EF4-FFF2-40B4-BE49-F238E27FC236}">
                <a16:creationId xmlns:a16="http://schemas.microsoft.com/office/drawing/2014/main" id="{92D7DFF8-9B7B-6E8E-D40B-49CF03618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25" t="43771" r="27226" b="22855"/>
          <a:stretch>
            <a:fillRect/>
          </a:stretch>
        </p:blipFill>
        <p:spPr bwMode="auto">
          <a:xfrm>
            <a:off x="1631950" y="3529013"/>
            <a:ext cx="5607050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egnaposto numero diapositiva 3">
            <a:extLst>
              <a:ext uri="{FF2B5EF4-FFF2-40B4-BE49-F238E27FC236}">
                <a16:creationId xmlns:a16="http://schemas.microsoft.com/office/drawing/2014/main" id="{EE8E2C9E-CE5A-9C13-B878-C3BC347FC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C7819CC-4AA3-4BAE-AB1E-2D20633FAF2D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it-IT" altLang="it-IT" sz="1400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645E4F53-74B0-1310-BCA5-399E843FA4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E8689270-09FB-3908-5AC6-7D1825022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11842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Deriviamo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espressione di </a:t>
            </a:r>
            <a:r>
              <a:rPr lang="it-IT" altLang="ja-JP" i="1">
                <a:ea typeface="ＭＳ Ｐゴシック" panose="020B0600070205080204" pitchFamily="34" charset="-128"/>
              </a:rPr>
              <a:t>egout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partiamo dall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eguaglianza X=Y: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95236" name="Rectangle 5">
            <a:extLst>
              <a:ext uri="{FF2B5EF4-FFF2-40B4-BE49-F238E27FC236}">
                <a16:creationId xmlns:a16="http://schemas.microsoft.com/office/drawing/2014/main" id="{3C182588-3215-8844-0007-13C5BC60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95237" name="Object 2">
            <a:extLst>
              <a:ext uri="{FF2B5EF4-FFF2-40B4-BE49-F238E27FC236}">
                <a16:creationId xmlns:a16="http://schemas.microsoft.com/office/drawing/2014/main" id="{3E11B4AD-5E55-57DF-DBA6-A573C963E5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3013" y="2262188"/>
          <a:ext cx="332105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2262188"/>
                        <a:ext cx="332105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38" name="Rectangle 7">
            <a:extLst>
              <a:ext uri="{FF2B5EF4-FFF2-40B4-BE49-F238E27FC236}">
                <a16:creationId xmlns:a16="http://schemas.microsoft.com/office/drawing/2014/main" id="{A62132DD-105C-1E63-8FE9-1CDBFED15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3588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95239" name="Object 3">
            <a:extLst>
              <a:ext uri="{FF2B5EF4-FFF2-40B4-BE49-F238E27FC236}">
                <a16:creationId xmlns:a16="http://schemas.microsoft.com/office/drawing/2014/main" id="{B72A2613-88DC-9021-A9DE-AB0FD14CF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83113" y="2206625"/>
          <a:ext cx="4167187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83113" y="2206625"/>
                        <a:ext cx="4167187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0" name="Object 4">
            <a:extLst>
              <a:ext uri="{FF2B5EF4-FFF2-40B4-BE49-F238E27FC236}">
                <a16:creationId xmlns:a16="http://schemas.microsoft.com/office/drawing/2014/main" id="{ABB32541-6ADA-7C40-B21C-2755CDB4AB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1775" y="4513263"/>
          <a:ext cx="4292600" cy="1522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5" y="4513263"/>
                        <a:ext cx="4292600" cy="1522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1" name="Object 5">
            <a:extLst>
              <a:ext uri="{FF2B5EF4-FFF2-40B4-BE49-F238E27FC236}">
                <a16:creationId xmlns:a16="http://schemas.microsoft.com/office/drawing/2014/main" id="{4625E173-22AA-1147-4E3E-7791A72355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063" y="4752975"/>
          <a:ext cx="426561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4752975"/>
                        <a:ext cx="4265612" cy="103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42" name="Rectangle 10">
            <a:extLst>
              <a:ext uri="{FF2B5EF4-FFF2-40B4-BE49-F238E27FC236}">
                <a16:creationId xmlns:a16="http://schemas.microsoft.com/office/drawing/2014/main" id="{F19CB000-7E27-9F2A-9426-5C9894E6C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41638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5243" name="Rectangle 11">
            <a:extLst>
              <a:ext uri="{FF2B5EF4-FFF2-40B4-BE49-F238E27FC236}">
                <a16:creationId xmlns:a16="http://schemas.microsoft.com/office/drawing/2014/main" id="{FDFE017C-BECD-4837-5FB1-33BF7124F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544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 b="0"/>
          </a:p>
        </p:txBody>
      </p:sp>
      <p:sp>
        <p:nvSpPr>
          <p:cNvPr id="95244" name="Text Box 12">
            <a:extLst>
              <a:ext uri="{FF2B5EF4-FFF2-40B4-BE49-F238E27FC236}">
                <a16:creationId xmlns:a16="http://schemas.microsoft.com/office/drawing/2014/main" id="{9D9DCDD8-7C7E-45A1-6D8E-951E3712FE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7513" y="3308350"/>
            <a:ext cx="58102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 b="0"/>
              <a:t>ricordiamo che la XOR è il complemento della EQ</a:t>
            </a:r>
          </a:p>
        </p:txBody>
      </p:sp>
      <p:sp>
        <p:nvSpPr>
          <p:cNvPr id="95245" name="Line 13">
            <a:extLst>
              <a:ext uri="{FF2B5EF4-FFF2-40B4-BE49-F238E27FC236}">
                <a16:creationId xmlns:a16="http://schemas.microsoft.com/office/drawing/2014/main" id="{09ADFCD9-5268-0C2A-49CB-8FEE60894B7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935413" y="3048000"/>
            <a:ext cx="204787" cy="3381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6" name="Line 14">
            <a:extLst>
              <a:ext uri="{FF2B5EF4-FFF2-40B4-BE49-F238E27FC236}">
                <a16:creationId xmlns:a16="http://schemas.microsoft.com/office/drawing/2014/main" id="{B9908967-DA9D-4146-4F69-94B4789D48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5613" y="3071813"/>
            <a:ext cx="188912" cy="276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5247" name="Rectangle 15">
            <a:extLst>
              <a:ext uri="{FF2B5EF4-FFF2-40B4-BE49-F238E27FC236}">
                <a16:creationId xmlns:a16="http://schemas.microsoft.com/office/drawing/2014/main" id="{5B304AF0-4F2B-CD59-5A12-2E0D2A2A5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3816350"/>
            <a:ext cx="8915400" cy="118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lvl="1">
              <a:buFont typeface="Wingdings" panose="05000000000000000000" pitchFamily="2" charset="2"/>
              <a:buChar char="»"/>
            </a:pPr>
            <a:r>
              <a:rPr lang="it-IT" altLang="it-IT" b="0"/>
              <a:t> applicando De Morgan si ricavano due possibili espressioni:</a:t>
            </a:r>
          </a:p>
        </p:txBody>
      </p:sp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egnaposto numero diapositiva 4">
            <a:extLst>
              <a:ext uri="{FF2B5EF4-FFF2-40B4-BE49-F238E27FC236}">
                <a16:creationId xmlns:a16="http://schemas.microsoft.com/office/drawing/2014/main" id="{1E81B13F-98BE-2198-A0BA-8E616B4E7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250" y="6329363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53C6BB1-02E9-422F-B0A2-662AAEDC0A03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it-IT" altLang="it-IT" sz="1400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41E0E63C-AB72-2CAF-7A13-C9C47288FB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FC2BE991-518B-4865-6E36-9938DC59006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936038" cy="2836863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La realizzazione in logica a due livelli </a:t>
            </a:r>
            <a:r>
              <a:rPr lang="it-IT" altLang="it-IT" sz="2400" i="1">
                <a:ea typeface="ＭＳ Ｐゴシック" panose="020B0600070205080204" pitchFamily="34" charset="-128"/>
              </a:rPr>
              <a:t>and-or (nand) </a:t>
            </a:r>
            <a:r>
              <a:rPr lang="it-IT" altLang="it-IT" sz="2400">
                <a:ea typeface="ＭＳ Ｐゴシック" panose="020B0600070205080204" pitchFamily="34" charset="-128"/>
              </a:rPr>
              <a:t>non è conveniente 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La funzione (</a:t>
            </a:r>
            <a:r>
              <a:rPr lang="it-IT" altLang="it-IT" sz="2400" i="1">
                <a:ea typeface="ＭＳ Ｐゴシック" panose="020B0600070205080204" pitchFamily="34" charset="-128"/>
              </a:rPr>
              <a:t>X=Y</a:t>
            </a:r>
            <a:r>
              <a:rPr lang="it-IT" altLang="it-IT" sz="2400">
                <a:ea typeface="ＭＳ Ｐゴシック" panose="020B0600070205080204" pitchFamily="34" charset="-128"/>
              </a:rPr>
              <a:t>) non presenta mintermini adiacenti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Es.:</a:t>
            </a:r>
          </a:p>
        </p:txBody>
      </p:sp>
      <p:graphicFrame>
        <p:nvGraphicFramePr>
          <p:cNvPr id="276520" name="Group 40">
            <a:extLst>
              <a:ext uri="{FF2B5EF4-FFF2-40B4-BE49-F238E27FC236}">
                <a16:creationId xmlns:a16="http://schemas.microsoft.com/office/drawing/2014/main" id="{C2DEBD7C-647C-6EB4-CBFF-4AB51C63DF5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865438" y="3503613"/>
          <a:ext cx="1647825" cy="1760538"/>
        </p:xfrm>
        <a:graphic>
          <a:graphicData uri="http://schemas.openxmlformats.org/drawingml/2006/table">
            <a:tbl>
              <a:tblPr/>
              <a:tblGrid>
                <a:gridCol w="392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7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endParaRPr kumimoji="0" lang="it-IT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it-IT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  <a:cs typeface="ＭＳ Ｐゴシック" charset="0"/>
                        </a:rPr>
                        <a:t>1</a:t>
                      </a:r>
                    </a:p>
                  </a:txBody>
                  <a:tcPr marL="99060" marR="990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6287" name="Line 34">
            <a:extLst>
              <a:ext uri="{FF2B5EF4-FFF2-40B4-BE49-F238E27FC236}">
                <a16:creationId xmlns:a16="http://schemas.microsoft.com/office/drawing/2014/main" id="{4FE195FC-C30B-4344-4004-5BE05A5460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593975" y="3319463"/>
            <a:ext cx="271463" cy="2000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6288" name="Text Box 35">
            <a:extLst>
              <a:ext uri="{FF2B5EF4-FFF2-40B4-BE49-F238E27FC236}">
                <a16:creationId xmlns:a16="http://schemas.microsoft.com/office/drawing/2014/main" id="{1E387FC6-0124-53C1-3D8F-F7E9FF2001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050" y="3225800"/>
            <a:ext cx="165576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400"/>
              <a:t>00    01     11     10</a:t>
            </a:r>
          </a:p>
        </p:txBody>
      </p:sp>
      <p:sp>
        <p:nvSpPr>
          <p:cNvPr id="96289" name="Text Box 36">
            <a:extLst>
              <a:ext uri="{FF2B5EF4-FFF2-40B4-BE49-F238E27FC236}">
                <a16:creationId xmlns:a16="http://schemas.microsoft.com/office/drawing/2014/main" id="{7F0FAD81-FC10-0693-04FD-5897C2500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338" y="3594100"/>
            <a:ext cx="436562" cy="160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00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01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11</a:t>
            </a:r>
          </a:p>
          <a:p>
            <a:pPr algn="ctr" eaLnBrk="1" hangingPunct="1">
              <a:spcBef>
                <a:spcPct val="140000"/>
              </a:spcBef>
              <a:buClrTx/>
              <a:buSzTx/>
              <a:buFontTx/>
              <a:buNone/>
            </a:pPr>
            <a:r>
              <a:rPr lang="it-IT" altLang="it-IT" sz="1200"/>
              <a:t>10</a:t>
            </a:r>
          </a:p>
        </p:txBody>
      </p:sp>
      <p:sp>
        <p:nvSpPr>
          <p:cNvPr id="96290" name="Text Box 37">
            <a:extLst>
              <a:ext uri="{FF2B5EF4-FFF2-40B4-BE49-F238E27FC236}">
                <a16:creationId xmlns:a16="http://schemas.microsoft.com/office/drawing/2014/main" id="{D765DF43-6A99-E2EC-C141-A24CD4B59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3071813"/>
            <a:ext cx="341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/>
              <a:t>X</a:t>
            </a:r>
          </a:p>
        </p:txBody>
      </p:sp>
      <p:sp>
        <p:nvSpPr>
          <p:cNvPr id="96291" name="Text Box 38">
            <a:extLst>
              <a:ext uri="{FF2B5EF4-FFF2-40B4-BE49-F238E27FC236}">
                <a16:creationId xmlns:a16="http://schemas.microsoft.com/office/drawing/2014/main" id="{6477D9E3-05CD-267F-3088-C4C183B6B1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3224213"/>
            <a:ext cx="3413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1800"/>
              <a:t>Y</a:t>
            </a:r>
          </a:p>
        </p:txBody>
      </p:sp>
      <p:sp>
        <p:nvSpPr>
          <p:cNvPr id="96292" name="Text Box 39">
            <a:extLst>
              <a:ext uri="{FF2B5EF4-FFF2-40B4-BE49-F238E27FC236}">
                <a16:creationId xmlns:a16="http://schemas.microsoft.com/office/drawing/2014/main" id="{E3E09228-1ADF-B2C4-0A76-28A99D285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5363" y="3419475"/>
            <a:ext cx="48625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Mappa di Karnaugh per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 i="1"/>
              <a:t>f = (X=Y)</a:t>
            </a:r>
            <a:r>
              <a:rPr lang="it-IT" altLang="it-IT" sz="2000"/>
              <a:t> con </a:t>
            </a:r>
            <a:r>
              <a:rPr lang="it-IT" altLang="it-IT" sz="2000" i="1"/>
              <a:t>X</a:t>
            </a:r>
            <a:r>
              <a:rPr lang="it-IT" altLang="it-IT" sz="2000"/>
              <a:t> e </a:t>
            </a:r>
            <a:r>
              <a:rPr lang="it-IT" altLang="it-IT" sz="2000" i="1"/>
              <a:t>Y</a:t>
            </a:r>
            <a:r>
              <a:rPr lang="it-IT" altLang="it-IT" sz="2000"/>
              <a:t> ingressi di due variabili ciascuno</a:t>
            </a: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egnaposto numero diapositiva 4">
            <a:extLst>
              <a:ext uri="{FF2B5EF4-FFF2-40B4-BE49-F238E27FC236}">
                <a16:creationId xmlns:a16="http://schemas.microsoft.com/office/drawing/2014/main" id="{85F2EB3F-D91E-4080-DA7C-E8D96DBB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56C2FA7-D52B-4594-B4B4-DE94840EC06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it-IT" altLang="it-IT" sz="1400"/>
          </a:p>
        </p:txBody>
      </p:sp>
      <p:sp>
        <p:nvSpPr>
          <p:cNvPr id="97282" name="Rectangle 2">
            <a:extLst>
              <a:ext uri="{FF2B5EF4-FFF2-40B4-BE49-F238E27FC236}">
                <a16:creationId xmlns:a16="http://schemas.microsoft.com/office/drawing/2014/main" id="{6089168A-F8DD-F3A4-0B28-9B0A84C579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DDD6ED95-A69D-391D-EDF9-DF85E4EB676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34413" cy="2486025"/>
          </a:xfrm>
        </p:spPr>
        <p:txBody>
          <a:bodyPr/>
          <a:lstStyle/>
          <a:p>
            <a:r>
              <a:rPr lang="it-IT" altLang="it-IT" sz="2000">
                <a:ea typeface="ＭＳ Ｐゴシック" panose="020B0600070205080204" pitchFamily="34" charset="-128"/>
              </a:rPr>
              <a:t>Deriviamo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espressione di </a:t>
            </a:r>
            <a:r>
              <a:rPr lang="it-IT" altLang="ja-JP" sz="2000" i="1">
                <a:ea typeface="ＭＳ Ｐゴシック" panose="020B0600070205080204" pitchFamily="34" charset="-128"/>
              </a:rPr>
              <a:t>magout</a:t>
            </a:r>
          </a:p>
          <a:p>
            <a:r>
              <a:rPr lang="it-IT" altLang="it-IT" sz="2000">
                <a:ea typeface="ＭＳ Ｐゴシック" panose="020B0600070205080204" pitchFamily="34" charset="-128"/>
              </a:rPr>
              <a:t>Osserviamo che, per le singole cifre binarie, si ha</a:t>
            </a:r>
          </a:p>
          <a:p>
            <a:endParaRPr lang="it-IT" altLang="it-IT" sz="2000">
              <a:ea typeface="ＭＳ Ｐゴシック" panose="020B0600070205080204" pitchFamily="34" charset="-128"/>
            </a:endParaRPr>
          </a:p>
          <a:p>
            <a:endParaRPr lang="it-IT" altLang="it-IT" sz="2000">
              <a:ea typeface="ＭＳ Ｐゴシック" panose="020B0600070205080204" pitchFamily="34" charset="-128"/>
            </a:endParaRPr>
          </a:p>
          <a:p>
            <a:r>
              <a:rPr lang="it-IT" altLang="it-IT" sz="2000">
                <a:ea typeface="ＭＳ Ｐゴシック" panose="020B0600070205080204" pitchFamily="34" charset="-128"/>
              </a:rPr>
              <a:t>Quindi, per ottenere il confronto tra ingressi a più cifre è possibile </a:t>
            </a:r>
            <a:r>
              <a:rPr lang="ja-JP" altLang="it-IT" sz="2000">
                <a:ea typeface="ＭＳ Ｐゴシック" panose="020B0600070205080204" pitchFamily="34" charset="-128"/>
              </a:rPr>
              <a:t>“</a:t>
            </a:r>
            <a:r>
              <a:rPr lang="it-IT" altLang="ja-JP" sz="2000">
                <a:ea typeface="ＭＳ Ｐゴシック" panose="020B0600070205080204" pitchFamily="34" charset="-128"/>
              </a:rPr>
              <a:t>partire</a:t>
            </a:r>
            <a:r>
              <a:rPr lang="ja-JP" altLang="it-IT" sz="2000">
                <a:ea typeface="ＭＳ Ｐゴシック" panose="020B0600070205080204" pitchFamily="34" charset="-128"/>
              </a:rPr>
              <a:t>”</a:t>
            </a:r>
            <a:r>
              <a:rPr lang="it-IT" altLang="ja-JP" sz="2000">
                <a:ea typeface="ＭＳ Ｐゴシック" panose="020B0600070205080204" pitchFamily="34" charset="-128"/>
              </a:rPr>
              <a:t> confrontando le cifre da sinistra e procedendo via via verso destra fino a trovare eventuali differenze</a:t>
            </a:r>
          </a:p>
          <a:p>
            <a:endParaRPr lang="it-IT" altLang="it-IT" sz="2000" i="1">
              <a:ea typeface="ＭＳ Ｐゴシック" panose="020B0600070205080204" pitchFamily="34" charset="-128"/>
            </a:endParaRPr>
          </a:p>
        </p:txBody>
      </p:sp>
      <p:sp>
        <p:nvSpPr>
          <p:cNvPr id="97284" name="Rectangle 5">
            <a:extLst>
              <a:ext uri="{FF2B5EF4-FFF2-40B4-BE49-F238E27FC236}">
                <a16:creationId xmlns:a16="http://schemas.microsoft.com/office/drawing/2014/main" id="{0DD0139C-0AAD-4BBB-6FDA-9E7EC0386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91465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97285" name="Object 2">
            <a:extLst>
              <a:ext uri="{FF2B5EF4-FFF2-40B4-BE49-F238E27FC236}">
                <a16:creationId xmlns:a16="http://schemas.microsoft.com/office/drawing/2014/main" id="{7B8179B4-6E8E-ACC7-A652-CCDA32DC42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4413" y="3808413"/>
          <a:ext cx="8243887" cy="204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4413" y="3808413"/>
                        <a:ext cx="8243887" cy="204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286" name="Object 3">
            <a:extLst>
              <a:ext uri="{FF2B5EF4-FFF2-40B4-BE49-F238E27FC236}">
                <a16:creationId xmlns:a16="http://schemas.microsoft.com/office/drawing/2014/main" id="{C965F7D7-4B04-BE27-EEA5-40A7F4008B9B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654300" y="2147888"/>
          <a:ext cx="374967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2147888"/>
                        <a:ext cx="3749675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egnaposto numero diapositiva 3">
            <a:extLst>
              <a:ext uri="{FF2B5EF4-FFF2-40B4-BE49-F238E27FC236}">
                <a16:creationId xmlns:a16="http://schemas.microsoft.com/office/drawing/2014/main" id="{9DCC5C2F-71AB-69DC-0CD0-44D3E457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1A1647CA-7DCE-4307-BFFB-98D0DD647C69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it-IT" altLang="it-IT" sz="1400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8DED5EEA-EB5A-CFAD-C82E-9449AF1E6F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D3CEA17D-17F4-907F-8D90-6180C166AC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Per ottenere la terza uscita </a:t>
            </a:r>
            <a:r>
              <a:rPr lang="it-IT" altLang="it-IT" i="1">
                <a:ea typeface="ＭＳ Ｐゴシック" panose="020B0600070205080204" pitchFamily="34" charset="-128"/>
              </a:rPr>
              <a:t>minout</a:t>
            </a:r>
            <a:r>
              <a:rPr lang="it-IT" altLang="it-IT">
                <a:ea typeface="ＭＳ Ｐゴシック" panose="020B0600070205080204" pitchFamily="34" charset="-128"/>
              </a:rPr>
              <a:t>, se necessaria, si può procedere analogamente a </a:t>
            </a:r>
            <a:r>
              <a:rPr lang="it-IT" altLang="it-IT" i="1">
                <a:ea typeface="ＭＳ Ｐゴシック" panose="020B0600070205080204" pitchFamily="34" charset="-128"/>
              </a:rPr>
              <a:t>magout</a:t>
            </a:r>
            <a:r>
              <a:rPr lang="it-IT" altLang="it-IT">
                <a:ea typeface="ＭＳ Ｐゴシック" panose="020B0600070205080204" pitchFamily="34" charset="-128"/>
              </a:rPr>
              <a:t> oppure semplicemente osservare che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Si noti che la componente </a:t>
            </a:r>
            <a:r>
              <a:rPr lang="it-IT" altLang="it-IT" i="1">
                <a:ea typeface="ＭＳ Ｐゴシック" panose="020B0600070205080204" pitchFamily="34" charset="-128"/>
              </a:rPr>
              <a:t>X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i="1">
                <a:ea typeface="ＭＳ Ｐゴシック" panose="020B0600070205080204" pitchFamily="34" charset="-128"/>
              </a:rPr>
              <a:t> ≡ Y</a:t>
            </a:r>
            <a:r>
              <a:rPr lang="it-IT" altLang="it-IT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>
                <a:ea typeface="ＭＳ Ｐゴシック" panose="020B0600070205080204" pitchFamily="34" charset="-128"/>
              </a:rPr>
              <a:t> è ripetuta nelle tre funzioni e può essere calcolata una sola volta</a:t>
            </a:r>
          </a:p>
        </p:txBody>
      </p:sp>
      <p:sp>
        <p:nvSpPr>
          <p:cNvPr id="98308" name="Rectangle 5">
            <a:extLst>
              <a:ext uri="{FF2B5EF4-FFF2-40B4-BE49-F238E27FC236}">
                <a16:creationId xmlns:a16="http://schemas.microsoft.com/office/drawing/2014/main" id="{6A0F00D7-147C-E2CD-2023-02BB01F2D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98309" name="Object 2">
            <a:extLst>
              <a:ext uri="{FF2B5EF4-FFF2-40B4-BE49-F238E27FC236}">
                <a16:creationId xmlns:a16="http://schemas.microsoft.com/office/drawing/2014/main" id="{E2168B63-BED7-CCCC-71B5-60756D60BD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76550" y="2794000"/>
          <a:ext cx="3667125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50" y="2794000"/>
                        <a:ext cx="3667125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egnaposto numero diapositiva 3">
            <a:extLst>
              <a:ext uri="{FF2B5EF4-FFF2-40B4-BE49-F238E27FC236}">
                <a16:creationId xmlns:a16="http://schemas.microsoft.com/office/drawing/2014/main" id="{54F58D52-FECC-8623-3EA3-8DEBD016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FC9441A-2127-43EB-ACBF-9FE91E179AC7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it-IT" altLang="it-IT" sz="1400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FFC9A9B3-4AAB-7709-0930-1CA1CE933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Comparatore binario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0D88A916-4137-7704-2F4C-E10F102A61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9368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Un confronto tra stringhe di </a:t>
            </a:r>
            <a:r>
              <a:rPr lang="it-IT" altLang="it-IT" i="1">
                <a:ea typeface="ＭＳ Ｐゴシック" panose="020B0600070205080204" pitchFamily="34" charset="-128"/>
              </a:rPr>
              <a:t>k</a:t>
            </a:r>
            <a:r>
              <a:rPr lang="it-IT" altLang="it-IT">
                <a:ea typeface="ＭＳ Ｐゴシック" panose="020B0600070205080204" pitchFamily="34" charset="-128"/>
              </a:rPr>
              <a:t> bit può essere effettuato con un unico comparatore se </a:t>
            </a:r>
            <a:r>
              <a:rPr lang="it-IT" altLang="it-IT" i="1">
                <a:ea typeface="ＭＳ Ｐゴシック" panose="020B0600070205080204" pitchFamily="34" charset="-128"/>
              </a:rPr>
              <a:t>k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≤n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 (numero di bit di 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X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 e 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Y, ingressi del comparatore)</a:t>
            </a:r>
          </a:p>
          <a:p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Altrimenti, possono essere collegati in catena {[</a:t>
            </a:r>
            <a:r>
              <a:rPr lang="it-IT" altLang="it-IT" i="1">
                <a:ea typeface="ＭＳ Ｐゴシック" panose="020B0600070205080204" pitchFamily="34" charset="-128"/>
                <a:cs typeface="Arial" panose="020B0604020202020204" pitchFamily="34" charset="0"/>
              </a:rPr>
              <a:t>k/n</a:t>
            </a: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]}  comparatori, come in figura</a:t>
            </a:r>
          </a:p>
          <a:p>
            <a:pPr lvl="4"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  <a:cs typeface="Arial" panose="020B0604020202020204" pitchFamily="34" charset="0"/>
              </a:rPr>
              <a:t>			         </a:t>
            </a:r>
            <a:r>
              <a:rPr lang="it-IT" altLang="it-IT" sz="2800">
                <a:ea typeface="ＭＳ Ｐゴシック" panose="020B0600070205080204" pitchFamily="34" charset="-128"/>
                <a:cs typeface="Arial" panose="020B0604020202020204" pitchFamily="34" charset="0"/>
              </a:rPr>
              <a:t>k</a:t>
            </a:r>
            <a:endParaRPr lang="it-IT" altLang="it-IT"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9332" name="Rectangle 25">
            <a:extLst>
              <a:ext uri="{FF2B5EF4-FFF2-40B4-BE49-F238E27FC236}">
                <a16:creationId xmlns:a16="http://schemas.microsoft.com/office/drawing/2014/main" id="{FE93C046-C5D0-0B66-E2D2-6A029E701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1088" y="5010150"/>
            <a:ext cx="1017587" cy="1003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9333" name="Line 27">
            <a:extLst>
              <a:ext uri="{FF2B5EF4-FFF2-40B4-BE49-F238E27FC236}">
                <a16:creationId xmlns:a16="http://schemas.microsoft.com/office/drawing/2014/main" id="{416FD151-CD90-33B3-C2E7-AADE35DDE7E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54673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4" name="Line 28">
            <a:extLst>
              <a:ext uri="{FF2B5EF4-FFF2-40B4-BE49-F238E27FC236}">
                <a16:creationId xmlns:a16="http://schemas.microsoft.com/office/drawing/2014/main" id="{88FFE7BD-DB65-8B87-9AB1-A0EFA41952D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70100" y="58229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5" name="Text Box 29">
            <a:extLst>
              <a:ext uri="{FF2B5EF4-FFF2-40B4-BE49-F238E27FC236}">
                <a16:creationId xmlns:a16="http://schemas.microsoft.com/office/drawing/2014/main" id="{F2B0117D-BFDD-736A-87C4-717E2FC2F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575" y="4924425"/>
            <a:ext cx="1395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egin</a:t>
            </a:r>
          </a:p>
        </p:txBody>
      </p:sp>
      <p:sp>
        <p:nvSpPr>
          <p:cNvPr id="99336" name="Text Box 30">
            <a:extLst>
              <a:ext uri="{FF2B5EF4-FFF2-40B4-BE49-F238E27FC236}">
                <a16:creationId xmlns:a16="http://schemas.microsoft.com/office/drawing/2014/main" id="{8D8E98DC-7F72-0A28-7D78-69EAA7A7B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5254625"/>
            <a:ext cx="2360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magin</a:t>
            </a:r>
          </a:p>
        </p:txBody>
      </p:sp>
      <p:sp>
        <p:nvSpPr>
          <p:cNvPr id="99337" name="Text Box 31">
            <a:extLst>
              <a:ext uri="{FF2B5EF4-FFF2-40B4-BE49-F238E27FC236}">
                <a16:creationId xmlns:a16="http://schemas.microsoft.com/office/drawing/2014/main" id="{89B9D6D4-E516-4FDD-CA42-C240F205EF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4275" y="5622925"/>
            <a:ext cx="1316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minin</a:t>
            </a:r>
          </a:p>
        </p:txBody>
      </p:sp>
      <p:sp>
        <p:nvSpPr>
          <p:cNvPr id="99338" name="Line 33">
            <a:extLst>
              <a:ext uri="{FF2B5EF4-FFF2-40B4-BE49-F238E27FC236}">
                <a16:creationId xmlns:a16="http://schemas.microsoft.com/office/drawing/2014/main" id="{58D37F20-904C-CA24-4830-3758204320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913" y="54673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39" name="Line 34">
            <a:extLst>
              <a:ext uri="{FF2B5EF4-FFF2-40B4-BE49-F238E27FC236}">
                <a16:creationId xmlns:a16="http://schemas.microsoft.com/office/drawing/2014/main" id="{58612A49-AB43-C120-5A87-753AD7861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3913" y="58229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0" name="Text Box 35">
            <a:extLst>
              <a:ext uri="{FF2B5EF4-FFF2-40B4-BE49-F238E27FC236}">
                <a16:creationId xmlns:a16="http://schemas.microsoft.com/office/drawing/2014/main" id="{A97C1BC0-888D-DBBF-EA4E-BBAE6E3B7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1563" y="4964113"/>
            <a:ext cx="1395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egout</a:t>
            </a:r>
          </a:p>
        </p:txBody>
      </p:sp>
      <p:sp>
        <p:nvSpPr>
          <p:cNvPr id="99341" name="Text Box 36">
            <a:extLst>
              <a:ext uri="{FF2B5EF4-FFF2-40B4-BE49-F238E27FC236}">
                <a16:creationId xmlns:a16="http://schemas.microsoft.com/office/drawing/2014/main" id="{9F90BFFD-B542-2E06-8711-431AF21EE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4263" y="5662613"/>
            <a:ext cx="13160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minout</a:t>
            </a:r>
          </a:p>
        </p:txBody>
      </p:sp>
      <p:sp>
        <p:nvSpPr>
          <p:cNvPr id="99342" name="Text Box 37">
            <a:extLst>
              <a:ext uri="{FF2B5EF4-FFF2-40B4-BE49-F238E27FC236}">
                <a16:creationId xmlns:a16="http://schemas.microsoft.com/office/drawing/2014/main" id="{E18562FF-F806-8A89-8794-8E694C74D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4263" y="5307013"/>
            <a:ext cx="11779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magout</a:t>
            </a:r>
          </a:p>
        </p:txBody>
      </p:sp>
      <p:sp>
        <p:nvSpPr>
          <p:cNvPr id="99343" name="Line 38">
            <a:extLst>
              <a:ext uri="{FF2B5EF4-FFF2-40B4-BE49-F238E27FC236}">
                <a16:creationId xmlns:a16="http://schemas.microsoft.com/office/drawing/2014/main" id="{390FA8D9-DC68-7FD7-AF7A-792A24DD81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563" y="45243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4" name="Line 39">
            <a:extLst>
              <a:ext uri="{FF2B5EF4-FFF2-40B4-BE49-F238E27FC236}">
                <a16:creationId xmlns:a16="http://schemas.microsoft.com/office/drawing/2014/main" id="{2545FB3A-D40E-835F-361E-9AE49E47C8E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76575" y="45370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5" name="Text Box 40">
            <a:extLst>
              <a:ext uri="{FF2B5EF4-FFF2-40B4-BE49-F238E27FC236}">
                <a16:creationId xmlns:a16="http://schemas.microsoft.com/office/drawing/2014/main" id="{FB820ED4-37A4-7863-1FCC-1394167D4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4364038"/>
            <a:ext cx="43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X</a:t>
            </a:r>
          </a:p>
        </p:txBody>
      </p:sp>
      <p:sp>
        <p:nvSpPr>
          <p:cNvPr id="99346" name="Text Box 41">
            <a:extLst>
              <a:ext uri="{FF2B5EF4-FFF2-40B4-BE49-F238E27FC236}">
                <a16:creationId xmlns:a16="http://schemas.microsoft.com/office/drawing/2014/main" id="{6613D496-6483-98ED-6676-0128CACD2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600" y="4364038"/>
            <a:ext cx="433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Y</a:t>
            </a:r>
          </a:p>
        </p:txBody>
      </p:sp>
      <p:sp>
        <p:nvSpPr>
          <p:cNvPr id="99347" name="Line 42">
            <a:extLst>
              <a:ext uri="{FF2B5EF4-FFF2-40B4-BE49-F238E27FC236}">
                <a16:creationId xmlns:a16="http://schemas.microsoft.com/office/drawing/2014/main" id="{373A3B10-2BA6-86DF-7E27-A288ED424E5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00313" y="4802188"/>
            <a:ext cx="161925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8" name="Line 43">
            <a:extLst>
              <a:ext uri="{FF2B5EF4-FFF2-40B4-BE49-F238E27FC236}">
                <a16:creationId xmlns:a16="http://schemas.microsoft.com/office/drawing/2014/main" id="{334996CA-D7A4-2209-D95F-09E5AD193D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2913" y="4802188"/>
            <a:ext cx="160337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49" name="Text Box 44">
            <a:extLst>
              <a:ext uri="{FF2B5EF4-FFF2-40B4-BE49-F238E27FC236}">
                <a16:creationId xmlns:a16="http://schemas.microsoft.com/office/drawing/2014/main" id="{7E178F47-A392-37F3-75A4-1EC048E664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9113" y="4603750"/>
            <a:ext cx="43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n</a:t>
            </a:r>
          </a:p>
        </p:txBody>
      </p:sp>
      <p:sp>
        <p:nvSpPr>
          <p:cNvPr id="99350" name="Rectangle 45">
            <a:extLst>
              <a:ext uri="{FF2B5EF4-FFF2-40B4-BE49-F238E27FC236}">
                <a16:creationId xmlns:a16="http://schemas.microsoft.com/office/drawing/2014/main" id="{A25626E2-EC47-04D5-CE07-E58A4578E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5010150"/>
            <a:ext cx="1019175" cy="1003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9351" name="Line 47">
            <a:extLst>
              <a:ext uri="{FF2B5EF4-FFF2-40B4-BE49-F238E27FC236}">
                <a16:creationId xmlns:a16="http://schemas.microsoft.com/office/drawing/2014/main" id="{13C9103D-784C-3BB4-4D09-0AA2D41139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0425" y="54673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2" name="Line 48">
            <a:extLst>
              <a:ext uri="{FF2B5EF4-FFF2-40B4-BE49-F238E27FC236}">
                <a16:creationId xmlns:a16="http://schemas.microsoft.com/office/drawing/2014/main" id="{DBEF53DC-3F2B-600E-34D0-CD7ED23A79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0425" y="58229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3" name="Line 49">
            <a:extLst>
              <a:ext uri="{FF2B5EF4-FFF2-40B4-BE49-F238E27FC236}">
                <a16:creationId xmlns:a16="http://schemas.microsoft.com/office/drawing/2014/main" id="{26ED4934-8362-2658-24A1-F2D22DD36751}"/>
              </a:ext>
            </a:extLst>
          </p:cNvPr>
          <p:cNvSpPr>
            <a:spLocks noChangeShapeType="1"/>
          </p:cNvSpPr>
          <p:nvPr/>
        </p:nvSpPr>
        <p:spPr bwMode="auto">
          <a:xfrm>
            <a:off x="3902075" y="45243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4" name="Line 50">
            <a:extLst>
              <a:ext uri="{FF2B5EF4-FFF2-40B4-BE49-F238E27FC236}">
                <a16:creationId xmlns:a16="http://schemas.microsoft.com/office/drawing/2014/main" id="{16E775E3-9126-E1B2-F77B-C89704EF2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3088" y="45370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5" name="Text Box 51">
            <a:extLst>
              <a:ext uri="{FF2B5EF4-FFF2-40B4-BE49-F238E27FC236}">
                <a16:creationId xmlns:a16="http://schemas.microsoft.com/office/drawing/2014/main" id="{CA4C0B33-24BD-1B70-AB76-6E9A0D780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7113" y="4364038"/>
            <a:ext cx="43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X</a:t>
            </a:r>
          </a:p>
        </p:txBody>
      </p:sp>
      <p:sp>
        <p:nvSpPr>
          <p:cNvPr id="99356" name="Text Box 52">
            <a:extLst>
              <a:ext uri="{FF2B5EF4-FFF2-40B4-BE49-F238E27FC236}">
                <a16:creationId xmlns:a16="http://schemas.microsoft.com/office/drawing/2014/main" id="{C7DC15BD-AEC4-2A38-1A01-3AF8D2B1A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113" y="4364038"/>
            <a:ext cx="43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Y</a:t>
            </a:r>
          </a:p>
        </p:txBody>
      </p:sp>
      <p:sp>
        <p:nvSpPr>
          <p:cNvPr id="99357" name="Line 53">
            <a:extLst>
              <a:ext uri="{FF2B5EF4-FFF2-40B4-BE49-F238E27FC236}">
                <a16:creationId xmlns:a16="http://schemas.microsoft.com/office/drawing/2014/main" id="{8336089B-0686-444E-1980-5C3D7CE6DF8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08413" y="4802188"/>
            <a:ext cx="160337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8" name="Line 54">
            <a:extLst>
              <a:ext uri="{FF2B5EF4-FFF2-40B4-BE49-F238E27FC236}">
                <a16:creationId xmlns:a16="http://schemas.microsoft.com/office/drawing/2014/main" id="{B467920F-FEF1-D68A-6E6F-950019B599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89425" y="4802188"/>
            <a:ext cx="161925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59" name="Text Box 55">
            <a:extLst>
              <a:ext uri="{FF2B5EF4-FFF2-40B4-BE49-F238E27FC236}">
                <a16:creationId xmlns:a16="http://schemas.microsoft.com/office/drawing/2014/main" id="{F9AD92DC-9C03-88E6-71A9-BFF6F4E2CC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7213" y="4603750"/>
            <a:ext cx="43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n</a:t>
            </a:r>
          </a:p>
        </p:txBody>
      </p:sp>
      <p:sp>
        <p:nvSpPr>
          <p:cNvPr id="99360" name="Rectangle 56">
            <a:extLst>
              <a:ext uri="{FF2B5EF4-FFF2-40B4-BE49-F238E27FC236}">
                <a16:creationId xmlns:a16="http://schemas.microsoft.com/office/drawing/2014/main" id="{641A3D52-22D1-860B-4A2F-E991587EF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8388" y="5022850"/>
            <a:ext cx="1017587" cy="10033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9361" name="Line 57">
            <a:extLst>
              <a:ext uri="{FF2B5EF4-FFF2-40B4-BE49-F238E27FC236}">
                <a16:creationId xmlns:a16="http://schemas.microsoft.com/office/drawing/2014/main" id="{6D45A51A-2B0C-D619-130F-F14119B14B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51752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2" name="Line 58">
            <a:extLst>
              <a:ext uri="{FF2B5EF4-FFF2-40B4-BE49-F238E27FC236}">
                <a16:creationId xmlns:a16="http://schemas.microsoft.com/office/drawing/2014/main" id="{89E8D376-C014-0253-CE42-9CCC03612CF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54800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3" name="Line 59">
            <a:extLst>
              <a:ext uri="{FF2B5EF4-FFF2-40B4-BE49-F238E27FC236}">
                <a16:creationId xmlns:a16="http://schemas.microsoft.com/office/drawing/2014/main" id="{12CF341C-A328-192E-9F92-535E7A52C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1213" y="5835650"/>
            <a:ext cx="266700" cy="1588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4" name="Line 60">
            <a:extLst>
              <a:ext uri="{FF2B5EF4-FFF2-40B4-BE49-F238E27FC236}">
                <a16:creationId xmlns:a16="http://schemas.microsoft.com/office/drawing/2014/main" id="{E2C46762-422A-DE33-654C-EB60857CC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2863" y="45370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5" name="Line 61">
            <a:extLst>
              <a:ext uri="{FF2B5EF4-FFF2-40B4-BE49-F238E27FC236}">
                <a16:creationId xmlns:a16="http://schemas.microsoft.com/office/drawing/2014/main" id="{4272ADCB-C826-D9F8-7EC9-95755F97FBC6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3875" y="4549775"/>
            <a:ext cx="0" cy="474663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6" name="Text Box 62">
            <a:extLst>
              <a:ext uri="{FF2B5EF4-FFF2-40B4-BE49-F238E27FC236}">
                <a16:creationId xmlns:a16="http://schemas.microsoft.com/office/drawing/2014/main" id="{31E340F7-203A-474A-EE83-9E671DCED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313" y="4376738"/>
            <a:ext cx="4349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X</a:t>
            </a:r>
          </a:p>
        </p:txBody>
      </p:sp>
      <p:sp>
        <p:nvSpPr>
          <p:cNvPr id="99367" name="Text Box 63">
            <a:extLst>
              <a:ext uri="{FF2B5EF4-FFF2-40B4-BE49-F238E27FC236}">
                <a16:creationId xmlns:a16="http://schemas.microsoft.com/office/drawing/2014/main" id="{4783FE08-BEE2-8D7D-7546-396900C24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5900" y="4376738"/>
            <a:ext cx="4333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Y</a:t>
            </a:r>
          </a:p>
        </p:txBody>
      </p:sp>
      <p:sp>
        <p:nvSpPr>
          <p:cNvPr id="99368" name="Line 64">
            <a:extLst>
              <a:ext uri="{FF2B5EF4-FFF2-40B4-BE49-F238E27FC236}">
                <a16:creationId xmlns:a16="http://schemas.microsoft.com/office/drawing/2014/main" id="{DEBC7B02-9399-D06E-E0A7-49FA58F2695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97613" y="4814888"/>
            <a:ext cx="161925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69" name="Line 65">
            <a:extLst>
              <a:ext uri="{FF2B5EF4-FFF2-40B4-BE49-F238E27FC236}">
                <a16:creationId xmlns:a16="http://schemas.microsoft.com/office/drawing/2014/main" id="{78DC7AFF-7494-88EF-9049-DD217BBCF7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0213" y="4814888"/>
            <a:ext cx="160337" cy="74612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70" name="Text Box 66">
            <a:extLst>
              <a:ext uri="{FF2B5EF4-FFF2-40B4-BE49-F238E27FC236}">
                <a16:creationId xmlns:a16="http://schemas.microsoft.com/office/drawing/2014/main" id="{A5EB21AE-878F-73E8-CED0-4E45CFFA6D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6413" y="4616450"/>
            <a:ext cx="4333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n</a:t>
            </a:r>
          </a:p>
        </p:txBody>
      </p:sp>
      <p:sp>
        <p:nvSpPr>
          <p:cNvPr id="99371" name="Text Box 67">
            <a:extLst>
              <a:ext uri="{FF2B5EF4-FFF2-40B4-BE49-F238E27FC236}">
                <a16:creationId xmlns:a16="http://schemas.microsoft.com/office/drawing/2014/main" id="{A92B2179-4530-EACF-51C8-E34080932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1900" y="5292725"/>
            <a:ext cx="8953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/>
              <a:t>. . . </a:t>
            </a:r>
          </a:p>
        </p:txBody>
      </p:sp>
      <p:sp>
        <p:nvSpPr>
          <p:cNvPr id="99372" name="AutoShape 69">
            <a:extLst>
              <a:ext uri="{FF2B5EF4-FFF2-40B4-BE49-F238E27FC236}">
                <a16:creationId xmlns:a16="http://schemas.microsoft.com/office/drawing/2014/main" id="{C53596C0-CA9F-65E6-A906-60350AE7658F}"/>
              </a:ext>
            </a:extLst>
          </p:cNvPr>
          <p:cNvSpPr>
            <a:spLocks/>
          </p:cNvSpPr>
          <p:nvPr/>
        </p:nvSpPr>
        <p:spPr bwMode="auto">
          <a:xfrm rot="-5400000">
            <a:off x="4578350" y="2112963"/>
            <a:ext cx="414337" cy="4300538"/>
          </a:xfrm>
          <a:prstGeom prst="rightBrace">
            <a:avLst>
              <a:gd name="adj1" fmla="val 79863"/>
              <a:gd name="adj2" fmla="val 5179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99373" name="Line 27">
            <a:extLst>
              <a:ext uri="{FF2B5EF4-FFF2-40B4-BE49-F238E27FC236}">
                <a16:creationId xmlns:a16="http://schemas.microsoft.com/office/drawing/2014/main" id="{9C390D43-BA32-77FE-A83E-4BA600637D37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5338" y="5167313"/>
            <a:ext cx="266700" cy="15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74" name="Line 33">
            <a:extLst>
              <a:ext uri="{FF2B5EF4-FFF2-40B4-BE49-F238E27FC236}">
                <a16:creationId xmlns:a16="http://schemas.microsoft.com/office/drawing/2014/main" id="{2B04F91F-DC6F-39FF-41D1-6C8A74813C8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150" y="5167313"/>
            <a:ext cx="266700" cy="15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9375" name="Line 47">
            <a:extLst>
              <a:ext uri="{FF2B5EF4-FFF2-40B4-BE49-F238E27FC236}">
                <a16:creationId xmlns:a16="http://schemas.microsoft.com/office/drawing/2014/main" id="{E87399AA-3D3B-BA01-57B8-4D2684A96C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5663" y="5167313"/>
            <a:ext cx="266700" cy="1587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5201A502-4A29-09CF-6E58-9752BFA4F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00354" name="Rectangle 3">
            <a:extLst>
              <a:ext uri="{FF2B5EF4-FFF2-40B4-BE49-F238E27FC236}">
                <a16:creationId xmlns:a16="http://schemas.microsoft.com/office/drawing/2014/main" id="{8160C72F-6B13-9C84-7343-AA4600DC5B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4800">
                <a:ea typeface="ＭＳ Ｐゴシック" panose="020B0600070205080204" pitchFamily="34" charset="-128"/>
              </a:rPr>
              <a:t>Adder</a:t>
            </a:r>
          </a:p>
        </p:txBody>
      </p:sp>
      <p:sp>
        <p:nvSpPr>
          <p:cNvPr id="100355" name="Segnaposto numero diapositiva 3">
            <a:extLst>
              <a:ext uri="{FF2B5EF4-FFF2-40B4-BE49-F238E27FC236}">
                <a16:creationId xmlns:a16="http://schemas.microsoft.com/office/drawing/2014/main" id="{01C7F2E2-0DF8-BFAE-34AE-6AA46686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6392DC-C5EB-4342-B443-0F6046A5EE8F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it-IT" altLang="it-IT" sz="140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>
            <a:extLst>
              <a:ext uri="{FF2B5EF4-FFF2-40B4-BE49-F238E27FC236}">
                <a16:creationId xmlns:a16="http://schemas.microsoft.com/office/drawing/2014/main" id="{51347F5A-D816-7D64-8B94-595BA5F42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Half Adder</a:t>
            </a:r>
          </a:p>
        </p:txBody>
      </p:sp>
      <p:sp>
        <p:nvSpPr>
          <p:cNvPr id="101378" name="Rectangle 3">
            <a:extLst>
              <a:ext uri="{FF2B5EF4-FFF2-40B4-BE49-F238E27FC236}">
                <a16:creationId xmlns:a16="http://schemas.microsoft.com/office/drawing/2014/main" id="{15D6EF2C-8E12-4A4D-6ABA-A7C441E2D91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19200"/>
            <a:ext cx="99060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Scrivere la tabella di verità relativa alla somma di due addendi. Riportare sia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uscita somma che quella riporto. Disegnare anche il circuito equivalente.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101379" name="Picture 4">
            <a:extLst>
              <a:ext uri="{FF2B5EF4-FFF2-40B4-BE49-F238E27FC236}">
                <a16:creationId xmlns:a16="http://schemas.microsoft.com/office/drawing/2014/main" id="{F2C6AC0E-C2DA-F9C2-9AE7-D37B83BC4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1"/>
          <a:stretch>
            <a:fillRect/>
          </a:stretch>
        </p:blipFill>
        <p:spPr bwMode="auto">
          <a:xfrm>
            <a:off x="177800" y="1905000"/>
            <a:ext cx="3622675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0" name="Picture 5">
            <a:extLst>
              <a:ext uri="{FF2B5EF4-FFF2-40B4-BE49-F238E27FC236}">
                <a16:creationId xmlns:a16="http://schemas.microsoft.com/office/drawing/2014/main" id="{1240BCC0-85CA-AD31-07DA-7D9DF24F6E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3581400"/>
            <a:ext cx="24765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1" name="Picture 6">
            <a:extLst>
              <a:ext uri="{FF2B5EF4-FFF2-40B4-BE49-F238E27FC236}">
                <a16:creationId xmlns:a16="http://schemas.microsoft.com/office/drawing/2014/main" id="{5E026481-8967-D4A9-3933-DECC07153C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2148068"/>
            <a:ext cx="36734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1382" name="Picture 10">
            <a:extLst>
              <a:ext uri="{FF2B5EF4-FFF2-40B4-BE49-F238E27FC236}">
                <a16:creationId xmlns:a16="http://schemas.microsoft.com/office/drawing/2014/main" id="{9C171DC4-0DD7-690A-7927-6404AF2BC9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325" y="4524375"/>
            <a:ext cx="2497138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1383" name="Group 12">
            <a:extLst>
              <a:ext uri="{FF2B5EF4-FFF2-40B4-BE49-F238E27FC236}">
                <a16:creationId xmlns:a16="http://schemas.microsoft.com/office/drawing/2014/main" id="{D4CA128F-E65D-D4DA-6593-F2387521BF44}"/>
              </a:ext>
            </a:extLst>
          </p:cNvPr>
          <p:cNvGrpSpPr>
            <a:grpSpLocks/>
          </p:cNvGrpSpPr>
          <p:nvPr/>
        </p:nvGrpSpPr>
        <p:grpSpPr bwMode="auto">
          <a:xfrm>
            <a:off x="3400425" y="4262438"/>
            <a:ext cx="2425700" cy="947737"/>
            <a:chOff x="2142" y="2685"/>
            <a:chExt cx="1528" cy="597"/>
          </a:xfrm>
        </p:grpSpPr>
        <p:grpSp>
          <p:nvGrpSpPr>
            <p:cNvPr id="101385" name="Group 7">
              <a:extLst>
                <a:ext uri="{FF2B5EF4-FFF2-40B4-BE49-F238E27FC236}">
                  <a16:creationId xmlns:a16="http://schemas.microsoft.com/office/drawing/2014/main" id="{21E368D0-2DA7-E763-A5CB-21EA625F45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2" y="2685"/>
              <a:ext cx="1528" cy="597"/>
              <a:chOff x="1968" y="2914"/>
              <a:chExt cx="1200" cy="449"/>
            </a:xfrm>
          </p:grpSpPr>
          <p:pic>
            <p:nvPicPr>
              <p:cNvPr id="101387" name="Picture 8">
                <a:extLst>
                  <a:ext uri="{FF2B5EF4-FFF2-40B4-BE49-F238E27FC236}">
                    <a16:creationId xmlns:a16="http://schemas.microsoft.com/office/drawing/2014/main" id="{DEE512AD-5FD3-8B83-DAA9-F3A5BEC57F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68" y="2914"/>
                <a:ext cx="1200" cy="44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1388" name="Text Box 9">
                <a:extLst>
                  <a:ext uri="{FF2B5EF4-FFF2-40B4-BE49-F238E27FC236}">
                    <a16:creationId xmlns:a16="http://schemas.microsoft.com/office/drawing/2014/main" id="{C294F779-415D-C83C-D9B9-1AFC71FE59A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86" y="3109"/>
                <a:ext cx="153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it-IT" altLang="it-IT" sz="1600">
                    <a:latin typeface="Arial" panose="020B0604020202020204" pitchFamily="34" charset="0"/>
                  </a:rPr>
                  <a:t>r</a:t>
                </a:r>
              </a:p>
            </p:txBody>
          </p:sp>
        </p:grpSp>
        <p:sp>
          <p:nvSpPr>
            <p:cNvPr id="101386" name="Rectangle 11">
              <a:extLst>
                <a:ext uri="{FF2B5EF4-FFF2-40B4-BE49-F238E27FC236}">
                  <a16:creationId xmlns:a16="http://schemas.microsoft.com/office/drawing/2014/main" id="{2031E89F-5D35-2661-1CEA-1277851CE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1" y="2720"/>
              <a:ext cx="90" cy="25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lg" len="med"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  <p:sp>
        <p:nvSpPr>
          <p:cNvPr id="101384" name="Segnaposto numero diapositiva 12">
            <a:extLst>
              <a:ext uri="{FF2B5EF4-FFF2-40B4-BE49-F238E27FC236}">
                <a16:creationId xmlns:a16="http://schemas.microsoft.com/office/drawing/2014/main" id="{18E0DFDD-E7D6-247F-C28A-D5C56CF4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C3D27A-8B54-4C47-B8C5-FB6DD03E6B48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it-IT" altLang="it-IT" sz="14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2177A431-B26F-4EA4-2F63-4F41CE5ED9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0200" y="165100"/>
            <a:ext cx="8674100" cy="4445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Full Adder (1/2)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5FBAA0B4-56BD-AB09-CF0C-48EF9FB6323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0" y="1295400"/>
            <a:ext cx="9906000" cy="452596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it-IT" altLang="it-IT" sz="2000">
                <a:ea typeface="ＭＳ Ｐゴシック" panose="020B0600070205080204" pitchFamily="34" charset="-128"/>
              </a:rPr>
              <a:t>Scrivere la tabella di verità relativa alla somma di due addendi più il riporto entrante. Riportare sia l</a:t>
            </a:r>
            <a:r>
              <a:rPr lang="ja-JP" altLang="it-IT" sz="2000">
                <a:ea typeface="ＭＳ Ｐゴシック" panose="020B0600070205080204" pitchFamily="34" charset="-128"/>
              </a:rPr>
              <a:t>’</a:t>
            </a:r>
            <a:r>
              <a:rPr lang="it-IT" altLang="ja-JP" sz="2000">
                <a:ea typeface="ＭＳ Ｐゴシック" panose="020B0600070205080204" pitchFamily="34" charset="-128"/>
              </a:rPr>
              <a:t>uscita somma che quella riporto.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pic>
        <p:nvPicPr>
          <p:cNvPr id="102403" name="Picture 4">
            <a:extLst>
              <a:ext uri="{FF2B5EF4-FFF2-40B4-BE49-F238E27FC236}">
                <a16:creationId xmlns:a16="http://schemas.microsoft.com/office/drawing/2014/main" id="{47D92D85-554D-A1FE-85FE-44813C9AE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3783013"/>
            <a:ext cx="2889250" cy="2605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04" name="Picture 5">
            <a:extLst>
              <a:ext uri="{FF2B5EF4-FFF2-40B4-BE49-F238E27FC236}">
                <a16:creationId xmlns:a16="http://schemas.microsoft.com/office/drawing/2014/main" id="{38A9BC97-CDC1-3F46-B318-D6C44A010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214563"/>
            <a:ext cx="3209925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405" name="Group 6">
            <a:extLst>
              <a:ext uri="{FF2B5EF4-FFF2-40B4-BE49-F238E27FC236}">
                <a16:creationId xmlns:a16="http://schemas.microsoft.com/office/drawing/2014/main" id="{B2D37126-1B9D-4BBE-C37D-EA06F3BB9660}"/>
              </a:ext>
            </a:extLst>
          </p:cNvPr>
          <p:cNvGrpSpPr>
            <a:grpSpLocks/>
          </p:cNvGrpSpPr>
          <p:nvPr/>
        </p:nvGrpSpPr>
        <p:grpSpPr bwMode="auto">
          <a:xfrm>
            <a:off x="5610225" y="2224088"/>
            <a:ext cx="3276600" cy="1752600"/>
            <a:chOff x="3375" y="1344"/>
            <a:chExt cx="1905" cy="1104"/>
          </a:xfrm>
        </p:grpSpPr>
        <p:pic>
          <p:nvPicPr>
            <p:cNvPr id="102410" name="Picture 7">
              <a:extLst>
                <a:ext uri="{FF2B5EF4-FFF2-40B4-BE49-F238E27FC236}">
                  <a16:creationId xmlns:a16="http://schemas.microsoft.com/office/drawing/2014/main" id="{FDEF1273-72B9-5B80-4A5E-677B48982D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72" b="3999"/>
            <a:stretch>
              <a:fillRect/>
            </a:stretch>
          </p:blipFill>
          <p:spPr bwMode="auto">
            <a:xfrm>
              <a:off x="3426" y="1488"/>
              <a:ext cx="1854" cy="9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11" name="Text Box 8">
              <a:extLst>
                <a:ext uri="{FF2B5EF4-FFF2-40B4-BE49-F238E27FC236}">
                  <a16:creationId xmlns:a16="http://schemas.microsoft.com/office/drawing/2014/main" id="{53D710B2-2310-F7B8-0A81-968897862E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5" y="1344"/>
              <a:ext cx="192" cy="5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>
                  <a:latin typeface="Arial" panose="020B0604020202020204" pitchFamily="34" charset="0"/>
                </a:rPr>
                <a:t>r</a:t>
              </a:r>
            </a:p>
          </p:txBody>
        </p:sp>
      </p:grpSp>
      <p:grpSp>
        <p:nvGrpSpPr>
          <p:cNvPr id="102406" name="Group 9">
            <a:extLst>
              <a:ext uri="{FF2B5EF4-FFF2-40B4-BE49-F238E27FC236}">
                <a16:creationId xmlns:a16="http://schemas.microsoft.com/office/drawing/2014/main" id="{813837DC-7002-87D1-9391-2A8930141ECF}"/>
              </a:ext>
            </a:extLst>
          </p:cNvPr>
          <p:cNvGrpSpPr>
            <a:grpSpLocks/>
          </p:cNvGrpSpPr>
          <p:nvPr/>
        </p:nvGrpSpPr>
        <p:grpSpPr bwMode="auto">
          <a:xfrm>
            <a:off x="5600700" y="4110038"/>
            <a:ext cx="3286125" cy="1695450"/>
            <a:chOff x="3369" y="2388"/>
            <a:chExt cx="1911" cy="1068"/>
          </a:xfrm>
        </p:grpSpPr>
        <p:pic>
          <p:nvPicPr>
            <p:cNvPr id="102408" name="Picture 10">
              <a:extLst>
                <a:ext uri="{FF2B5EF4-FFF2-40B4-BE49-F238E27FC236}">
                  <a16:creationId xmlns:a16="http://schemas.microsoft.com/office/drawing/2014/main" id="{83C687F6-7AF5-A495-1BDB-C6F6A2089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06" r="2499" b="5882"/>
            <a:stretch>
              <a:fillRect/>
            </a:stretch>
          </p:blipFill>
          <p:spPr bwMode="auto">
            <a:xfrm>
              <a:off x="3408" y="2544"/>
              <a:ext cx="1872" cy="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409" name="Text Box 11">
              <a:extLst>
                <a:ext uri="{FF2B5EF4-FFF2-40B4-BE49-F238E27FC236}">
                  <a16:creationId xmlns:a16="http://schemas.microsoft.com/office/drawing/2014/main" id="{9BCBC4F4-CBE5-B6AB-0516-0396CD134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9" y="2388"/>
              <a:ext cx="192" cy="5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it-IT" altLang="it-IT" sz="18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>
                  <a:latin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102407" name="Segnaposto numero diapositiva 11">
            <a:extLst>
              <a:ext uri="{FF2B5EF4-FFF2-40B4-BE49-F238E27FC236}">
                <a16:creationId xmlns:a16="http://schemas.microsoft.com/office/drawing/2014/main" id="{43CBC471-61D0-03FB-65D7-1F21F4192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FE37A0E-39D6-49F3-8778-3E7F4120E302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it-IT" altLang="it-IT" sz="1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>
            <a:extLst>
              <a:ext uri="{FF2B5EF4-FFF2-40B4-BE49-F238E27FC236}">
                <a16:creationId xmlns:a16="http://schemas.microsoft.com/office/drawing/2014/main" id="{7BA5E580-3023-DD84-A285-0B2E78EFF6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025" y="247650"/>
            <a:ext cx="8674100" cy="4445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Full Adder (2/2)</a:t>
            </a:r>
          </a:p>
        </p:txBody>
      </p:sp>
      <p:sp>
        <p:nvSpPr>
          <p:cNvPr id="103426" name="Rectangle 3">
            <a:extLst>
              <a:ext uri="{FF2B5EF4-FFF2-40B4-BE49-F238E27FC236}">
                <a16:creationId xmlns:a16="http://schemas.microsoft.com/office/drawing/2014/main" id="{FA85FD92-BF2A-C119-A4A1-5D6545ACDC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43000"/>
            <a:ext cx="5283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it-IT" altLang="it-IT" sz="1800" b="0"/>
              <a:t>Le uscite valgono quindi:</a:t>
            </a:r>
          </a:p>
        </p:txBody>
      </p:sp>
      <p:pic>
        <p:nvPicPr>
          <p:cNvPr id="103427" name="Picture 4">
            <a:extLst>
              <a:ext uri="{FF2B5EF4-FFF2-40B4-BE49-F238E27FC236}">
                <a16:creationId xmlns:a16="http://schemas.microsoft.com/office/drawing/2014/main" id="{825DEB6D-723E-08D9-2A9D-72C2B811E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" y="1657350"/>
            <a:ext cx="48704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3428" name="Object 5">
            <a:extLst>
              <a:ext uri="{FF2B5EF4-FFF2-40B4-BE49-F238E27FC236}">
                <a16:creationId xmlns:a16="http://schemas.microsoft.com/office/drawing/2014/main" id="{BC25E490-220F-F931-F442-0FDCE64D89B3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68338" y="2266950"/>
          <a:ext cx="6345237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0" imgH="0" progId="Equation.3">
                  <p:embed/>
                </p:oleObj>
              </mc:Choice>
              <mc:Fallback>
                <p:oleObj name="Equation" r:id="rId3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2266950"/>
                        <a:ext cx="6345237" cy="4635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429" name="Picture 6">
            <a:extLst>
              <a:ext uri="{FF2B5EF4-FFF2-40B4-BE49-F238E27FC236}">
                <a16:creationId xmlns:a16="http://schemas.microsoft.com/office/drawing/2014/main" id="{28E3EDB3-4B5F-483F-7678-890F9C0BB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932"/>
          <a:stretch>
            <a:fillRect/>
          </a:stretch>
        </p:blipFill>
        <p:spPr bwMode="auto">
          <a:xfrm>
            <a:off x="560388" y="2997200"/>
            <a:ext cx="4030662" cy="35845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430" name="Group 7">
            <a:extLst>
              <a:ext uri="{FF2B5EF4-FFF2-40B4-BE49-F238E27FC236}">
                <a16:creationId xmlns:a16="http://schemas.microsoft.com/office/drawing/2014/main" id="{ABF57E81-0B06-BD72-A3C9-8348FD5BFD52}"/>
              </a:ext>
            </a:extLst>
          </p:cNvPr>
          <p:cNvGrpSpPr>
            <a:grpSpLocks/>
          </p:cNvGrpSpPr>
          <p:nvPr/>
        </p:nvGrpSpPr>
        <p:grpSpPr bwMode="auto">
          <a:xfrm>
            <a:off x="5156200" y="2995613"/>
            <a:ext cx="3738563" cy="3581400"/>
            <a:chOff x="3168" y="1872"/>
            <a:chExt cx="2174" cy="2256"/>
          </a:xfrm>
        </p:grpSpPr>
        <p:pic>
          <p:nvPicPr>
            <p:cNvPr id="103432" name="Picture 8">
              <a:extLst>
                <a:ext uri="{FF2B5EF4-FFF2-40B4-BE49-F238E27FC236}">
                  <a16:creationId xmlns:a16="http://schemas.microsoft.com/office/drawing/2014/main" id="{EA6FAD9A-1FF7-C8D8-F65C-3BEFDF744D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8" y="1872"/>
              <a:ext cx="2174" cy="22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433" name="Text Box 9">
              <a:extLst>
                <a:ext uri="{FF2B5EF4-FFF2-40B4-BE49-F238E27FC236}">
                  <a16:creationId xmlns:a16="http://schemas.microsoft.com/office/drawing/2014/main" id="{E6ED006E-CEC9-23D7-8DDE-DE7B97ADA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400"/>
              <a:ext cx="144" cy="23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400">
                  <a:latin typeface="Arial" panose="020B0604020202020204" pitchFamily="34" charset="0"/>
                </a:rPr>
                <a:t>r</a:t>
              </a:r>
            </a:p>
          </p:txBody>
        </p:sp>
      </p:grpSp>
      <p:sp>
        <p:nvSpPr>
          <p:cNvPr id="103431" name="Segnaposto numero diapositiva 9">
            <a:extLst>
              <a:ext uri="{FF2B5EF4-FFF2-40B4-BE49-F238E27FC236}">
                <a16:creationId xmlns:a16="http://schemas.microsoft.com/office/drawing/2014/main" id="{F56D773B-EA32-D80A-C5BE-FD6719A3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81CDCC-5F46-4E0A-9C5B-DA0E51D7FF86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72</a:t>
            </a:fld>
            <a:endParaRPr lang="it-IT" altLang="it-IT" sz="14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B40E8680-33D1-F5EC-6A1A-A8D16D191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150" y="333375"/>
            <a:ext cx="8674100" cy="444500"/>
          </a:xfrm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Full Adder: sintesi per decomposizione</a:t>
            </a:r>
          </a:p>
        </p:txBody>
      </p:sp>
      <p:pic>
        <p:nvPicPr>
          <p:cNvPr id="104450" name="Picture 3">
            <a:extLst>
              <a:ext uri="{FF2B5EF4-FFF2-40B4-BE49-F238E27FC236}">
                <a16:creationId xmlns:a16="http://schemas.microsoft.com/office/drawing/2014/main" id="{2EF79F9C-9EC4-5776-2E0D-AB6E6FDA1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7"/>
          <a:stretch>
            <a:fillRect/>
          </a:stretch>
        </p:blipFill>
        <p:spPr bwMode="auto">
          <a:xfrm>
            <a:off x="57150" y="1341438"/>
            <a:ext cx="5183188" cy="478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451" name="Picture 4">
            <a:extLst>
              <a:ext uri="{FF2B5EF4-FFF2-40B4-BE49-F238E27FC236}">
                <a16:creationId xmlns:a16="http://schemas.microsoft.com/office/drawing/2014/main" id="{A92C48BD-D716-1FD4-776A-99C607AC4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644775"/>
            <a:ext cx="4968875" cy="207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2" name="Segnaposto numero diapositiva 4">
            <a:extLst>
              <a:ext uri="{FF2B5EF4-FFF2-40B4-BE49-F238E27FC236}">
                <a16:creationId xmlns:a16="http://schemas.microsoft.com/office/drawing/2014/main" id="{A6BEA479-42FA-9C3D-DBA8-EA892E689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800B32-34DE-4EFF-A3A9-84D56933D84D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73</a:t>
            </a:fld>
            <a:endParaRPr lang="it-IT" altLang="it-IT" sz="1400"/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Segnaposto numero diapositiva 3">
            <a:extLst>
              <a:ext uri="{FF2B5EF4-FFF2-40B4-BE49-F238E27FC236}">
                <a16:creationId xmlns:a16="http://schemas.microsoft.com/office/drawing/2014/main" id="{04CC8842-7264-B1CF-BFC8-78B205E3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D19FB4E-F3D1-4FCF-AC37-7CA581224F41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74</a:t>
            </a:fld>
            <a:endParaRPr lang="it-IT" altLang="it-IT" sz="14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67AF1B69-9409-8FB0-810F-0D2285AD60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FBBEB9E-8DA3-D775-0643-F8149A132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E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 possibile isolare il fattore </a:t>
            </a:r>
            <a:r>
              <a:rPr lang="it-IT" altLang="ja-JP" b="1">
                <a:ea typeface="ＭＳ Ｐゴシック" panose="020B0600070205080204" pitchFamily="34" charset="-128"/>
              </a:rPr>
              <a:t>(a </a:t>
            </a:r>
            <a:r>
              <a:rPr lang="it-IT" altLang="ja-JP" b="1">
                <a:ea typeface="ＭＳ Ｐゴシック" panose="020B0600070205080204" pitchFamily="34" charset="-128"/>
                <a:sym typeface="Symbol" panose="05050102010706020507" pitchFamily="18" charset="2"/>
              </a:rPr>
              <a:t></a:t>
            </a:r>
            <a:r>
              <a:rPr lang="it-IT" altLang="ja-JP" b="1">
                <a:ea typeface="ＭＳ Ｐゴシック" panose="020B0600070205080204" pitchFamily="34" charset="-128"/>
              </a:rPr>
              <a:t> b)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Rielaborando le precedenti espressioni è quindi possibile ottenere le seguenti espressioni per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addizionatore completo: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05476" name="Rectangle 5">
            <a:extLst>
              <a:ext uri="{FF2B5EF4-FFF2-40B4-BE49-F238E27FC236}">
                <a16:creationId xmlns:a16="http://schemas.microsoft.com/office/drawing/2014/main" id="{70B5E256-3EE1-16D1-AD26-13ECE8E38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242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05477" name="Object 2">
            <a:extLst>
              <a:ext uri="{FF2B5EF4-FFF2-40B4-BE49-F238E27FC236}">
                <a16:creationId xmlns:a16="http://schemas.microsoft.com/office/drawing/2014/main" id="{E75FB50F-4C40-F3E0-3F1C-19BA76009B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20838" y="3903663"/>
          <a:ext cx="4054475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0838" y="3903663"/>
                        <a:ext cx="4054475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Segnaposto numero diapositiva 4">
            <a:extLst>
              <a:ext uri="{FF2B5EF4-FFF2-40B4-BE49-F238E27FC236}">
                <a16:creationId xmlns:a16="http://schemas.microsoft.com/office/drawing/2014/main" id="{C0D89474-ABDD-7E12-EEED-EF2EBD58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7B64916-F6C1-480C-B476-60CD711FC76F}" type="slidenum">
              <a:rPr lang="it-IT" altLang="it-IT" sz="10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75</a:t>
            </a:fld>
            <a:endParaRPr lang="it-IT" altLang="it-IT" sz="10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4A982472-9699-E482-BAF2-6E8459A3C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33A348E1-86C9-3DF0-2CE1-78408428008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812213" cy="2185988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Pertanto, un addizionatore completo può essere ottenuto a partire da due semiaddizionatori:</a:t>
            </a:r>
          </a:p>
        </p:txBody>
      </p:sp>
      <p:grpSp>
        <p:nvGrpSpPr>
          <p:cNvPr id="106500" name="Group 36">
            <a:extLst>
              <a:ext uri="{FF2B5EF4-FFF2-40B4-BE49-F238E27FC236}">
                <a16:creationId xmlns:a16="http://schemas.microsoft.com/office/drawing/2014/main" id="{F69038A3-7243-32F5-4439-C59B8E99770C}"/>
              </a:ext>
            </a:extLst>
          </p:cNvPr>
          <p:cNvGrpSpPr>
            <a:grpSpLocks/>
          </p:cNvGrpSpPr>
          <p:nvPr/>
        </p:nvGrpSpPr>
        <p:grpSpPr bwMode="auto">
          <a:xfrm>
            <a:off x="1722438" y="4221163"/>
            <a:ext cx="6934200" cy="1879600"/>
            <a:chOff x="1436" y="2286"/>
            <a:chExt cx="4032" cy="1184"/>
          </a:xfrm>
        </p:grpSpPr>
        <p:grpSp>
          <p:nvGrpSpPr>
            <p:cNvPr id="106502" name="Group 9">
              <a:extLst>
                <a:ext uri="{FF2B5EF4-FFF2-40B4-BE49-F238E27FC236}">
                  <a16:creationId xmlns:a16="http://schemas.microsoft.com/office/drawing/2014/main" id="{58E4B5F2-5C19-8CCC-E0B6-E3BFF8D61E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3" y="2438"/>
              <a:ext cx="750" cy="395"/>
              <a:chOff x="2083" y="2438"/>
              <a:chExt cx="750" cy="395"/>
            </a:xfrm>
          </p:grpSpPr>
          <p:sp>
            <p:nvSpPr>
              <p:cNvPr id="106523" name="Rectangle 4">
                <a:extLst>
                  <a:ext uri="{FF2B5EF4-FFF2-40B4-BE49-F238E27FC236}">
                    <a16:creationId xmlns:a16="http://schemas.microsoft.com/office/drawing/2014/main" id="{D4D943E4-9DB2-A360-B1A0-28AF0BB432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3" y="2438"/>
                <a:ext cx="750" cy="39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/>
              </a:p>
            </p:txBody>
          </p:sp>
          <p:sp>
            <p:nvSpPr>
              <p:cNvPr id="106524" name="Text Box 6">
                <a:extLst>
                  <a:ext uri="{FF2B5EF4-FFF2-40B4-BE49-F238E27FC236}">
                    <a16:creationId xmlns:a16="http://schemas.microsoft.com/office/drawing/2014/main" id="{84576F1F-5930-E248-1D2E-2EA33FD9C2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30" y="2509"/>
                <a:ext cx="63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it-IT" altLang="it-IT" sz="1800"/>
                  <a:t>HA</a:t>
                </a:r>
              </a:p>
            </p:txBody>
          </p:sp>
        </p:grpSp>
        <p:grpSp>
          <p:nvGrpSpPr>
            <p:cNvPr id="106503" name="Group 8">
              <a:extLst>
                <a:ext uri="{FF2B5EF4-FFF2-40B4-BE49-F238E27FC236}">
                  <a16:creationId xmlns:a16="http://schemas.microsoft.com/office/drawing/2014/main" id="{A1189E86-0A29-2433-5600-B2CDDA1FB3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96" y="3039"/>
              <a:ext cx="750" cy="395"/>
              <a:chOff x="3096" y="3039"/>
              <a:chExt cx="750" cy="395"/>
            </a:xfrm>
          </p:grpSpPr>
          <p:sp>
            <p:nvSpPr>
              <p:cNvPr id="106521" name="Rectangle 5">
                <a:extLst>
                  <a:ext uri="{FF2B5EF4-FFF2-40B4-BE49-F238E27FC236}">
                    <a16:creationId xmlns:a16="http://schemas.microsoft.com/office/drawing/2014/main" id="{71156C96-5529-E909-0C66-5142F9A26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6" y="3039"/>
                <a:ext cx="750" cy="395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 sz="1800"/>
              </a:p>
            </p:txBody>
          </p:sp>
          <p:sp>
            <p:nvSpPr>
              <p:cNvPr id="106522" name="Text Box 7">
                <a:extLst>
                  <a:ext uri="{FF2B5EF4-FFF2-40B4-BE49-F238E27FC236}">
                    <a16:creationId xmlns:a16="http://schemas.microsoft.com/office/drawing/2014/main" id="{039A65EE-E10E-30D2-407F-8CA698EB31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35" y="3118"/>
                <a:ext cx="632" cy="2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it-IT" altLang="it-IT" sz="1800"/>
                  <a:t>HA</a:t>
                </a:r>
              </a:p>
            </p:txBody>
          </p:sp>
        </p:grpSp>
        <p:sp>
          <p:nvSpPr>
            <p:cNvPr id="106504" name="Line 10">
              <a:extLst>
                <a:ext uri="{FF2B5EF4-FFF2-40B4-BE49-F238E27FC236}">
                  <a16:creationId xmlns:a16="http://schemas.microsoft.com/office/drawing/2014/main" id="{1F5798F1-20BC-E7AD-19D0-79975EF206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0" y="2517"/>
              <a:ext cx="3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05" name="Line 11">
              <a:extLst>
                <a:ext uri="{FF2B5EF4-FFF2-40B4-BE49-F238E27FC236}">
                  <a16:creationId xmlns:a16="http://schemas.microsoft.com/office/drawing/2014/main" id="{E5C5629F-DAA5-8FFD-8C13-76E2E53CF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2" y="2684"/>
              <a:ext cx="34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06" name="Line 12">
              <a:extLst>
                <a:ext uri="{FF2B5EF4-FFF2-40B4-BE49-F238E27FC236}">
                  <a16:creationId xmlns:a16="http://schemas.microsoft.com/office/drawing/2014/main" id="{4F7E745E-C4BB-9C52-9929-D0B417F6D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45" y="3357"/>
              <a:ext cx="13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106507" name="AutoShape 14">
              <a:extLst>
                <a:ext uri="{FF2B5EF4-FFF2-40B4-BE49-F238E27FC236}">
                  <a16:creationId xmlns:a16="http://schemas.microsoft.com/office/drawing/2014/main" id="{99D3E299-88B3-46EA-CE11-AB8AA59DAD2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838" y="3314"/>
              <a:ext cx="328" cy="2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06508" name="Text Box 15">
              <a:extLst>
                <a:ext uri="{FF2B5EF4-FFF2-40B4-BE49-F238E27FC236}">
                  <a16:creationId xmlns:a16="http://schemas.microsoft.com/office/drawing/2014/main" id="{AB4A856F-6DFC-28DF-6C93-8600568CB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6" y="2383"/>
              <a:ext cx="2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a</a:t>
              </a:r>
            </a:p>
          </p:txBody>
        </p:sp>
        <p:sp>
          <p:nvSpPr>
            <p:cNvPr id="106509" name="Text Box 16">
              <a:extLst>
                <a:ext uri="{FF2B5EF4-FFF2-40B4-BE49-F238E27FC236}">
                  <a16:creationId xmlns:a16="http://schemas.microsoft.com/office/drawing/2014/main" id="{106835BF-CB71-2341-E4E9-20A7C6679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38" y="2605"/>
              <a:ext cx="2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b</a:t>
              </a:r>
            </a:p>
          </p:txBody>
        </p:sp>
        <p:sp>
          <p:nvSpPr>
            <p:cNvPr id="106510" name="Text Box 17">
              <a:extLst>
                <a:ext uri="{FF2B5EF4-FFF2-40B4-BE49-F238E27FC236}">
                  <a16:creationId xmlns:a16="http://schemas.microsoft.com/office/drawing/2014/main" id="{28CA6B4F-7E6E-5DCE-1D27-0E5F720A41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6" y="3237"/>
              <a:ext cx="26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r</a:t>
              </a:r>
            </a:p>
          </p:txBody>
        </p:sp>
        <p:sp>
          <p:nvSpPr>
            <p:cNvPr id="106511" name="Text Box 19">
              <a:extLst>
                <a:ext uri="{FF2B5EF4-FFF2-40B4-BE49-F238E27FC236}">
                  <a16:creationId xmlns:a16="http://schemas.microsoft.com/office/drawing/2014/main" id="{F8A6A6A4-ABB8-B48D-0B4E-39523E488F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8" y="3207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a </a:t>
              </a:r>
              <a:r>
                <a:rPr lang="it-IT" altLang="it-IT" sz="1800">
                  <a:sym typeface="Symbol" panose="05050102010706020507" pitchFamily="18" charset="2"/>
                </a:rPr>
                <a:t></a:t>
              </a:r>
              <a:r>
                <a:rPr lang="it-IT" altLang="it-IT" sz="1800"/>
                <a:t> b </a:t>
              </a:r>
              <a:r>
                <a:rPr lang="it-IT" altLang="it-IT" sz="1800">
                  <a:sym typeface="Symbol" panose="05050102010706020507" pitchFamily="18" charset="2"/>
                </a:rPr>
                <a:t> r</a:t>
              </a:r>
            </a:p>
          </p:txBody>
        </p:sp>
        <p:sp>
          <p:nvSpPr>
            <p:cNvPr id="106512" name="Text Box 20">
              <a:extLst>
                <a:ext uri="{FF2B5EF4-FFF2-40B4-BE49-F238E27FC236}">
                  <a16:creationId xmlns:a16="http://schemas.microsoft.com/office/drawing/2014/main" id="{B965E82E-4191-1696-AA54-0870D35F7A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735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H = a </a:t>
              </a:r>
              <a:r>
                <a:rPr lang="it-IT" altLang="it-IT" sz="1800">
                  <a:sym typeface="Symbol" panose="05050102010706020507" pitchFamily="18" charset="2"/>
                </a:rPr>
                <a:t></a:t>
              </a:r>
              <a:r>
                <a:rPr lang="it-IT" altLang="it-IT" sz="1800"/>
                <a:t> b</a:t>
              </a:r>
              <a:endParaRPr lang="it-IT" altLang="it-IT" sz="1800">
                <a:sym typeface="Symbol" panose="05050102010706020507" pitchFamily="18" charset="2"/>
              </a:endParaRPr>
            </a:p>
          </p:txBody>
        </p:sp>
        <p:sp>
          <p:nvSpPr>
            <p:cNvPr id="106513" name="AutoShape 26">
              <a:extLst>
                <a:ext uri="{FF2B5EF4-FFF2-40B4-BE49-F238E27FC236}">
                  <a16:creationId xmlns:a16="http://schemas.microsoft.com/office/drawing/2014/main" id="{305AC86E-0D1A-B7E4-E5F2-4E07A39B973F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4206" y="2430"/>
              <a:ext cx="346" cy="237"/>
            </a:xfrm>
            <a:prstGeom prst="flowChartOnlineStorag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800"/>
            </a:p>
          </p:txBody>
        </p:sp>
        <p:sp>
          <p:nvSpPr>
            <p:cNvPr id="106514" name="Freeform 28">
              <a:extLst>
                <a:ext uri="{FF2B5EF4-FFF2-40B4-BE49-F238E27FC236}">
                  <a16:creationId xmlns:a16="http://schemas.microsoft.com/office/drawing/2014/main" id="{4473B2CA-7AFF-7950-46E1-B17BA8653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3" y="2604"/>
              <a:ext cx="402" cy="528"/>
            </a:xfrm>
            <a:custGeom>
              <a:avLst/>
              <a:gdLst>
                <a:gd name="T0" fmla="*/ 0 w 402"/>
                <a:gd name="T1" fmla="*/ 528 h 528"/>
                <a:gd name="T2" fmla="*/ 173 w 402"/>
                <a:gd name="T3" fmla="*/ 528 h 528"/>
                <a:gd name="T4" fmla="*/ 173 w 402"/>
                <a:gd name="T5" fmla="*/ 0 h 528"/>
                <a:gd name="T6" fmla="*/ 402 w 402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2"/>
                <a:gd name="T13" fmla="*/ 0 h 528"/>
                <a:gd name="T14" fmla="*/ 402 w 402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2" h="528">
                  <a:moveTo>
                    <a:pt x="0" y="528"/>
                  </a:moveTo>
                  <a:lnTo>
                    <a:pt x="173" y="528"/>
                  </a:lnTo>
                  <a:lnTo>
                    <a:pt x="173" y="0"/>
                  </a:lnTo>
                  <a:lnTo>
                    <a:pt x="40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15" name="Freeform 30">
              <a:extLst>
                <a:ext uri="{FF2B5EF4-FFF2-40B4-BE49-F238E27FC236}">
                  <a16:creationId xmlns:a16="http://schemas.microsoft.com/office/drawing/2014/main" id="{EB71B76F-98E7-FCC9-CE46-EEF660A49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2714"/>
              <a:ext cx="260" cy="450"/>
            </a:xfrm>
            <a:custGeom>
              <a:avLst/>
              <a:gdLst>
                <a:gd name="T0" fmla="*/ 0 w 260"/>
                <a:gd name="T1" fmla="*/ 0 h 450"/>
                <a:gd name="T2" fmla="*/ 94 w 260"/>
                <a:gd name="T3" fmla="*/ 0 h 450"/>
                <a:gd name="T4" fmla="*/ 94 w 260"/>
                <a:gd name="T5" fmla="*/ 450 h 450"/>
                <a:gd name="T6" fmla="*/ 260 w 260"/>
                <a:gd name="T7" fmla="*/ 450 h 4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0"/>
                <a:gd name="T13" fmla="*/ 0 h 450"/>
                <a:gd name="T14" fmla="*/ 260 w 260"/>
                <a:gd name="T15" fmla="*/ 450 h 4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0" h="450">
                  <a:moveTo>
                    <a:pt x="0" y="0"/>
                  </a:moveTo>
                  <a:lnTo>
                    <a:pt x="94" y="0"/>
                  </a:lnTo>
                  <a:lnTo>
                    <a:pt x="94" y="450"/>
                  </a:lnTo>
                  <a:lnTo>
                    <a:pt x="260" y="4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16" name="Line 31">
              <a:extLst>
                <a:ext uri="{FF2B5EF4-FFF2-40B4-BE49-F238E27FC236}">
                  <a16:creationId xmlns:a16="http://schemas.microsoft.com/office/drawing/2014/main" id="{429513AD-50BD-FDAF-B8D6-76580313E1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3" y="2509"/>
              <a:ext cx="14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17" name="Line 32">
              <a:extLst>
                <a:ext uri="{FF2B5EF4-FFF2-40B4-BE49-F238E27FC236}">
                  <a16:creationId xmlns:a16="http://schemas.microsoft.com/office/drawing/2014/main" id="{52208A4A-974C-11F5-AB4B-E40E292B62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3" y="2541"/>
              <a:ext cx="2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518" name="Text Box 33">
              <a:extLst>
                <a:ext uri="{FF2B5EF4-FFF2-40B4-BE49-F238E27FC236}">
                  <a16:creationId xmlns:a16="http://schemas.microsoft.com/office/drawing/2014/main" id="{DEC8C938-793D-EB1F-0E35-6B33CAA0C2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0" y="2286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G = a </a:t>
              </a:r>
              <a:r>
                <a:rPr lang="en-US" altLang="it-IT" sz="1800">
                  <a:cs typeface="Arial" panose="020B0604020202020204" pitchFamily="34" charset="0"/>
                  <a:sym typeface="Symbol" panose="05050102010706020507" pitchFamily="18" charset="2"/>
                </a:rPr>
                <a:t>·</a:t>
              </a:r>
              <a:r>
                <a:rPr lang="it-IT" altLang="it-IT" sz="1800">
                  <a:cs typeface="Arial" panose="020B0604020202020204" pitchFamily="34" charset="0"/>
                </a:rPr>
                <a:t> b</a:t>
              </a:r>
              <a:endParaRPr lang="it-IT" altLang="it-IT" sz="180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06519" name="Text Box 34">
              <a:extLst>
                <a:ext uri="{FF2B5EF4-FFF2-40B4-BE49-F238E27FC236}">
                  <a16:creationId xmlns:a16="http://schemas.microsoft.com/office/drawing/2014/main" id="{A05F5112-11F5-F2BD-EB17-E07537FC24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5" y="2746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H </a:t>
              </a:r>
              <a:r>
                <a:rPr lang="en-US" altLang="it-IT" sz="1800">
                  <a:cs typeface="Arial" panose="020B0604020202020204" pitchFamily="34" charset="0"/>
                  <a:sym typeface="Symbol" panose="05050102010706020507" pitchFamily="18" charset="2"/>
                </a:rPr>
                <a:t>·</a:t>
              </a:r>
              <a:r>
                <a:rPr lang="it-IT" altLang="it-IT" sz="1800">
                  <a:cs typeface="Arial" panose="020B0604020202020204" pitchFamily="34" charset="0"/>
                </a:rPr>
                <a:t> r</a:t>
              </a:r>
              <a:endParaRPr lang="it-IT" altLang="it-IT" sz="180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106520" name="Text Box 35">
              <a:extLst>
                <a:ext uri="{FF2B5EF4-FFF2-40B4-BE49-F238E27FC236}">
                  <a16:creationId xmlns:a16="http://schemas.microsoft.com/office/drawing/2014/main" id="{0EE6BFAA-24E0-F668-5273-7BE62A7725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9" y="2311"/>
              <a:ext cx="119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it-IT" altLang="it-IT" sz="1800"/>
                <a:t>G + H</a:t>
              </a:r>
              <a:r>
                <a:rPr lang="en-US" altLang="it-IT" sz="1800">
                  <a:cs typeface="Arial" panose="020B0604020202020204" pitchFamily="34" charset="0"/>
                </a:rPr>
                <a:t>·</a:t>
              </a:r>
              <a:r>
                <a:rPr lang="it-IT" altLang="it-IT" sz="1800">
                  <a:cs typeface="Arial" panose="020B0604020202020204" pitchFamily="34" charset="0"/>
                </a:rPr>
                <a:t>r</a:t>
              </a:r>
              <a:endParaRPr lang="it-IT" altLang="it-IT" sz="1800">
                <a:cs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aphicFrame>
        <p:nvGraphicFramePr>
          <p:cNvPr id="106501" name="Object 2">
            <a:extLst>
              <a:ext uri="{FF2B5EF4-FFF2-40B4-BE49-F238E27FC236}">
                <a16:creationId xmlns:a16="http://schemas.microsoft.com/office/drawing/2014/main" id="{C57D84AC-0338-6350-92A8-FCE0CE77B12F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511425" y="2714625"/>
          <a:ext cx="4513263" cy="107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5" y="2714625"/>
                        <a:ext cx="4513263" cy="1073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Segnaposto numero diapositiva 3">
            <a:extLst>
              <a:ext uri="{FF2B5EF4-FFF2-40B4-BE49-F238E27FC236}">
                <a16:creationId xmlns:a16="http://schemas.microsoft.com/office/drawing/2014/main" id="{B5CDED71-45B1-F24A-4583-3B3C8DD4C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5BE89E39-9DD7-48C0-A588-07EA1A4E7255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76</a:t>
            </a:fld>
            <a:endParaRPr lang="it-IT" altLang="it-IT" sz="14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60263432-2D7F-3D35-D808-225CD1BBC3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binario: il riporto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6BA8E109-792D-4B84-282B-6D7F22C9FE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Le diverse componenti dell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espressione ottenuta per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addizionatore binario assumono un significato particolare:</a:t>
            </a:r>
          </a:p>
          <a:p>
            <a:pPr lvl="1"/>
            <a:r>
              <a:rPr lang="it-IT" altLang="it-IT" sz="2800" b="1">
                <a:ea typeface="ＭＳ Ｐゴシック" panose="020B0600070205080204" pitchFamily="34" charset="-128"/>
              </a:rPr>
              <a:t>G = a·b</a:t>
            </a:r>
            <a:r>
              <a:rPr lang="it-IT" altLang="it-IT" sz="2800">
                <a:ea typeface="ＭＳ Ｐゴシック" panose="020B0600070205080204" pitchFamily="34" charset="-128"/>
              </a:rPr>
              <a:t>  </a:t>
            </a:r>
            <a:r>
              <a:rPr lang="ja-JP" altLang="it-IT" sz="2800">
                <a:ea typeface="ＭＳ Ｐゴシック" panose="020B0600070205080204" pitchFamily="34" charset="-128"/>
              </a:rPr>
              <a:t>“</a:t>
            </a:r>
            <a:r>
              <a:rPr lang="it-IT" altLang="ja-JP" sz="2800" b="1">
                <a:ea typeface="ＭＳ Ｐゴシック" panose="020B0600070205080204" pitchFamily="34" charset="-128"/>
              </a:rPr>
              <a:t>riporto generato</a:t>
            </a:r>
            <a:r>
              <a:rPr lang="ja-JP" altLang="it-IT" sz="2800">
                <a:ea typeface="ＭＳ Ｐゴシック" panose="020B0600070205080204" pitchFamily="34" charset="-128"/>
              </a:rPr>
              <a:t>”</a:t>
            </a:r>
            <a:r>
              <a:rPr lang="it-IT" altLang="ja-JP" sz="2800">
                <a:ea typeface="ＭＳ Ｐゴシック" panose="020B0600070205080204" pitchFamily="34" charset="-128"/>
              </a:rPr>
              <a:t>: indica la creazione di un riporto all</a:t>
            </a:r>
            <a:r>
              <a:rPr lang="ja-JP" altLang="it-IT" sz="2800">
                <a:ea typeface="ＭＳ Ｐゴシック" panose="020B0600070205080204" pitchFamily="34" charset="-128"/>
              </a:rPr>
              <a:t>’</a:t>
            </a:r>
            <a:r>
              <a:rPr lang="it-IT" altLang="ja-JP" sz="2800">
                <a:ea typeface="ＭＳ Ｐゴシック" panose="020B0600070205080204" pitchFamily="34" charset="-128"/>
              </a:rPr>
              <a:t>interno dell</a:t>
            </a:r>
            <a:r>
              <a:rPr lang="ja-JP" altLang="it-IT" sz="2800">
                <a:ea typeface="ＭＳ Ｐゴシック" panose="020B0600070205080204" pitchFamily="34" charset="-128"/>
              </a:rPr>
              <a:t>’</a:t>
            </a:r>
            <a:r>
              <a:rPr lang="it-IT" altLang="ja-JP" sz="2800">
                <a:ea typeface="ＭＳ Ｐゴシック" panose="020B0600070205080204" pitchFamily="34" charset="-128"/>
              </a:rPr>
              <a:t>addizionatore binario</a:t>
            </a:r>
          </a:p>
          <a:p>
            <a:pPr lvl="1"/>
            <a:r>
              <a:rPr lang="it-IT" altLang="it-IT" sz="2800" b="1">
                <a:ea typeface="ＭＳ Ｐゴシック" panose="020B0600070205080204" pitchFamily="34" charset="-128"/>
              </a:rPr>
              <a:t>P = H = a</a:t>
            </a:r>
            <a:r>
              <a:rPr lang="it-IT" altLang="it-IT" sz="2800" b="1">
                <a:ea typeface="ＭＳ Ｐゴシック" panose="020B0600070205080204" pitchFamily="34" charset="-128"/>
                <a:sym typeface="Symbol" panose="05050102010706020507" pitchFamily="18" charset="2"/>
              </a:rPr>
              <a:t></a:t>
            </a:r>
            <a:r>
              <a:rPr lang="it-IT" altLang="it-IT" sz="2800" b="1">
                <a:ea typeface="ＭＳ Ｐゴシック" panose="020B0600070205080204" pitchFamily="34" charset="-128"/>
              </a:rPr>
              <a:t>b</a:t>
            </a:r>
            <a:r>
              <a:rPr lang="it-IT" altLang="it-IT" sz="2800">
                <a:ea typeface="ＭＳ Ｐゴシック" panose="020B0600070205080204" pitchFamily="34" charset="-128"/>
              </a:rPr>
              <a:t> </a:t>
            </a:r>
            <a:r>
              <a:rPr lang="ja-JP" altLang="it-IT" sz="2800">
                <a:ea typeface="ＭＳ Ｐゴシック" panose="020B0600070205080204" pitchFamily="34" charset="-128"/>
              </a:rPr>
              <a:t>“</a:t>
            </a:r>
            <a:r>
              <a:rPr lang="it-IT" altLang="ja-JP" sz="2800" b="1">
                <a:ea typeface="ＭＳ Ｐゴシック" panose="020B0600070205080204" pitchFamily="34" charset="-128"/>
              </a:rPr>
              <a:t>riporto propagato</a:t>
            </a:r>
            <a:r>
              <a:rPr lang="ja-JP" altLang="it-IT" sz="2800">
                <a:ea typeface="ＭＳ Ｐゴシック" panose="020B0600070205080204" pitchFamily="34" charset="-128"/>
              </a:rPr>
              <a:t>”</a:t>
            </a:r>
            <a:r>
              <a:rPr lang="it-IT" altLang="ja-JP" sz="2800">
                <a:ea typeface="ＭＳ Ｐゴシック" panose="020B0600070205080204" pitchFamily="34" charset="-128"/>
              </a:rPr>
              <a:t>: indica se, in presenza di un riporto in ingresso, lo stesso verrà propagato in uscita</a:t>
            </a:r>
          </a:p>
          <a:p>
            <a:pPr lvl="1"/>
            <a:r>
              <a:rPr lang="it-IT" altLang="it-IT" sz="2800">
                <a:ea typeface="ＭＳ Ｐゴシック" panose="020B0600070205080204" pitchFamily="34" charset="-128"/>
              </a:rPr>
              <a:t>Il riporto in uscita può quindi essere espresso come </a:t>
            </a:r>
            <a:r>
              <a:rPr lang="it-IT" altLang="it-IT" sz="2800" b="1">
                <a:ea typeface="ＭＳ Ｐゴシック" panose="020B0600070205080204" pitchFamily="34" charset="-128"/>
              </a:rPr>
              <a:t>R=G+Pr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Segnaposto numero diapositiva 3">
            <a:extLst>
              <a:ext uri="{FF2B5EF4-FFF2-40B4-BE49-F238E27FC236}">
                <a16:creationId xmlns:a16="http://schemas.microsoft.com/office/drawing/2014/main" id="{E021C829-32F5-7147-3C03-17EB8933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1DE71FC-BC4E-4CAA-9B97-7F89F3C1762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77</a:t>
            </a:fld>
            <a:endParaRPr lang="it-IT" altLang="it-IT" sz="14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FDFA4AD8-7AE5-0A63-7FA4-571ABCFF9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binario: conclusione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6E0CA04E-2356-57A2-E49C-BC1D79AFCC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completo (full-adder)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ha il riporto entrante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Semi-addizionatore (half-adder)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non include il riporto entrante</a:t>
            </a:r>
          </a:p>
        </p:txBody>
      </p:sp>
      <p:grpSp>
        <p:nvGrpSpPr>
          <p:cNvPr id="108548" name="Group 4">
            <a:extLst>
              <a:ext uri="{FF2B5EF4-FFF2-40B4-BE49-F238E27FC236}">
                <a16:creationId xmlns:a16="http://schemas.microsoft.com/office/drawing/2014/main" id="{CCB67AC4-167E-E65C-1CDB-8842A6A48F6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497013" y="3395663"/>
            <a:ext cx="6586537" cy="2747962"/>
            <a:chOff x="3665" y="11420"/>
            <a:chExt cx="6040" cy="2730"/>
          </a:xfrm>
        </p:grpSpPr>
        <p:sp>
          <p:nvSpPr>
            <p:cNvPr id="108549" name="AutoShape 5">
              <a:extLst>
                <a:ext uri="{FF2B5EF4-FFF2-40B4-BE49-F238E27FC236}">
                  <a16:creationId xmlns:a16="http://schemas.microsoft.com/office/drawing/2014/main" id="{0C42F3BA-20F6-54FC-4115-67BBA26B4B3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5" y="11420"/>
              <a:ext cx="6040" cy="2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08550" name="Text Box 6">
              <a:extLst>
                <a:ext uri="{FF2B5EF4-FFF2-40B4-BE49-F238E27FC236}">
                  <a16:creationId xmlns:a16="http://schemas.microsoft.com/office/drawing/2014/main" id="{249FC781-F263-2564-83A5-1AF99E208F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" y="12500"/>
              <a:ext cx="440" cy="4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G</a:t>
              </a:r>
              <a:endParaRPr lang="it-IT" altLang="it-IT"/>
            </a:p>
          </p:txBody>
        </p:sp>
        <p:sp>
          <p:nvSpPr>
            <p:cNvPr id="108551" name="Text Box 7">
              <a:extLst>
                <a:ext uri="{FF2B5EF4-FFF2-40B4-BE49-F238E27FC236}">
                  <a16:creationId xmlns:a16="http://schemas.microsoft.com/office/drawing/2014/main" id="{F3AF9EB4-B056-CA71-F532-1AABCA7F7C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5" y="12450"/>
              <a:ext cx="450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r</a:t>
              </a:r>
              <a:endParaRPr lang="it-IT" altLang="it-IT"/>
            </a:p>
          </p:txBody>
        </p:sp>
        <p:sp>
          <p:nvSpPr>
            <p:cNvPr id="108552" name="Text Box 8">
              <a:extLst>
                <a:ext uri="{FF2B5EF4-FFF2-40B4-BE49-F238E27FC236}">
                  <a16:creationId xmlns:a16="http://schemas.microsoft.com/office/drawing/2014/main" id="{ACEACFE2-6CF4-61BF-EF73-E356EB255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" y="12400"/>
              <a:ext cx="410" cy="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R</a:t>
              </a:r>
              <a:endParaRPr lang="it-IT" altLang="it-IT"/>
            </a:p>
          </p:txBody>
        </p:sp>
        <p:sp>
          <p:nvSpPr>
            <p:cNvPr id="108553" name="Text Box 9">
              <a:extLst>
                <a:ext uri="{FF2B5EF4-FFF2-40B4-BE49-F238E27FC236}">
                  <a16:creationId xmlns:a16="http://schemas.microsoft.com/office/drawing/2014/main" id="{9CF8F623-BF9E-F510-E117-E68913C7A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5" y="12330"/>
              <a:ext cx="930" cy="9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200" b="0"/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/>
                <a:t>A</a:t>
              </a:r>
              <a:endParaRPr lang="it-IT" altLang="it-IT"/>
            </a:p>
          </p:txBody>
        </p:sp>
        <p:sp>
          <p:nvSpPr>
            <p:cNvPr id="108554" name="Line 10">
              <a:extLst>
                <a:ext uri="{FF2B5EF4-FFF2-40B4-BE49-F238E27FC236}">
                  <a16:creationId xmlns:a16="http://schemas.microsoft.com/office/drawing/2014/main" id="{AC6D8E90-4B59-79EE-6273-4D613A3892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11850"/>
              <a:ext cx="0" cy="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5" name="Line 11">
              <a:extLst>
                <a:ext uri="{FF2B5EF4-FFF2-40B4-BE49-F238E27FC236}">
                  <a16:creationId xmlns:a16="http://schemas.microsoft.com/office/drawing/2014/main" id="{0091A25F-AFDB-8F6B-F4D4-6C5767B1B6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5" y="11850"/>
              <a:ext cx="0" cy="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6" name="Text Box 12">
              <a:extLst>
                <a:ext uri="{FF2B5EF4-FFF2-40B4-BE49-F238E27FC236}">
                  <a16:creationId xmlns:a16="http://schemas.microsoft.com/office/drawing/2014/main" id="{0C04A07D-444F-AB43-8950-6C8F98FE3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5" y="11550"/>
              <a:ext cx="1030" cy="3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 a       b  </a:t>
              </a:r>
              <a:endParaRPr lang="it-IT" altLang="it-IT"/>
            </a:p>
          </p:txBody>
        </p:sp>
        <p:sp>
          <p:nvSpPr>
            <p:cNvPr id="108557" name="Line 13">
              <a:extLst>
                <a:ext uri="{FF2B5EF4-FFF2-40B4-BE49-F238E27FC236}">
                  <a16:creationId xmlns:a16="http://schemas.microsoft.com/office/drawing/2014/main" id="{34CD1611-C3C9-C266-0234-EF9477519E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95" y="12760"/>
              <a:ext cx="51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8" name="Line 14">
              <a:extLst>
                <a:ext uri="{FF2B5EF4-FFF2-40B4-BE49-F238E27FC236}">
                  <a16:creationId xmlns:a16="http://schemas.microsoft.com/office/drawing/2014/main" id="{91713442-4DE3-19AC-D927-1C2AE591D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5" y="12750"/>
              <a:ext cx="440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59" name="Line 15">
              <a:extLst>
                <a:ext uri="{FF2B5EF4-FFF2-40B4-BE49-F238E27FC236}">
                  <a16:creationId xmlns:a16="http://schemas.microsoft.com/office/drawing/2014/main" id="{597345D3-5DC7-130A-E15E-179B609DE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5" y="13270"/>
              <a:ext cx="1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0" name="Text Box 16">
              <a:extLst>
                <a:ext uri="{FF2B5EF4-FFF2-40B4-BE49-F238E27FC236}">
                  <a16:creationId xmlns:a16="http://schemas.microsoft.com/office/drawing/2014/main" id="{CA2FFE9A-939D-7310-5457-445A1BA08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" y="13750"/>
              <a:ext cx="460" cy="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S</a:t>
              </a:r>
              <a:endParaRPr lang="it-IT" altLang="it-IT"/>
            </a:p>
          </p:txBody>
        </p:sp>
        <p:sp>
          <p:nvSpPr>
            <p:cNvPr id="108561" name="Text Box 17">
              <a:extLst>
                <a:ext uri="{FF2B5EF4-FFF2-40B4-BE49-F238E27FC236}">
                  <a16:creationId xmlns:a16="http://schemas.microsoft.com/office/drawing/2014/main" id="{DC7801D0-5E67-B3AE-669E-395E1A337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" y="12360"/>
              <a:ext cx="970" cy="8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200" b="0"/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H</a:t>
              </a:r>
              <a:endParaRPr lang="it-IT" altLang="it-IT"/>
            </a:p>
          </p:txBody>
        </p:sp>
        <p:sp>
          <p:nvSpPr>
            <p:cNvPr id="108562" name="Line 18">
              <a:extLst>
                <a:ext uri="{FF2B5EF4-FFF2-40B4-BE49-F238E27FC236}">
                  <a16:creationId xmlns:a16="http://schemas.microsoft.com/office/drawing/2014/main" id="{73963242-300E-2346-4DF7-96780B2BF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85" y="11960"/>
              <a:ext cx="0" cy="4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3" name="Line 19">
              <a:extLst>
                <a:ext uri="{FF2B5EF4-FFF2-40B4-BE49-F238E27FC236}">
                  <a16:creationId xmlns:a16="http://schemas.microsoft.com/office/drawing/2014/main" id="{60B4FFE5-874E-1B0D-6636-3DB587E8F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5" y="11980"/>
              <a:ext cx="0" cy="3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4" name="Line 20">
              <a:extLst>
                <a:ext uri="{FF2B5EF4-FFF2-40B4-BE49-F238E27FC236}">
                  <a16:creationId xmlns:a16="http://schemas.microsoft.com/office/drawing/2014/main" id="{CF3D8F55-EC63-1344-0B97-4EBDAD8CB9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5" y="12790"/>
              <a:ext cx="43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5" name="Line 21">
              <a:extLst>
                <a:ext uri="{FF2B5EF4-FFF2-40B4-BE49-F238E27FC236}">
                  <a16:creationId xmlns:a16="http://schemas.microsoft.com/office/drawing/2014/main" id="{DCBEA2CA-DE24-F64C-240E-51D6D5B96F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75" y="13230"/>
              <a:ext cx="0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566" name="Text Box 22">
              <a:extLst>
                <a:ext uri="{FF2B5EF4-FFF2-40B4-BE49-F238E27FC236}">
                  <a16:creationId xmlns:a16="http://schemas.microsoft.com/office/drawing/2014/main" id="{630194AE-62A8-636A-5E08-B630B4CAA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5" y="13670"/>
              <a:ext cx="570" cy="3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H</a:t>
              </a:r>
              <a:endParaRPr lang="it-IT" altLang="it-IT"/>
            </a:p>
          </p:txBody>
        </p:sp>
        <p:sp>
          <p:nvSpPr>
            <p:cNvPr id="108567" name="Text Box 23">
              <a:extLst>
                <a:ext uri="{FF2B5EF4-FFF2-40B4-BE49-F238E27FC236}">
                  <a16:creationId xmlns:a16="http://schemas.microsoft.com/office/drawing/2014/main" id="{6DD3840E-29A5-ACC1-EBA9-397E0D1D8B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65" y="11590"/>
              <a:ext cx="1040" cy="3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a        b</a:t>
              </a:r>
              <a:endParaRPr lang="it-IT" altLang="it-IT"/>
            </a:p>
          </p:txBody>
        </p:sp>
      </p:grp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Segnaposto numero diapositiva 4">
            <a:extLst>
              <a:ext uri="{FF2B5EF4-FFF2-40B4-BE49-F238E27FC236}">
                <a16:creationId xmlns:a16="http://schemas.microsoft.com/office/drawing/2014/main" id="{08C73E6C-BAD4-95A5-69F3-7FAF76019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A0BD9497-0C71-4A6B-A43D-A4AAE6DC31B9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78</a:t>
            </a:fld>
            <a:endParaRPr lang="it-IT" altLang="it-IT" sz="140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3CD2CC2D-F750-9132-2CD6-C201EA9C4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Sottrattore binario</a:t>
            </a:r>
          </a:p>
        </p:txBody>
      </p:sp>
      <p:graphicFrame>
        <p:nvGraphicFramePr>
          <p:cNvPr id="109571" name="Object 2">
            <a:extLst>
              <a:ext uri="{FF2B5EF4-FFF2-40B4-BE49-F238E27FC236}">
                <a16:creationId xmlns:a16="http://schemas.microsoft.com/office/drawing/2014/main" id="{3AB87700-2170-712E-B57B-4B608A5CCED0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3702050" y="1943100"/>
          <a:ext cx="3171825" cy="144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0" imgH="0" progId="Word.Document.8">
                  <p:embed/>
                </p:oleObj>
              </mc:Choice>
              <mc:Fallback>
                <p:oleObj name="Documento" r:id="rId2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54933"/>
                      <a:stretch>
                        <a:fillRect/>
                      </a:stretch>
                    </p:blipFill>
                    <p:spPr bwMode="auto">
                      <a:xfrm>
                        <a:off x="3702050" y="1943100"/>
                        <a:ext cx="3171825" cy="1443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9572" name="Picture 4">
            <a:extLst>
              <a:ext uri="{FF2B5EF4-FFF2-40B4-BE49-F238E27FC236}">
                <a16:creationId xmlns:a16="http://schemas.microsoft.com/office/drawing/2014/main" id="{1E2A35FD-D755-569F-404D-96D8E38144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68" t="25645" r="55066" b="47917"/>
          <a:stretch>
            <a:fillRect/>
          </a:stretch>
        </p:blipFill>
        <p:spPr bwMode="auto">
          <a:xfrm>
            <a:off x="830263" y="3951288"/>
            <a:ext cx="2716212" cy="253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9573" name="Picture 5">
            <a:extLst>
              <a:ext uri="{FF2B5EF4-FFF2-40B4-BE49-F238E27FC236}">
                <a16:creationId xmlns:a16="http://schemas.microsoft.com/office/drawing/2014/main" id="{5F167790-0942-8A5F-CF9C-956F4C0F6D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48" t="53583" r="57838" b="20209"/>
          <a:stretch>
            <a:fillRect/>
          </a:stretch>
        </p:blipFill>
        <p:spPr bwMode="auto">
          <a:xfrm>
            <a:off x="847725" y="1225550"/>
            <a:ext cx="2392363" cy="250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9574" name="Object 3">
            <a:extLst>
              <a:ext uri="{FF2B5EF4-FFF2-40B4-BE49-F238E27FC236}">
                <a16:creationId xmlns:a16="http://schemas.microsoft.com/office/drawing/2014/main" id="{DE312A5A-7CB2-A1B3-203B-9C82BE9405BA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3551238" y="3846513"/>
          <a:ext cx="3460750" cy="224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5" imgW="0" imgH="0" progId="Word.Document.8">
                  <p:embed/>
                </p:oleObj>
              </mc:Choice>
              <mc:Fallback>
                <p:oleObj name="Documento" r:id="rId5" imgW="0" imgH="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49429"/>
                      <a:stretch>
                        <a:fillRect/>
                      </a:stretch>
                    </p:blipFill>
                    <p:spPr bwMode="auto">
                      <a:xfrm>
                        <a:off x="3551238" y="3846513"/>
                        <a:ext cx="3460750" cy="224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9575" name="Text Box 10">
            <a:extLst>
              <a:ext uri="{FF2B5EF4-FFF2-40B4-BE49-F238E27FC236}">
                <a16:creationId xmlns:a16="http://schemas.microsoft.com/office/drawing/2014/main" id="{386CB077-09B1-32AE-CD25-D449E3012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8763" y="1539875"/>
            <a:ext cx="2633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400"/>
              <a:t>(S</a:t>
            </a:r>
            <a:r>
              <a:rPr lang="it-IT" altLang="it-IT" sz="2400" baseline="-25000"/>
              <a:t>h</a:t>
            </a:r>
            <a:r>
              <a:rPr lang="it-IT" altLang="it-IT" sz="2400"/>
              <a:t>,R</a:t>
            </a:r>
            <a:r>
              <a:rPr lang="it-IT" altLang="it-IT" sz="2400" baseline="-25000"/>
              <a:t>h</a:t>
            </a:r>
            <a:r>
              <a:rPr lang="it-IT" altLang="it-IT" sz="2400"/>
              <a:t>) = X – Y</a:t>
            </a:r>
          </a:p>
        </p:txBody>
      </p:sp>
      <p:sp>
        <p:nvSpPr>
          <p:cNvPr id="109576" name="Text Box 11">
            <a:extLst>
              <a:ext uri="{FF2B5EF4-FFF2-40B4-BE49-F238E27FC236}">
                <a16:creationId xmlns:a16="http://schemas.microsoft.com/office/drawing/2014/main" id="{83EDFCA8-EE37-B66E-47A1-F35B91A20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6388" y="5689600"/>
            <a:ext cx="26336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400"/>
              <a:t>(S,R) = X – Y – r</a:t>
            </a:r>
          </a:p>
        </p:txBody>
      </p:sp>
    </p:spTree>
  </p:cSld>
  <p:clrMapOvr>
    <a:masterClrMapping/>
  </p:clrMapOvr>
  <p:transition spd="slow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Segnaposto numero diapositiva 3">
            <a:extLst>
              <a:ext uri="{FF2B5EF4-FFF2-40B4-BE49-F238E27FC236}">
                <a16:creationId xmlns:a16="http://schemas.microsoft.com/office/drawing/2014/main" id="{4AF7CAB3-C83E-5ED3-C35D-A65404B60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2CF665D-D354-4E43-8484-1FC31B7C69E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79</a:t>
            </a:fld>
            <a:endParaRPr lang="it-IT" altLang="it-IT" sz="14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AB65D7D4-6737-B007-EC87-D8F8B121F7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Sottrattore binario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0C4A84FA-EA57-2EE3-F81F-28BE4E3F7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0097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Per ottenere la sottrazione può essere ripetuto lo stesso procedimento usato per definire la struttura degli addizionatori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Per il semisottrattore si avrà:</a:t>
            </a:r>
          </a:p>
        </p:txBody>
      </p:sp>
      <p:sp>
        <p:nvSpPr>
          <p:cNvPr id="110596" name="Rectangle 5">
            <a:extLst>
              <a:ext uri="{FF2B5EF4-FFF2-40B4-BE49-F238E27FC236}">
                <a16:creationId xmlns:a16="http://schemas.microsoft.com/office/drawing/2014/main" id="{FE83647B-B249-925E-DF2A-3935061DE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0597" name="Object 2">
            <a:extLst>
              <a:ext uri="{FF2B5EF4-FFF2-40B4-BE49-F238E27FC236}">
                <a16:creationId xmlns:a16="http://schemas.microsoft.com/office/drawing/2014/main" id="{0DF1B1A7-96E2-1CD9-ACAE-94800A8F40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8513" y="3090863"/>
          <a:ext cx="3275012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090863"/>
                        <a:ext cx="3275012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598" name="Rectangle 7">
            <a:extLst>
              <a:ext uri="{FF2B5EF4-FFF2-40B4-BE49-F238E27FC236}">
                <a16:creationId xmlns:a16="http://schemas.microsoft.com/office/drawing/2014/main" id="{CA1C7F1D-5A81-4BF7-D0C6-6A745EE9A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0599" name="Object 3">
            <a:extLst>
              <a:ext uri="{FF2B5EF4-FFF2-40B4-BE49-F238E27FC236}">
                <a16:creationId xmlns:a16="http://schemas.microsoft.com/office/drawing/2014/main" id="{797C71EA-21D7-C77A-84E4-6C12B9B99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8513" y="3606800"/>
          <a:ext cx="1392237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3606800"/>
                        <a:ext cx="1392237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0" name="Rectangle 9">
            <a:extLst>
              <a:ext uri="{FF2B5EF4-FFF2-40B4-BE49-F238E27FC236}">
                <a16:creationId xmlns:a16="http://schemas.microsoft.com/office/drawing/2014/main" id="{E397E3FC-3C72-A971-983E-E9D9010A5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0601" name="Object 4">
            <a:extLst>
              <a:ext uri="{FF2B5EF4-FFF2-40B4-BE49-F238E27FC236}">
                <a16:creationId xmlns:a16="http://schemas.microsoft.com/office/drawing/2014/main" id="{F67497E6-A0D7-04F4-DCB8-0F6E9475343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04950" y="4811713"/>
          <a:ext cx="59245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950" y="4811713"/>
                        <a:ext cx="592455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2" name="Rectangle 11">
            <a:extLst>
              <a:ext uri="{FF2B5EF4-FFF2-40B4-BE49-F238E27FC236}">
                <a16:creationId xmlns:a16="http://schemas.microsoft.com/office/drawing/2014/main" id="{C1415A07-2F5E-57DC-1B89-FBD640BAF6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020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0603" name="Object 5">
            <a:extLst>
              <a:ext uri="{FF2B5EF4-FFF2-40B4-BE49-F238E27FC236}">
                <a16:creationId xmlns:a16="http://schemas.microsoft.com/office/drawing/2014/main" id="{C7446555-DCC4-55C9-AAB9-B94BC0DEB0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1613" y="5416550"/>
          <a:ext cx="631348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613" y="5416550"/>
                        <a:ext cx="631348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04" name="Rectangle 12">
            <a:extLst>
              <a:ext uri="{FF2B5EF4-FFF2-40B4-BE49-F238E27FC236}">
                <a16:creationId xmlns:a16="http://schemas.microsoft.com/office/drawing/2014/main" id="{0E7C9046-ABB2-AAE8-5D7C-19CE98440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4159250"/>
            <a:ext cx="8915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Char char="q"/>
            </a:pPr>
            <a:r>
              <a:rPr lang="it-IT" altLang="it-IT" b="0"/>
              <a:t>Per il sottrattore completo :</a:t>
            </a:r>
          </a:p>
        </p:txBody>
      </p:sp>
    </p:spTree>
  </p:cSld>
  <p:clrMapOvr>
    <a:masterClrMapping/>
  </p:clrMapOvr>
  <p:transition spd="slow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Segnaposto numero diapositiva 3">
            <a:extLst>
              <a:ext uri="{FF2B5EF4-FFF2-40B4-BE49-F238E27FC236}">
                <a16:creationId xmlns:a16="http://schemas.microsoft.com/office/drawing/2014/main" id="{0A8A5B1A-E284-1968-A40D-AC27D02B0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F31F51F-2238-4B90-84DE-F46D0F176C50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80</a:t>
            </a:fld>
            <a:endParaRPr lang="it-IT" altLang="it-IT" sz="1400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AC3C76C7-090A-57F7-8305-3A043CA657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binario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2CD24EC5-E4F1-3754-207A-9B7CA621C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Per il semiaddizionatore valgono le eguaglianze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Similmente per 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addizionatore completo valgono le eguaglianze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11620" name="Rectangle 5">
            <a:extLst>
              <a:ext uri="{FF2B5EF4-FFF2-40B4-BE49-F238E27FC236}">
                <a16:creationId xmlns:a16="http://schemas.microsoft.com/office/drawing/2014/main" id="{BB429076-578B-F94F-E2CA-9EA986DC5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1621" name="Object 2">
            <a:extLst>
              <a:ext uri="{FF2B5EF4-FFF2-40B4-BE49-F238E27FC236}">
                <a16:creationId xmlns:a16="http://schemas.microsoft.com/office/drawing/2014/main" id="{0F4CA073-34FB-162B-A904-53F94C8FE0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82700" y="2228850"/>
          <a:ext cx="3640138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2700" y="2228850"/>
                        <a:ext cx="3640138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2" name="Rectangle 7">
            <a:extLst>
              <a:ext uri="{FF2B5EF4-FFF2-40B4-BE49-F238E27FC236}">
                <a16:creationId xmlns:a16="http://schemas.microsoft.com/office/drawing/2014/main" id="{2399356A-5560-8840-D51B-01A735EE9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1623" name="Object 3">
            <a:extLst>
              <a:ext uri="{FF2B5EF4-FFF2-40B4-BE49-F238E27FC236}">
                <a16:creationId xmlns:a16="http://schemas.microsoft.com/office/drawing/2014/main" id="{3FBE47B0-243B-8255-CB29-6458F4CD6F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20800" y="2765425"/>
          <a:ext cx="110013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2765425"/>
                        <a:ext cx="1100138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4" name="Rectangle 9">
            <a:extLst>
              <a:ext uri="{FF2B5EF4-FFF2-40B4-BE49-F238E27FC236}">
                <a16:creationId xmlns:a16="http://schemas.microsoft.com/office/drawing/2014/main" id="{DF98B89B-FFEE-B1F5-5335-3015DE982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1625" name="Object 4">
            <a:extLst>
              <a:ext uri="{FF2B5EF4-FFF2-40B4-BE49-F238E27FC236}">
                <a16:creationId xmlns:a16="http://schemas.microsoft.com/office/drawing/2014/main" id="{F8E409B5-100F-68DB-A3B6-55C6AEA50A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52538" y="4646613"/>
          <a:ext cx="62150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2538" y="4646613"/>
                        <a:ext cx="62150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626" name="Rectangle 11">
            <a:extLst>
              <a:ext uri="{FF2B5EF4-FFF2-40B4-BE49-F238E27FC236}">
                <a16:creationId xmlns:a16="http://schemas.microsoft.com/office/drawing/2014/main" id="{B4A6C4DB-281B-88BD-8BB6-CA3721436D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14700"/>
            <a:ext cx="184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aphicFrame>
        <p:nvGraphicFramePr>
          <p:cNvPr id="111627" name="Object 5">
            <a:extLst>
              <a:ext uri="{FF2B5EF4-FFF2-40B4-BE49-F238E27FC236}">
                <a16:creationId xmlns:a16="http://schemas.microsoft.com/office/drawing/2014/main" id="{37F11C10-5CBA-FA23-DB2D-36D8D7B739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4600" y="5186363"/>
          <a:ext cx="7034213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0" imgH="0" progId="Equation.3">
                  <p:embed/>
                </p:oleObj>
              </mc:Choice>
              <mc:Fallback>
                <p:oleObj name="Equation" r:id="rId8" imgW="0" imgH="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4600" y="5186363"/>
                        <a:ext cx="7034213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Segnaposto numero diapositiva 3">
            <a:extLst>
              <a:ext uri="{FF2B5EF4-FFF2-40B4-BE49-F238E27FC236}">
                <a16:creationId xmlns:a16="http://schemas.microsoft.com/office/drawing/2014/main" id="{7E516B78-E13D-54E6-09EA-6C9F64300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D9B95F8-CA93-4649-8257-6CFA421418C5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81</a:t>
            </a:fld>
            <a:endParaRPr lang="it-IT" altLang="it-IT" sz="1400"/>
          </a:p>
        </p:txBody>
      </p:sp>
      <p:sp>
        <p:nvSpPr>
          <p:cNvPr id="112642" name="Rectangle 2">
            <a:extLst>
              <a:ext uri="{FF2B5EF4-FFF2-40B4-BE49-F238E27FC236}">
                <a16:creationId xmlns:a16="http://schemas.microsoft.com/office/drawing/2014/main" id="{44705E04-93B0-484C-3C9E-9B50AC6A15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Sottrattore binario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92B7B0AC-E303-59F9-35BE-EDC5EBFC2B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147888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Un sottrattore può essere ottenuto a partire da un addizionatore negando opportunamente alcuni ingressi ed uscite, come mostrato in figura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Provatelo come esercizio.</a:t>
            </a:r>
          </a:p>
        </p:txBody>
      </p:sp>
      <p:grpSp>
        <p:nvGrpSpPr>
          <p:cNvPr id="112644" name="Group 4">
            <a:extLst>
              <a:ext uri="{FF2B5EF4-FFF2-40B4-BE49-F238E27FC236}">
                <a16:creationId xmlns:a16="http://schemas.microsoft.com/office/drawing/2014/main" id="{D6B38197-A5AD-CF8D-CF04-7C167640187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12950" y="3370263"/>
            <a:ext cx="5643563" cy="2466975"/>
            <a:chOff x="3665" y="11290"/>
            <a:chExt cx="6040" cy="2860"/>
          </a:xfrm>
        </p:grpSpPr>
        <p:sp>
          <p:nvSpPr>
            <p:cNvPr id="112645" name="AutoShape 5">
              <a:extLst>
                <a:ext uri="{FF2B5EF4-FFF2-40B4-BE49-F238E27FC236}">
                  <a16:creationId xmlns:a16="http://schemas.microsoft.com/office/drawing/2014/main" id="{9BBB1799-2824-EAF7-5C14-F9F473AC34C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65" y="11290"/>
              <a:ext cx="6040" cy="2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46" name="Text Box 6">
              <a:extLst>
                <a:ext uri="{FF2B5EF4-FFF2-40B4-BE49-F238E27FC236}">
                  <a16:creationId xmlns:a16="http://schemas.microsoft.com/office/drawing/2014/main" id="{75935D86-8227-7868-3A15-92133908F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5" y="13720"/>
              <a:ext cx="570" cy="3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H</a:t>
              </a:r>
              <a:endParaRPr lang="it-IT" altLang="it-IT"/>
            </a:p>
          </p:txBody>
        </p:sp>
        <p:sp>
          <p:nvSpPr>
            <p:cNvPr id="112647" name="Text Box 7">
              <a:extLst>
                <a:ext uri="{FF2B5EF4-FFF2-40B4-BE49-F238E27FC236}">
                  <a16:creationId xmlns:a16="http://schemas.microsoft.com/office/drawing/2014/main" id="{66851130-BAFE-D346-60D7-24116E5C4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25" y="12500"/>
              <a:ext cx="440" cy="3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G</a:t>
              </a:r>
              <a:endParaRPr lang="it-IT" altLang="it-IT"/>
            </a:p>
          </p:txBody>
        </p:sp>
        <p:sp>
          <p:nvSpPr>
            <p:cNvPr id="112648" name="Text Box 8">
              <a:extLst>
                <a:ext uri="{FF2B5EF4-FFF2-40B4-BE49-F238E27FC236}">
                  <a16:creationId xmlns:a16="http://schemas.microsoft.com/office/drawing/2014/main" id="{8480A2AF-2BD5-F9FB-50F1-528852A5D9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17" y="12355"/>
              <a:ext cx="450" cy="4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r</a:t>
              </a:r>
              <a:endParaRPr lang="it-IT" altLang="it-IT"/>
            </a:p>
          </p:txBody>
        </p:sp>
        <p:sp>
          <p:nvSpPr>
            <p:cNvPr id="112649" name="Text Box 9">
              <a:extLst>
                <a:ext uri="{FF2B5EF4-FFF2-40B4-BE49-F238E27FC236}">
                  <a16:creationId xmlns:a16="http://schemas.microsoft.com/office/drawing/2014/main" id="{34B56D03-E2EE-5F8F-919B-BC62B02915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5" y="12400"/>
              <a:ext cx="410" cy="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R</a:t>
              </a:r>
              <a:endParaRPr lang="it-IT" altLang="it-IT"/>
            </a:p>
          </p:txBody>
        </p:sp>
        <p:sp>
          <p:nvSpPr>
            <p:cNvPr id="112650" name="Text Box 10">
              <a:extLst>
                <a:ext uri="{FF2B5EF4-FFF2-40B4-BE49-F238E27FC236}">
                  <a16:creationId xmlns:a16="http://schemas.microsoft.com/office/drawing/2014/main" id="{AE343E82-17D5-CAF3-F0E2-42A64BD5A0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5" y="12330"/>
              <a:ext cx="930" cy="9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200" b="0"/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/>
                <a:t>A</a:t>
              </a:r>
              <a:endParaRPr lang="it-IT" altLang="it-IT"/>
            </a:p>
          </p:txBody>
        </p:sp>
        <p:sp>
          <p:nvSpPr>
            <p:cNvPr id="112651" name="Line 11">
              <a:extLst>
                <a:ext uri="{FF2B5EF4-FFF2-40B4-BE49-F238E27FC236}">
                  <a16:creationId xmlns:a16="http://schemas.microsoft.com/office/drawing/2014/main" id="{D31CC1D9-B9D6-E27E-0BE2-927A7F689D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" y="11850"/>
              <a:ext cx="0" cy="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2" name="Line 12">
              <a:extLst>
                <a:ext uri="{FF2B5EF4-FFF2-40B4-BE49-F238E27FC236}">
                  <a16:creationId xmlns:a16="http://schemas.microsoft.com/office/drawing/2014/main" id="{B354A7B9-6E04-2EE3-CF7D-C9FB91099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65" y="11710"/>
              <a:ext cx="1" cy="4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3" name="Text Box 13">
              <a:extLst>
                <a:ext uri="{FF2B5EF4-FFF2-40B4-BE49-F238E27FC236}">
                  <a16:creationId xmlns:a16="http://schemas.microsoft.com/office/drawing/2014/main" id="{9DC27ACC-B454-45D8-D891-07B138DB08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5" y="11460"/>
              <a:ext cx="1120" cy="38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 X       Y </a:t>
              </a:r>
              <a:endParaRPr lang="it-IT" altLang="it-IT"/>
            </a:p>
          </p:txBody>
        </p:sp>
        <p:sp>
          <p:nvSpPr>
            <p:cNvPr id="112654" name="Line 14">
              <a:extLst>
                <a:ext uri="{FF2B5EF4-FFF2-40B4-BE49-F238E27FC236}">
                  <a16:creationId xmlns:a16="http://schemas.microsoft.com/office/drawing/2014/main" id="{37C2D82E-50E3-5205-BCFB-1768CB81BC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915" y="12760"/>
              <a:ext cx="51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5" name="Line 15">
              <a:extLst>
                <a:ext uri="{FF2B5EF4-FFF2-40B4-BE49-F238E27FC236}">
                  <a16:creationId xmlns:a16="http://schemas.microsoft.com/office/drawing/2014/main" id="{274F8EBC-F531-2ABD-375E-7130683C24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415" y="12750"/>
              <a:ext cx="440" cy="1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6" name="Line 16">
              <a:extLst>
                <a:ext uri="{FF2B5EF4-FFF2-40B4-BE49-F238E27FC236}">
                  <a16:creationId xmlns:a16="http://schemas.microsoft.com/office/drawing/2014/main" id="{4A6D906B-EE38-92ED-2942-2D1ED7B219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5" y="13270"/>
              <a:ext cx="1" cy="4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57" name="Text Box 17">
              <a:extLst>
                <a:ext uri="{FF2B5EF4-FFF2-40B4-BE49-F238E27FC236}">
                  <a16:creationId xmlns:a16="http://schemas.microsoft.com/office/drawing/2014/main" id="{954736C9-5B74-3C4A-E3B7-B7CD253A4E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75" y="13750"/>
              <a:ext cx="460" cy="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S</a:t>
              </a:r>
              <a:endParaRPr lang="it-IT" altLang="it-IT"/>
            </a:p>
          </p:txBody>
        </p:sp>
        <p:sp>
          <p:nvSpPr>
            <p:cNvPr id="112658" name="Text Box 18">
              <a:extLst>
                <a:ext uri="{FF2B5EF4-FFF2-40B4-BE49-F238E27FC236}">
                  <a16:creationId xmlns:a16="http://schemas.microsoft.com/office/drawing/2014/main" id="{436FCBF4-E4A2-0357-75B2-B202CB0D91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" y="12360"/>
              <a:ext cx="970" cy="8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 sz="1200" b="0"/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H</a:t>
              </a:r>
              <a:endParaRPr lang="it-IT" altLang="it-IT"/>
            </a:p>
          </p:txBody>
        </p:sp>
        <p:sp>
          <p:nvSpPr>
            <p:cNvPr id="112659" name="Line 19">
              <a:extLst>
                <a:ext uri="{FF2B5EF4-FFF2-40B4-BE49-F238E27FC236}">
                  <a16:creationId xmlns:a16="http://schemas.microsoft.com/office/drawing/2014/main" id="{41EDC8AC-4886-8B26-4A7F-4BADD1607D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85" y="11860"/>
              <a:ext cx="10" cy="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0" name="Line 20">
              <a:extLst>
                <a:ext uri="{FF2B5EF4-FFF2-40B4-BE49-F238E27FC236}">
                  <a16:creationId xmlns:a16="http://schemas.microsoft.com/office/drawing/2014/main" id="{AD1DA4D4-6D11-6B7E-32A9-B63A5A2419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565" y="11850"/>
              <a:ext cx="1" cy="3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1" name="Line 21">
              <a:extLst>
                <a:ext uri="{FF2B5EF4-FFF2-40B4-BE49-F238E27FC236}">
                  <a16:creationId xmlns:a16="http://schemas.microsoft.com/office/drawing/2014/main" id="{F4D8C044-F320-52AE-6B40-B4A13AB605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95" y="12790"/>
              <a:ext cx="430" cy="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2" name="Line 22">
              <a:extLst>
                <a:ext uri="{FF2B5EF4-FFF2-40B4-BE49-F238E27FC236}">
                  <a16:creationId xmlns:a16="http://schemas.microsoft.com/office/drawing/2014/main" id="{B0E3BAF1-3A16-DA70-3946-33D528CDD8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25" y="13330"/>
              <a:ext cx="1" cy="4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663" name="Text Box 23">
              <a:extLst>
                <a:ext uri="{FF2B5EF4-FFF2-40B4-BE49-F238E27FC236}">
                  <a16:creationId xmlns:a16="http://schemas.microsoft.com/office/drawing/2014/main" id="{C13570B8-F0FF-E935-151D-7ECA9C9853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55" y="11470"/>
              <a:ext cx="1040" cy="37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200" b="0"/>
                <a:t>X      Y</a:t>
              </a:r>
              <a:endParaRPr lang="it-IT" altLang="it-IT"/>
            </a:p>
          </p:txBody>
        </p:sp>
        <p:sp>
          <p:nvSpPr>
            <p:cNvPr id="112664" name="Oval 24">
              <a:extLst>
                <a:ext uri="{FF2B5EF4-FFF2-40B4-BE49-F238E27FC236}">
                  <a16:creationId xmlns:a16="http://schemas.microsoft.com/office/drawing/2014/main" id="{69463E29-B207-9AF4-2AC5-6BA025D14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2" y="12703"/>
              <a:ext cx="8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65" name="Oval 25">
              <a:extLst>
                <a:ext uri="{FF2B5EF4-FFF2-40B4-BE49-F238E27FC236}">
                  <a16:creationId xmlns:a16="http://schemas.microsoft.com/office/drawing/2014/main" id="{7E3D636E-D560-8DEE-A40E-BE07B2EA6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" y="12203"/>
              <a:ext cx="9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66" name="Oval 26">
              <a:extLst>
                <a:ext uri="{FF2B5EF4-FFF2-40B4-BE49-F238E27FC236}">
                  <a16:creationId xmlns:a16="http://schemas.microsoft.com/office/drawing/2014/main" id="{482A0244-28B0-0232-6137-F594E7BE3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" y="12713"/>
              <a:ext cx="9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67" name="Oval 27">
              <a:extLst>
                <a:ext uri="{FF2B5EF4-FFF2-40B4-BE49-F238E27FC236}">
                  <a16:creationId xmlns:a16="http://schemas.microsoft.com/office/drawing/2014/main" id="{AEC305EA-D649-30FF-F82A-FFA698D6D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2" y="12243"/>
              <a:ext cx="8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2668" name="Oval 28">
              <a:extLst>
                <a:ext uri="{FF2B5EF4-FFF2-40B4-BE49-F238E27FC236}">
                  <a16:creationId xmlns:a16="http://schemas.microsoft.com/office/drawing/2014/main" id="{6A861AEA-6880-7883-3072-0E126F03C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82" y="13213"/>
              <a:ext cx="80" cy="10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</p:grpSp>
    </p:spTree>
  </p:cSld>
  <p:clrMapOvr>
    <a:masterClrMapping/>
  </p:clrMapOvr>
  <p:transition spd="slow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Segnaposto numero diapositiva 3">
            <a:extLst>
              <a:ext uri="{FF2B5EF4-FFF2-40B4-BE49-F238E27FC236}">
                <a16:creationId xmlns:a16="http://schemas.microsoft.com/office/drawing/2014/main" id="{5E038387-4215-A199-D8E1-5587AB4B5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650A423A-6521-4033-8AFF-DA1371457F6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82</a:t>
            </a:fld>
            <a:endParaRPr lang="it-IT" altLang="it-IT" sz="1400"/>
          </a:p>
        </p:txBody>
      </p:sp>
      <p:sp>
        <p:nvSpPr>
          <p:cNvPr id="113666" name="Rectangle 9">
            <a:extLst>
              <a:ext uri="{FF2B5EF4-FFF2-40B4-BE49-F238E27FC236}">
                <a16:creationId xmlns:a16="http://schemas.microsoft.com/office/drawing/2014/main" id="{D1A9481F-94CD-907B-F43C-7B861A64B6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binari</a:t>
            </a:r>
          </a:p>
        </p:txBody>
      </p:sp>
      <p:graphicFrame>
        <p:nvGraphicFramePr>
          <p:cNvPr id="113667" name="Object 2">
            <a:extLst>
              <a:ext uri="{FF2B5EF4-FFF2-40B4-BE49-F238E27FC236}">
                <a16:creationId xmlns:a16="http://schemas.microsoft.com/office/drawing/2014/main" id="{F0E367A7-FC21-B954-BB1F-E23B48C8DC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4963" y="3492500"/>
          <a:ext cx="159702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3492500"/>
                        <a:ext cx="159702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668" name="Object 3">
            <a:extLst>
              <a:ext uri="{FF2B5EF4-FFF2-40B4-BE49-F238E27FC236}">
                <a16:creationId xmlns:a16="http://schemas.microsoft.com/office/drawing/2014/main" id="{8C69E7A0-922D-C920-49D7-4D3143C92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3038" y="5110163"/>
          <a:ext cx="2344737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0" imgH="0" progId="Equation.3">
                  <p:embed/>
                </p:oleObj>
              </mc:Choice>
              <mc:Fallback>
                <p:oleObj name="Equation" r:id="rId4" imgW="0" imgH="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5110163"/>
                        <a:ext cx="2344737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30" name="Text Box 6">
            <a:extLst>
              <a:ext uri="{FF2B5EF4-FFF2-40B4-BE49-F238E27FC236}">
                <a16:creationId xmlns:a16="http://schemas.microsoft.com/office/drawing/2014/main" id="{3B67D1EE-8DA6-C257-044D-381B6CD388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3950" y="3225800"/>
            <a:ext cx="49784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Riporto </a:t>
            </a:r>
            <a:r>
              <a:rPr lang="ja-JP" altLang="it-IT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“</a:t>
            </a:r>
            <a:r>
              <a:rPr lang="it-IT" altLang="ja-JP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killed</a:t>
            </a:r>
            <a:r>
              <a:rPr lang="ja-JP" altLang="it-IT" sz="2000">
                <a:effectLst>
                  <a:outerShdw blurRad="38100" dist="38100" dir="2700000" algn="tl">
                    <a:srgbClr val="C0C0C0"/>
                  </a:outerShdw>
                </a:effectLst>
              </a:rPr>
              <a:t>”</a:t>
            </a:r>
            <a:endParaRPr lang="it-IT" altLang="ja-JP" sz="200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eaLnBrk="1" hangingPunct="1">
              <a:spcBef>
                <a:spcPct val="50000"/>
              </a:spcBef>
              <a:defRPr/>
            </a:pPr>
            <a:r>
              <a:rPr lang="it-IT" altLang="it-IT" sz="2000" b="0"/>
              <a:t>Indica che, indipendentemente dalla presenza di un riporto entrante, il riporto in uscita sarà comunque zero</a:t>
            </a:r>
          </a:p>
        </p:txBody>
      </p:sp>
      <p:sp>
        <p:nvSpPr>
          <p:cNvPr id="113670" name="Text Box 7">
            <a:extLst>
              <a:ext uri="{FF2B5EF4-FFF2-40B4-BE49-F238E27FC236}">
                <a16:creationId xmlns:a16="http://schemas.microsoft.com/office/drawing/2014/main" id="{D35371BA-A429-538D-F06B-824575C4B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5238" y="4208463"/>
            <a:ext cx="48307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308236" name="Text Box 12">
            <a:extLst>
              <a:ext uri="{FF2B5EF4-FFF2-40B4-BE49-F238E27FC236}">
                <a16:creationId xmlns:a16="http://schemas.microsoft.com/office/drawing/2014/main" id="{D12A1D4A-516A-0280-6D9C-8AC5591BE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75" y="5089525"/>
            <a:ext cx="420528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sz="2000">
                <a:effectLst>
                  <a:outerShdw blurRad="38100" dist="38100" dir="2700000" algn="tl">
                    <a:srgbClr val="DDDDDD"/>
                  </a:outerShdw>
                </a:effectLst>
              </a:rPr>
              <a:t>Propagazione del non-riporto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it-IT" sz="2000" b="0"/>
              <a:t>Indica assenza di riporto in uscita</a:t>
            </a:r>
          </a:p>
        </p:txBody>
      </p:sp>
      <p:sp>
        <p:nvSpPr>
          <p:cNvPr id="113672" name="Rectangle 14">
            <a:extLst>
              <a:ext uri="{FF2B5EF4-FFF2-40B4-BE49-F238E27FC236}">
                <a16:creationId xmlns:a16="http://schemas.microsoft.com/office/drawing/2014/main" id="{FB9C5191-1BFA-5A95-9021-24A75E647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" y="1314450"/>
            <a:ext cx="8915400" cy="214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Tx/>
              <a:buFont typeface="Wingdings" panose="05000000000000000000" pitchFamily="2" charset="2"/>
              <a:buChar char="q"/>
            </a:pPr>
            <a:r>
              <a:rPr lang="it-IT" altLang="it-IT" b="0"/>
              <a:t>Ulteriori condizioni di interesse:</a:t>
            </a:r>
          </a:p>
        </p:txBody>
      </p:sp>
      <p:graphicFrame>
        <p:nvGraphicFramePr>
          <p:cNvPr id="113673" name="Object 4">
            <a:extLst>
              <a:ext uri="{FF2B5EF4-FFF2-40B4-BE49-F238E27FC236}">
                <a16:creationId xmlns:a16="http://schemas.microsoft.com/office/drawing/2014/main" id="{BEF4C51C-50CF-16B4-8C4B-36A996806C7A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576388" y="2093913"/>
          <a:ext cx="1163637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093913"/>
                        <a:ext cx="1163637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8242" name="Text Box 18">
            <a:extLst>
              <a:ext uri="{FF2B5EF4-FFF2-40B4-BE49-F238E27FC236}">
                <a16:creationId xmlns:a16="http://schemas.microsoft.com/office/drawing/2014/main" id="{0B5CAEF9-C019-3EB7-23D1-B357CD6B6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9450" y="2047875"/>
            <a:ext cx="4205288" cy="862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eaLnBrk="0" hangingPunct="0"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it-IT" sz="2000">
                <a:effectLst>
                  <a:outerShdw blurRad="38100" dist="38100" dir="2700000" algn="tl">
                    <a:srgbClr val="DDDDDD"/>
                  </a:outerShdw>
                </a:effectLst>
              </a:rPr>
              <a:t>non-riporto</a:t>
            </a:r>
          </a:p>
          <a:p>
            <a:pPr eaLnBrk="1" hangingPunct="1">
              <a:spcBef>
                <a:spcPct val="50000"/>
              </a:spcBef>
              <a:defRPr/>
            </a:pPr>
            <a:r>
              <a:rPr lang="it-IT" sz="2000" b="0"/>
              <a:t>Indica assenza di riporto in ingresso</a:t>
            </a:r>
          </a:p>
        </p:txBody>
      </p:sp>
    </p:spTree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Segnaposto numero diapositiva 3">
            <a:extLst>
              <a:ext uri="{FF2B5EF4-FFF2-40B4-BE49-F238E27FC236}">
                <a16:creationId xmlns:a16="http://schemas.microsoft.com/office/drawing/2014/main" id="{6063771A-1A9C-5452-66B2-5570A814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F8D2B59-47AE-41AC-B16A-D360B3F4CED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83</a:t>
            </a:fld>
            <a:endParaRPr lang="it-IT" altLang="it-IT" sz="1400"/>
          </a:p>
        </p:txBody>
      </p:sp>
      <p:sp>
        <p:nvSpPr>
          <p:cNvPr id="114690" name="Rectangle 2">
            <a:extLst>
              <a:ext uri="{FF2B5EF4-FFF2-40B4-BE49-F238E27FC236}">
                <a16:creationId xmlns:a16="http://schemas.microsoft.com/office/drawing/2014/main" id="{00D77E3A-8BE0-31D4-FA19-04F3004030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seriali</a:t>
            </a: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84164AE1-8EF2-BB18-5CFB-16AE7ED60B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4606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Usa un unico addizionatore operante sulla singola cifra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Opera in momenti successivi su cifre diverse degli addendi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Richiede un blocco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con memoria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r>
              <a:rPr lang="it-IT" altLang="ja-JP" sz="2400">
                <a:ea typeface="ＭＳ Ｐゴシック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E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 lento rispetto ad addizionatori che lavorano in parallelo sulle diverse cifre degli addendi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pSp>
        <p:nvGrpSpPr>
          <p:cNvPr id="114692" name="Group 4">
            <a:extLst>
              <a:ext uri="{FF2B5EF4-FFF2-40B4-BE49-F238E27FC236}">
                <a16:creationId xmlns:a16="http://schemas.microsoft.com/office/drawing/2014/main" id="{813741FC-5BD4-36F6-2C85-5180C2135467}"/>
              </a:ext>
            </a:extLst>
          </p:cNvPr>
          <p:cNvGrpSpPr>
            <a:grpSpLocks/>
          </p:cNvGrpSpPr>
          <p:nvPr/>
        </p:nvGrpSpPr>
        <p:grpSpPr bwMode="auto">
          <a:xfrm>
            <a:off x="3735388" y="3741738"/>
            <a:ext cx="2019300" cy="2622550"/>
            <a:chOff x="3707" y="1905"/>
            <a:chExt cx="441" cy="603"/>
          </a:xfrm>
        </p:grpSpPr>
        <p:sp>
          <p:nvSpPr>
            <p:cNvPr id="114693" name="Rectangle 5">
              <a:extLst>
                <a:ext uri="{FF2B5EF4-FFF2-40B4-BE49-F238E27FC236}">
                  <a16:creationId xmlns:a16="http://schemas.microsoft.com/office/drawing/2014/main" id="{79D3E84C-B932-CA16-3DE3-3991F27C31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7" y="2101"/>
              <a:ext cx="271" cy="208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694" name="Rectangle 6">
              <a:extLst>
                <a:ext uri="{FF2B5EF4-FFF2-40B4-BE49-F238E27FC236}">
                  <a16:creationId xmlns:a16="http://schemas.microsoft.com/office/drawing/2014/main" id="{6A12F386-4792-883F-A84D-5BA6A14037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3" y="2107"/>
              <a:ext cx="43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Add</a:t>
              </a:r>
              <a:endParaRPr lang="it-IT" altLang="it-IT"/>
            </a:p>
          </p:txBody>
        </p:sp>
        <p:sp>
          <p:nvSpPr>
            <p:cNvPr id="114695" name="Rectangle 7">
              <a:extLst>
                <a:ext uri="{FF2B5EF4-FFF2-40B4-BE49-F238E27FC236}">
                  <a16:creationId xmlns:a16="http://schemas.microsoft.com/office/drawing/2014/main" id="{3AD96A6D-B137-F840-F06F-8047EAD8DC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9" y="2107"/>
              <a:ext cx="8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4696" name="Rectangle 8">
              <a:extLst>
                <a:ext uri="{FF2B5EF4-FFF2-40B4-BE49-F238E27FC236}">
                  <a16:creationId xmlns:a16="http://schemas.microsoft.com/office/drawing/2014/main" id="{455D7664-78DB-42E1-C537-22819520F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2229"/>
              <a:ext cx="45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mod</a:t>
              </a:r>
              <a:endParaRPr lang="it-IT" altLang="it-IT"/>
            </a:p>
          </p:txBody>
        </p:sp>
        <p:sp>
          <p:nvSpPr>
            <p:cNvPr id="114697" name="Rectangle 9">
              <a:extLst>
                <a:ext uri="{FF2B5EF4-FFF2-40B4-BE49-F238E27FC236}">
                  <a16:creationId xmlns:a16="http://schemas.microsoft.com/office/drawing/2014/main" id="{1E7EF148-6713-46AC-B09D-B3ED9B3D18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4" y="2229"/>
              <a:ext cx="8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4698" name="Rectangle 10">
              <a:extLst>
                <a:ext uri="{FF2B5EF4-FFF2-40B4-BE49-F238E27FC236}">
                  <a16:creationId xmlns:a16="http://schemas.microsoft.com/office/drawing/2014/main" id="{1724C0CA-773A-0086-E826-596A19F1C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6" y="2229"/>
              <a:ext cx="13" cy="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900" b="0">
                  <a:solidFill>
                    <a:srgbClr val="000000"/>
                  </a:solidFill>
                </a:rPr>
                <a:t>b</a:t>
              </a:r>
              <a:endParaRPr lang="it-IT" altLang="it-IT"/>
            </a:p>
          </p:txBody>
        </p:sp>
        <p:grpSp>
          <p:nvGrpSpPr>
            <p:cNvPr id="114699" name="Group 11">
              <a:extLst>
                <a:ext uri="{FF2B5EF4-FFF2-40B4-BE49-F238E27FC236}">
                  <a16:creationId xmlns:a16="http://schemas.microsoft.com/office/drawing/2014/main" id="{4D3181F1-0FB3-A7E4-A214-62A8CADA43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4" y="1966"/>
              <a:ext cx="65" cy="135"/>
              <a:chOff x="4014" y="1966"/>
              <a:chExt cx="65" cy="135"/>
            </a:xfrm>
          </p:grpSpPr>
          <p:sp>
            <p:nvSpPr>
              <p:cNvPr id="114749" name="Rectangle 12">
                <a:extLst>
                  <a:ext uri="{FF2B5EF4-FFF2-40B4-BE49-F238E27FC236}">
                    <a16:creationId xmlns:a16="http://schemas.microsoft.com/office/drawing/2014/main" id="{4F5B15A2-5655-5C94-6964-25E7D8418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0" y="1966"/>
                <a:ext cx="12" cy="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50" name="Freeform 13">
                <a:extLst>
                  <a:ext uri="{FF2B5EF4-FFF2-40B4-BE49-F238E27FC236}">
                    <a16:creationId xmlns:a16="http://schemas.microsoft.com/office/drawing/2014/main" id="{30748F2D-7FC2-E09E-7906-720456F4A4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036"/>
                <a:ext cx="65" cy="65"/>
              </a:xfrm>
              <a:custGeom>
                <a:avLst/>
                <a:gdLst>
                  <a:gd name="T0" fmla="*/ 0 w 131"/>
                  <a:gd name="T1" fmla="*/ 0 h 130"/>
                  <a:gd name="T2" fmla="*/ 0 w 131"/>
                  <a:gd name="T3" fmla="*/ 1 h 130"/>
                  <a:gd name="T4" fmla="*/ 0 w 131"/>
                  <a:gd name="T5" fmla="*/ 0 h 130"/>
                  <a:gd name="T6" fmla="*/ 0 w 131"/>
                  <a:gd name="T7" fmla="*/ 0 h 1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1"/>
                  <a:gd name="T13" fmla="*/ 0 h 130"/>
                  <a:gd name="T14" fmla="*/ 131 w 131"/>
                  <a:gd name="T15" fmla="*/ 130 h 1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1" h="130">
                    <a:moveTo>
                      <a:pt x="0" y="0"/>
                    </a:moveTo>
                    <a:lnTo>
                      <a:pt x="65" y="130"/>
                    </a:lnTo>
                    <a:lnTo>
                      <a:pt x="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00" name="Rectangle 14">
              <a:extLst>
                <a:ext uri="{FF2B5EF4-FFF2-40B4-BE49-F238E27FC236}">
                  <a16:creationId xmlns:a16="http://schemas.microsoft.com/office/drawing/2014/main" id="{09364FFE-97FD-C55A-9738-9617134BE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2" y="1905"/>
              <a:ext cx="102" cy="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01" name="Rectangle 15">
              <a:extLst>
                <a:ext uri="{FF2B5EF4-FFF2-40B4-BE49-F238E27FC236}">
                  <a16:creationId xmlns:a16="http://schemas.microsoft.com/office/drawing/2014/main" id="{CDEBEB6E-CD8C-4092-4689-9D6CA9D52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2" y="1909"/>
              <a:ext cx="12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X</a:t>
              </a:r>
              <a:endParaRPr lang="it-IT" altLang="it-IT"/>
            </a:p>
          </p:txBody>
        </p:sp>
        <p:sp>
          <p:nvSpPr>
            <p:cNvPr id="114702" name="Rectangle 16">
              <a:extLst>
                <a:ext uri="{FF2B5EF4-FFF2-40B4-BE49-F238E27FC236}">
                  <a16:creationId xmlns:a16="http://schemas.microsoft.com/office/drawing/2014/main" id="{799FC386-4342-BBD5-AF21-1F741CFE5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9" y="1935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  <p:grpSp>
          <p:nvGrpSpPr>
            <p:cNvPr id="114703" name="Group 17">
              <a:extLst>
                <a:ext uri="{FF2B5EF4-FFF2-40B4-BE49-F238E27FC236}">
                  <a16:creationId xmlns:a16="http://schemas.microsoft.com/office/drawing/2014/main" id="{666920A0-B393-55B8-7440-7121105276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81" y="1966"/>
              <a:ext cx="66" cy="135"/>
              <a:chOff x="4081" y="1966"/>
              <a:chExt cx="66" cy="135"/>
            </a:xfrm>
          </p:grpSpPr>
          <p:sp>
            <p:nvSpPr>
              <p:cNvPr id="114747" name="Rectangle 18">
                <a:extLst>
                  <a:ext uri="{FF2B5EF4-FFF2-40B4-BE49-F238E27FC236}">
                    <a16:creationId xmlns:a16="http://schemas.microsoft.com/office/drawing/2014/main" id="{FCC1BDF2-94A7-4919-4098-FBAC20293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7" y="1966"/>
                <a:ext cx="13" cy="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48" name="Freeform 19">
                <a:extLst>
                  <a:ext uri="{FF2B5EF4-FFF2-40B4-BE49-F238E27FC236}">
                    <a16:creationId xmlns:a16="http://schemas.microsoft.com/office/drawing/2014/main" id="{7747B18D-0309-27BA-0C5F-5468146F48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2036"/>
                <a:ext cx="66" cy="65"/>
              </a:xfrm>
              <a:custGeom>
                <a:avLst/>
                <a:gdLst>
                  <a:gd name="T0" fmla="*/ 0 w 131"/>
                  <a:gd name="T1" fmla="*/ 0 h 130"/>
                  <a:gd name="T2" fmla="*/ 1 w 131"/>
                  <a:gd name="T3" fmla="*/ 1 h 130"/>
                  <a:gd name="T4" fmla="*/ 1 w 131"/>
                  <a:gd name="T5" fmla="*/ 0 h 130"/>
                  <a:gd name="T6" fmla="*/ 0 w 131"/>
                  <a:gd name="T7" fmla="*/ 0 h 13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1"/>
                  <a:gd name="T13" fmla="*/ 0 h 130"/>
                  <a:gd name="T14" fmla="*/ 131 w 131"/>
                  <a:gd name="T15" fmla="*/ 130 h 13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1" h="130">
                    <a:moveTo>
                      <a:pt x="0" y="0"/>
                    </a:moveTo>
                    <a:lnTo>
                      <a:pt x="65" y="130"/>
                    </a:lnTo>
                    <a:lnTo>
                      <a:pt x="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704" name="Group 20">
              <a:extLst>
                <a:ext uri="{FF2B5EF4-FFF2-40B4-BE49-F238E27FC236}">
                  <a16:creationId xmlns:a16="http://schemas.microsoft.com/office/drawing/2014/main" id="{93FA17E5-BC61-E09E-CB4D-5D5CA78945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47" y="2304"/>
              <a:ext cx="66" cy="135"/>
              <a:chOff x="4047" y="2304"/>
              <a:chExt cx="66" cy="135"/>
            </a:xfrm>
          </p:grpSpPr>
          <p:sp>
            <p:nvSpPr>
              <p:cNvPr id="114745" name="Rectangle 21">
                <a:extLst>
                  <a:ext uri="{FF2B5EF4-FFF2-40B4-BE49-F238E27FC236}">
                    <a16:creationId xmlns:a16="http://schemas.microsoft.com/office/drawing/2014/main" id="{278623B8-1CF0-C7AF-1F6C-6CE7EC172B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3" y="2304"/>
                <a:ext cx="13" cy="7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46" name="Freeform 22">
                <a:extLst>
                  <a:ext uri="{FF2B5EF4-FFF2-40B4-BE49-F238E27FC236}">
                    <a16:creationId xmlns:a16="http://schemas.microsoft.com/office/drawing/2014/main" id="{9AD089E1-EE8B-F3B0-5802-CD06FEC878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7" y="2374"/>
                <a:ext cx="66" cy="65"/>
              </a:xfrm>
              <a:custGeom>
                <a:avLst/>
                <a:gdLst>
                  <a:gd name="T0" fmla="*/ 0 w 131"/>
                  <a:gd name="T1" fmla="*/ 0 h 129"/>
                  <a:gd name="T2" fmla="*/ 1 w 131"/>
                  <a:gd name="T3" fmla="*/ 1 h 129"/>
                  <a:gd name="T4" fmla="*/ 1 w 131"/>
                  <a:gd name="T5" fmla="*/ 0 h 129"/>
                  <a:gd name="T6" fmla="*/ 0 w 131"/>
                  <a:gd name="T7" fmla="*/ 0 h 12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1"/>
                  <a:gd name="T13" fmla="*/ 0 h 129"/>
                  <a:gd name="T14" fmla="*/ 131 w 131"/>
                  <a:gd name="T15" fmla="*/ 129 h 12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1" h="129">
                    <a:moveTo>
                      <a:pt x="0" y="0"/>
                    </a:moveTo>
                    <a:lnTo>
                      <a:pt x="65" y="129"/>
                    </a:lnTo>
                    <a:lnTo>
                      <a:pt x="1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05" name="Rectangle 23">
              <a:extLst>
                <a:ext uri="{FF2B5EF4-FFF2-40B4-BE49-F238E27FC236}">
                  <a16:creationId xmlns:a16="http://schemas.microsoft.com/office/drawing/2014/main" id="{8237CFB1-7F4A-6789-A8F0-A0F3E21B50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905"/>
              <a:ext cx="68" cy="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06" name="Rectangle 24">
              <a:extLst>
                <a:ext uri="{FF2B5EF4-FFF2-40B4-BE49-F238E27FC236}">
                  <a16:creationId xmlns:a16="http://schemas.microsoft.com/office/drawing/2014/main" id="{15092AD3-670F-9F56-36A9-B02E3B40E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909"/>
              <a:ext cx="12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Y</a:t>
              </a:r>
              <a:endParaRPr lang="it-IT" altLang="it-IT"/>
            </a:p>
          </p:txBody>
        </p:sp>
        <p:sp>
          <p:nvSpPr>
            <p:cNvPr id="114707" name="Rectangle 25">
              <a:extLst>
                <a:ext uri="{FF2B5EF4-FFF2-40B4-BE49-F238E27FC236}">
                  <a16:creationId xmlns:a16="http://schemas.microsoft.com/office/drawing/2014/main" id="{DFB3167E-A46B-6BE1-F012-6DF8878AE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6" y="1935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  <p:sp>
          <p:nvSpPr>
            <p:cNvPr id="114708" name="Rectangle 26">
              <a:extLst>
                <a:ext uri="{FF2B5EF4-FFF2-40B4-BE49-F238E27FC236}">
                  <a16:creationId xmlns:a16="http://schemas.microsoft.com/office/drawing/2014/main" id="{79BA7950-AE63-9B0A-6214-EC5300798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2439"/>
              <a:ext cx="102" cy="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09" name="Rectangle 27">
              <a:extLst>
                <a:ext uri="{FF2B5EF4-FFF2-40B4-BE49-F238E27FC236}">
                  <a16:creationId xmlns:a16="http://schemas.microsoft.com/office/drawing/2014/main" id="{5AD9E1CC-D4D3-4AD4-CB24-384A79239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6" y="2443"/>
              <a:ext cx="9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S</a:t>
              </a:r>
              <a:endParaRPr lang="it-IT" altLang="it-IT"/>
            </a:p>
          </p:txBody>
        </p:sp>
        <p:sp>
          <p:nvSpPr>
            <p:cNvPr id="114710" name="Rectangle 28">
              <a:extLst>
                <a:ext uri="{FF2B5EF4-FFF2-40B4-BE49-F238E27FC236}">
                  <a16:creationId xmlns:a16="http://schemas.microsoft.com/office/drawing/2014/main" id="{A7508522-5308-1A8F-CBEB-27BCF8D4FF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4" y="2469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  <p:sp>
          <p:nvSpPr>
            <p:cNvPr id="114711" name="Rectangle 29">
              <a:extLst>
                <a:ext uri="{FF2B5EF4-FFF2-40B4-BE49-F238E27FC236}">
                  <a16:creationId xmlns:a16="http://schemas.microsoft.com/office/drawing/2014/main" id="{B752EC5A-B254-DA6E-F10B-6A6A88E2E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2446"/>
              <a:ext cx="68" cy="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12" name="Rectangle 30">
              <a:extLst>
                <a:ext uri="{FF2B5EF4-FFF2-40B4-BE49-F238E27FC236}">
                  <a16:creationId xmlns:a16="http://schemas.microsoft.com/office/drawing/2014/main" id="{87A884DD-3D49-2E48-C243-3F38064D2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" y="2450"/>
              <a:ext cx="11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4713" name="Rectangle 31">
              <a:extLst>
                <a:ext uri="{FF2B5EF4-FFF2-40B4-BE49-F238E27FC236}">
                  <a16:creationId xmlns:a16="http://schemas.microsoft.com/office/drawing/2014/main" id="{1E7651C0-393F-E3A2-274D-2C096BAF2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2476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  <p:sp>
          <p:nvSpPr>
            <p:cNvPr id="114714" name="Line 32">
              <a:extLst>
                <a:ext uri="{FF2B5EF4-FFF2-40B4-BE49-F238E27FC236}">
                  <a16:creationId xmlns:a16="http://schemas.microsoft.com/office/drawing/2014/main" id="{04E9CB61-9007-628F-3B08-D78FE5AEDA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1" y="2311"/>
              <a:ext cx="1" cy="10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4715" name="Group 33">
              <a:extLst>
                <a:ext uri="{FF2B5EF4-FFF2-40B4-BE49-F238E27FC236}">
                  <a16:creationId xmlns:a16="http://schemas.microsoft.com/office/drawing/2014/main" id="{9C175DAD-2E4B-3C22-6EA7-C4D5AA11B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76" y="2391"/>
              <a:ext cx="135" cy="44"/>
              <a:chOff x="3776" y="2391"/>
              <a:chExt cx="135" cy="44"/>
            </a:xfrm>
          </p:grpSpPr>
          <p:sp>
            <p:nvSpPr>
              <p:cNvPr id="114743" name="Line 34">
                <a:extLst>
                  <a:ext uri="{FF2B5EF4-FFF2-40B4-BE49-F238E27FC236}">
                    <a16:creationId xmlns:a16="http://schemas.microsoft.com/office/drawing/2014/main" id="{D74DFDD8-4935-02B5-6633-3B6894595D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18" y="2412"/>
                <a:ext cx="93" cy="1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44" name="Freeform 35">
                <a:extLst>
                  <a:ext uri="{FF2B5EF4-FFF2-40B4-BE49-F238E27FC236}">
                    <a16:creationId xmlns:a16="http://schemas.microsoft.com/office/drawing/2014/main" id="{5677965A-637D-DE36-8EEE-DEBE0A461F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6" y="2391"/>
                <a:ext cx="44" cy="44"/>
              </a:xfrm>
              <a:custGeom>
                <a:avLst/>
                <a:gdLst>
                  <a:gd name="T0" fmla="*/ 0 w 89"/>
                  <a:gd name="T1" fmla="*/ 0 h 89"/>
                  <a:gd name="T2" fmla="*/ 0 w 89"/>
                  <a:gd name="T3" fmla="*/ 0 h 89"/>
                  <a:gd name="T4" fmla="*/ 0 w 89"/>
                  <a:gd name="T5" fmla="*/ 0 h 89"/>
                  <a:gd name="T6" fmla="*/ 0 w 89"/>
                  <a:gd name="T7" fmla="*/ 0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9"/>
                  <a:gd name="T13" fmla="*/ 0 h 89"/>
                  <a:gd name="T14" fmla="*/ 89 w 89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9" h="89">
                    <a:moveTo>
                      <a:pt x="89" y="0"/>
                    </a:moveTo>
                    <a:lnTo>
                      <a:pt x="0" y="44"/>
                    </a:lnTo>
                    <a:lnTo>
                      <a:pt x="89" y="89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4716" name="Line 36">
              <a:extLst>
                <a:ext uri="{FF2B5EF4-FFF2-40B4-BE49-F238E27FC236}">
                  <a16:creationId xmlns:a16="http://schemas.microsoft.com/office/drawing/2014/main" id="{FF196D59-FF5E-0B51-030C-8E19475A4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277"/>
              <a:ext cx="1" cy="135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7" name="Line 37">
              <a:extLst>
                <a:ext uri="{FF2B5EF4-FFF2-40B4-BE49-F238E27FC236}">
                  <a16:creationId xmlns:a16="http://schemas.microsoft.com/office/drawing/2014/main" id="{A099FC8F-8D72-CD34-CEAC-952EE50949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6" y="2006"/>
              <a:ext cx="1" cy="170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8" name="Line 38">
              <a:extLst>
                <a:ext uri="{FF2B5EF4-FFF2-40B4-BE49-F238E27FC236}">
                  <a16:creationId xmlns:a16="http://schemas.microsoft.com/office/drawing/2014/main" id="{9BF83F94-069B-EDF8-6A16-0A0DAD964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76" y="2006"/>
              <a:ext cx="135" cy="1"/>
            </a:xfrm>
            <a:prstGeom prst="lin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4719" name="Group 39">
              <a:extLst>
                <a:ext uri="{FF2B5EF4-FFF2-40B4-BE49-F238E27FC236}">
                  <a16:creationId xmlns:a16="http://schemas.microsoft.com/office/drawing/2014/main" id="{9A08895E-2838-9F83-AE75-DDE54484F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9" y="2006"/>
              <a:ext cx="45" cy="102"/>
              <a:chOff x="3889" y="2006"/>
              <a:chExt cx="45" cy="102"/>
            </a:xfrm>
          </p:grpSpPr>
          <p:sp>
            <p:nvSpPr>
              <p:cNvPr id="114741" name="Line 40">
                <a:extLst>
                  <a:ext uri="{FF2B5EF4-FFF2-40B4-BE49-F238E27FC236}">
                    <a16:creationId xmlns:a16="http://schemas.microsoft.com/office/drawing/2014/main" id="{63DA4AC3-4625-09A9-EB1D-623931F8F1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1" y="2006"/>
                <a:ext cx="1" cy="60"/>
              </a:xfrm>
              <a:prstGeom prst="line">
                <a:avLst/>
              </a:prstGeom>
              <a:noFill/>
              <a:ln w="63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42" name="Freeform 41">
                <a:extLst>
                  <a:ext uri="{FF2B5EF4-FFF2-40B4-BE49-F238E27FC236}">
                    <a16:creationId xmlns:a16="http://schemas.microsoft.com/office/drawing/2014/main" id="{0C23A292-A093-E7A9-BFF7-A982CB5EFD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9" y="2064"/>
                <a:ext cx="45" cy="44"/>
              </a:xfrm>
              <a:custGeom>
                <a:avLst/>
                <a:gdLst>
                  <a:gd name="T0" fmla="*/ 0 w 88"/>
                  <a:gd name="T1" fmla="*/ 0 h 88"/>
                  <a:gd name="T2" fmla="*/ 1 w 88"/>
                  <a:gd name="T3" fmla="*/ 1 h 88"/>
                  <a:gd name="T4" fmla="*/ 1 w 88"/>
                  <a:gd name="T5" fmla="*/ 0 h 88"/>
                  <a:gd name="T6" fmla="*/ 0 w 88"/>
                  <a:gd name="T7" fmla="*/ 0 h 8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8"/>
                  <a:gd name="T13" fmla="*/ 0 h 88"/>
                  <a:gd name="T14" fmla="*/ 88 w 88"/>
                  <a:gd name="T15" fmla="*/ 88 h 8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8" h="88">
                    <a:moveTo>
                      <a:pt x="0" y="0"/>
                    </a:moveTo>
                    <a:lnTo>
                      <a:pt x="43" y="88"/>
                    </a:lnTo>
                    <a:lnTo>
                      <a:pt x="8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4720" name="Group 42">
              <a:extLst>
                <a:ext uri="{FF2B5EF4-FFF2-40B4-BE49-F238E27FC236}">
                  <a16:creationId xmlns:a16="http://schemas.microsoft.com/office/drawing/2014/main" id="{9B33F08B-74B9-C96C-EE82-AC34E10D67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07" y="2173"/>
              <a:ext cx="139" cy="110"/>
              <a:chOff x="3707" y="2173"/>
              <a:chExt cx="139" cy="110"/>
            </a:xfrm>
          </p:grpSpPr>
          <p:sp>
            <p:nvSpPr>
              <p:cNvPr id="114725" name="Freeform 43">
                <a:extLst>
                  <a:ext uri="{FF2B5EF4-FFF2-40B4-BE49-F238E27FC236}">
                    <a16:creationId xmlns:a16="http://schemas.microsoft.com/office/drawing/2014/main" id="{063F2BB0-BB97-C633-DE91-25753AA61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7" y="2173"/>
                <a:ext cx="10" cy="19"/>
              </a:xfrm>
              <a:custGeom>
                <a:avLst/>
                <a:gdLst>
                  <a:gd name="T0" fmla="*/ 0 w 21"/>
                  <a:gd name="T1" fmla="*/ 1 h 38"/>
                  <a:gd name="T2" fmla="*/ 0 w 21"/>
                  <a:gd name="T3" fmla="*/ 1 h 38"/>
                  <a:gd name="T4" fmla="*/ 0 w 21"/>
                  <a:gd name="T5" fmla="*/ 1 h 38"/>
                  <a:gd name="T6" fmla="*/ 0 w 21"/>
                  <a:gd name="T7" fmla="*/ 1 h 38"/>
                  <a:gd name="T8" fmla="*/ 0 w 21"/>
                  <a:gd name="T9" fmla="*/ 0 h 38"/>
                  <a:gd name="T10" fmla="*/ 0 w 21"/>
                  <a:gd name="T11" fmla="*/ 0 h 38"/>
                  <a:gd name="T12" fmla="*/ 0 w 21"/>
                  <a:gd name="T13" fmla="*/ 0 h 38"/>
                  <a:gd name="T14" fmla="*/ 0 w 21"/>
                  <a:gd name="T15" fmla="*/ 1 h 38"/>
                  <a:gd name="T16" fmla="*/ 0 w 21"/>
                  <a:gd name="T17" fmla="*/ 1 h 38"/>
                  <a:gd name="T18" fmla="*/ 0 w 21"/>
                  <a:gd name="T19" fmla="*/ 1 h 38"/>
                  <a:gd name="T20" fmla="*/ 0 w 21"/>
                  <a:gd name="T21" fmla="*/ 1 h 3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"/>
                  <a:gd name="T34" fmla="*/ 0 h 38"/>
                  <a:gd name="T35" fmla="*/ 21 w 21"/>
                  <a:gd name="T36" fmla="*/ 38 h 3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" h="38">
                    <a:moveTo>
                      <a:pt x="9" y="4"/>
                    </a:moveTo>
                    <a:lnTo>
                      <a:pt x="4" y="4"/>
                    </a:lnTo>
                    <a:lnTo>
                      <a:pt x="4" y="8"/>
                    </a:lnTo>
                    <a:lnTo>
                      <a:pt x="21" y="8"/>
                    </a:lnTo>
                    <a:lnTo>
                      <a:pt x="21" y="0"/>
                    </a:lnTo>
                    <a:lnTo>
                      <a:pt x="4" y="0"/>
                    </a:lnTo>
                    <a:lnTo>
                      <a:pt x="0" y="0"/>
                    </a:lnTo>
                    <a:lnTo>
                      <a:pt x="0" y="4"/>
                    </a:lnTo>
                    <a:lnTo>
                      <a:pt x="0" y="38"/>
                    </a:lnTo>
                    <a:lnTo>
                      <a:pt x="9" y="38"/>
                    </a:lnTo>
                    <a:lnTo>
                      <a:pt x="9" y="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26" name="Rectangle 44">
                <a:extLst>
                  <a:ext uri="{FF2B5EF4-FFF2-40B4-BE49-F238E27FC236}">
                    <a16:creationId xmlns:a16="http://schemas.microsoft.com/office/drawing/2014/main" id="{2506FA9B-CEE8-9939-149B-5C6B1A508D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" y="2205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27" name="Rectangle 45">
                <a:extLst>
                  <a:ext uri="{FF2B5EF4-FFF2-40B4-BE49-F238E27FC236}">
                    <a16:creationId xmlns:a16="http://schemas.microsoft.com/office/drawing/2014/main" id="{0DA49048-E8A6-AEA7-256B-4B1E527479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" y="2235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28" name="Rectangle 46">
                <a:extLst>
                  <a:ext uri="{FF2B5EF4-FFF2-40B4-BE49-F238E27FC236}">
                    <a16:creationId xmlns:a16="http://schemas.microsoft.com/office/drawing/2014/main" id="{11AB8EF7-EC70-1E3E-6407-C049AD9E6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7" y="2264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29" name="Rectangle 47">
                <a:extLst>
                  <a:ext uri="{FF2B5EF4-FFF2-40B4-BE49-F238E27FC236}">
                    <a16:creationId xmlns:a16="http://schemas.microsoft.com/office/drawing/2014/main" id="{DFB1851A-B4DD-1959-35BC-4387B77EBD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1" y="2279"/>
                <a:ext cx="1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0" name="Rectangle 48">
                <a:extLst>
                  <a:ext uri="{FF2B5EF4-FFF2-40B4-BE49-F238E27FC236}">
                    <a16:creationId xmlns:a16="http://schemas.microsoft.com/office/drawing/2014/main" id="{A585A47A-6207-BED1-45E3-25CAA20CB0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1" y="2279"/>
                <a:ext cx="1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1" name="Rectangle 49">
                <a:extLst>
                  <a:ext uri="{FF2B5EF4-FFF2-40B4-BE49-F238E27FC236}">
                    <a16:creationId xmlns:a16="http://schemas.microsoft.com/office/drawing/2014/main" id="{C9825152-FD3F-A05A-3C7C-6E5641C52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0" y="2279"/>
                <a:ext cx="1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2" name="Rectangle 50">
                <a:extLst>
                  <a:ext uri="{FF2B5EF4-FFF2-40B4-BE49-F238E27FC236}">
                    <a16:creationId xmlns:a16="http://schemas.microsoft.com/office/drawing/2014/main" id="{0E0E2903-BB8B-B859-B2E3-44BF4F8B6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0" y="2279"/>
                <a:ext cx="17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3" name="Freeform 51">
                <a:extLst>
                  <a:ext uri="{FF2B5EF4-FFF2-40B4-BE49-F238E27FC236}">
                    <a16:creationId xmlns:a16="http://schemas.microsoft.com/office/drawing/2014/main" id="{6AC1CA4D-962A-8F23-BF9C-DFA67D45A2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9" y="2269"/>
                <a:ext cx="7" cy="14"/>
              </a:xfrm>
              <a:custGeom>
                <a:avLst/>
                <a:gdLst>
                  <a:gd name="T0" fmla="*/ 0 w 13"/>
                  <a:gd name="T1" fmla="*/ 0 h 30"/>
                  <a:gd name="T2" fmla="*/ 0 w 13"/>
                  <a:gd name="T3" fmla="*/ 0 h 30"/>
                  <a:gd name="T4" fmla="*/ 1 w 13"/>
                  <a:gd name="T5" fmla="*/ 0 h 30"/>
                  <a:gd name="T6" fmla="*/ 1 w 13"/>
                  <a:gd name="T7" fmla="*/ 0 h 30"/>
                  <a:gd name="T8" fmla="*/ 1 w 13"/>
                  <a:gd name="T9" fmla="*/ 0 h 30"/>
                  <a:gd name="T10" fmla="*/ 1 w 13"/>
                  <a:gd name="T11" fmla="*/ 0 h 30"/>
                  <a:gd name="T12" fmla="*/ 1 w 13"/>
                  <a:gd name="T13" fmla="*/ 0 h 30"/>
                  <a:gd name="T14" fmla="*/ 1 w 13"/>
                  <a:gd name="T15" fmla="*/ 0 h 30"/>
                  <a:gd name="T16" fmla="*/ 1 w 13"/>
                  <a:gd name="T17" fmla="*/ 0 h 30"/>
                  <a:gd name="T18" fmla="*/ 1 w 13"/>
                  <a:gd name="T19" fmla="*/ 0 h 30"/>
                  <a:gd name="T20" fmla="*/ 0 w 13"/>
                  <a:gd name="T21" fmla="*/ 0 h 3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3"/>
                  <a:gd name="T34" fmla="*/ 0 h 30"/>
                  <a:gd name="T35" fmla="*/ 13 w 13"/>
                  <a:gd name="T36" fmla="*/ 30 h 3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3" h="30">
                    <a:moveTo>
                      <a:pt x="0" y="21"/>
                    </a:moveTo>
                    <a:lnTo>
                      <a:pt x="0" y="30"/>
                    </a:lnTo>
                    <a:lnTo>
                      <a:pt x="8" y="30"/>
                    </a:lnTo>
                    <a:lnTo>
                      <a:pt x="13" y="30"/>
                    </a:lnTo>
                    <a:lnTo>
                      <a:pt x="13" y="26"/>
                    </a:lnTo>
                    <a:lnTo>
                      <a:pt x="13" y="0"/>
                    </a:lnTo>
                    <a:lnTo>
                      <a:pt x="4" y="0"/>
                    </a:lnTo>
                    <a:lnTo>
                      <a:pt x="4" y="26"/>
                    </a:lnTo>
                    <a:lnTo>
                      <a:pt x="8" y="26"/>
                    </a:lnTo>
                    <a:lnTo>
                      <a:pt x="8" y="21"/>
                    </a:lnTo>
                    <a:lnTo>
                      <a:pt x="0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734" name="Rectangle 52">
                <a:extLst>
                  <a:ext uri="{FF2B5EF4-FFF2-40B4-BE49-F238E27FC236}">
                    <a16:creationId xmlns:a16="http://schemas.microsoft.com/office/drawing/2014/main" id="{DFA43A5A-8710-D123-3927-F84567477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2239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5" name="Rectangle 53">
                <a:extLst>
                  <a:ext uri="{FF2B5EF4-FFF2-40B4-BE49-F238E27FC236}">
                    <a16:creationId xmlns:a16="http://schemas.microsoft.com/office/drawing/2014/main" id="{D8370DE8-7321-8062-A43E-667C85FC5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2209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6" name="Rectangle 54">
                <a:extLst>
                  <a:ext uri="{FF2B5EF4-FFF2-40B4-BE49-F238E27FC236}">
                    <a16:creationId xmlns:a16="http://schemas.microsoft.com/office/drawing/2014/main" id="{D4A9D6AA-A6ED-9C83-1A30-FDEF75769A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2" y="2180"/>
                <a:ext cx="4" cy="1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7" name="Rectangle 55">
                <a:extLst>
                  <a:ext uri="{FF2B5EF4-FFF2-40B4-BE49-F238E27FC236}">
                    <a16:creationId xmlns:a16="http://schemas.microsoft.com/office/drawing/2014/main" id="{EB0B337D-9F0E-2DE5-D4E8-737D09C2E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8" y="2173"/>
                <a:ext cx="17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8" name="Rectangle 56">
                <a:extLst>
                  <a:ext uri="{FF2B5EF4-FFF2-40B4-BE49-F238E27FC236}">
                    <a16:creationId xmlns:a16="http://schemas.microsoft.com/office/drawing/2014/main" id="{C293E100-486E-78F5-89A9-5EA968D63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9" y="2173"/>
                <a:ext cx="17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39" name="Rectangle 57">
                <a:extLst>
                  <a:ext uri="{FF2B5EF4-FFF2-40B4-BE49-F238E27FC236}">
                    <a16:creationId xmlns:a16="http://schemas.microsoft.com/office/drawing/2014/main" id="{257785A0-E44B-064F-74AC-F2C0CF61DE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9" y="2173"/>
                <a:ext cx="17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4740" name="Rectangle 58">
                <a:extLst>
                  <a:ext uri="{FF2B5EF4-FFF2-40B4-BE49-F238E27FC236}">
                    <a16:creationId xmlns:a16="http://schemas.microsoft.com/office/drawing/2014/main" id="{5E304E76-637D-DF2D-D89D-57E34329EA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0" y="2173"/>
                <a:ext cx="17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  <p:sp>
          <p:nvSpPr>
            <p:cNvPr id="114721" name="Rectangle 59">
              <a:extLst>
                <a:ext uri="{FF2B5EF4-FFF2-40B4-BE49-F238E27FC236}">
                  <a16:creationId xmlns:a16="http://schemas.microsoft.com/office/drawing/2014/main" id="{6C9A0ABF-0E8C-CCC7-9BBC-81197C350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1" y="2196"/>
              <a:ext cx="10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  <a:latin typeface="Symbol" panose="05050102010706020507" pitchFamily="18" charset="2"/>
                </a:rPr>
                <a:t>D</a:t>
              </a:r>
              <a:endParaRPr lang="it-IT" altLang="it-IT"/>
            </a:p>
          </p:txBody>
        </p:sp>
        <p:sp>
          <p:nvSpPr>
            <p:cNvPr id="114722" name="Rectangle 60">
              <a:extLst>
                <a:ext uri="{FF2B5EF4-FFF2-40B4-BE49-F238E27FC236}">
                  <a16:creationId xmlns:a16="http://schemas.microsoft.com/office/drawing/2014/main" id="{02EA79FD-5194-E587-1B78-21291B3B83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946"/>
              <a:ext cx="68" cy="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4723" name="Rectangle 61">
              <a:extLst>
                <a:ext uri="{FF2B5EF4-FFF2-40B4-BE49-F238E27FC236}">
                  <a16:creationId xmlns:a16="http://schemas.microsoft.com/office/drawing/2014/main" id="{2441CDA7-FFCA-26D2-F585-56165D829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1" y="1949"/>
              <a:ext cx="6" cy="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6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4724" name="Rectangle 62">
              <a:extLst>
                <a:ext uri="{FF2B5EF4-FFF2-40B4-BE49-F238E27FC236}">
                  <a16:creationId xmlns:a16="http://schemas.microsoft.com/office/drawing/2014/main" id="{6115B216-A1F3-8880-8E62-52D7A925F6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" y="1976"/>
              <a:ext cx="3" cy="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400" b="0">
                  <a:solidFill>
                    <a:srgbClr val="000000"/>
                  </a:solidFill>
                </a:rPr>
                <a:t>i</a:t>
              </a:r>
              <a:endParaRPr lang="it-IT" altLang="it-IT"/>
            </a:p>
          </p:txBody>
        </p:sp>
      </p:grp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Segnaposto numero diapositiva 3">
            <a:extLst>
              <a:ext uri="{FF2B5EF4-FFF2-40B4-BE49-F238E27FC236}">
                <a16:creationId xmlns:a16="http://schemas.microsoft.com/office/drawing/2014/main" id="{082E9331-485C-1B0A-3AB2-1AD5554F8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B0D0BA46-68D4-4326-A2ED-C47A7B7DF778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84</a:t>
            </a:fld>
            <a:endParaRPr lang="it-IT" altLang="it-IT" sz="1400"/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3AA4301C-902B-692C-5471-3AF6E5924D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paralleli</a:t>
            </a:r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3292D117-C338-7EB7-B491-739D3055FE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2160588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Opera sulle cifre degli addendi in parallelo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…anche se il riporto deve propagarsi attraverso l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intera struttura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Richiede un numero maggiore di risorse rispetto all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addizionatore seriale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pSp>
        <p:nvGrpSpPr>
          <p:cNvPr id="115716" name="Group 4">
            <a:extLst>
              <a:ext uri="{FF2B5EF4-FFF2-40B4-BE49-F238E27FC236}">
                <a16:creationId xmlns:a16="http://schemas.microsoft.com/office/drawing/2014/main" id="{D935902B-983F-6BCE-C0F6-BB34656D5460}"/>
              </a:ext>
            </a:extLst>
          </p:cNvPr>
          <p:cNvGrpSpPr>
            <a:grpSpLocks/>
          </p:cNvGrpSpPr>
          <p:nvPr/>
        </p:nvGrpSpPr>
        <p:grpSpPr bwMode="auto">
          <a:xfrm>
            <a:off x="579438" y="3895725"/>
            <a:ext cx="9001125" cy="2152650"/>
            <a:chOff x="521" y="1333"/>
            <a:chExt cx="3256" cy="1020"/>
          </a:xfrm>
        </p:grpSpPr>
        <p:sp>
          <p:nvSpPr>
            <p:cNvPr id="115717" name="Rectangle 5">
              <a:extLst>
                <a:ext uri="{FF2B5EF4-FFF2-40B4-BE49-F238E27FC236}">
                  <a16:creationId xmlns:a16="http://schemas.microsoft.com/office/drawing/2014/main" id="{12F1BD00-18B2-00C4-F80D-449CD99F0B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1677"/>
              <a:ext cx="458" cy="352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18" name="Rectangle 6">
              <a:extLst>
                <a:ext uri="{FF2B5EF4-FFF2-40B4-BE49-F238E27FC236}">
                  <a16:creationId xmlns:a16="http://schemas.microsoft.com/office/drawing/2014/main" id="{84C57F5D-5A9B-8A59-C9A0-FEDA4197A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9" y="1687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Add</a:t>
              </a:r>
              <a:endParaRPr lang="it-IT" altLang="it-IT"/>
            </a:p>
          </p:txBody>
        </p:sp>
        <p:sp>
          <p:nvSpPr>
            <p:cNvPr id="115719" name="Rectangle 7">
              <a:extLst>
                <a:ext uri="{FF2B5EF4-FFF2-40B4-BE49-F238E27FC236}">
                  <a16:creationId xmlns:a16="http://schemas.microsoft.com/office/drawing/2014/main" id="{73D4D418-7525-5C00-4CEA-0054207E8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5" y="1687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20" name="Rectangle 8">
              <a:extLst>
                <a:ext uri="{FF2B5EF4-FFF2-40B4-BE49-F238E27FC236}">
                  <a16:creationId xmlns:a16="http://schemas.microsoft.com/office/drawing/2014/main" id="{FBE7F79A-D083-6E51-9B7F-59E208FA25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7" y="1893"/>
              <a:ext cx="115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mod</a:t>
              </a:r>
              <a:endParaRPr lang="it-IT" altLang="it-IT"/>
            </a:p>
          </p:txBody>
        </p:sp>
        <p:sp>
          <p:nvSpPr>
            <p:cNvPr id="115721" name="Rectangle 9">
              <a:extLst>
                <a:ext uri="{FF2B5EF4-FFF2-40B4-BE49-F238E27FC236}">
                  <a16:creationId xmlns:a16="http://schemas.microsoft.com/office/drawing/2014/main" id="{8CA3124F-5111-D852-0F83-4ADBDAC7A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0" y="1893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22" name="Rectangle 10">
              <a:extLst>
                <a:ext uri="{FF2B5EF4-FFF2-40B4-BE49-F238E27FC236}">
                  <a16:creationId xmlns:a16="http://schemas.microsoft.com/office/drawing/2014/main" id="{77CE9102-5D6B-31D4-1605-19912E981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" y="1893"/>
              <a:ext cx="3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b</a:t>
              </a:r>
              <a:endParaRPr lang="it-IT" altLang="it-IT"/>
            </a:p>
          </p:txBody>
        </p:sp>
        <p:grpSp>
          <p:nvGrpSpPr>
            <p:cNvPr id="115723" name="Group 11">
              <a:extLst>
                <a:ext uri="{FF2B5EF4-FFF2-40B4-BE49-F238E27FC236}">
                  <a16:creationId xmlns:a16="http://schemas.microsoft.com/office/drawing/2014/main" id="{14C6DAB9-97CC-C93A-76B1-D2386D567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07" y="1448"/>
              <a:ext cx="111" cy="229"/>
              <a:chOff x="3207" y="1448"/>
              <a:chExt cx="111" cy="229"/>
            </a:xfrm>
          </p:grpSpPr>
          <p:sp>
            <p:nvSpPr>
              <p:cNvPr id="115866" name="Rectangle 12">
                <a:extLst>
                  <a:ext uri="{FF2B5EF4-FFF2-40B4-BE49-F238E27FC236}">
                    <a16:creationId xmlns:a16="http://schemas.microsoft.com/office/drawing/2014/main" id="{DAD71FBD-86FB-8751-ECFA-D079CA6C2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52" y="1448"/>
                <a:ext cx="21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67" name="Freeform 13">
                <a:extLst>
                  <a:ext uri="{FF2B5EF4-FFF2-40B4-BE49-F238E27FC236}">
                    <a16:creationId xmlns:a16="http://schemas.microsoft.com/office/drawing/2014/main" id="{AC7F9B8C-19F1-2352-7138-E07A85F434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7" y="1567"/>
                <a:ext cx="111" cy="110"/>
              </a:xfrm>
              <a:custGeom>
                <a:avLst/>
                <a:gdLst>
                  <a:gd name="T0" fmla="*/ 0 w 111"/>
                  <a:gd name="T1" fmla="*/ 0 h 110"/>
                  <a:gd name="T2" fmla="*/ 55 w 111"/>
                  <a:gd name="T3" fmla="*/ 110 h 110"/>
                  <a:gd name="T4" fmla="*/ 111 w 111"/>
                  <a:gd name="T5" fmla="*/ 0 h 110"/>
                  <a:gd name="T6" fmla="*/ 0 w 111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10"/>
                  <a:gd name="T14" fmla="*/ 111 w 111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10">
                    <a:moveTo>
                      <a:pt x="0" y="0"/>
                    </a:moveTo>
                    <a:lnTo>
                      <a:pt x="55" y="110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24" name="Rectangle 14">
              <a:extLst>
                <a:ext uri="{FF2B5EF4-FFF2-40B4-BE49-F238E27FC236}">
                  <a16:creationId xmlns:a16="http://schemas.microsoft.com/office/drawing/2014/main" id="{F62ECAB5-E841-85F5-1574-5DD8822CB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1345"/>
              <a:ext cx="11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25" name="Rectangle 15">
              <a:extLst>
                <a:ext uri="{FF2B5EF4-FFF2-40B4-BE49-F238E27FC236}">
                  <a16:creationId xmlns:a16="http://schemas.microsoft.com/office/drawing/2014/main" id="{385783FA-7C4A-60FB-C3F1-BFD5B0EFE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1351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X</a:t>
              </a:r>
              <a:endParaRPr lang="it-IT" altLang="it-IT"/>
            </a:p>
          </p:txBody>
        </p:sp>
        <p:sp>
          <p:nvSpPr>
            <p:cNvPr id="115726" name="Rectangle 16">
              <a:extLst>
                <a:ext uri="{FF2B5EF4-FFF2-40B4-BE49-F238E27FC236}">
                  <a16:creationId xmlns:a16="http://schemas.microsoft.com/office/drawing/2014/main" id="{BDBD81CC-D5D6-EF4A-A69A-323D7298D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" y="1395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grpSp>
          <p:nvGrpSpPr>
            <p:cNvPr id="115727" name="Group 17">
              <a:extLst>
                <a:ext uri="{FF2B5EF4-FFF2-40B4-BE49-F238E27FC236}">
                  <a16:creationId xmlns:a16="http://schemas.microsoft.com/office/drawing/2014/main" id="{FB7954A6-2AB4-4547-623F-477919AB7D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22" y="1448"/>
              <a:ext cx="110" cy="229"/>
              <a:chOff x="3322" y="1448"/>
              <a:chExt cx="110" cy="229"/>
            </a:xfrm>
          </p:grpSpPr>
          <p:sp>
            <p:nvSpPr>
              <p:cNvPr id="115864" name="Rectangle 18">
                <a:extLst>
                  <a:ext uri="{FF2B5EF4-FFF2-40B4-BE49-F238E27FC236}">
                    <a16:creationId xmlns:a16="http://schemas.microsoft.com/office/drawing/2014/main" id="{4B7A8879-2DF0-F874-46B3-9D0A2CCD1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6" y="1448"/>
                <a:ext cx="21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65" name="Freeform 19">
                <a:extLst>
                  <a:ext uri="{FF2B5EF4-FFF2-40B4-BE49-F238E27FC236}">
                    <a16:creationId xmlns:a16="http://schemas.microsoft.com/office/drawing/2014/main" id="{E022FF00-3705-3F2F-A5F1-ED2F3A414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567"/>
                <a:ext cx="110" cy="110"/>
              </a:xfrm>
              <a:custGeom>
                <a:avLst/>
                <a:gdLst>
                  <a:gd name="T0" fmla="*/ 0 w 110"/>
                  <a:gd name="T1" fmla="*/ 0 h 110"/>
                  <a:gd name="T2" fmla="*/ 54 w 110"/>
                  <a:gd name="T3" fmla="*/ 110 h 110"/>
                  <a:gd name="T4" fmla="*/ 110 w 110"/>
                  <a:gd name="T5" fmla="*/ 0 h 110"/>
                  <a:gd name="T6" fmla="*/ 0 w 110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110"/>
                  <a:gd name="T14" fmla="*/ 110 w 110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110">
                    <a:moveTo>
                      <a:pt x="0" y="0"/>
                    </a:moveTo>
                    <a:lnTo>
                      <a:pt x="54" y="110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5728" name="Group 20">
              <a:extLst>
                <a:ext uri="{FF2B5EF4-FFF2-40B4-BE49-F238E27FC236}">
                  <a16:creationId xmlns:a16="http://schemas.microsoft.com/office/drawing/2014/main" id="{64D92DA3-C106-AB29-65FB-18992CB106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36" y="2020"/>
              <a:ext cx="111" cy="229"/>
              <a:chOff x="3436" y="2020"/>
              <a:chExt cx="111" cy="229"/>
            </a:xfrm>
          </p:grpSpPr>
          <p:sp>
            <p:nvSpPr>
              <p:cNvPr id="115862" name="Rectangle 21">
                <a:extLst>
                  <a:ext uri="{FF2B5EF4-FFF2-40B4-BE49-F238E27FC236}">
                    <a16:creationId xmlns:a16="http://schemas.microsoft.com/office/drawing/2014/main" id="{11DE9889-B42E-5210-7086-128C9D721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0" y="2020"/>
                <a:ext cx="21" cy="1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63" name="Freeform 22">
                <a:extLst>
                  <a:ext uri="{FF2B5EF4-FFF2-40B4-BE49-F238E27FC236}">
                    <a16:creationId xmlns:a16="http://schemas.microsoft.com/office/drawing/2014/main" id="{F2284F7F-DF84-C604-76F8-42B215B282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6" y="2140"/>
                <a:ext cx="111" cy="109"/>
              </a:xfrm>
              <a:custGeom>
                <a:avLst/>
                <a:gdLst>
                  <a:gd name="T0" fmla="*/ 0 w 111"/>
                  <a:gd name="T1" fmla="*/ 0 h 109"/>
                  <a:gd name="T2" fmla="*/ 55 w 111"/>
                  <a:gd name="T3" fmla="*/ 109 h 109"/>
                  <a:gd name="T4" fmla="*/ 111 w 111"/>
                  <a:gd name="T5" fmla="*/ 0 h 109"/>
                  <a:gd name="T6" fmla="*/ 0 w 111"/>
                  <a:gd name="T7" fmla="*/ 0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09"/>
                  <a:gd name="T14" fmla="*/ 111 w 111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09">
                    <a:moveTo>
                      <a:pt x="0" y="0"/>
                    </a:moveTo>
                    <a:lnTo>
                      <a:pt x="55" y="109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29" name="Rectangle 23">
              <a:extLst>
                <a:ext uri="{FF2B5EF4-FFF2-40B4-BE49-F238E27FC236}">
                  <a16:creationId xmlns:a16="http://schemas.microsoft.com/office/drawing/2014/main" id="{71D8C895-B409-3C88-5A12-F4AD945BE0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1345"/>
              <a:ext cx="11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30" name="Rectangle 24">
              <a:extLst>
                <a:ext uri="{FF2B5EF4-FFF2-40B4-BE49-F238E27FC236}">
                  <a16:creationId xmlns:a16="http://schemas.microsoft.com/office/drawing/2014/main" id="{6C47D187-3F82-3F3E-12CE-D21426D475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9" y="1351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Y</a:t>
              </a:r>
              <a:endParaRPr lang="it-IT" altLang="it-IT"/>
            </a:p>
          </p:txBody>
        </p:sp>
        <p:sp>
          <p:nvSpPr>
            <p:cNvPr id="115731" name="Rectangle 25">
              <a:extLst>
                <a:ext uri="{FF2B5EF4-FFF2-40B4-BE49-F238E27FC236}">
                  <a16:creationId xmlns:a16="http://schemas.microsoft.com/office/drawing/2014/main" id="{A3F825FB-092F-8096-0323-D97CF1DD0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1" y="1395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sp>
          <p:nvSpPr>
            <p:cNvPr id="115732" name="Rectangle 26">
              <a:extLst>
                <a:ext uri="{FF2B5EF4-FFF2-40B4-BE49-F238E27FC236}">
                  <a16:creationId xmlns:a16="http://schemas.microsoft.com/office/drawing/2014/main" id="{6700EFCE-0D86-33A8-97FE-F1ECCF9C7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249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33" name="Rectangle 27">
              <a:extLst>
                <a:ext uri="{FF2B5EF4-FFF2-40B4-BE49-F238E27FC236}">
                  <a16:creationId xmlns:a16="http://schemas.microsoft.com/office/drawing/2014/main" id="{9828D01B-E999-A29E-B982-4F4B86E0F1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4" y="2256"/>
              <a:ext cx="28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S</a:t>
              </a:r>
              <a:endParaRPr lang="it-IT" altLang="it-IT"/>
            </a:p>
          </p:txBody>
        </p:sp>
        <p:sp>
          <p:nvSpPr>
            <p:cNvPr id="115734" name="Rectangle 28">
              <a:extLst>
                <a:ext uri="{FF2B5EF4-FFF2-40B4-BE49-F238E27FC236}">
                  <a16:creationId xmlns:a16="http://schemas.microsoft.com/office/drawing/2014/main" id="{3ED26BFC-020B-F328-05CA-2025ABD3A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1" y="2300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sp>
          <p:nvSpPr>
            <p:cNvPr id="115735" name="Rectangle 29">
              <a:extLst>
                <a:ext uri="{FF2B5EF4-FFF2-40B4-BE49-F238E27FC236}">
                  <a16:creationId xmlns:a16="http://schemas.microsoft.com/office/drawing/2014/main" id="{B3E5A978-9BD8-90D6-4DE6-96B2DFD0C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1665"/>
              <a:ext cx="458" cy="352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36" name="Rectangle 30">
              <a:extLst>
                <a:ext uri="{FF2B5EF4-FFF2-40B4-BE49-F238E27FC236}">
                  <a16:creationId xmlns:a16="http://schemas.microsoft.com/office/drawing/2014/main" id="{54C87ECC-1BEC-F4E5-C670-8D13C42FC0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3" y="1675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Add</a:t>
              </a:r>
              <a:endParaRPr lang="it-IT" altLang="it-IT"/>
            </a:p>
          </p:txBody>
        </p:sp>
        <p:sp>
          <p:nvSpPr>
            <p:cNvPr id="115737" name="Rectangle 31">
              <a:extLst>
                <a:ext uri="{FF2B5EF4-FFF2-40B4-BE49-F238E27FC236}">
                  <a16:creationId xmlns:a16="http://schemas.microsoft.com/office/drawing/2014/main" id="{87FFB068-A7A8-D992-AA23-D5F5661F64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0" y="1675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38" name="Rectangle 32">
              <a:extLst>
                <a:ext uri="{FF2B5EF4-FFF2-40B4-BE49-F238E27FC236}">
                  <a16:creationId xmlns:a16="http://schemas.microsoft.com/office/drawing/2014/main" id="{14AFFC89-0791-90A9-E0C0-F4E54EA2B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1" y="1881"/>
              <a:ext cx="115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mod</a:t>
              </a:r>
              <a:endParaRPr lang="it-IT" altLang="it-IT"/>
            </a:p>
          </p:txBody>
        </p:sp>
        <p:sp>
          <p:nvSpPr>
            <p:cNvPr id="115739" name="Rectangle 33">
              <a:extLst>
                <a:ext uri="{FF2B5EF4-FFF2-40B4-BE49-F238E27FC236}">
                  <a16:creationId xmlns:a16="http://schemas.microsoft.com/office/drawing/2014/main" id="{DBC4D5D1-5AB7-717D-DB42-CB03D3FFE2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5" y="1881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40" name="Rectangle 34">
              <a:extLst>
                <a:ext uri="{FF2B5EF4-FFF2-40B4-BE49-F238E27FC236}">
                  <a16:creationId xmlns:a16="http://schemas.microsoft.com/office/drawing/2014/main" id="{8385E742-C9AF-E6A5-74FA-337CA740B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3" y="1881"/>
              <a:ext cx="3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b</a:t>
              </a:r>
              <a:endParaRPr lang="it-IT" altLang="it-IT"/>
            </a:p>
          </p:txBody>
        </p:sp>
        <p:grpSp>
          <p:nvGrpSpPr>
            <p:cNvPr id="115741" name="Group 35">
              <a:extLst>
                <a:ext uri="{FF2B5EF4-FFF2-40B4-BE49-F238E27FC236}">
                  <a16:creationId xmlns:a16="http://schemas.microsoft.com/office/drawing/2014/main" id="{0A304029-1B4A-0908-E97D-1D2428B0EE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22" y="1436"/>
              <a:ext cx="111" cy="229"/>
              <a:chOff x="2522" y="1436"/>
              <a:chExt cx="111" cy="229"/>
            </a:xfrm>
          </p:grpSpPr>
          <p:sp>
            <p:nvSpPr>
              <p:cNvPr id="115860" name="Rectangle 36">
                <a:extLst>
                  <a:ext uri="{FF2B5EF4-FFF2-40B4-BE49-F238E27FC236}">
                    <a16:creationId xmlns:a16="http://schemas.microsoft.com/office/drawing/2014/main" id="{0E710384-F91F-4915-864F-110AED33B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6" y="1436"/>
                <a:ext cx="22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61" name="Freeform 37">
                <a:extLst>
                  <a:ext uri="{FF2B5EF4-FFF2-40B4-BE49-F238E27FC236}">
                    <a16:creationId xmlns:a16="http://schemas.microsoft.com/office/drawing/2014/main" id="{3B83CE6F-3BB0-6DB2-9DEA-FF0FCC6BB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2" y="1555"/>
                <a:ext cx="111" cy="110"/>
              </a:xfrm>
              <a:custGeom>
                <a:avLst/>
                <a:gdLst>
                  <a:gd name="T0" fmla="*/ 0 w 111"/>
                  <a:gd name="T1" fmla="*/ 0 h 110"/>
                  <a:gd name="T2" fmla="*/ 55 w 111"/>
                  <a:gd name="T3" fmla="*/ 110 h 110"/>
                  <a:gd name="T4" fmla="*/ 111 w 111"/>
                  <a:gd name="T5" fmla="*/ 0 h 110"/>
                  <a:gd name="T6" fmla="*/ 0 w 111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10"/>
                  <a:gd name="T14" fmla="*/ 111 w 111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10">
                    <a:moveTo>
                      <a:pt x="0" y="0"/>
                    </a:moveTo>
                    <a:lnTo>
                      <a:pt x="55" y="110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42" name="Rectangle 38">
              <a:extLst>
                <a:ext uri="{FF2B5EF4-FFF2-40B4-BE49-F238E27FC236}">
                  <a16:creationId xmlns:a16="http://schemas.microsoft.com/office/drawing/2014/main" id="{3815544A-26B2-B1D4-88AE-7C4852190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1333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43" name="Rectangle 39">
              <a:extLst>
                <a:ext uri="{FF2B5EF4-FFF2-40B4-BE49-F238E27FC236}">
                  <a16:creationId xmlns:a16="http://schemas.microsoft.com/office/drawing/2014/main" id="{87FB0974-BB51-A7A7-E662-AB605AD7D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1339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X</a:t>
              </a:r>
              <a:endParaRPr lang="it-IT" altLang="it-IT"/>
            </a:p>
          </p:txBody>
        </p:sp>
        <p:sp>
          <p:nvSpPr>
            <p:cNvPr id="115744" name="Rectangle 40">
              <a:extLst>
                <a:ext uri="{FF2B5EF4-FFF2-40B4-BE49-F238E27FC236}">
                  <a16:creationId xmlns:a16="http://schemas.microsoft.com/office/drawing/2014/main" id="{7719CAA3-A659-12E0-BD19-6178F10BB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2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grpSp>
          <p:nvGrpSpPr>
            <p:cNvPr id="115745" name="Group 41">
              <a:extLst>
                <a:ext uri="{FF2B5EF4-FFF2-40B4-BE49-F238E27FC236}">
                  <a16:creationId xmlns:a16="http://schemas.microsoft.com/office/drawing/2014/main" id="{2C9FB983-168B-BC48-478F-1FFB46A926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6" y="1436"/>
              <a:ext cx="111" cy="229"/>
              <a:chOff x="2636" y="1436"/>
              <a:chExt cx="111" cy="229"/>
            </a:xfrm>
          </p:grpSpPr>
          <p:sp>
            <p:nvSpPr>
              <p:cNvPr id="115858" name="Rectangle 42">
                <a:extLst>
                  <a:ext uri="{FF2B5EF4-FFF2-40B4-BE49-F238E27FC236}">
                    <a16:creationId xmlns:a16="http://schemas.microsoft.com/office/drawing/2014/main" id="{575F6B4B-4791-1D7D-C433-FE60EE5481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0" y="1436"/>
                <a:ext cx="22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59" name="Freeform 43">
                <a:extLst>
                  <a:ext uri="{FF2B5EF4-FFF2-40B4-BE49-F238E27FC236}">
                    <a16:creationId xmlns:a16="http://schemas.microsoft.com/office/drawing/2014/main" id="{B436E82C-DF50-9A45-5D9B-FB88F116E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" y="1555"/>
                <a:ext cx="111" cy="110"/>
              </a:xfrm>
              <a:custGeom>
                <a:avLst/>
                <a:gdLst>
                  <a:gd name="T0" fmla="*/ 0 w 111"/>
                  <a:gd name="T1" fmla="*/ 0 h 110"/>
                  <a:gd name="T2" fmla="*/ 55 w 111"/>
                  <a:gd name="T3" fmla="*/ 110 h 110"/>
                  <a:gd name="T4" fmla="*/ 111 w 111"/>
                  <a:gd name="T5" fmla="*/ 0 h 110"/>
                  <a:gd name="T6" fmla="*/ 0 w 111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10"/>
                  <a:gd name="T14" fmla="*/ 111 w 111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10">
                    <a:moveTo>
                      <a:pt x="0" y="0"/>
                    </a:moveTo>
                    <a:lnTo>
                      <a:pt x="55" y="110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5746" name="Group 44">
              <a:extLst>
                <a:ext uri="{FF2B5EF4-FFF2-40B4-BE49-F238E27FC236}">
                  <a16:creationId xmlns:a16="http://schemas.microsoft.com/office/drawing/2014/main" id="{98BFE2A1-04F6-5BE8-0235-8FC9C31CAF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1" y="2008"/>
              <a:ext cx="110" cy="229"/>
              <a:chOff x="2751" y="2008"/>
              <a:chExt cx="110" cy="229"/>
            </a:xfrm>
          </p:grpSpPr>
          <p:sp>
            <p:nvSpPr>
              <p:cNvPr id="115856" name="Rectangle 45">
                <a:extLst>
                  <a:ext uri="{FF2B5EF4-FFF2-40B4-BE49-F238E27FC236}">
                    <a16:creationId xmlns:a16="http://schemas.microsoft.com/office/drawing/2014/main" id="{589CD121-8FCA-89B0-79AF-694C842778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95" y="2008"/>
                <a:ext cx="21" cy="1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57" name="Freeform 46">
                <a:extLst>
                  <a:ext uri="{FF2B5EF4-FFF2-40B4-BE49-F238E27FC236}">
                    <a16:creationId xmlns:a16="http://schemas.microsoft.com/office/drawing/2014/main" id="{ED37F4D0-5A0A-1B6A-A0A8-8F42EABF87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2128"/>
                <a:ext cx="110" cy="109"/>
              </a:xfrm>
              <a:custGeom>
                <a:avLst/>
                <a:gdLst>
                  <a:gd name="T0" fmla="*/ 0 w 110"/>
                  <a:gd name="T1" fmla="*/ 0 h 109"/>
                  <a:gd name="T2" fmla="*/ 54 w 110"/>
                  <a:gd name="T3" fmla="*/ 109 h 109"/>
                  <a:gd name="T4" fmla="*/ 110 w 110"/>
                  <a:gd name="T5" fmla="*/ 0 h 109"/>
                  <a:gd name="T6" fmla="*/ 0 w 110"/>
                  <a:gd name="T7" fmla="*/ 0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109"/>
                  <a:gd name="T14" fmla="*/ 110 w 110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109">
                    <a:moveTo>
                      <a:pt x="0" y="0"/>
                    </a:moveTo>
                    <a:lnTo>
                      <a:pt x="54" y="109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47" name="Rectangle 47">
              <a:extLst>
                <a:ext uri="{FF2B5EF4-FFF2-40B4-BE49-F238E27FC236}">
                  <a16:creationId xmlns:a16="http://schemas.microsoft.com/office/drawing/2014/main" id="{F1057172-5F1B-BC69-E23F-A1DC45C37B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4" y="1333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48" name="Rectangle 48">
              <a:extLst>
                <a:ext uri="{FF2B5EF4-FFF2-40B4-BE49-F238E27FC236}">
                  <a16:creationId xmlns:a16="http://schemas.microsoft.com/office/drawing/2014/main" id="{D7287A0A-4AC0-D470-D388-C8D466BBA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4" y="1339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Y</a:t>
              </a:r>
              <a:endParaRPr lang="it-IT" altLang="it-IT"/>
            </a:p>
          </p:txBody>
        </p:sp>
        <p:sp>
          <p:nvSpPr>
            <p:cNvPr id="115749" name="Rectangle 49">
              <a:extLst>
                <a:ext uri="{FF2B5EF4-FFF2-40B4-BE49-F238E27FC236}">
                  <a16:creationId xmlns:a16="http://schemas.microsoft.com/office/drawing/2014/main" id="{75059535-1B3D-6A7F-0460-2AAC75A2ED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6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750" name="Rectangle 50">
              <a:extLst>
                <a:ext uri="{FF2B5EF4-FFF2-40B4-BE49-F238E27FC236}">
                  <a16:creationId xmlns:a16="http://schemas.microsoft.com/office/drawing/2014/main" id="{85A98993-B3A1-AFF5-D93B-76AF3AD40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8" y="2237"/>
              <a:ext cx="11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51" name="Rectangle 51">
              <a:extLst>
                <a:ext uri="{FF2B5EF4-FFF2-40B4-BE49-F238E27FC236}">
                  <a16:creationId xmlns:a16="http://schemas.microsoft.com/office/drawing/2014/main" id="{48930162-EE66-2F21-9F29-DAA52B450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8" y="2244"/>
              <a:ext cx="28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S</a:t>
              </a:r>
              <a:endParaRPr lang="it-IT" altLang="it-IT"/>
            </a:p>
          </p:txBody>
        </p:sp>
        <p:sp>
          <p:nvSpPr>
            <p:cNvPr id="115752" name="Rectangle 52">
              <a:extLst>
                <a:ext uri="{FF2B5EF4-FFF2-40B4-BE49-F238E27FC236}">
                  <a16:creationId xmlns:a16="http://schemas.microsoft.com/office/drawing/2014/main" id="{78AA80E8-E052-8A3A-6C9C-A9EC71CF59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6" y="2288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grpSp>
          <p:nvGrpSpPr>
            <p:cNvPr id="115753" name="Group 53">
              <a:extLst>
                <a:ext uri="{FF2B5EF4-FFF2-40B4-BE49-F238E27FC236}">
                  <a16:creationId xmlns:a16="http://schemas.microsoft.com/office/drawing/2014/main" id="{DD272DCD-67A2-80AC-550C-C6ABF44592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2020"/>
              <a:ext cx="75" cy="172"/>
              <a:chOff x="3168" y="2020"/>
              <a:chExt cx="75" cy="172"/>
            </a:xfrm>
          </p:grpSpPr>
          <p:sp>
            <p:nvSpPr>
              <p:cNvPr id="115854" name="Line 54">
                <a:extLst>
                  <a:ext uri="{FF2B5EF4-FFF2-40B4-BE49-F238E27FC236}">
                    <a16:creationId xmlns:a16="http://schemas.microsoft.com/office/drawing/2014/main" id="{4C5CE4AE-9B5F-E20F-1436-D16B03172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05" y="2020"/>
                <a:ext cx="1" cy="10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55" name="Freeform 55">
                <a:extLst>
                  <a:ext uri="{FF2B5EF4-FFF2-40B4-BE49-F238E27FC236}">
                    <a16:creationId xmlns:a16="http://schemas.microsoft.com/office/drawing/2014/main" id="{51C16985-72CB-0248-B7F8-064D658F5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8" y="2118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54" name="Line 56">
              <a:extLst>
                <a:ext uri="{FF2B5EF4-FFF2-40B4-BE49-F238E27FC236}">
                  <a16:creationId xmlns:a16="http://schemas.microsoft.com/office/drawing/2014/main" id="{3EA86897-5A5E-7B09-8816-B0D18629D3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34" y="2192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55" name="Line 57">
              <a:extLst>
                <a:ext uri="{FF2B5EF4-FFF2-40B4-BE49-F238E27FC236}">
                  <a16:creationId xmlns:a16="http://schemas.microsoft.com/office/drawing/2014/main" id="{E5E73C29-22A9-B61D-35C1-054F0629E6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34" y="1505"/>
              <a:ext cx="1" cy="6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56" name="Line 58">
              <a:extLst>
                <a:ext uri="{FF2B5EF4-FFF2-40B4-BE49-F238E27FC236}">
                  <a16:creationId xmlns:a16="http://schemas.microsoft.com/office/drawing/2014/main" id="{11395B07-31A8-F8AD-3E05-A96A68AA91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2" y="1505"/>
              <a:ext cx="172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57" name="Group 59">
              <a:extLst>
                <a:ext uri="{FF2B5EF4-FFF2-40B4-BE49-F238E27FC236}">
                  <a16:creationId xmlns:a16="http://schemas.microsoft.com/office/drawing/2014/main" id="{FE9B583A-CF2A-15F0-DE2E-8B30EE0A32A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26" y="1505"/>
              <a:ext cx="74" cy="172"/>
              <a:chOff x="2826" y="1505"/>
              <a:chExt cx="74" cy="172"/>
            </a:xfrm>
          </p:grpSpPr>
          <p:sp>
            <p:nvSpPr>
              <p:cNvPr id="115852" name="Line 60">
                <a:extLst>
                  <a:ext uri="{FF2B5EF4-FFF2-40B4-BE49-F238E27FC236}">
                    <a16:creationId xmlns:a16="http://schemas.microsoft.com/office/drawing/2014/main" id="{8D9DD0F2-76A6-807B-6652-679BD23AE1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2" y="1505"/>
                <a:ext cx="1" cy="10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53" name="Freeform 61">
                <a:extLst>
                  <a:ext uri="{FF2B5EF4-FFF2-40B4-BE49-F238E27FC236}">
                    <a16:creationId xmlns:a16="http://schemas.microsoft.com/office/drawing/2014/main" id="{CA75D44D-F98D-8341-79C5-59BCBA245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1603"/>
                <a:ext cx="74" cy="74"/>
              </a:xfrm>
              <a:custGeom>
                <a:avLst/>
                <a:gdLst>
                  <a:gd name="T0" fmla="*/ 0 w 74"/>
                  <a:gd name="T1" fmla="*/ 0 h 74"/>
                  <a:gd name="T2" fmla="*/ 36 w 74"/>
                  <a:gd name="T3" fmla="*/ 74 h 74"/>
                  <a:gd name="T4" fmla="*/ 74 w 74"/>
                  <a:gd name="T5" fmla="*/ 0 h 74"/>
                  <a:gd name="T6" fmla="*/ 0 w 74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4"/>
                  <a:gd name="T13" fmla="*/ 0 h 74"/>
                  <a:gd name="T14" fmla="*/ 74 w 74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4" h="74">
                    <a:moveTo>
                      <a:pt x="0" y="0"/>
                    </a:moveTo>
                    <a:lnTo>
                      <a:pt x="36" y="74"/>
                    </a:lnTo>
                    <a:lnTo>
                      <a:pt x="7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58" name="Rectangle 62">
              <a:extLst>
                <a:ext uri="{FF2B5EF4-FFF2-40B4-BE49-F238E27FC236}">
                  <a16:creationId xmlns:a16="http://schemas.microsoft.com/office/drawing/2014/main" id="{21AED41E-821E-D5CB-48A7-B066CDE2C1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192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59" name="Rectangle 63">
              <a:extLst>
                <a:ext uri="{FF2B5EF4-FFF2-40B4-BE49-F238E27FC236}">
                  <a16:creationId xmlns:a16="http://schemas.microsoft.com/office/drawing/2014/main" id="{875E89D1-600B-2A64-8C10-9913EC97E5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2198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60" name="Rectangle 64">
              <a:extLst>
                <a:ext uri="{FF2B5EF4-FFF2-40B4-BE49-F238E27FC236}">
                  <a16:creationId xmlns:a16="http://schemas.microsoft.com/office/drawing/2014/main" id="{34692D3B-B037-72C5-82B9-28021DD93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5" y="224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sp>
          <p:nvSpPr>
            <p:cNvPr id="115761" name="Rectangle 65">
              <a:extLst>
                <a:ext uri="{FF2B5EF4-FFF2-40B4-BE49-F238E27FC236}">
                  <a16:creationId xmlns:a16="http://schemas.microsoft.com/office/drawing/2014/main" id="{D08AB540-4259-0A6B-3A04-CCC39C7212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390"/>
              <a:ext cx="11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62" name="Rectangle 66">
              <a:extLst>
                <a:ext uri="{FF2B5EF4-FFF2-40B4-BE49-F238E27FC236}">
                  <a16:creationId xmlns:a16="http://schemas.microsoft.com/office/drawing/2014/main" id="{A893C19D-0CF4-8162-1486-64A9E92BAF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2" y="1397"/>
              <a:ext cx="1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63" name="Rectangle 67">
              <a:extLst>
                <a:ext uri="{FF2B5EF4-FFF2-40B4-BE49-F238E27FC236}">
                  <a16:creationId xmlns:a16="http://schemas.microsoft.com/office/drawing/2014/main" id="{1E2F081F-85AA-0C74-6A9F-723235AF82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1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764" name="Line 68">
              <a:extLst>
                <a:ext uri="{FF2B5EF4-FFF2-40B4-BE49-F238E27FC236}">
                  <a16:creationId xmlns:a16="http://schemas.microsoft.com/office/drawing/2014/main" id="{FBA5DBC0-ECA1-39DC-E0AF-D435DE08B1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48" y="1505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65" name="Group 69">
              <a:extLst>
                <a:ext uri="{FF2B5EF4-FFF2-40B4-BE49-F238E27FC236}">
                  <a16:creationId xmlns:a16="http://schemas.microsoft.com/office/drawing/2014/main" id="{2A5FE9DC-EE5E-A1E0-1902-98177DF304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1" y="1505"/>
              <a:ext cx="75" cy="172"/>
              <a:chOff x="3511" y="1505"/>
              <a:chExt cx="75" cy="172"/>
            </a:xfrm>
          </p:grpSpPr>
          <p:sp>
            <p:nvSpPr>
              <p:cNvPr id="115850" name="Line 70">
                <a:extLst>
                  <a:ext uri="{FF2B5EF4-FFF2-40B4-BE49-F238E27FC236}">
                    <a16:creationId xmlns:a16="http://schemas.microsoft.com/office/drawing/2014/main" id="{C5A8D745-E20B-79AE-CF86-6796D64E0E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8" y="1505"/>
                <a:ext cx="1" cy="10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51" name="Freeform 71">
                <a:extLst>
                  <a:ext uri="{FF2B5EF4-FFF2-40B4-BE49-F238E27FC236}">
                    <a16:creationId xmlns:a16="http://schemas.microsoft.com/office/drawing/2014/main" id="{8EDE4171-A847-772F-BDCC-769C57590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1603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66" name="Rectangle 72">
              <a:extLst>
                <a:ext uri="{FF2B5EF4-FFF2-40B4-BE49-F238E27FC236}">
                  <a16:creationId xmlns:a16="http://schemas.microsoft.com/office/drawing/2014/main" id="{D8C7260C-784D-0FE1-3C1D-8F5AA276B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390"/>
              <a:ext cx="229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67" name="Rectangle 73">
              <a:extLst>
                <a:ext uri="{FF2B5EF4-FFF2-40B4-BE49-F238E27FC236}">
                  <a16:creationId xmlns:a16="http://schemas.microsoft.com/office/drawing/2014/main" id="{FC95A03F-F898-9ACF-52F2-B89FC37C49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8" y="1397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68" name="Rectangle 74">
              <a:extLst>
                <a:ext uri="{FF2B5EF4-FFF2-40B4-BE49-F238E27FC236}">
                  <a16:creationId xmlns:a16="http://schemas.microsoft.com/office/drawing/2014/main" id="{8FE1C180-3021-E945-851B-C475FBB8B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5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0</a:t>
              </a:r>
              <a:endParaRPr lang="it-IT" altLang="it-IT"/>
            </a:p>
          </p:txBody>
        </p:sp>
        <p:sp>
          <p:nvSpPr>
            <p:cNvPr id="115769" name="Rectangle 75">
              <a:extLst>
                <a:ext uri="{FF2B5EF4-FFF2-40B4-BE49-F238E27FC236}">
                  <a16:creationId xmlns:a16="http://schemas.microsoft.com/office/drawing/2014/main" id="{86C9EE8A-2A0B-F265-C615-32B3A2206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3" y="1397"/>
              <a:ext cx="52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=c</a:t>
              </a:r>
              <a:endParaRPr lang="it-IT" altLang="it-IT"/>
            </a:p>
          </p:txBody>
        </p:sp>
        <p:grpSp>
          <p:nvGrpSpPr>
            <p:cNvPr id="115770" name="Group 76">
              <a:extLst>
                <a:ext uri="{FF2B5EF4-FFF2-40B4-BE49-F238E27FC236}">
                  <a16:creationId xmlns:a16="http://schemas.microsoft.com/office/drawing/2014/main" id="{17B5B561-596F-25B8-4DC8-3829AFBC31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83" y="2020"/>
              <a:ext cx="75" cy="172"/>
              <a:chOff x="2483" y="2020"/>
              <a:chExt cx="75" cy="172"/>
            </a:xfrm>
          </p:grpSpPr>
          <p:sp>
            <p:nvSpPr>
              <p:cNvPr id="115848" name="Line 77">
                <a:extLst>
                  <a:ext uri="{FF2B5EF4-FFF2-40B4-BE49-F238E27FC236}">
                    <a16:creationId xmlns:a16="http://schemas.microsoft.com/office/drawing/2014/main" id="{156CB4F8-2538-A2F7-25E8-D114FD9585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0" y="2020"/>
                <a:ext cx="1" cy="10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49" name="Freeform 78">
                <a:extLst>
                  <a:ext uri="{FF2B5EF4-FFF2-40B4-BE49-F238E27FC236}">
                    <a16:creationId xmlns:a16="http://schemas.microsoft.com/office/drawing/2014/main" id="{54D81B5F-B9FA-9714-95DC-9A32317856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3" y="2118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71" name="Line 79">
              <a:extLst>
                <a:ext uri="{FF2B5EF4-FFF2-40B4-BE49-F238E27FC236}">
                  <a16:creationId xmlns:a16="http://schemas.microsoft.com/office/drawing/2014/main" id="{278F1356-C198-3269-5258-2A26C6F1DE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48" y="2192"/>
              <a:ext cx="172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72" name="Line 80">
              <a:extLst>
                <a:ext uri="{FF2B5EF4-FFF2-40B4-BE49-F238E27FC236}">
                  <a16:creationId xmlns:a16="http://schemas.microsoft.com/office/drawing/2014/main" id="{1F686A99-ED78-7631-7361-7D586EAB9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8" y="1505"/>
              <a:ext cx="1" cy="6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773" name="Line 81">
              <a:extLst>
                <a:ext uri="{FF2B5EF4-FFF2-40B4-BE49-F238E27FC236}">
                  <a16:creationId xmlns:a16="http://schemas.microsoft.com/office/drawing/2014/main" id="{24C6F190-02C4-BEF6-9A48-B704633BF0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77" y="1505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774" name="Group 82">
              <a:extLst>
                <a:ext uri="{FF2B5EF4-FFF2-40B4-BE49-F238E27FC236}">
                  <a16:creationId xmlns:a16="http://schemas.microsoft.com/office/drawing/2014/main" id="{05E3727E-D1E1-3E0D-65DB-6262397B7F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40" y="1505"/>
              <a:ext cx="75" cy="172"/>
              <a:chOff x="2140" y="1505"/>
              <a:chExt cx="75" cy="172"/>
            </a:xfrm>
          </p:grpSpPr>
          <p:sp>
            <p:nvSpPr>
              <p:cNvPr id="115846" name="Line 83">
                <a:extLst>
                  <a:ext uri="{FF2B5EF4-FFF2-40B4-BE49-F238E27FC236}">
                    <a16:creationId xmlns:a16="http://schemas.microsoft.com/office/drawing/2014/main" id="{091E0548-E373-1128-ABEF-F7CEC446B8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77" y="1505"/>
                <a:ext cx="1" cy="10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47" name="Freeform 84">
                <a:extLst>
                  <a:ext uri="{FF2B5EF4-FFF2-40B4-BE49-F238E27FC236}">
                    <a16:creationId xmlns:a16="http://schemas.microsoft.com/office/drawing/2014/main" id="{CEAEE2E0-F353-FF51-CBC7-E1E66B02FD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1603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75" name="Rectangle 85">
              <a:extLst>
                <a:ext uri="{FF2B5EF4-FFF2-40B4-BE49-F238E27FC236}">
                  <a16:creationId xmlns:a16="http://schemas.microsoft.com/office/drawing/2014/main" id="{476172CB-3A49-832B-A1B8-866F5FDB67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2192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76" name="Rectangle 86">
              <a:extLst>
                <a:ext uri="{FF2B5EF4-FFF2-40B4-BE49-F238E27FC236}">
                  <a16:creationId xmlns:a16="http://schemas.microsoft.com/office/drawing/2014/main" id="{7D57662D-A429-8EE4-E868-E48DDE3544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3" y="2198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77" name="Rectangle 87">
              <a:extLst>
                <a:ext uri="{FF2B5EF4-FFF2-40B4-BE49-F238E27FC236}">
                  <a16:creationId xmlns:a16="http://schemas.microsoft.com/office/drawing/2014/main" id="{B50910BA-3D9F-5684-E71D-17F1D082F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0" y="224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778" name="Rectangle 88">
              <a:extLst>
                <a:ext uri="{FF2B5EF4-FFF2-40B4-BE49-F238E27FC236}">
                  <a16:creationId xmlns:a16="http://schemas.microsoft.com/office/drawing/2014/main" id="{347F743F-8919-F174-0F8B-F9CCAB488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1390"/>
              <a:ext cx="115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79" name="Rectangle 89">
              <a:extLst>
                <a:ext uri="{FF2B5EF4-FFF2-40B4-BE49-F238E27FC236}">
                  <a16:creationId xmlns:a16="http://schemas.microsoft.com/office/drawing/2014/main" id="{845D8CB6-F23A-5B70-DD93-0383BBC45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7" y="1397"/>
              <a:ext cx="1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780" name="Rectangle 90">
              <a:extLst>
                <a:ext uri="{FF2B5EF4-FFF2-40B4-BE49-F238E27FC236}">
                  <a16:creationId xmlns:a16="http://schemas.microsoft.com/office/drawing/2014/main" id="{0D85B99C-3271-B785-92FB-9972C0BB6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6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2</a:t>
              </a:r>
              <a:endParaRPr lang="it-IT" altLang="it-IT"/>
            </a:p>
          </p:txBody>
        </p:sp>
        <p:grpSp>
          <p:nvGrpSpPr>
            <p:cNvPr id="115781" name="Group 91">
              <a:extLst>
                <a:ext uri="{FF2B5EF4-FFF2-40B4-BE49-F238E27FC236}">
                  <a16:creationId xmlns:a16="http://schemas.microsoft.com/office/drawing/2014/main" id="{BE19CA4A-FD30-60D6-99DB-51B8DE4C44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7" y="1820"/>
              <a:ext cx="857" cy="57"/>
              <a:chOff x="1377" y="1820"/>
              <a:chExt cx="857" cy="57"/>
            </a:xfrm>
          </p:grpSpPr>
          <p:sp>
            <p:nvSpPr>
              <p:cNvPr id="115838" name="Rectangle 92">
                <a:extLst>
                  <a:ext uri="{FF2B5EF4-FFF2-40B4-BE49-F238E27FC236}">
                    <a16:creationId xmlns:a16="http://schemas.microsoft.com/office/drawing/2014/main" id="{84AF7510-6ED2-F7DB-C96C-1AB45BB5D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7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39" name="Rectangle 93">
                <a:extLst>
                  <a:ext uri="{FF2B5EF4-FFF2-40B4-BE49-F238E27FC236}">
                    <a16:creationId xmlns:a16="http://schemas.microsoft.com/office/drawing/2014/main" id="{8C22292B-7047-D757-4657-A03DBDC1A8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3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0" name="Rectangle 94">
                <a:extLst>
                  <a:ext uri="{FF2B5EF4-FFF2-40B4-BE49-F238E27FC236}">
                    <a16:creationId xmlns:a16="http://schemas.microsoft.com/office/drawing/2014/main" id="{296B4D4D-F5E0-751D-D38F-FEC5D480D3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9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1" name="Rectangle 95">
                <a:extLst>
                  <a:ext uri="{FF2B5EF4-FFF2-40B4-BE49-F238E27FC236}">
                    <a16:creationId xmlns:a16="http://schemas.microsoft.com/office/drawing/2014/main" id="{C85748AF-06C3-6E15-4F6A-38688CE02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4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2" name="Rectangle 96">
                <a:extLst>
                  <a:ext uri="{FF2B5EF4-FFF2-40B4-BE49-F238E27FC236}">
                    <a16:creationId xmlns:a16="http://schemas.microsoft.com/office/drawing/2014/main" id="{69E11C6F-F9CB-6672-4293-EC786F101E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0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3" name="Rectangle 97">
                <a:extLst>
                  <a:ext uri="{FF2B5EF4-FFF2-40B4-BE49-F238E27FC236}">
                    <a16:creationId xmlns:a16="http://schemas.microsoft.com/office/drawing/2014/main" id="{626A25CE-A35D-3622-6574-22588251F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4" name="Rectangle 98">
                <a:extLst>
                  <a:ext uri="{FF2B5EF4-FFF2-40B4-BE49-F238E27FC236}">
                    <a16:creationId xmlns:a16="http://schemas.microsoft.com/office/drawing/2014/main" id="{6FFD9848-E4C9-E09F-030D-D96ADAED7F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2" y="1820"/>
                <a:ext cx="57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45" name="Rectangle 99">
                <a:extLst>
                  <a:ext uri="{FF2B5EF4-FFF2-40B4-BE49-F238E27FC236}">
                    <a16:creationId xmlns:a16="http://schemas.microsoft.com/office/drawing/2014/main" id="{579C14BE-9A77-9007-203A-AC8F470BC8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7" y="1820"/>
                <a:ext cx="58" cy="5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</p:grpSp>
        <p:sp>
          <p:nvSpPr>
            <p:cNvPr id="115782" name="Rectangle 100">
              <a:extLst>
                <a:ext uri="{FF2B5EF4-FFF2-40B4-BE49-F238E27FC236}">
                  <a16:creationId xmlns:a16="http://schemas.microsoft.com/office/drawing/2014/main" id="{6EC33796-D6C2-65F1-0688-92C9672C1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" y="1665"/>
              <a:ext cx="458" cy="352"/>
            </a:xfrm>
            <a:prstGeom prst="rect">
              <a:avLst/>
            </a:prstGeom>
            <a:noFill/>
            <a:ln w="1111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83" name="Rectangle 101">
              <a:extLst>
                <a:ext uri="{FF2B5EF4-FFF2-40B4-BE49-F238E27FC236}">
                  <a16:creationId xmlns:a16="http://schemas.microsoft.com/office/drawing/2014/main" id="{65E8496C-F5F2-4363-7D76-670CBB5469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" y="1675"/>
              <a:ext cx="11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Add</a:t>
              </a:r>
              <a:endParaRPr lang="it-IT" altLang="it-IT"/>
            </a:p>
          </p:txBody>
        </p:sp>
        <p:sp>
          <p:nvSpPr>
            <p:cNvPr id="115784" name="Rectangle 102">
              <a:extLst>
                <a:ext uri="{FF2B5EF4-FFF2-40B4-BE49-F238E27FC236}">
                  <a16:creationId xmlns:a16="http://schemas.microsoft.com/office/drawing/2014/main" id="{7FF792EA-FEA2-2907-7840-82FA084337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2" y="1675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85" name="Rectangle 103">
              <a:extLst>
                <a:ext uri="{FF2B5EF4-FFF2-40B4-BE49-F238E27FC236}">
                  <a16:creationId xmlns:a16="http://schemas.microsoft.com/office/drawing/2014/main" id="{4D42BE35-588C-CA4F-13F4-158214E5C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" y="1881"/>
              <a:ext cx="115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mod</a:t>
              </a:r>
              <a:endParaRPr lang="it-IT" altLang="it-IT"/>
            </a:p>
          </p:txBody>
        </p:sp>
        <p:sp>
          <p:nvSpPr>
            <p:cNvPr id="115786" name="Rectangle 104">
              <a:extLst>
                <a:ext uri="{FF2B5EF4-FFF2-40B4-BE49-F238E27FC236}">
                  <a16:creationId xmlns:a16="http://schemas.microsoft.com/office/drawing/2014/main" id="{F98737DD-348A-1396-26FF-D759CD324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" y="1881"/>
              <a:ext cx="21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87" name="Rectangle 105">
              <a:extLst>
                <a:ext uri="{FF2B5EF4-FFF2-40B4-BE49-F238E27FC236}">
                  <a16:creationId xmlns:a16="http://schemas.microsoft.com/office/drawing/2014/main" id="{AFBECB5E-1336-8729-B0A5-98DE66FED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5" y="1881"/>
              <a:ext cx="32" cy="1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400" b="0">
                  <a:solidFill>
                    <a:srgbClr val="000000"/>
                  </a:solidFill>
                </a:rPr>
                <a:t>b</a:t>
              </a:r>
              <a:endParaRPr lang="it-IT" altLang="it-IT"/>
            </a:p>
          </p:txBody>
        </p:sp>
        <p:grpSp>
          <p:nvGrpSpPr>
            <p:cNvPr id="115788" name="Group 106">
              <a:extLst>
                <a:ext uri="{FF2B5EF4-FFF2-40B4-BE49-F238E27FC236}">
                  <a16:creationId xmlns:a16="http://schemas.microsoft.com/office/drawing/2014/main" id="{7D0FB988-C1A8-EF11-10F0-DC75DA3C2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4" y="1436"/>
              <a:ext cx="111" cy="229"/>
              <a:chOff x="694" y="1436"/>
              <a:chExt cx="111" cy="229"/>
            </a:xfrm>
          </p:grpSpPr>
          <p:sp>
            <p:nvSpPr>
              <p:cNvPr id="115836" name="Rectangle 107">
                <a:extLst>
                  <a:ext uri="{FF2B5EF4-FFF2-40B4-BE49-F238E27FC236}">
                    <a16:creationId xmlns:a16="http://schemas.microsoft.com/office/drawing/2014/main" id="{02B91243-D648-80FB-77B9-F7D107A490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8" y="1436"/>
                <a:ext cx="22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37" name="Freeform 108">
                <a:extLst>
                  <a:ext uri="{FF2B5EF4-FFF2-40B4-BE49-F238E27FC236}">
                    <a16:creationId xmlns:a16="http://schemas.microsoft.com/office/drawing/2014/main" id="{4445B898-3C18-11CF-D731-3DD8D8ABA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4" y="1555"/>
                <a:ext cx="111" cy="110"/>
              </a:xfrm>
              <a:custGeom>
                <a:avLst/>
                <a:gdLst>
                  <a:gd name="T0" fmla="*/ 0 w 111"/>
                  <a:gd name="T1" fmla="*/ 0 h 110"/>
                  <a:gd name="T2" fmla="*/ 55 w 111"/>
                  <a:gd name="T3" fmla="*/ 110 h 110"/>
                  <a:gd name="T4" fmla="*/ 111 w 111"/>
                  <a:gd name="T5" fmla="*/ 0 h 110"/>
                  <a:gd name="T6" fmla="*/ 0 w 111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1"/>
                  <a:gd name="T13" fmla="*/ 0 h 110"/>
                  <a:gd name="T14" fmla="*/ 111 w 111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1" h="110">
                    <a:moveTo>
                      <a:pt x="0" y="0"/>
                    </a:moveTo>
                    <a:lnTo>
                      <a:pt x="55" y="110"/>
                    </a:lnTo>
                    <a:lnTo>
                      <a:pt x="11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89" name="Rectangle 109">
              <a:extLst>
                <a:ext uri="{FF2B5EF4-FFF2-40B4-BE49-F238E27FC236}">
                  <a16:creationId xmlns:a16="http://schemas.microsoft.com/office/drawing/2014/main" id="{F2C71A93-1153-3EF3-280C-37F3549FA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1333"/>
              <a:ext cx="17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90" name="Rectangle 110">
              <a:extLst>
                <a:ext uri="{FF2B5EF4-FFF2-40B4-BE49-F238E27FC236}">
                  <a16:creationId xmlns:a16="http://schemas.microsoft.com/office/drawing/2014/main" id="{44D78BB2-B8E8-CB31-D185-93CE2A0E5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" y="1339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X</a:t>
              </a:r>
              <a:endParaRPr lang="it-IT" altLang="it-IT"/>
            </a:p>
          </p:txBody>
        </p:sp>
        <p:sp>
          <p:nvSpPr>
            <p:cNvPr id="115791" name="Rectangle 111">
              <a:extLst>
                <a:ext uri="{FF2B5EF4-FFF2-40B4-BE49-F238E27FC236}">
                  <a16:creationId xmlns:a16="http://schemas.microsoft.com/office/drawing/2014/main" id="{F6D904A9-EA5E-0C52-3AB0-BB943540E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4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792" name="Rectangle 112">
              <a:extLst>
                <a:ext uri="{FF2B5EF4-FFF2-40B4-BE49-F238E27FC236}">
                  <a16:creationId xmlns:a16="http://schemas.microsoft.com/office/drawing/2014/main" id="{285BD069-C919-E402-304D-F9C6108418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1" y="1383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793" name="Rectangle 113">
              <a:extLst>
                <a:ext uri="{FF2B5EF4-FFF2-40B4-BE49-F238E27FC236}">
                  <a16:creationId xmlns:a16="http://schemas.microsoft.com/office/drawing/2014/main" id="{F5542C07-8A6C-1692-464A-340707249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grpSp>
          <p:nvGrpSpPr>
            <p:cNvPr id="115794" name="Group 114">
              <a:extLst>
                <a:ext uri="{FF2B5EF4-FFF2-40B4-BE49-F238E27FC236}">
                  <a16:creationId xmlns:a16="http://schemas.microsoft.com/office/drawing/2014/main" id="{D27A520B-49E8-6A0C-702E-0D9CD94514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9" y="1436"/>
              <a:ext cx="110" cy="229"/>
              <a:chOff x="809" y="1436"/>
              <a:chExt cx="110" cy="229"/>
            </a:xfrm>
          </p:grpSpPr>
          <p:sp>
            <p:nvSpPr>
              <p:cNvPr id="115834" name="Rectangle 115">
                <a:extLst>
                  <a:ext uri="{FF2B5EF4-FFF2-40B4-BE49-F238E27FC236}">
                    <a16:creationId xmlns:a16="http://schemas.microsoft.com/office/drawing/2014/main" id="{4856BCCB-6CBA-23DF-E1EE-0880782867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3" y="1436"/>
                <a:ext cx="21" cy="12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35" name="Freeform 116">
                <a:extLst>
                  <a:ext uri="{FF2B5EF4-FFF2-40B4-BE49-F238E27FC236}">
                    <a16:creationId xmlns:a16="http://schemas.microsoft.com/office/drawing/2014/main" id="{FF80AA17-1AAC-449B-4FB4-B65B28A7D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9" y="1555"/>
                <a:ext cx="110" cy="110"/>
              </a:xfrm>
              <a:custGeom>
                <a:avLst/>
                <a:gdLst>
                  <a:gd name="T0" fmla="*/ 0 w 110"/>
                  <a:gd name="T1" fmla="*/ 0 h 110"/>
                  <a:gd name="T2" fmla="*/ 54 w 110"/>
                  <a:gd name="T3" fmla="*/ 110 h 110"/>
                  <a:gd name="T4" fmla="*/ 110 w 110"/>
                  <a:gd name="T5" fmla="*/ 0 h 110"/>
                  <a:gd name="T6" fmla="*/ 0 w 110"/>
                  <a:gd name="T7" fmla="*/ 0 h 11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110"/>
                  <a:gd name="T14" fmla="*/ 110 w 110"/>
                  <a:gd name="T15" fmla="*/ 110 h 11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110">
                    <a:moveTo>
                      <a:pt x="0" y="0"/>
                    </a:moveTo>
                    <a:lnTo>
                      <a:pt x="54" y="110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15795" name="Group 117">
              <a:extLst>
                <a:ext uri="{FF2B5EF4-FFF2-40B4-BE49-F238E27FC236}">
                  <a16:creationId xmlns:a16="http://schemas.microsoft.com/office/drawing/2014/main" id="{9E03679E-7A44-0096-B51B-19AEB3741C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23" y="2008"/>
              <a:ext cx="110" cy="229"/>
              <a:chOff x="923" y="2008"/>
              <a:chExt cx="110" cy="229"/>
            </a:xfrm>
          </p:grpSpPr>
          <p:sp>
            <p:nvSpPr>
              <p:cNvPr id="115832" name="Rectangle 118">
                <a:extLst>
                  <a:ext uri="{FF2B5EF4-FFF2-40B4-BE49-F238E27FC236}">
                    <a16:creationId xmlns:a16="http://schemas.microsoft.com/office/drawing/2014/main" id="{0F9B6A8F-0B62-C236-3A56-DE83AA37D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7" y="2008"/>
                <a:ext cx="21" cy="1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Wingdings" panose="05000000000000000000" pitchFamily="2" charset="2"/>
                  <a:buChar char="Ø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lr>
                    <a:srgbClr val="E5405D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Font typeface="Symbol" panose="05050102010706020507" pitchFamily="18" charset="2"/>
                  <a:buChar char="¨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E5405D"/>
                  </a:buClr>
                  <a:buSzPct val="64000"/>
                  <a:buFont typeface="Monotype Sorts" charset="2"/>
                  <a:buChar char="l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it-IT" altLang="it-IT"/>
              </a:p>
            </p:txBody>
          </p:sp>
          <p:sp>
            <p:nvSpPr>
              <p:cNvPr id="115833" name="Freeform 119">
                <a:extLst>
                  <a:ext uri="{FF2B5EF4-FFF2-40B4-BE49-F238E27FC236}">
                    <a16:creationId xmlns:a16="http://schemas.microsoft.com/office/drawing/2014/main" id="{4358DA42-7BDD-72DC-A6D9-2B1BEFFC2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23" y="2128"/>
                <a:ext cx="110" cy="109"/>
              </a:xfrm>
              <a:custGeom>
                <a:avLst/>
                <a:gdLst>
                  <a:gd name="T0" fmla="*/ 0 w 110"/>
                  <a:gd name="T1" fmla="*/ 0 h 109"/>
                  <a:gd name="T2" fmla="*/ 55 w 110"/>
                  <a:gd name="T3" fmla="*/ 109 h 109"/>
                  <a:gd name="T4" fmla="*/ 110 w 110"/>
                  <a:gd name="T5" fmla="*/ 0 h 109"/>
                  <a:gd name="T6" fmla="*/ 0 w 110"/>
                  <a:gd name="T7" fmla="*/ 0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0"/>
                  <a:gd name="T13" fmla="*/ 0 h 109"/>
                  <a:gd name="T14" fmla="*/ 110 w 110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0" h="109">
                    <a:moveTo>
                      <a:pt x="0" y="0"/>
                    </a:moveTo>
                    <a:lnTo>
                      <a:pt x="55" y="109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796" name="Rectangle 120">
              <a:extLst>
                <a:ext uri="{FF2B5EF4-FFF2-40B4-BE49-F238E27FC236}">
                  <a16:creationId xmlns:a16="http://schemas.microsoft.com/office/drawing/2014/main" id="{7AF9C20C-8108-790A-60A2-3CE04F27F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1333"/>
              <a:ext cx="17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797" name="Rectangle 121">
              <a:extLst>
                <a:ext uri="{FF2B5EF4-FFF2-40B4-BE49-F238E27FC236}">
                  <a16:creationId xmlns:a16="http://schemas.microsoft.com/office/drawing/2014/main" id="{348B62CA-9CBD-EC4F-1A7F-3725B4DBD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6" y="1339"/>
              <a:ext cx="37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Y</a:t>
              </a:r>
              <a:endParaRPr lang="it-IT" altLang="it-IT"/>
            </a:p>
          </p:txBody>
        </p:sp>
        <p:sp>
          <p:nvSpPr>
            <p:cNvPr id="115798" name="Rectangle 122">
              <a:extLst>
                <a:ext uri="{FF2B5EF4-FFF2-40B4-BE49-F238E27FC236}">
                  <a16:creationId xmlns:a16="http://schemas.microsoft.com/office/drawing/2014/main" id="{8F0E11D6-A339-A7D8-983A-B659A1B228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8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799" name="Rectangle 123">
              <a:extLst>
                <a:ext uri="{FF2B5EF4-FFF2-40B4-BE49-F238E27FC236}">
                  <a16:creationId xmlns:a16="http://schemas.microsoft.com/office/drawing/2014/main" id="{8729A887-7B51-ABBE-39D8-66BA22E354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" y="1383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00" name="Rectangle 124">
              <a:extLst>
                <a:ext uri="{FF2B5EF4-FFF2-40B4-BE49-F238E27FC236}">
                  <a16:creationId xmlns:a16="http://schemas.microsoft.com/office/drawing/2014/main" id="{F88B184A-FDE4-642B-3129-E15CCFE95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5" y="138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801" name="Rectangle 125">
              <a:extLst>
                <a:ext uri="{FF2B5EF4-FFF2-40B4-BE49-F238E27FC236}">
                  <a16:creationId xmlns:a16="http://schemas.microsoft.com/office/drawing/2014/main" id="{E9A7A1F4-C4F2-96A2-5FF2-942C9A910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237"/>
              <a:ext cx="17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802" name="Rectangle 126">
              <a:extLst>
                <a:ext uri="{FF2B5EF4-FFF2-40B4-BE49-F238E27FC236}">
                  <a16:creationId xmlns:a16="http://schemas.microsoft.com/office/drawing/2014/main" id="{50F6A536-6DD3-072B-0D93-CF356205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0" y="2244"/>
              <a:ext cx="28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S</a:t>
              </a:r>
              <a:endParaRPr lang="it-IT" altLang="it-IT"/>
            </a:p>
          </p:txBody>
        </p:sp>
        <p:sp>
          <p:nvSpPr>
            <p:cNvPr id="115803" name="Rectangle 127">
              <a:extLst>
                <a:ext uri="{FF2B5EF4-FFF2-40B4-BE49-F238E27FC236}">
                  <a16:creationId xmlns:a16="http://schemas.microsoft.com/office/drawing/2014/main" id="{020212F8-7872-BFEE-1E65-6B8B0E71C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8" y="2288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804" name="Rectangle 128">
              <a:extLst>
                <a:ext uri="{FF2B5EF4-FFF2-40B4-BE49-F238E27FC236}">
                  <a16:creationId xmlns:a16="http://schemas.microsoft.com/office/drawing/2014/main" id="{4B501096-9E5B-66C1-61C6-EE0126A35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5" y="2288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05" name="Rectangle 129">
              <a:extLst>
                <a:ext uri="{FF2B5EF4-FFF2-40B4-BE49-F238E27FC236}">
                  <a16:creationId xmlns:a16="http://schemas.microsoft.com/office/drawing/2014/main" id="{91D74319-60F7-1230-CEA0-AF9612D4E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4" y="2288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806" name="Line 130">
              <a:extLst>
                <a:ext uri="{FF2B5EF4-FFF2-40B4-BE49-F238E27FC236}">
                  <a16:creationId xmlns:a16="http://schemas.microsoft.com/office/drawing/2014/main" id="{8BC2ECA1-23B9-D5BD-7D13-E6A9D48495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06" y="2192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07" name="Line 131">
              <a:extLst>
                <a:ext uri="{FF2B5EF4-FFF2-40B4-BE49-F238E27FC236}">
                  <a16:creationId xmlns:a16="http://schemas.microsoft.com/office/drawing/2014/main" id="{6A287B11-AA32-15D4-5D03-99D7F83C8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6" y="1505"/>
              <a:ext cx="1" cy="687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808" name="Line 132">
              <a:extLst>
                <a:ext uri="{FF2B5EF4-FFF2-40B4-BE49-F238E27FC236}">
                  <a16:creationId xmlns:a16="http://schemas.microsoft.com/office/drawing/2014/main" id="{466745E4-7F69-4E3C-3DED-3DEFC2B09B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5" y="1505"/>
              <a:ext cx="171" cy="1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809" name="Group 133">
              <a:extLst>
                <a:ext uri="{FF2B5EF4-FFF2-40B4-BE49-F238E27FC236}">
                  <a16:creationId xmlns:a16="http://schemas.microsoft.com/office/drawing/2014/main" id="{2F4067A7-C94F-6DB3-D07C-F1E968896F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98" y="1505"/>
              <a:ext cx="75" cy="172"/>
              <a:chOff x="998" y="1505"/>
              <a:chExt cx="75" cy="172"/>
            </a:xfrm>
          </p:grpSpPr>
          <p:sp>
            <p:nvSpPr>
              <p:cNvPr id="115830" name="Line 134">
                <a:extLst>
                  <a:ext uri="{FF2B5EF4-FFF2-40B4-BE49-F238E27FC236}">
                    <a16:creationId xmlns:a16="http://schemas.microsoft.com/office/drawing/2014/main" id="{7818955F-09E6-15A7-A42C-75BA9918D2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35" y="1505"/>
                <a:ext cx="1" cy="100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31" name="Freeform 135">
                <a:extLst>
                  <a:ext uri="{FF2B5EF4-FFF2-40B4-BE49-F238E27FC236}">
                    <a16:creationId xmlns:a16="http://schemas.microsoft.com/office/drawing/2014/main" id="{15637A97-0934-5903-EE8E-AEF0C804A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8" y="1603"/>
                <a:ext cx="75" cy="74"/>
              </a:xfrm>
              <a:custGeom>
                <a:avLst/>
                <a:gdLst>
                  <a:gd name="T0" fmla="*/ 0 w 75"/>
                  <a:gd name="T1" fmla="*/ 0 h 74"/>
                  <a:gd name="T2" fmla="*/ 37 w 75"/>
                  <a:gd name="T3" fmla="*/ 74 h 74"/>
                  <a:gd name="T4" fmla="*/ 75 w 75"/>
                  <a:gd name="T5" fmla="*/ 0 h 74"/>
                  <a:gd name="T6" fmla="*/ 0 w 75"/>
                  <a:gd name="T7" fmla="*/ 0 h 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4"/>
                  <a:gd name="T14" fmla="*/ 75 w 75"/>
                  <a:gd name="T15" fmla="*/ 74 h 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4">
                    <a:moveTo>
                      <a:pt x="0" y="0"/>
                    </a:moveTo>
                    <a:lnTo>
                      <a:pt x="37" y="74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15810" name="Rectangle 136">
              <a:extLst>
                <a:ext uri="{FF2B5EF4-FFF2-40B4-BE49-F238E27FC236}">
                  <a16:creationId xmlns:a16="http://schemas.microsoft.com/office/drawing/2014/main" id="{445F28BC-49F7-A3F1-3907-E5C6251543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2192"/>
              <a:ext cx="173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811" name="Rectangle 137">
              <a:extLst>
                <a:ext uri="{FF2B5EF4-FFF2-40B4-BE49-F238E27FC236}">
                  <a16:creationId xmlns:a16="http://schemas.microsoft.com/office/drawing/2014/main" id="{EA9350B4-EBD0-6F8E-0764-CDC410C2F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0" y="2198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812" name="Rectangle 138">
              <a:extLst>
                <a:ext uri="{FF2B5EF4-FFF2-40B4-BE49-F238E27FC236}">
                  <a16:creationId xmlns:a16="http://schemas.microsoft.com/office/drawing/2014/main" id="{5AEDB6F1-B4A3-69E0-3EB3-5E40A5048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7" y="224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813" name="Rectangle 139">
              <a:extLst>
                <a:ext uri="{FF2B5EF4-FFF2-40B4-BE49-F238E27FC236}">
                  <a16:creationId xmlns:a16="http://schemas.microsoft.com/office/drawing/2014/main" id="{D4E8A70F-840E-39EE-202A-4DA63B3D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5" y="2243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14" name="Rectangle 140">
              <a:extLst>
                <a:ext uri="{FF2B5EF4-FFF2-40B4-BE49-F238E27FC236}">
                  <a16:creationId xmlns:a16="http://schemas.microsoft.com/office/drawing/2014/main" id="{537DA8B0-1E6F-0E5F-1A21-8DE12C21C1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4" y="2243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2</a:t>
              </a:r>
              <a:endParaRPr lang="it-IT" altLang="it-IT"/>
            </a:p>
          </p:txBody>
        </p:sp>
        <p:sp>
          <p:nvSpPr>
            <p:cNvPr id="115815" name="Rectangle 141">
              <a:extLst>
                <a:ext uri="{FF2B5EF4-FFF2-40B4-BE49-F238E27FC236}">
                  <a16:creationId xmlns:a16="http://schemas.microsoft.com/office/drawing/2014/main" id="{1F9FC9EF-8509-D87B-65DA-00A7A602A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" y="1390"/>
              <a:ext cx="172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816" name="Rectangle 142">
              <a:extLst>
                <a:ext uri="{FF2B5EF4-FFF2-40B4-BE49-F238E27FC236}">
                  <a16:creationId xmlns:a16="http://schemas.microsoft.com/office/drawing/2014/main" id="{B1B587DC-9782-88D5-BB39-73B1ABCDE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5" y="1397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817" name="Rectangle 143">
              <a:extLst>
                <a:ext uri="{FF2B5EF4-FFF2-40B4-BE49-F238E27FC236}">
                  <a16:creationId xmlns:a16="http://schemas.microsoft.com/office/drawing/2014/main" id="{2D778110-C9BB-312A-7525-578CD4A0B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92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818" name="Rectangle 144">
              <a:extLst>
                <a:ext uri="{FF2B5EF4-FFF2-40B4-BE49-F238E27FC236}">
                  <a16:creationId xmlns:a16="http://schemas.microsoft.com/office/drawing/2014/main" id="{CA90F3EA-EE47-546C-ADAB-0DD077FA9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9" y="1441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19" name="Rectangle 145">
              <a:extLst>
                <a:ext uri="{FF2B5EF4-FFF2-40B4-BE49-F238E27FC236}">
                  <a16:creationId xmlns:a16="http://schemas.microsoft.com/office/drawing/2014/main" id="{969310D3-33FB-C68B-32CF-BF8A7191C0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8" y="1441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820" name="Rectangle 146">
              <a:extLst>
                <a:ext uri="{FF2B5EF4-FFF2-40B4-BE49-F238E27FC236}">
                  <a16:creationId xmlns:a16="http://schemas.microsoft.com/office/drawing/2014/main" id="{5668CBA3-2E57-E46D-AE7D-D0D0937F5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249"/>
              <a:ext cx="286" cy="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15821" name="Rectangle 147">
              <a:extLst>
                <a:ext uri="{FF2B5EF4-FFF2-40B4-BE49-F238E27FC236}">
                  <a16:creationId xmlns:a16="http://schemas.microsoft.com/office/drawing/2014/main" id="{36E02FD8-98DA-32FA-9BF2-01D0D62A01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" y="2256"/>
              <a:ext cx="63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C=</a:t>
              </a:r>
              <a:endParaRPr lang="it-IT" altLang="it-IT"/>
            </a:p>
          </p:txBody>
        </p:sp>
        <p:sp>
          <p:nvSpPr>
            <p:cNvPr id="115822" name="Rectangle 148">
              <a:extLst>
                <a:ext uri="{FF2B5EF4-FFF2-40B4-BE49-F238E27FC236}">
                  <a16:creationId xmlns:a16="http://schemas.microsoft.com/office/drawing/2014/main" id="{08877D8D-0F0D-3174-1179-E4166DD3DB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" y="2256"/>
              <a:ext cx="34" cy="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1100" b="0">
                  <a:solidFill>
                    <a:srgbClr val="000000"/>
                  </a:solidFill>
                </a:rPr>
                <a:t>R</a:t>
              </a:r>
              <a:endParaRPr lang="it-IT" altLang="it-IT"/>
            </a:p>
          </p:txBody>
        </p:sp>
        <p:sp>
          <p:nvSpPr>
            <p:cNvPr id="115823" name="Rectangle 149">
              <a:extLst>
                <a:ext uri="{FF2B5EF4-FFF2-40B4-BE49-F238E27FC236}">
                  <a16:creationId xmlns:a16="http://schemas.microsoft.com/office/drawing/2014/main" id="{8B2D3F01-005D-6511-776C-4A89150FF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2300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n</a:t>
              </a:r>
              <a:endParaRPr lang="it-IT" altLang="it-IT"/>
            </a:p>
          </p:txBody>
        </p:sp>
        <p:sp>
          <p:nvSpPr>
            <p:cNvPr id="115824" name="Rectangle 150">
              <a:extLst>
                <a:ext uri="{FF2B5EF4-FFF2-40B4-BE49-F238E27FC236}">
                  <a16:creationId xmlns:a16="http://schemas.microsoft.com/office/drawing/2014/main" id="{B669CF90-86EA-A374-A6E1-8A30613731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1" y="2300"/>
              <a:ext cx="11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-</a:t>
              </a:r>
              <a:endParaRPr lang="it-IT" altLang="it-IT"/>
            </a:p>
          </p:txBody>
        </p:sp>
        <p:sp>
          <p:nvSpPr>
            <p:cNvPr id="115825" name="Rectangle 151">
              <a:extLst>
                <a:ext uri="{FF2B5EF4-FFF2-40B4-BE49-F238E27FC236}">
                  <a16:creationId xmlns:a16="http://schemas.microsoft.com/office/drawing/2014/main" id="{EB2298E2-CD48-FA04-1B3A-93AA7AACF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" y="2300"/>
              <a:ext cx="16" cy="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700" b="0">
                  <a:solidFill>
                    <a:srgbClr val="000000"/>
                  </a:solidFill>
                </a:rPr>
                <a:t>1</a:t>
              </a:r>
              <a:endParaRPr lang="it-IT" altLang="it-IT"/>
            </a:p>
          </p:txBody>
        </p:sp>
        <p:sp>
          <p:nvSpPr>
            <p:cNvPr id="115826" name="Line 152">
              <a:extLst>
                <a:ext uri="{FF2B5EF4-FFF2-40B4-BE49-F238E27FC236}">
                  <a16:creationId xmlns:a16="http://schemas.microsoft.com/office/drawing/2014/main" id="{80A20F41-CAEF-D014-2B2E-B2C400CDD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2" y="2020"/>
              <a:ext cx="1" cy="172"/>
            </a:xfrm>
            <a:prstGeom prst="line">
              <a:avLst/>
            </a:prstGeom>
            <a:noFill/>
            <a:ln w="1111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5827" name="Group 153">
              <a:extLst>
                <a:ext uri="{FF2B5EF4-FFF2-40B4-BE49-F238E27FC236}">
                  <a16:creationId xmlns:a16="http://schemas.microsoft.com/office/drawing/2014/main" id="{B52CE6C2-19CF-9B3F-BB54-AE6FE2A489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1" y="2155"/>
              <a:ext cx="171" cy="75"/>
              <a:chOff x="521" y="2155"/>
              <a:chExt cx="171" cy="75"/>
            </a:xfrm>
          </p:grpSpPr>
          <p:sp>
            <p:nvSpPr>
              <p:cNvPr id="115828" name="Line 154">
                <a:extLst>
                  <a:ext uri="{FF2B5EF4-FFF2-40B4-BE49-F238E27FC236}">
                    <a16:creationId xmlns:a16="http://schemas.microsoft.com/office/drawing/2014/main" id="{5AC8B0D6-BCA0-3BEA-4347-F406793B9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92" y="2192"/>
                <a:ext cx="100" cy="1"/>
              </a:xfrm>
              <a:prstGeom prst="line">
                <a:avLst/>
              </a:prstGeom>
              <a:noFill/>
              <a:ln w="1111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829" name="Freeform 155">
                <a:extLst>
                  <a:ext uri="{FF2B5EF4-FFF2-40B4-BE49-F238E27FC236}">
                    <a16:creationId xmlns:a16="http://schemas.microsoft.com/office/drawing/2014/main" id="{8C88302A-0EE9-1B3D-5093-8FDEC88956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1" y="2155"/>
                <a:ext cx="75" cy="75"/>
              </a:xfrm>
              <a:custGeom>
                <a:avLst/>
                <a:gdLst>
                  <a:gd name="T0" fmla="*/ 75 w 75"/>
                  <a:gd name="T1" fmla="*/ 0 h 75"/>
                  <a:gd name="T2" fmla="*/ 0 w 75"/>
                  <a:gd name="T3" fmla="*/ 37 h 75"/>
                  <a:gd name="T4" fmla="*/ 75 w 75"/>
                  <a:gd name="T5" fmla="*/ 75 h 75"/>
                  <a:gd name="T6" fmla="*/ 75 w 75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"/>
                  <a:gd name="T13" fmla="*/ 0 h 75"/>
                  <a:gd name="T14" fmla="*/ 75 w 75"/>
                  <a:gd name="T15" fmla="*/ 75 h 7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" h="75">
                    <a:moveTo>
                      <a:pt x="75" y="0"/>
                    </a:moveTo>
                    <a:lnTo>
                      <a:pt x="0" y="37"/>
                    </a:lnTo>
                    <a:lnTo>
                      <a:pt x="75" y="75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Segnaposto numero diapositiva 3">
            <a:extLst>
              <a:ext uri="{FF2B5EF4-FFF2-40B4-BE49-F238E27FC236}">
                <a16:creationId xmlns:a16="http://schemas.microsoft.com/office/drawing/2014/main" id="{A084BFEE-DF49-1964-B556-509A0C91A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F3C9C976-9432-41C6-AA84-C7E9ADC8468D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85</a:t>
            </a:fld>
            <a:endParaRPr lang="it-IT" altLang="it-IT" sz="1400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68673BF5-E836-6FF5-76C6-DC6A977C40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paralleli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9A49D68E-0A1C-62B4-3647-B62C3F4174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4438"/>
            <a:ext cx="9247188" cy="4648200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Gli addizionatori ottenuti collegando in cascata </a:t>
            </a:r>
            <a:r>
              <a:rPr lang="it-IT" altLang="it-IT" sz="2400" b="1" i="1">
                <a:ea typeface="ＭＳ Ｐゴシック" panose="020B0600070205080204" pitchFamily="34" charset="-128"/>
              </a:rPr>
              <a:t>n</a:t>
            </a:r>
            <a:r>
              <a:rPr lang="it-IT" altLang="it-IT" sz="2400">
                <a:ea typeface="ＭＳ Ｐゴシック" panose="020B0600070205080204" pitchFamily="34" charset="-128"/>
              </a:rPr>
              <a:t> addizionatori di cifra sono anche chiamati addizionatori a propagazione del riporto (</a:t>
            </a:r>
            <a:r>
              <a:rPr lang="it-IT" altLang="it-IT" sz="2400" i="1">
                <a:ea typeface="ＭＳ Ｐゴシック" panose="020B0600070205080204" pitchFamily="34" charset="-128"/>
              </a:rPr>
              <a:t>carry-ripple</a:t>
            </a:r>
            <a:r>
              <a:rPr lang="it-IT" altLang="it-IT" sz="2400">
                <a:ea typeface="ＭＳ Ｐゴシック" panose="020B0600070205080204" pitchFamily="34" charset="-128"/>
              </a:rPr>
              <a:t> o </a:t>
            </a:r>
            <a:r>
              <a:rPr lang="it-IT" altLang="it-IT" sz="2400" i="1">
                <a:ea typeface="ＭＳ Ｐゴシック" panose="020B0600070205080204" pitchFamily="34" charset="-128"/>
              </a:rPr>
              <a:t>carry-propagate</a:t>
            </a:r>
            <a:r>
              <a:rPr lang="it-IT" altLang="it-IT" sz="2400">
                <a:ea typeface="ＭＳ Ｐゴシック" panose="020B0600070205080204" pitchFamily="34" charset="-128"/>
              </a:rPr>
              <a:t>)</a:t>
            </a:r>
          </a:p>
          <a:p>
            <a:r>
              <a:rPr lang="it-IT" altLang="it-IT" sz="2400" b="1" i="1">
                <a:ea typeface="ＭＳ Ｐゴシック" panose="020B0600070205080204" pitchFamily="34" charset="-128"/>
                <a:sym typeface="Symbol" panose="05050102010706020507" pitchFamily="18" charset="2"/>
              </a:rPr>
              <a:t></a:t>
            </a:r>
            <a:r>
              <a:rPr lang="it-IT" altLang="it-IT" sz="2400">
                <a:ea typeface="ＭＳ Ｐゴシック" panose="020B0600070205080204" pitchFamily="34" charset="-128"/>
              </a:rPr>
              <a:t>  = tempo di risposta di uno stadio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Allo stadio i, il riporto uscente o è </a:t>
            </a:r>
            <a:r>
              <a:rPr lang="it-IT" altLang="it-IT" sz="2400" b="1">
                <a:ea typeface="ＭＳ Ｐゴシック" panose="020B0600070205080204" pitchFamily="34" charset="-128"/>
              </a:rPr>
              <a:t>generato</a:t>
            </a:r>
            <a:r>
              <a:rPr lang="it-IT" altLang="it-IT" sz="2400">
                <a:ea typeface="ＭＳ Ｐゴシック" panose="020B0600070205080204" pitchFamily="34" charset="-128"/>
              </a:rPr>
              <a:t> o è </a:t>
            </a:r>
            <a:r>
              <a:rPr lang="it-IT" altLang="it-IT" sz="2400" b="1">
                <a:ea typeface="ＭＳ Ｐゴシック" panose="020B0600070205080204" pitchFamily="34" charset="-128"/>
              </a:rPr>
              <a:t>ucciso</a:t>
            </a:r>
            <a:r>
              <a:rPr lang="it-IT" altLang="it-IT" sz="2400">
                <a:ea typeface="ＭＳ Ｐゴシック" panose="020B0600070205080204" pitchFamily="34" charset="-128"/>
              </a:rPr>
              <a:t> o è </a:t>
            </a:r>
            <a:r>
              <a:rPr lang="it-IT" altLang="it-IT" sz="2400" b="1">
                <a:ea typeface="ＭＳ Ｐゴシック" panose="020B0600070205080204" pitchFamily="34" charset="-128"/>
              </a:rPr>
              <a:t>propagato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Tempo di ritardo complessivo: </a:t>
            </a:r>
            <a:r>
              <a:rPr lang="it-IT" altLang="it-IT" sz="2400" b="1">
                <a:ea typeface="ＭＳ Ｐゴシック" panose="020B0600070205080204" pitchFamily="34" charset="-128"/>
              </a:rPr>
              <a:t>Limite inferiore </a:t>
            </a:r>
            <a:r>
              <a:rPr lang="it-IT" altLang="it-IT" sz="2400" b="1" i="1">
                <a:ea typeface="ＭＳ Ｐゴシック" panose="020B0600070205080204" pitchFamily="34" charset="-128"/>
                <a:sym typeface="Symbol" panose="05050102010706020507" pitchFamily="18" charset="2"/>
              </a:rPr>
              <a:t> </a:t>
            </a:r>
            <a:r>
              <a:rPr lang="it-IT" altLang="it-IT" sz="2400">
                <a:ea typeface="ＭＳ Ｐゴシック" panose="020B0600070205080204" pitchFamily="34" charset="-128"/>
                <a:sym typeface="Symbol" panose="05050102010706020507" pitchFamily="18" charset="2"/>
              </a:rPr>
              <a:t>(in tutti gli stadi il riporto è generato o ucciso)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r>
              <a:rPr lang="it-IT" altLang="it-IT" sz="2400">
                <a:ea typeface="ＭＳ Ｐゴシック" panose="020B0600070205080204" pitchFamily="34" charset="-128"/>
              </a:rPr>
              <a:t>Tempo di ritardo complessivo: </a:t>
            </a:r>
            <a:r>
              <a:rPr lang="it-IT" altLang="it-IT" sz="2400" b="1">
                <a:ea typeface="ＭＳ Ｐゴシック" panose="020B0600070205080204" pitchFamily="34" charset="-128"/>
              </a:rPr>
              <a:t>Limite superiore </a:t>
            </a:r>
            <a:r>
              <a:rPr lang="it-IT" altLang="it-IT" sz="2400" b="1" i="1">
                <a:ea typeface="ＭＳ Ｐゴシック" panose="020B0600070205080204" pitchFamily="34" charset="-128"/>
              </a:rPr>
              <a:t>n</a:t>
            </a:r>
            <a:r>
              <a:rPr lang="it-IT" altLang="it-IT" sz="2400" b="1" i="1">
                <a:ea typeface="ＭＳ Ｐゴシック" panose="020B0600070205080204" pitchFamily="34" charset="-128"/>
                <a:sym typeface="Symbol" panose="05050102010706020507" pitchFamily="18" charset="2"/>
              </a:rPr>
              <a:t> </a:t>
            </a:r>
            <a:r>
              <a:rPr lang="it-IT" altLang="it-IT" sz="2400">
                <a:ea typeface="ＭＳ Ｐゴシック" panose="020B0600070205080204" pitchFamily="34" charset="-128"/>
                <a:sym typeface="Symbol" panose="05050102010706020507" pitchFamily="18" charset="2"/>
              </a:rPr>
              <a:t>(un riporto entrante nel primo stadio che è propagato in tutti gli stadi)</a:t>
            </a:r>
            <a:endParaRPr lang="it-IT" altLang="it-IT" sz="2400">
              <a:ea typeface="ＭＳ Ｐゴシック" panose="020B0600070205080204" pitchFamily="34" charset="-128"/>
            </a:endParaRPr>
          </a:p>
          <a:p>
            <a:r>
              <a:rPr lang="it-IT" altLang="it-IT" sz="2400">
                <a:ea typeface="ＭＳ Ｐゴシック" panose="020B0600070205080204" pitchFamily="34" charset="-128"/>
              </a:rPr>
              <a:t>Tempo di ritardo complessivo = </a:t>
            </a:r>
            <a:r>
              <a:rPr lang="it-IT" altLang="it-IT" sz="2400" i="1">
                <a:ea typeface="ＭＳ Ｐゴシック" panose="020B0600070205080204" pitchFamily="34" charset="-128"/>
              </a:rPr>
              <a:t>k</a:t>
            </a:r>
            <a:r>
              <a:rPr lang="it-IT" altLang="it-IT" sz="2400" i="1">
                <a:ea typeface="ＭＳ Ｐゴシック" panose="020B0600070205080204" pitchFamily="34" charset="-128"/>
                <a:sym typeface="Symbol" panose="05050102010706020507" pitchFamily="18" charset="2"/>
              </a:rPr>
              <a:t></a:t>
            </a:r>
            <a:r>
              <a:rPr lang="it-IT" altLang="it-IT" sz="2400">
                <a:ea typeface="ＭＳ Ｐゴシック" panose="020B0600070205080204" pitchFamily="34" charset="-128"/>
              </a:rPr>
              <a:t> (</a:t>
            </a:r>
            <a:r>
              <a:rPr lang="it-IT" altLang="it-IT" sz="2400" i="1">
                <a:ea typeface="ＭＳ Ｐゴシック" panose="020B0600070205080204" pitchFamily="34" charset="-128"/>
              </a:rPr>
              <a:t>k</a:t>
            </a:r>
            <a:r>
              <a:rPr lang="it-IT" altLang="it-IT" sz="2400" i="1">
                <a:ea typeface="ＭＳ Ｐゴシック" panose="020B0600070205080204" pitchFamily="34" charset="-128"/>
                <a:sym typeface="Symbol" panose="05050102010706020507" pitchFamily="18" charset="2"/>
              </a:rPr>
              <a:t></a:t>
            </a:r>
            <a:r>
              <a:rPr lang="it-IT" altLang="it-IT" sz="2400" i="1">
                <a:ea typeface="ＭＳ Ｐゴシック" panose="020B0600070205080204" pitchFamily="34" charset="-128"/>
              </a:rPr>
              <a:t> n</a:t>
            </a:r>
            <a:r>
              <a:rPr lang="it-IT" altLang="it-IT" sz="2400">
                <a:ea typeface="ＭＳ Ｐゴシック" panose="020B0600070205080204" pitchFamily="34" charset="-128"/>
              </a:rPr>
              <a:t>), dove </a:t>
            </a:r>
            <a:r>
              <a:rPr lang="it-IT" altLang="it-IT" sz="2400" i="1">
                <a:ea typeface="ＭＳ Ｐゴシック" panose="020B0600070205080204" pitchFamily="34" charset="-128"/>
              </a:rPr>
              <a:t>k</a:t>
            </a:r>
            <a:r>
              <a:rPr lang="it-IT" altLang="it-IT" sz="2400">
                <a:ea typeface="ＭＳ Ｐゴシック" panose="020B0600070205080204" pitchFamily="34" charset="-128"/>
              </a:rPr>
              <a:t> è la</a:t>
            </a:r>
            <a:endParaRPr lang="it-IT" altLang="it-IT" sz="2400" i="1"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it-IT" altLang="it-IT" sz="2400" i="1">
                <a:ea typeface="ＭＳ Ｐゴシック" panose="020B0600070205080204" pitchFamily="34" charset="-128"/>
              </a:rPr>
              <a:t>	</a:t>
            </a:r>
            <a:r>
              <a:rPr lang="it-IT" altLang="it-IT" sz="2400">
                <a:ea typeface="ＭＳ Ｐゴシック" panose="020B0600070205080204" pitchFamily="34" charset="-128"/>
              </a:rPr>
              <a:t>più lunga catena di condizioni di propagazione. </a:t>
            </a:r>
          </a:p>
          <a:p>
            <a:endParaRPr lang="it-IT" altLang="it-IT" sz="24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Segnaposto numero diapositiva 4">
            <a:extLst>
              <a:ext uri="{FF2B5EF4-FFF2-40B4-BE49-F238E27FC236}">
                <a16:creationId xmlns:a16="http://schemas.microsoft.com/office/drawing/2014/main" id="{8CD6218B-054E-5208-1126-B76F9CE2C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6CBBB192-55B4-4ECB-B494-2099FB8DA972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86</a:t>
            </a:fld>
            <a:endParaRPr lang="it-IT" altLang="it-IT" sz="1400"/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47B002E3-5AE3-4ACE-75D2-128DCACFF0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con anticipo del riporto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97530043-8F27-BB68-6645-57F254CABFF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50288" cy="2473325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Normalmente chiamati addizionatori </a:t>
            </a:r>
            <a:r>
              <a:rPr lang="it-IT" altLang="it-IT" sz="2400" i="1">
                <a:ea typeface="ＭＳ Ｐゴシック" panose="020B0600070205080204" pitchFamily="34" charset="-128"/>
              </a:rPr>
              <a:t>carry lookahead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Per ogni stadio </a:t>
            </a:r>
            <a:r>
              <a:rPr lang="it-IT" altLang="it-IT" sz="2400" i="1">
                <a:ea typeface="ＭＳ Ｐゴシック" panose="020B0600070205080204" pitchFamily="34" charset="-128"/>
              </a:rPr>
              <a:t>i</a:t>
            </a:r>
            <a:r>
              <a:rPr lang="it-IT" altLang="it-IT" sz="2400">
                <a:ea typeface="ＭＳ Ｐゴシック" panose="020B0600070205080204" pitchFamily="34" charset="-128"/>
              </a:rPr>
              <a:t>, dal </a:t>
            </a:r>
            <a:r>
              <a:rPr lang="it-IT" altLang="it-IT" sz="2400" i="1">
                <a:ea typeface="ＭＳ Ｐゴシック" panose="020B0600070205080204" pitchFamily="34" charset="-128"/>
              </a:rPr>
              <a:t>(k+1)-</a:t>
            </a:r>
            <a:r>
              <a:rPr lang="it-IT" altLang="it-IT" sz="2400">
                <a:ea typeface="ＭＳ Ｐゴシック" panose="020B0600070205080204" pitchFamily="34" charset="-128"/>
              </a:rPr>
              <a:t>esimo al </a:t>
            </a:r>
            <a:r>
              <a:rPr lang="it-IT" altLang="it-IT" sz="2400" i="1">
                <a:ea typeface="ＭＳ Ｐゴシック" panose="020B0600070205080204" pitchFamily="34" charset="-128"/>
              </a:rPr>
              <a:t>(k+j)</a:t>
            </a:r>
            <a:r>
              <a:rPr lang="it-IT" altLang="it-IT" sz="2400">
                <a:ea typeface="ＭＳ Ｐゴシック" panose="020B0600070205080204" pitchFamily="34" charset="-128"/>
              </a:rPr>
              <a:t>-esimo, </a:t>
            </a:r>
            <a:r>
              <a:rPr lang="it-IT" altLang="it-IT" sz="2400" i="1">
                <a:ea typeface="ＭＳ Ｐゴシック" panose="020B0600070205080204" pitchFamily="34" charset="-128"/>
              </a:rPr>
              <a:t>r</a:t>
            </a:r>
            <a:r>
              <a:rPr lang="it-IT" altLang="it-IT" sz="2400" i="1" baseline="-25000">
                <a:ea typeface="ＭＳ Ｐゴシック" panose="020B0600070205080204" pitchFamily="34" charset="-128"/>
              </a:rPr>
              <a:t>i</a:t>
            </a:r>
            <a:r>
              <a:rPr lang="it-IT" altLang="it-IT" sz="2400">
                <a:ea typeface="ＭＳ Ｐゴシック" panose="020B0600070205080204" pitchFamily="34" charset="-128"/>
              </a:rPr>
              <a:t> si ottiene direttamente dai bit degli addendi X ed Y e dal riporto entrante nella catena (invece che dal riporto uscente </a:t>
            </a:r>
            <a:r>
              <a:rPr lang="it-IT" altLang="it-IT" sz="2400" i="1">
                <a:ea typeface="ＭＳ Ｐゴシック" panose="020B0600070205080204" pitchFamily="34" charset="-128"/>
              </a:rPr>
              <a:t>R</a:t>
            </a:r>
            <a:r>
              <a:rPr lang="it-IT" altLang="it-IT" sz="2400" i="1" baseline="-25000">
                <a:ea typeface="ＭＳ Ｐゴシック" panose="020B0600070205080204" pitchFamily="34" charset="-128"/>
              </a:rPr>
              <a:t>i-1</a:t>
            </a:r>
            <a:r>
              <a:rPr lang="it-IT" altLang="it-IT" sz="2400">
                <a:ea typeface="ＭＳ Ｐゴシック" panose="020B0600070205080204" pitchFamily="34" charset="-128"/>
              </a:rPr>
              <a:t>)</a:t>
            </a:r>
          </a:p>
        </p:txBody>
      </p:sp>
      <p:graphicFrame>
        <p:nvGraphicFramePr>
          <p:cNvPr id="117764" name="Object 2">
            <a:extLst>
              <a:ext uri="{FF2B5EF4-FFF2-40B4-BE49-F238E27FC236}">
                <a16:creationId xmlns:a16="http://schemas.microsoft.com/office/drawing/2014/main" id="{D95C5588-59C2-D2DF-3E6F-7C17058A0BB2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39775" y="3503613"/>
          <a:ext cx="8932863" cy="2027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3503613"/>
                        <a:ext cx="8932863" cy="2027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Segnaposto numero diapositiva 3">
            <a:extLst>
              <a:ext uri="{FF2B5EF4-FFF2-40B4-BE49-F238E27FC236}">
                <a16:creationId xmlns:a16="http://schemas.microsoft.com/office/drawing/2014/main" id="{73AED2E1-D34B-554C-FCA8-C0128DD2D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CE94B26-CE80-43C2-994B-DE2392222813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87</a:t>
            </a:fld>
            <a:endParaRPr lang="it-IT" altLang="it-IT" sz="1400"/>
          </a:p>
        </p:txBody>
      </p:sp>
      <p:sp>
        <p:nvSpPr>
          <p:cNvPr id="118786" name="Rectangle 2">
            <a:extLst>
              <a:ext uri="{FF2B5EF4-FFF2-40B4-BE49-F238E27FC236}">
                <a16:creationId xmlns:a16="http://schemas.microsoft.com/office/drawing/2014/main" id="{073AB3AD-A526-CA90-30A2-E12021F1D0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graphicFrame>
        <p:nvGraphicFramePr>
          <p:cNvPr id="118787" name="Object 2">
            <a:extLst>
              <a:ext uri="{FF2B5EF4-FFF2-40B4-BE49-F238E27FC236}">
                <a16:creationId xmlns:a16="http://schemas.microsoft.com/office/drawing/2014/main" id="{81811E71-3865-7419-9CB2-BA77126CFB13}"/>
              </a:ext>
            </a:extLst>
          </p:cNvPr>
          <p:cNvGraphicFramePr>
            <a:graphicFrameLocks noGrp="1" noChangeAspect="1"/>
          </p:cNvGraphicFramePr>
          <p:nvPr>
            <p:ph type="body" idx="1"/>
          </p:nvPr>
        </p:nvGraphicFramePr>
        <p:xfrm>
          <a:off x="520700" y="1584325"/>
          <a:ext cx="89154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0" imgH="0" progId="Equation.3">
                  <p:embed/>
                </p:oleObj>
              </mc:Choice>
              <mc:Fallback>
                <p:oleObj name="Equation" r:id="rId2" imgW="0" imgH="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00" y="1584325"/>
                        <a:ext cx="89154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788" name="Line 5">
            <a:extLst>
              <a:ext uri="{FF2B5EF4-FFF2-40B4-BE49-F238E27FC236}">
                <a16:creationId xmlns:a16="http://schemas.microsoft.com/office/drawing/2014/main" id="{5AB40407-BB60-1191-FD50-EEDCA30957B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831138" y="2143125"/>
            <a:ext cx="303212" cy="1362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89" name="Line 6">
            <a:extLst>
              <a:ext uri="{FF2B5EF4-FFF2-40B4-BE49-F238E27FC236}">
                <a16:creationId xmlns:a16="http://schemas.microsoft.com/office/drawing/2014/main" id="{F0B638D6-6F62-9A78-75FF-A313B58BC10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03763" y="2116138"/>
            <a:ext cx="860425" cy="227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0" name="Line 7">
            <a:extLst>
              <a:ext uri="{FF2B5EF4-FFF2-40B4-BE49-F238E27FC236}">
                <a16:creationId xmlns:a16="http://schemas.microsoft.com/office/drawing/2014/main" id="{2D54E38F-A6A7-FE3B-B06C-41F35852A8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571625" y="2185988"/>
            <a:ext cx="325438" cy="949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8791" name="Text Box 8">
            <a:extLst>
              <a:ext uri="{FF2B5EF4-FFF2-40B4-BE49-F238E27FC236}">
                <a16:creationId xmlns:a16="http://schemas.microsoft.com/office/drawing/2014/main" id="{8120B1F2-9ACD-6CA0-6AF2-E64C2FD797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8925" y="3656013"/>
            <a:ext cx="299878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…oppure è pari al riporto entrante r</a:t>
            </a:r>
            <a:r>
              <a:rPr lang="it-IT" altLang="it-IT" sz="1800" baseline="-25000"/>
              <a:t>k</a:t>
            </a:r>
            <a:r>
              <a:rPr lang="it-IT" altLang="it-IT" sz="1800"/>
              <a:t> se questo viene propagato in tutti gli stadi</a:t>
            </a:r>
          </a:p>
        </p:txBody>
      </p:sp>
      <p:sp>
        <p:nvSpPr>
          <p:cNvPr id="118792" name="Text Box 9">
            <a:extLst>
              <a:ext uri="{FF2B5EF4-FFF2-40B4-BE49-F238E27FC236}">
                <a16:creationId xmlns:a16="http://schemas.microsoft.com/office/drawing/2014/main" id="{6BADB1DC-A3BF-B46E-688A-F76CC37B0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8950" y="4481513"/>
            <a:ext cx="36099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800"/>
              <a:t>…oppure se è verificata la condizione di generazione G</a:t>
            </a:r>
            <a:r>
              <a:rPr lang="it-IT" altLang="it-IT" sz="1800" baseline="-25000"/>
              <a:t>k</a:t>
            </a:r>
            <a:r>
              <a:rPr lang="it-IT" altLang="it-IT" sz="1800"/>
              <a:t> e se questa viene propagata dagli stadi dal (k+1)-esimo fino all</a:t>
            </a:r>
            <a:r>
              <a:rPr lang="ja-JP" altLang="it-IT" sz="1800"/>
              <a:t>’</a:t>
            </a:r>
            <a:r>
              <a:rPr lang="it-IT" altLang="ja-JP" sz="1800"/>
              <a:t>ultimo</a:t>
            </a:r>
            <a:endParaRPr lang="it-IT" altLang="it-IT" sz="1800"/>
          </a:p>
        </p:txBody>
      </p:sp>
      <p:sp>
        <p:nvSpPr>
          <p:cNvPr id="118793" name="Text Box 10">
            <a:extLst>
              <a:ext uri="{FF2B5EF4-FFF2-40B4-BE49-F238E27FC236}">
                <a16:creationId xmlns:a16="http://schemas.microsoft.com/office/drawing/2014/main" id="{D95674AF-4D72-E621-3D9E-1D8A005012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3290888"/>
            <a:ext cx="35115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r</a:t>
            </a:r>
            <a:r>
              <a:rPr lang="it-IT" altLang="it-IT" sz="2000" baseline="-25000"/>
              <a:t>k+j</a:t>
            </a:r>
            <a:r>
              <a:rPr lang="it-IT" altLang="it-IT" sz="2000"/>
              <a:t> è alto se è verificata la condizione di generazione nell</a:t>
            </a:r>
            <a:r>
              <a:rPr lang="ja-JP" altLang="it-IT" sz="2000"/>
              <a:t>’</a:t>
            </a:r>
            <a:r>
              <a:rPr lang="it-IT" altLang="ja-JP" sz="2000"/>
              <a:t>ultimo stadio</a:t>
            </a:r>
            <a:endParaRPr lang="it-IT" altLang="it-IT" sz="2000"/>
          </a:p>
        </p:txBody>
      </p:sp>
      <p:sp>
        <p:nvSpPr>
          <p:cNvPr id="118794" name="Text Box 11">
            <a:extLst>
              <a:ext uri="{FF2B5EF4-FFF2-40B4-BE49-F238E27FC236}">
                <a16:creationId xmlns:a16="http://schemas.microsoft.com/office/drawing/2014/main" id="{BF00B6F7-F736-4F62-2623-C1CC89C26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713" y="3811588"/>
            <a:ext cx="723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….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1600"/>
              <a:t>….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Segnaposto numero diapositiva 3">
            <a:extLst>
              <a:ext uri="{FF2B5EF4-FFF2-40B4-BE49-F238E27FC236}">
                <a16:creationId xmlns:a16="http://schemas.microsoft.com/office/drawing/2014/main" id="{8F59E16E-048F-795A-EA46-F72DC55A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8DB8A461-8BA2-4BD6-94CE-1D8285AD150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88</a:t>
            </a:fld>
            <a:endParaRPr lang="it-IT" altLang="it-IT" sz="1400"/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F2D75028-552E-019B-4304-B1C851A3F3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B91C8CE9-A3D0-D149-62DB-DB169D524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16414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L</a:t>
            </a:r>
            <a:r>
              <a:rPr lang="ja-JP" altLang="it-IT">
                <a:ea typeface="ＭＳ Ｐゴシック" panose="020B0600070205080204" pitchFamily="34" charset="-128"/>
              </a:rPr>
              <a:t>’</a:t>
            </a:r>
            <a:r>
              <a:rPr lang="it-IT" altLang="ja-JP">
                <a:ea typeface="ＭＳ Ｐゴシック" panose="020B0600070205080204" pitchFamily="34" charset="-128"/>
              </a:rPr>
              <a:t>espressione precedente può essere realizzata nella maniera riportata in figura</a:t>
            </a:r>
            <a:endParaRPr lang="it-IT" altLang="it-IT">
              <a:ea typeface="ＭＳ Ｐゴシック" panose="020B0600070205080204" pitchFamily="34" charset="-128"/>
            </a:endParaRPr>
          </a:p>
        </p:txBody>
      </p:sp>
      <p:pic>
        <p:nvPicPr>
          <p:cNvPr id="119812" name="Picture 4">
            <a:extLst>
              <a:ext uri="{FF2B5EF4-FFF2-40B4-BE49-F238E27FC236}">
                <a16:creationId xmlns:a16="http://schemas.microsoft.com/office/drawing/2014/main" id="{519943DB-E528-1107-BB85-386626490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73" t="32834" r="25821" b="21603"/>
          <a:stretch>
            <a:fillRect/>
          </a:stretch>
        </p:blipFill>
        <p:spPr bwMode="auto">
          <a:xfrm>
            <a:off x="1503363" y="2481263"/>
            <a:ext cx="6891337" cy="387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Segnaposto numero diapositiva 4">
            <a:extLst>
              <a:ext uri="{FF2B5EF4-FFF2-40B4-BE49-F238E27FC236}">
                <a16:creationId xmlns:a16="http://schemas.microsoft.com/office/drawing/2014/main" id="{85C2CD23-D0D3-AAE8-9A40-DEB5F967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7DFBEF1B-76E4-4519-9049-A0D8C3F44E2F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89</a:t>
            </a:fld>
            <a:endParaRPr lang="it-IT" altLang="it-IT" sz="1400"/>
          </a:p>
        </p:txBody>
      </p:sp>
      <p:sp>
        <p:nvSpPr>
          <p:cNvPr id="120834" name="Rectangle 8">
            <a:extLst>
              <a:ext uri="{FF2B5EF4-FFF2-40B4-BE49-F238E27FC236}">
                <a16:creationId xmlns:a16="http://schemas.microsoft.com/office/drawing/2014/main" id="{A51A457D-5CD0-E58A-A8CF-1E9C64AC87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sp>
        <p:nvSpPr>
          <p:cNvPr id="120835" name="Rectangle 3">
            <a:extLst>
              <a:ext uri="{FF2B5EF4-FFF2-40B4-BE49-F238E27FC236}">
                <a16:creationId xmlns:a16="http://schemas.microsoft.com/office/drawing/2014/main" id="{AF85DB39-551F-0D67-02AA-21DA3A385B5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943975" cy="305276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L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idea di base negli addizionatori carry lookahead è quella di calcolare la relazione tra </a:t>
            </a:r>
            <a:r>
              <a:rPr lang="it-IT" altLang="ja-JP" sz="2400" i="1">
                <a:ea typeface="ＭＳ Ｐゴシック" panose="020B0600070205080204" pitchFamily="34" charset="-128"/>
              </a:rPr>
              <a:t>r</a:t>
            </a:r>
            <a:r>
              <a:rPr lang="it-IT" altLang="ja-JP" sz="2400" i="1" baseline="-25000">
                <a:ea typeface="ＭＳ Ｐゴシック" panose="020B0600070205080204" pitchFamily="34" charset="-128"/>
              </a:rPr>
              <a:t>k</a:t>
            </a:r>
            <a:r>
              <a:rPr lang="it-IT" altLang="ja-JP" sz="2400">
                <a:ea typeface="ＭＳ Ｐゴシック" panose="020B0600070205080204" pitchFamily="34" charset="-128"/>
              </a:rPr>
              <a:t> ed </a:t>
            </a:r>
            <a:r>
              <a:rPr lang="it-IT" altLang="ja-JP" sz="2400" i="1">
                <a:ea typeface="ＭＳ Ｐゴシック" panose="020B0600070205080204" pitchFamily="34" charset="-128"/>
              </a:rPr>
              <a:t>r</a:t>
            </a:r>
            <a:r>
              <a:rPr lang="it-IT" altLang="ja-JP" sz="2400" i="1" baseline="-25000">
                <a:ea typeface="ＭＳ Ｐゴシック" panose="020B0600070205080204" pitchFamily="34" charset="-128"/>
              </a:rPr>
              <a:t>k+j</a:t>
            </a:r>
            <a:r>
              <a:rPr lang="it-IT" altLang="ja-JP" sz="2400">
                <a:ea typeface="ＭＳ Ｐゴシック" panose="020B0600070205080204" pitchFamily="34" charset="-128"/>
              </a:rPr>
              <a:t> separatamente per ogni gruppo di cifre </a:t>
            </a:r>
            <a:r>
              <a:rPr lang="it-IT" altLang="ja-JP" sz="2400" i="1">
                <a:ea typeface="ＭＳ Ｐゴシック" panose="020B0600070205080204" pitchFamily="34" charset="-128"/>
              </a:rPr>
              <a:t>k+1</a:t>
            </a:r>
            <a:r>
              <a:rPr lang="it-IT" altLang="ja-JP" sz="2400">
                <a:ea typeface="ＭＳ Ｐゴシック" panose="020B0600070205080204" pitchFamily="34" charset="-128"/>
              </a:rPr>
              <a:t>….</a:t>
            </a:r>
            <a:r>
              <a:rPr lang="it-IT" altLang="ja-JP" sz="2400" i="1">
                <a:ea typeface="ＭＳ Ｐゴシック" panose="020B0600070205080204" pitchFamily="34" charset="-128"/>
              </a:rPr>
              <a:t>k+j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Una rete a livello superiore valuta la propagazione del carry tra </a:t>
            </a:r>
            <a:r>
              <a:rPr lang="it-IT" altLang="it-IT" sz="2400" i="1">
                <a:ea typeface="ＭＳ Ｐゴシック" panose="020B0600070205080204" pitchFamily="34" charset="-128"/>
              </a:rPr>
              <a:t>gruppi </a:t>
            </a:r>
            <a:r>
              <a:rPr lang="it-IT" altLang="it-IT" sz="2400">
                <a:ea typeface="ＭＳ Ｐゴシック" panose="020B0600070205080204" pitchFamily="34" charset="-128"/>
              </a:rPr>
              <a:t>di cifre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Ad esempio, per un adder a 64 bit suddiviso in blocchi di quattro cifre (bit), la parte di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 i="1">
                <a:ea typeface="ＭＳ Ｐゴシック" panose="020B0600070205080204" pitchFamily="34" charset="-128"/>
              </a:rPr>
              <a:t>look</a:t>
            </a:r>
            <a:r>
              <a:rPr lang="ja-JP" altLang="it-IT" sz="2400" i="1">
                <a:ea typeface="ＭＳ Ｐゴシック" panose="020B0600070205080204" pitchFamily="34" charset="-128"/>
              </a:rPr>
              <a:t>”</a:t>
            </a:r>
            <a:r>
              <a:rPr lang="it-IT" altLang="ja-JP" sz="2400">
                <a:ea typeface="ＭＳ Ｐゴシック" panose="020B0600070205080204" pitchFamily="34" charset="-128"/>
              </a:rPr>
              <a:t> lungo cui si propaga il riporto è lunga 64/4=16 stadi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120836" name="Object 2">
            <a:extLst>
              <a:ext uri="{FF2B5EF4-FFF2-40B4-BE49-F238E27FC236}">
                <a16:creationId xmlns:a16="http://schemas.microsoft.com/office/drawing/2014/main" id="{89A9F23F-B529-1563-DB82-B25138C05BE1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781050" y="4254500"/>
          <a:ext cx="8113713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28241270" imgH="5536508" progId="Word.Document.8">
                  <p:embed/>
                </p:oleObj>
              </mc:Choice>
              <mc:Fallback>
                <p:oleObj name="Documento" r:id="rId2" imgW="28241270" imgH="5536508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4254500"/>
                        <a:ext cx="8113713" cy="159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0837" name="AutoShape 10">
            <a:extLst>
              <a:ext uri="{FF2B5EF4-FFF2-40B4-BE49-F238E27FC236}">
                <a16:creationId xmlns:a16="http://schemas.microsoft.com/office/drawing/2014/main" id="{CBD8D14A-D7BA-E2C6-64C9-AEB54AFBAA36}"/>
              </a:ext>
            </a:extLst>
          </p:cNvPr>
          <p:cNvSpPr>
            <a:spLocks/>
          </p:cNvSpPr>
          <p:nvPr/>
        </p:nvSpPr>
        <p:spPr bwMode="auto">
          <a:xfrm rot="5400000">
            <a:off x="4712494" y="2620169"/>
            <a:ext cx="173038" cy="6464300"/>
          </a:xfrm>
          <a:prstGeom prst="rightBrace">
            <a:avLst>
              <a:gd name="adj1" fmla="val 8621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20838" name="Text Box 11">
            <a:extLst>
              <a:ext uri="{FF2B5EF4-FFF2-40B4-BE49-F238E27FC236}">
                <a16:creationId xmlns:a16="http://schemas.microsoft.com/office/drawing/2014/main" id="{B3338342-3B82-121B-5745-84827AA35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950" y="5891213"/>
            <a:ext cx="2690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/>
              <a:t>16 blocchi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Segnaposto numero diapositiva 3">
            <a:extLst>
              <a:ext uri="{FF2B5EF4-FFF2-40B4-BE49-F238E27FC236}">
                <a16:creationId xmlns:a16="http://schemas.microsoft.com/office/drawing/2014/main" id="{01497249-2F61-1D1E-E8E9-3FB19CA59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E2EABA53-777D-4D15-BB8B-0142F1D5BB9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90</a:t>
            </a:fld>
            <a:endParaRPr lang="it-IT" altLang="it-IT" sz="1400"/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AF2D95A7-AACD-9A99-5546-38BB8A84BF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pic>
        <p:nvPicPr>
          <p:cNvPr id="121859" name="Picture 4">
            <a:extLst>
              <a:ext uri="{FF2B5EF4-FFF2-40B4-BE49-F238E27FC236}">
                <a16:creationId xmlns:a16="http://schemas.microsoft.com/office/drawing/2014/main" id="{81066717-6DDB-987A-B095-A7E9EC768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16" t="28937" r="27318" b="27937"/>
          <a:stretch>
            <a:fillRect/>
          </a:stretch>
        </p:blipFill>
        <p:spPr bwMode="auto">
          <a:xfrm>
            <a:off x="1319213" y="2238375"/>
            <a:ext cx="7161212" cy="397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Segnaposto numero diapositiva 4">
            <a:extLst>
              <a:ext uri="{FF2B5EF4-FFF2-40B4-BE49-F238E27FC236}">
                <a16:creationId xmlns:a16="http://schemas.microsoft.com/office/drawing/2014/main" id="{13E7DCA7-98D5-4306-C7E6-149209011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FFFA9D5-C9F1-4CDA-8BEA-F63248E2184C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91</a:t>
            </a:fld>
            <a:endParaRPr lang="it-IT" altLang="it-IT" sz="14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47D17159-B2B6-A795-7B9D-ECDFE4310D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 lookahead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55AE5108-439C-D369-93FD-0CF146CA4B2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75688" cy="2255838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La rete di lookahead può a sua volta essere realizzata a più livelli, secondo lo stesso principio visto prima</a:t>
            </a:r>
          </a:p>
        </p:txBody>
      </p:sp>
      <p:graphicFrame>
        <p:nvGraphicFramePr>
          <p:cNvPr id="122884" name="Object 2">
            <a:extLst>
              <a:ext uri="{FF2B5EF4-FFF2-40B4-BE49-F238E27FC236}">
                <a16:creationId xmlns:a16="http://schemas.microsoft.com/office/drawing/2014/main" id="{0ACF0486-E3AE-E50E-5DFD-9CC875242E7C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42938" y="2233613"/>
          <a:ext cx="8899525" cy="3970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2" imgW="26412698" imgH="11784127" progId="Word.Document.8">
                  <p:embed/>
                </p:oleObj>
              </mc:Choice>
              <mc:Fallback>
                <p:oleObj name="Documento" r:id="rId2" imgW="26412698" imgH="11784127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2233613"/>
                        <a:ext cx="8899525" cy="3970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Segnaposto numero diapositiva 4">
            <a:extLst>
              <a:ext uri="{FF2B5EF4-FFF2-40B4-BE49-F238E27FC236}">
                <a16:creationId xmlns:a16="http://schemas.microsoft.com/office/drawing/2014/main" id="{2A79F196-F5F0-945C-2830-F5F274C84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DF053ED3-9D74-40F8-A2E1-0270E5B797E7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92</a:t>
            </a:fld>
            <a:endParaRPr lang="it-IT" altLang="it-IT" sz="1400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1D3FD019-535E-649D-59C9-8D21762A47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Carry Skip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DE13965B-932B-1486-E59F-D92503C0A37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62988" cy="2736850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Valuta localmente la condizione di propagazione e generazione del carry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In caso di propagazione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aggira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r>
              <a:rPr lang="it-IT" altLang="ja-JP" sz="2400">
                <a:ea typeface="ＭＳ Ｐゴシック" panose="020B0600070205080204" pitchFamily="34" charset="-128"/>
              </a:rPr>
              <a:t> (skip) la condizione di generazione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Aggiunge dei multiplexer al cammino critico</a:t>
            </a:r>
          </a:p>
        </p:txBody>
      </p:sp>
      <p:graphicFrame>
        <p:nvGraphicFramePr>
          <p:cNvPr id="123908" name="Object 2">
            <a:extLst>
              <a:ext uri="{FF2B5EF4-FFF2-40B4-BE49-F238E27FC236}">
                <a16:creationId xmlns:a16="http://schemas.microsoft.com/office/drawing/2014/main" id="{BADDBA05-20CB-92BB-6513-97F19E8717E9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93663" y="3959225"/>
          <a:ext cx="9785350" cy="217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663" y="3959225"/>
                        <a:ext cx="9785350" cy="217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Segnaposto numero diapositiva 3">
            <a:extLst>
              <a:ext uri="{FF2B5EF4-FFF2-40B4-BE49-F238E27FC236}">
                <a16:creationId xmlns:a16="http://schemas.microsoft.com/office/drawing/2014/main" id="{C4AE278E-41FE-4872-24C3-45AB64DE1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2F1C0DA-4015-4E81-9828-B747AF0A2B15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93</a:t>
            </a:fld>
            <a:endParaRPr lang="it-IT" altLang="it-IT" sz="1400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2D5A2D9A-660A-452E-4900-0FB2F5DD7A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Carry Skip</a:t>
            </a:r>
          </a:p>
        </p:txBody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6CE0D255-828B-43DD-F7F2-58EC315A03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Cammino critico</a:t>
            </a:r>
          </a:p>
        </p:txBody>
      </p:sp>
      <p:sp>
        <p:nvSpPr>
          <p:cNvPr id="124932" name="Picture 4">
            <a:extLst>
              <a:ext uri="{FF2B5EF4-FFF2-40B4-BE49-F238E27FC236}">
                <a16:creationId xmlns:a16="http://schemas.microsoft.com/office/drawing/2014/main" id="{9F62E38C-1F69-7B3E-E5C8-14AC9572B2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76238" y="2998788"/>
            <a:ext cx="9034462" cy="312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</p:spTree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Segnaposto numero diapositiva 4">
            <a:extLst>
              <a:ext uri="{FF2B5EF4-FFF2-40B4-BE49-F238E27FC236}">
                <a16:creationId xmlns:a16="http://schemas.microsoft.com/office/drawing/2014/main" id="{8F019B51-336F-D0FF-BF0B-E465E9BF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C79AF821-DE02-469F-9A18-AC4EC04DBDD6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94</a:t>
            </a:fld>
            <a:endParaRPr lang="it-IT" altLang="it-IT" sz="1400"/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78B81C30-2922-5425-901E-C43B42BCA7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Carry-Select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8578FEAE-E872-7FF3-443C-D895A758459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314450"/>
            <a:ext cx="8678863" cy="2936875"/>
          </a:xfrm>
        </p:spPr>
        <p:txBody>
          <a:bodyPr/>
          <a:lstStyle/>
          <a:p>
            <a:r>
              <a:rPr lang="it-IT" altLang="it-IT" sz="2400">
                <a:ea typeface="ＭＳ Ｐゴシック" panose="020B0600070205080204" pitchFamily="34" charset="-128"/>
              </a:rPr>
              <a:t>Per ogni gruppo di cifre, calcola in parallelo somme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locali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r>
              <a:rPr lang="it-IT" altLang="ja-JP" sz="2400">
                <a:ea typeface="ＭＳ Ｐゴシック" panose="020B0600070205080204" pitchFamily="34" charset="-128"/>
              </a:rPr>
              <a:t> per i due possibili valori del carry in ingresso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Un multiplexer seleziona il risultato corretto in base al valore effettivo del carry in ingresso</a:t>
            </a:r>
          </a:p>
          <a:p>
            <a:pPr>
              <a:buFont typeface="Wingdings" panose="05000000000000000000" pitchFamily="2" charset="2"/>
              <a:buNone/>
            </a:pPr>
            <a:r>
              <a:rPr lang="it-IT" altLang="it-IT" sz="2400">
                <a:ea typeface="ＭＳ Ｐゴシック" panose="020B0600070205080204" pitchFamily="34" charset="-128"/>
                <a:sym typeface="Wingdings" panose="05000000000000000000" pitchFamily="2" charset="2"/>
              </a:rPr>
              <a:t>	 maggiore dispendio di risorse hardware per minore tempo di propagazione</a:t>
            </a:r>
            <a:endParaRPr lang="it-IT" altLang="it-IT" sz="2400">
              <a:ea typeface="ＭＳ Ｐゴシック" panose="020B0600070205080204" pitchFamily="34" charset="-128"/>
            </a:endParaRPr>
          </a:p>
        </p:txBody>
      </p:sp>
      <p:graphicFrame>
        <p:nvGraphicFramePr>
          <p:cNvPr id="125956" name="Object 2">
            <a:extLst>
              <a:ext uri="{FF2B5EF4-FFF2-40B4-BE49-F238E27FC236}">
                <a16:creationId xmlns:a16="http://schemas.microsoft.com/office/drawing/2014/main" id="{8B9EE79D-72CC-54AA-C257-E95BEC399AE5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266700" y="3656013"/>
          <a:ext cx="9391650" cy="2767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0" imgH="0" progId="Visio.Drawing.6">
                  <p:embed/>
                </p:oleObj>
              </mc:Choice>
              <mc:Fallback>
                <p:oleObj name="VISIO" r:id="rId2" imgW="0" imgH="0" progId="Visio.Drawing.6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" y="3656013"/>
                        <a:ext cx="9391650" cy="2767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Segnaposto numero diapositiva 3">
            <a:extLst>
              <a:ext uri="{FF2B5EF4-FFF2-40B4-BE49-F238E27FC236}">
                <a16:creationId xmlns:a16="http://schemas.microsoft.com/office/drawing/2014/main" id="{B227BCEF-7012-0CC4-2048-53547D89C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2C6E04F1-6FC0-4880-A3A4-DF18C980083A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95</a:t>
            </a:fld>
            <a:endParaRPr lang="it-IT" altLang="it-IT" sz="1400"/>
          </a:p>
        </p:txBody>
      </p:sp>
      <p:sp>
        <p:nvSpPr>
          <p:cNvPr id="126978" name="Rectangle 2">
            <a:extLst>
              <a:ext uri="{FF2B5EF4-FFF2-40B4-BE49-F238E27FC236}">
                <a16:creationId xmlns:a16="http://schemas.microsoft.com/office/drawing/2014/main" id="{E506E869-F95F-7D1B-4426-9236BF172F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Addizionatore Carry-Select</a:t>
            </a:r>
          </a:p>
        </p:txBody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B827183E-2D9B-E28C-687A-7B15049517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Cammino critico</a:t>
            </a:r>
          </a:p>
        </p:txBody>
      </p:sp>
      <p:sp>
        <p:nvSpPr>
          <p:cNvPr id="126980" name="Picture 4">
            <a:extLst>
              <a:ext uri="{FF2B5EF4-FFF2-40B4-BE49-F238E27FC236}">
                <a16:creationId xmlns:a16="http://schemas.microsoft.com/office/drawing/2014/main" id="{431DE9F4-F0B3-121B-4EBE-FB7B966F59C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1813" y="2432050"/>
            <a:ext cx="8878887" cy="371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</p:spTree>
  </p:cSld>
  <p:clrMapOvr>
    <a:masterClrMapping/>
  </p:clrMapOvr>
  <p:transition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Segnaposto numero diapositiva 3">
            <a:extLst>
              <a:ext uri="{FF2B5EF4-FFF2-40B4-BE49-F238E27FC236}">
                <a16:creationId xmlns:a16="http://schemas.microsoft.com/office/drawing/2014/main" id="{B4C1AEF2-A272-CC5B-7A53-72BD8DF7A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2DF4DFAD-D009-4260-A454-A360558A74BF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96</a:t>
            </a:fld>
            <a:endParaRPr lang="it-IT" altLang="it-IT" sz="1400"/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D442CDE1-809C-6259-2F2C-9B04886CC6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Carry-Save</a:t>
            </a:r>
          </a:p>
        </p:txBody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267DCF9F-C848-C2F0-D498-5417B9415A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 Z=A+B+C+D</a:t>
            </a:r>
          </a:p>
        </p:txBody>
      </p:sp>
      <p:pic>
        <p:nvPicPr>
          <p:cNvPr id="128004" name="Picture 4">
            <a:extLst>
              <a:ext uri="{FF2B5EF4-FFF2-40B4-BE49-F238E27FC236}">
                <a16:creationId xmlns:a16="http://schemas.microsoft.com/office/drawing/2014/main" id="{96D461FB-5D83-10F4-5277-C62C12E33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2293938"/>
            <a:ext cx="4611687" cy="379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8005" name="Oval 5">
            <a:extLst>
              <a:ext uri="{FF2B5EF4-FFF2-40B4-BE49-F238E27FC236}">
                <a16:creationId xmlns:a16="http://schemas.microsoft.com/office/drawing/2014/main" id="{283C8196-9A73-E70F-64F6-D7B2F49D1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4413" y="3344863"/>
            <a:ext cx="2185987" cy="663575"/>
          </a:xfrm>
          <a:prstGeom prst="ellips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28006" name="Line 6">
            <a:extLst>
              <a:ext uri="{FF2B5EF4-FFF2-40B4-BE49-F238E27FC236}">
                <a16:creationId xmlns:a16="http://schemas.microsoft.com/office/drawing/2014/main" id="{FA0AE880-9B36-EBE9-9D27-E07F94835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657850" y="3757613"/>
            <a:ext cx="1112838" cy="350837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07" name="Text Box 7">
            <a:extLst>
              <a:ext uri="{FF2B5EF4-FFF2-40B4-BE49-F238E27FC236}">
                <a16:creationId xmlns:a16="http://schemas.microsoft.com/office/drawing/2014/main" id="{71E1AA07-4780-2E13-ADEE-A9F8A56CC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7300" y="4070350"/>
            <a:ext cx="2930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/>
              <a:t>(C1,S1)=A+B+C</a:t>
            </a:r>
          </a:p>
        </p:txBody>
      </p:sp>
      <p:sp>
        <p:nvSpPr>
          <p:cNvPr id="128008" name="Oval 8">
            <a:extLst>
              <a:ext uri="{FF2B5EF4-FFF2-40B4-BE49-F238E27FC236}">
                <a16:creationId xmlns:a16="http://schemas.microsoft.com/office/drawing/2014/main" id="{E67E2CEC-06C3-96BD-9056-DBEBC405A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1738" y="4437063"/>
            <a:ext cx="2185987" cy="663575"/>
          </a:xfrm>
          <a:prstGeom prst="ellips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28009" name="Line 9">
            <a:extLst>
              <a:ext uri="{FF2B5EF4-FFF2-40B4-BE49-F238E27FC236}">
                <a16:creationId xmlns:a16="http://schemas.microsoft.com/office/drawing/2014/main" id="{437B0752-FBD4-03A2-AAA3-648DA73DA1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7875" y="4862513"/>
            <a:ext cx="1112838" cy="350837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0" name="Text Box 10">
            <a:extLst>
              <a:ext uri="{FF2B5EF4-FFF2-40B4-BE49-F238E27FC236}">
                <a16:creationId xmlns:a16="http://schemas.microsoft.com/office/drawing/2014/main" id="{2601B161-1BBD-673A-5D50-C8982F506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7013" y="4811713"/>
            <a:ext cx="2930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(C2,S2)=C1+S1+D=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   A+B+C+D</a:t>
            </a:r>
          </a:p>
        </p:txBody>
      </p:sp>
      <p:sp>
        <p:nvSpPr>
          <p:cNvPr id="128011" name="Line 11">
            <a:extLst>
              <a:ext uri="{FF2B5EF4-FFF2-40B4-BE49-F238E27FC236}">
                <a16:creationId xmlns:a16="http://schemas.microsoft.com/office/drawing/2014/main" id="{237A5E8D-A8C2-6056-78D5-E8C7D287F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8213" y="6029325"/>
            <a:ext cx="2116137" cy="762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8012" name="Text Box 12">
            <a:extLst>
              <a:ext uri="{FF2B5EF4-FFF2-40B4-BE49-F238E27FC236}">
                <a16:creationId xmlns:a16="http://schemas.microsoft.com/office/drawing/2014/main" id="{60239FA6-974B-9C55-7F51-05F5976B1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803900"/>
            <a:ext cx="37719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it-IT" altLang="it-IT" sz="2000"/>
              <a:t>Z= C2+S2 =C1+S1+D=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2000"/>
              <a:t>                        A+B+C+D</a:t>
            </a:r>
          </a:p>
        </p:txBody>
      </p:sp>
    </p:spTree>
  </p:cSld>
  <p:clrMapOvr>
    <a:masterClrMapping/>
  </p:clrMapOvr>
  <p:transition spd="slow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Segnaposto numero diapositiva 3">
            <a:extLst>
              <a:ext uri="{FF2B5EF4-FFF2-40B4-BE49-F238E27FC236}">
                <a16:creationId xmlns:a16="http://schemas.microsoft.com/office/drawing/2014/main" id="{C2EF701E-805F-38DF-3EFC-D4EC50067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261F3EE9-4900-4748-A2C5-33CCC258F66E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it-IT" altLang="it-IT" sz="1400"/>
          </a:p>
        </p:txBody>
      </p:sp>
      <p:sp>
        <p:nvSpPr>
          <p:cNvPr id="129026" name="Rectangle 2">
            <a:extLst>
              <a:ext uri="{FF2B5EF4-FFF2-40B4-BE49-F238E27FC236}">
                <a16:creationId xmlns:a16="http://schemas.microsoft.com/office/drawing/2014/main" id="{4CD47388-C591-F64D-AA97-80D49A67E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Addizionatori carry-save</a:t>
            </a:r>
          </a:p>
        </p:txBody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F63BEA74-3F6B-1897-C7ED-26AB058E13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314450"/>
            <a:ext cx="8915400" cy="18351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Adatti per somme di più di due operandi (ad es., quando occorre sommare i prodotti parziali in una moltiplicazione)</a:t>
            </a:r>
          </a:p>
          <a:p>
            <a:pPr>
              <a:lnSpc>
                <a:spcPct val="90000"/>
              </a:lnSpc>
            </a:pPr>
            <a:r>
              <a:rPr lang="it-IT" altLang="it-IT" sz="2400">
                <a:ea typeface="ＭＳ Ｐゴシック" panose="020B0600070205080204" pitchFamily="34" charset="-128"/>
              </a:rPr>
              <a:t>Mantengono una rappresentazione ridondante delle somme parziali</a:t>
            </a:r>
          </a:p>
        </p:txBody>
      </p:sp>
      <p:pic>
        <p:nvPicPr>
          <p:cNvPr id="129028" name="Picture 4">
            <a:extLst>
              <a:ext uri="{FF2B5EF4-FFF2-40B4-BE49-F238E27FC236}">
                <a16:creationId xmlns:a16="http://schemas.microsoft.com/office/drawing/2014/main" id="{580F00A8-2CCD-3C02-C3FA-65C40E486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30" b="5693"/>
          <a:stretch>
            <a:fillRect/>
          </a:stretch>
        </p:blipFill>
        <p:spPr bwMode="auto">
          <a:xfrm>
            <a:off x="1857375" y="3213100"/>
            <a:ext cx="6627813" cy="322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3">
            <a:extLst>
              <a:ext uri="{FF2B5EF4-FFF2-40B4-BE49-F238E27FC236}">
                <a16:creationId xmlns:a16="http://schemas.microsoft.com/office/drawing/2014/main" id="{F7189CE2-3B10-1CBE-98B8-1456604249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Supporto Didattico</a:t>
            </a:r>
          </a:p>
        </p:txBody>
      </p:sp>
      <p:sp>
        <p:nvSpPr>
          <p:cNvPr id="130050" name="Text Box 6">
            <a:extLst>
              <a:ext uri="{FF2B5EF4-FFF2-40B4-BE49-F238E27FC236}">
                <a16:creationId xmlns:a16="http://schemas.microsoft.com/office/drawing/2014/main" id="{E5E9AC3C-48C1-8B22-4F54-1AB885BA66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2675" y="2286000"/>
            <a:ext cx="7585075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lvl="1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800">
                <a:solidFill>
                  <a:srgbClr val="002060"/>
                </a:solidFill>
              </a:rPr>
              <a:t>Capitolo 3 e Capitolo 7, Macchine per l</a:t>
            </a:r>
            <a:r>
              <a:rPr lang="ja-JP" altLang="it-IT" sz="2800">
                <a:solidFill>
                  <a:srgbClr val="002060"/>
                </a:solidFill>
              </a:rPr>
              <a:t>’</a:t>
            </a:r>
            <a:r>
              <a:rPr lang="it-IT" altLang="ja-JP" sz="2800">
                <a:solidFill>
                  <a:srgbClr val="002060"/>
                </a:solidFill>
              </a:rPr>
              <a:t>elaborazione delle Informazioni</a:t>
            </a:r>
          </a:p>
          <a:p>
            <a:pPr marL="0" lvl="1"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it-IT" altLang="it-IT" sz="2800">
                <a:solidFill>
                  <a:srgbClr val="002060"/>
                </a:solidFill>
              </a:rPr>
              <a:t>Fadini – De Carlini</a:t>
            </a:r>
            <a:endParaRPr lang="it-IT" altLang="it-IT" sz="2800"/>
          </a:p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0051" name="Segnaposto numero diapositiva 3">
            <a:extLst>
              <a:ext uri="{FF2B5EF4-FFF2-40B4-BE49-F238E27FC236}">
                <a16:creationId xmlns:a16="http://schemas.microsoft.com/office/drawing/2014/main" id="{9A37B8A9-F262-66D6-A69C-C004E4E9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3E60165-0D83-46D8-BC64-A5E713FC1745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>
            <a:extLst>
              <a:ext uri="{FF2B5EF4-FFF2-40B4-BE49-F238E27FC236}">
                <a16:creationId xmlns:a16="http://schemas.microsoft.com/office/drawing/2014/main" id="{CD26888F-322D-877B-7F72-4DD1DDB71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it-IT" altLang="it-IT">
              <a:ea typeface="ＭＳ Ｐゴシック" panose="020B0600070205080204" pitchFamily="34" charset="-128"/>
            </a:endParaRPr>
          </a:p>
        </p:txBody>
      </p:sp>
      <p:sp>
        <p:nvSpPr>
          <p:cNvPr id="131074" name="Rectangle 3">
            <a:extLst>
              <a:ext uri="{FF2B5EF4-FFF2-40B4-BE49-F238E27FC236}">
                <a16:creationId xmlns:a16="http://schemas.microsoft.com/office/drawing/2014/main" id="{6535E52D-1E78-2EED-BD27-C796C94A34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eaLnBrk="1" hangingPunct="1"/>
            <a:endParaRPr lang="it-IT" altLang="it-IT" sz="4000">
              <a:ea typeface="ＭＳ Ｐゴシック" panose="020B0600070205080204" pitchFamily="34" charset="-128"/>
            </a:endParaRP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it-IT" altLang="it-IT" sz="4000">
                <a:ea typeface="ＭＳ Ｐゴシック" panose="020B0600070205080204" pitchFamily="34" charset="-128"/>
              </a:rPr>
              <a:t>CONTROLLO DI ERRORE</a:t>
            </a:r>
          </a:p>
        </p:txBody>
      </p:sp>
      <p:sp>
        <p:nvSpPr>
          <p:cNvPr id="131075" name="Segnaposto numero diapositiva 3">
            <a:extLst>
              <a:ext uri="{FF2B5EF4-FFF2-40B4-BE49-F238E27FC236}">
                <a16:creationId xmlns:a16="http://schemas.microsoft.com/office/drawing/2014/main" id="{AF1B02F6-0EF8-8F04-288A-1F67404D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4BC4B8-FAFA-44F2-8A01-5A1E23611DC1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99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Segnaposto numero diapositiva 3">
            <a:extLst>
              <a:ext uri="{FF2B5EF4-FFF2-40B4-BE49-F238E27FC236}">
                <a16:creationId xmlns:a16="http://schemas.microsoft.com/office/drawing/2014/main" id="{DCD502E5-10E5-575B-7949-D3FDD1C24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FCF2752-A755-4327-8D27-530CCC99EC0B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100</a:t>
            </a:fld>
            <a:endParaRPr lang="it-IT" altLang="it-IT" sz="1400"/>
          </a:p>
        </p:txBody>
      </p:sp>
      <p:sp>
        <p:nvSpPr>
          <p:cNvPr id="132098" name="Rectangle 2">
            <a:extLst>
              <a:ext uri="{FF2B5EF4-FFF2-40B4-BE49-F238E27FC236}">
                <a16:creationId xmlns:a16="http://schemas.microsoft.com/office/drawing/2014/main" id="{00C09B3F-2B8F-C4E8-8E20-AF7FE3F12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Controllo di errori - 1</a:t>
            </a:r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6AB999C0-EA5F-DEEA-4278-EB38FF4565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0388" y="1571625"/>
            <a:ext cx="8915400" cy="4224338"/>
          </a:xfrm>
        </p:spPr>
        <p:txBody>
          <a:bodyPr/>
          <a:lstStyle/>
          <a:p>
            <a:pPr>
              <a:buFontTx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Bit di parità e controllo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Nella trasmissione o nella memorizzazione di un</a:t>
            </a:r>
            <a:r>
              <a:rPr lang="ja-JP" altLang="it-IT" sz="1800">
                <a:ea typeface="ＭＳ Ｐゴシック" panose="020B0600070205080204" pitchFamily="34" charset="-128"/>
              </a:rPr>
              <a:t>’</a:t>
            </a:r>
            <a:r>
              <a:rPr lang="it-IT" altLang="ja-JP" sz="1800">
                <a:ea typeface="ＭＳ Ｐゴシック" panose="020B0600070205080204" pitchFamily="34" charset="-128"/>
              </a:rPr>
              <a:t>informazione la </a:t>
            </a:r>
            <a:r>
              <a:rPr lang="ja-JP" altLang="it-IT" sz="1800">
                <a:ea typeface="ＭＳ Ｐゴシック" panose="020B0600070205080204" pitchFamily="34" charset="-128"/>
              </a:rPr>
              <a:t>“</a:t>
            </a:r>
            <a:r>
              <a:rPr lang="it-IT" altLang="ja-JP" sz="1800">
                <a:ea typeface="ＭＳ Ｐゴシック" panose="020B0600070205080204" pitchFamily="34" charset="-128"/>
              </a:rPr>
              <a:t>perdita</a:t>
            </a:r>
            <a:r>
              <a:rPr lang="ja-JP" altLang="it-IT" sz="1800">
                <a:ea typeface="ＭＳ Ｐゴシック" panose="020B0600070205080204" pitchFamily="34" charset="-128"/>
              </a:rPr>
              <a:t>”</a:t>
            </a:r>
            <a:r>
              <a:rPr lang="it-IT" altLang="ja-JP" sz="1800">
                <a:ea typeface="ＭＳ Ｐゴシック" panose="020B0600070205080204" pitchFamily="34" charset="-128"/>
              </a:rPr>
              <a:t> di un bit (trasformazione da 0 a 1 o viceversa) è la più diffusa causa di errore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Le reti di parità/disparità si usano per effettuare un semplice controllo di errore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In fase d trasmissione (o memorizzazione) si aggiunge un bit tale che il numero complessivo di bit  </a:t>
            </a:r>
            <a:r>
              <a:rPr lang="ja-JP" altLang="it-IT" sz="1800">
                <a:ea typeface="ＭＳ Ｐゴシック" panose="020B0600070205080204" pitchFamily="34" charset="-128"/>
              </a:rPr>
              <a:t>“</a:t>
            </a:r>
            <a:r>
              <a:rPr lang="it-IT" altLang="ja-JP" sz="1800">
                <a:ea typeface="ＭＳ Ｐゴシック" panose="020B0600070205080204" pitchFamily="34" charset="-128"/>
              </a:rPr>
              <a:t>1</a:t>
            </a:r>
            <a:r>
              <a:rPr lang="ja-JP" altLang="it-IT" sz="1800">
                <a:ea typeface="ＭＳ Ｐゴシック" panose="020B0600070205080204" pitchFamily="34" charset="-128"/>
              </a:rPr>
              <a:t>”</a:t>
            </a:r>
            <a:r>
              <a:rPr lang="it-IT" altLang="ja-JP" sz="1800">
                <a:ea typeface="ＭＳ Ｐゴシック" panose="020B0600070205080204" pitchFamily="34" charset="-128"/>
              </a:rPr>
              <a:t> sia a parità assegnata (p.e. pari)- Il bit si dice </a:t>
            </a:r>
            <a:r>
              <a:rPr lang="it-IT" altLang="ja-JP" sz="1800" b="1">
                <a:ea typeface="ＭＳ Ｐゴシック" panose="020B0600070205080204" pitchFamily="34" charset="-128"/>
              </a:rPr>
              <a:t>di parità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In fase di ricezione (o lettura) una rete di parità (o disparità) controlla la parità e, se diversa da quella assegnata, segnala l</a:t>
            </a:r>
            <a:r>
              <a:rPr lang="ja-JP" altLang="it-IT" sz="1800">
                <a:ea typeface="ＭＳ Ｐゴシック" panose="020B0600070205080204" pitchFamily="34" charset="-128"/>
              </a:rPr>
              <a:t>’</a:t>
            </a:r>
            <a:r>
              <a:rPr lang="it-IT" altLang="ja-JP" sz="1800">
                <a:ea typeface="ＭＳ Ｐゴシック" panose="020B0600070205080204" pitchFamily="34" charset="-128"/>
              </a:rPr>
              <a:t>errore, ponendo ad esempio ad 1 un segnale di controllo err ed avendosi dunque:</a:t>
            </a:r>
          </a:p>
          <a:p>
            <a:pPr lvl="1"/>
            <a:r>
              <a:rPr lang="it-IT" altLang="it-IT" sz="1800" i="1">
                <a:ea typeface="ＭＳ Ｐゴシック" panose="020B0600070205080204" pitchFamily="34" charset="-128"/>
              </a:rPr>
              <a:t>err=1</a:t>
            </a:r>
            <a:r>
              <a:rPr lang="it-IT" altLang="it-IT" sz="1800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  <a:sym typeface="Wingdings" panose="05000000000000000000" pitchFamily="2" charset="2"/>
              </a:rPr>
              <a:t> </a:t>
            </a:r>
            <a:r>
              <a:rPr lang="it-IT" altLang="it-IT" sz="1800" b="1">
                <a:ea typeface="ＭＳ Ｐゴシック" panose="020B0600070205080204" pitchFamily="34" charset="-128"/>
              </a:rPr>
              <a:t>CERTEZZA</a:t>
            </a:r>
            <a:r>
              <a:rPr lang="it-IT" altLang="it-IT" sz="1800">
                <a:ea typeface="ＭＳ Ｐゴシック" panose="020B0600070205080204" pitchFamily="34" charset="-128"/>
              </a:rPr>
              <a:t> della sua presenza</a:t>
            </a:r>
          </a:p>
          <a:p>
            <a:pPr lvl="1"/>
            <a:r>
              <a:rPr lang="it-IT" altLang="it-IT" sz="1800" i="1">
                <a:ea typeface="ＭＳ Ｐゴシック" panose="020B0600070205080204" pitchFamily="34" charset="-128"/>
              </a:rPr>
              <a:t>err=0</a:t>
            </a:r>
            <a:r>
              <a:rPr lang="it-IT" altLang="it-IT" sz="1800">
                <a:ea typeface="ＭＳ Ｐゴシック" panose="020B0600070205080204" pitchFamily="34" charset="-128"/>
              </a:rPr>
              <a:t> </a:t>
            </a:r>
            <a:r>
              <a:rPr lang="it-IT" altLang="it-IT" sz="1800">
                <a:ea typeface="ＭＳ Ｐゴシック" panose="020B0600070205080204" pitchFamily="34" charset="-128"/>
                <a:sym typeface="Wingdings" panose="05000000000000000000" pitchFamily="2" charset="2"/>
              </a:rPr>
              <a:t> </a:t>
            </a:r>
            <a:r>
              <a:rPr lang="it-IT" altLang="it-IT" sz="1800" b="1">
                <a:ea typeface="ＭＳ Ｐゴシック" panose="020B0600070205080204" pitchFamily="34" charset="-128"/>
              </a:rPr>
              <a:t>PROBABILITA</a:t>
            </a:r>
            <a:r>
              <a:rPr lang="ja-JP" altLang="it-IT" sz="1800" b="1">
                <a:ea typeface="ＭＳ Ｐゴシック" panose="020B0600070205080204" pitchFamily="34" charset="-128"/>
              </a:rPr>
              <a:t>’</a:t>
            </a:r>
            <a:r>
              <a:rPr lang="it-IT" altLang="ja-JP" sz="1800">
                <a:ea typeface="ＭＳ Ｐゴシック" panose="020B0600070205080204" pitchFamily="34" charset="-128"/>
              </a:rPr>
              <a:t> di assenza di errori</a:t>
            </a:r>
          </a:p>
          <a:p>
            <a:r>
              <a:rPr lang="it-IT" altLang="it-IT" sz="1800">
                <a:ea typeface="ＭＳ Ｐゴシック" panose="020B0600070205080204" pitchFamily="34" charset="-128"/>
              </a:rPr>
              <a:t>Il sistema si basa sulla massimizzazione di questa probabilità</a:t>
            </a:r>
          </a:p>
        </p:txBody>
      </p:sp>
    </p:spTree>
  </p:cSld>
  <p:clrMapOvr>
    <a:masterClrMapping/>
  </p:clrMapOvr>
  <p:transition advTm="105000"/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Segnaposto numero diapositiva 3">
            <a:extLst>
              <a:ext uri="{FF2B5EF4-FFF2-40B4-BE49-F238E27FC236}">
                <a16:creationId xmlns:a16="http://schemas.microsoft.com/office/drawing/2014/main" id="{8B3B7148-6DC6-D9A5-2610-5A03BB478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3C1D6D9E-A33C-4B4B-B1CD-5E95498D85F7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101</a:t>
            </a:fld>
            <a:endParaRPr lang="it-IT" altLang="it-IT" sz="1400"/>
          </a:p>
        </p:txBody>
      </p:sp>
      <p:sp>
        <p:nvSpPr>
          <p:cNvPr id="134146" name="Rectangle 5">
            <a:extLst>
              <a:ext uri="{FF2B5EF4-FFF2-40B4-BE49-F238E27FC236}">
                <a16:creationId xmlns:a16="http://schemas.microsoft.com/office/drawing/2014/main" id="{8367C2AC-7BF5-66E7-74D9-B6FD4AB8F2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Controllo di errori - 3</a:t>
            </a:r>
          </a:p>
        </p:txBody>
      </p:sp>
      <p:graphicFrame>
        <p:nvGraphicFramePr>
          <p:cNvPr id="134147" name="Object 2">
            <a:extLst>
              <a:ext uri="{FF2B5EF4-FFF2-40B4-BE49-F238E27FC236}">
                <a16:creationId xmlns:a16="http://schemas.microsoft.com/office/drawing/2014/main" id="{87CF35F8-A7C4-7BEC-E8FC-768F2A450A8B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1444625" y="2087563"/>
          <a:ext cx="6167438" cy="177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magine bitmap" r:id="rId3" imgW="4533333" imgH="1409897" progId="Paint.Picture">
                  <p:embed/>
                </p:oleObj>
              </mc:Choice>
              <mc:Fallback>
                <p:oleObj name="Immagine bitmap" r:id="rId3" imgW="4533333" imgH="1409897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4625" y="2087563"/>
                        <a:ext cx="6167438" cy="177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4148" name="Rectangle 8">
            <a:extLst>
              <a:ext uri="{FF2B5EF4-FFF2-40B4-BE49-F238E27FC236}">
                <a16:creationId xmlns:a16="http://schemas.microsoft.com/office/drawing/2014/main" id="{06186242-8205-C43A-A42E-C04AD603F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3" y="1328738"/>
            <a:ext cx="8667750" cy="4572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Tx/>
              <a:buNone/>
            </a:pPr>
            <a:r>
              <a:rPr lang="it-IT" altLang="it-IT" sz="2400"/>
              <a:t>Disparità e controllo di errore</a:t>
            </a:r>
            <a:endParaRPr lang="it-IT" altLang="it-IT" sz="2400">
              <a:solidFill>
                <a:srgbClr val="FF3300"/>
              </a:solidFill>
            </a:endParaRPr>
          </a:p>
        </p:txBody>
      </p:sp>
      <p:sp>
        <p:nvSpPr>
          <p:cNvPr id="134149" name="Rectangle 9">
            <a:extLst>
              <a:ext uri="{FF2B5EF4-FFF2-40B4-BE49-F238E27FC236}">
                <a16:creationId xmlns:a16="http://schemas.microsoft.com/office/drawing/2014/main" id="{DCFEFBD8-3AF4-4F80-60A2-733C95D80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8" y="3857625"/>
            <a:ext cx="8667750" cy="2419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 b="0"/>
              <a:t>In partenza (o in scrittura), d(X) calcola il bit di parità</a:t>
            </a:r>
          </a:p>
          <a:p>
            <a:pPr algn="just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 b="0"/>
              <a:t>In arrivo (o lettura), d(X) calcola il segnale err</a:t>
            </a:r>
          </a:p>
          <a:p>
            <a:pPr algn="just" eaLnBrk="1" hangingPunct="1">
              <a:buClrTx/>
              <a:buSzTx/>
              <a:buFont typeface="Wingdings" panose="05000000000000000000" pitchFamily="2" charset="2"/>
              <a:buChar char="§"/>
            </a:pPr>
            <a:r>
              <a:rPr lang="it-IT" altLang="it-IT" sz="2000" b="0"/>
              <a:t>Si ricorda:</a:t>
            </a:r>
          </a:p>
          <a:p>
            <a:pPr lvl="1" eaLnBrk="1" hangingPunct="1">
              <a:buClrTx/>
              <a:buFont typeface="Wingdings" panose="05000000000000000000" pitchFamily="2" charset="2"/>
              <a:buChar char="§"/>
            </a:pPr>
            <a:r>
              <a:rPr lang="it-IT" altLang="it-IT" sz="2000" i="1"/>
              <a:t>err=0 </a:t>
            </a:r>
            <a:r>
              <a:rPr lang="it-IT" altLang="it-IT" sz="2000" i="1">
                <a:sym typeface="Symbol" panose="05050102010706020507" pitchFamily="18" charset="2"/>
              </a:rPr>
              <a:t> probabilmente è X</a:t>
            </a:r>
            <a:r>
              <a:rPr lang="ja-JP" altLang="it-IT" sz="2000" i="1">
                <a:sym typeface="Symbol" panose="05050102010706020507" pitchFamily="18" charset="2"/>
              </a:rPr>
              <a:t>’</a:t>
            </a:r>
            <a:r>
              <a:rPr lang="it-IT" altLang="ja-JP" sz="2000" i="1">
                <a:sym typeface="Symbol" panose="05050102010706020507" pitchFamily="18" charset="2"/>
              </a:rPr>
              <a:t>=X</a:t>
            </a:r>
          </a:p>
          <a:p>
            <a:pPr lvl="1" eaLnBrk="1" hangingPunct="1">
              <a:buClrTx/>
              <a:buFont typeface="Wingdings" panose="05000000000000000000" pitchFamily="2" charset="2"/>
              <a:buChar char="§"/>
            </a:pPr>
            <a:r>
              <a:rPr lang="it-IT" altLang="it-IT" sz="2000" i="1">
                <a:sym typeface="Symbol" panose="05050102010706020507" pitchFamily="18" charset="2"/>
              </a:rPr>
              <a:t>err=0</a:t>
            </a:r>
            <a:r>
              <a:rPr lang="it-IT" altLang="it-IT" sz="2000" i="1"/>
              <a:t> </a:t>
            </a:r>
            <a:r>
              <a:rPr lang="it-IT" altLang="it-IT" sz="2000" i="1">
                <a:sym typeface="Symbol" panose="05050102010706020507" pitchFamily="18" charset="2"/>
              </a:rPr>
              <a:t> certamente è X</a:t>
            </a:r>
            <a:r>
              <a:rPr lang="ja-JP" altLang="it-IT" sz="2000" i="1">
                <a:sym typeface="Symbol" panose="05050102010706020507" pitchFamily="18" charset="2"/>
              </a:rPr>
              <a:t>’</a:t>
            </a:r>
            <a:r>
              <a:rPr lang="it-IT" altLang="ja-JP" sz="2000" i="1">
                <a:sym typeface="Symbol" panose="05050102010706020507" pitchFamily="18" charset="2"/>
              </a:rPr>
              <a:t>≠X </a:t>
            </a:r>
          </a:p>
          <a:p>
            <a:pPr lvl="1" eaLnBrk="1" hangingPunct="1">
              <a:buClrTx/>
              <a:buFont typeface="Wingdings" panose="05000000000000000000" pitchFamily="2" charset="2"/>
              <a:buNone/>
            </a:pPr>
            <a:r>
              <a:rPr lang="it-IT" altLang="it-IT" sz="1600" i="1">
                <a:sym typeface="Symbol" panose="05050102010706020507" pitchFamily="18" charset="2"/>
              </a:rPr>
              <a:t>	(potrebbe anche essere X</a:t>
            </a:r>
            <a:r>
              <a:rPr lang="ja-JP" altLang="it-IT" sz="1600" i="1">
                <a:sym typeface="Symbol" panose="05050102010706020507" pitchFamily="18" charset="2"/>
              </a:rPr>
              <a:t>’</a:t>
            </a:r>
            <a:r>
              <a:rPr lang="it-IT" altLang="ja-JP" sz="1600" i="1">
                <a:sym typeface="Symbol" panose="05050102010706020507" pitchFamily="18" charset="2"/>
              </a:rPr>
              <a:t>=X perché l</a:t>
            </a:r>
            <a:r>
              <a:rPr lang="ja-JP" altLang="it-IT" sz="1600" i="1">
                <a:sym typeface="Symbol" panose="05050102010706020507" pitchFamily="18" charset="2"/>
              </a:rPr>
              <a:t>’</a:t>
            </a:r>
            <a:r>
              <a:rPr lang="it-IT" altLang="ja-JP" sz="1600" i="1">
                <a:sym typeface="Symbol" panose="05050102010706020507" pitchFamily="18" charset="2"/>
              </a:rPr>
              <a:t>errore è sul bit di parità:. trascuriamo questo caso per sicurezza e semplicità)</a:t>
            </a:r>
            <a:endParaRPr lang="it-IT" altLang="it-IT" sz="1600" i="1"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advTm="70000"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3" name="Rectangle 2">
            <a:extLst>
              <a:ext uri="{FF2B5EF4-FFF2-40B4-BE49-F238E27FC236}">
                <a16:creationId xmlns:a16="http://schemas.microsoft.com/office/drawing/2014/main" id="{EB65AE3D-1BA0-AACB-C9BC-4EF879242C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5100" y="152400"/>
            <a:ext cx="9740900" cy="561975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Rilevazione degli errori</a:t>
            </a:r>
          </a:p>
        </p:txBody>
      </p:sp>
      <p:sp>
        <p:nvSpPr>
          <p:cNvPr id="136194" name="Rectangle 3">
            <a:extLst>
              <a:ext uri="{FF2B5EF4-FFF2-40B4-BE49-F238E27FC236}">
                <a16:creationId xmlns:a16="http://schemas.microsoft.com/office/drawing/2014/main" id="{668D3807-8B6B-5D2C-E076-2DF594CC41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8625" y="1136650"/>
            <a:ext cx="8648700" cy="5316538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Natura degli errori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Codici ridondanti </a:t>
            </a:r>
          </a:p>
          <a:p>
            <a:r>
              <a:rPr lang="it-IT" altLang="it-IT">
                <a:ea typeface="ＭＳ Ｐゴシック" panose="020B0600070205080204" pitchFamily="34" charset="-128"/>
              </a:rPr>
              <a:t>Rilevazione e correzione degli errori</a:t>
            </a:r>
          </a:p>
          <a:p>
            <a:endParaRPr lang="it-IT" altLang="it-IT">
              <a:ea typeface="ＭＳ Ｐゴシック" panose="020B0600070205080204" pitchFamily="34" charset="-128"/>
            </a:endParaRPr>
          </a:p>
          <a:p>
            <a:r>
              <a:rPr lang="it-IT" altLang="it-IT">
                <a:ea typeface="ＭＳ Ｐゴシック" panose="020B0600070205080204" pitchFamily="34" charset="-128"/>
              </a:rPr>
              <a:t>Esempio: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</a:rPr>
              <a:t>Bit di parità: si aggiunge un bit in modo che il numero di 1 sia pari:</a:t>
            </a:r>
          </a:p>
          <a:p>
            <a:pPr algn="ctr"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00101101	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	00101101 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0</a:t>
            </a:r>
            <a:endParaRPr lang="it-IT" altLang="it-IT">
              <a:solidFill>
                <a:srgbClr val="990000"/>
              </a:solidFill>
              <a:ea typeface="ＭＳ Ｐゴシック" panose="020B0600070205080204" pitchFamily="34" charset="-128"/>
            </a:endParaRPr>
          </a:p>
          <a:p>
            <a:pPr algn="ctr"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01101000	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	01101000 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</a:p>
          <a:p>
            <a:pPr lvl="1"/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L</a:t>
            </a:r>
            <a:r>
              <a:rPr lang="ja-JP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’</a:t>
            </a:r>
            <a:r>
              <a:rPr lang="it-IT" altLang="ja-JP">
                <a:ea typeface="ＭＳ Ｐゴシック" panose="020B0600070205080204" pitchFamily="34" charset="-128"/>
                <a:sym typeface="Symbol" panose="05050102010706020507" pitchFamily="18" charset="2"/>
              </a:rPr>
              <a:t>errore su un bit viene rilevato (non corretto)</a:t>
            </a:r>
          </a:p>
          <a:p>
            <a:pPr algn="ctr">
              <a:buFontTx/>
              <a:buNone/>
            </a:pPr>
            <a:r>
              <a:rPr lang="it-IT" altLang="it-IT">
                <a:ea typeface="ＭＳ Ｐゴシック" panose="020B0600070205080204" pitchFamily="34" charset="-128"/>
              </a:rPr>
              <a:t>01101000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</a:rPr>
              <a:t>1</a:t>
            </a:r>
            <a:r>
              <a:rPr lang="it-IT" altLang="it-IT">
                <a:ea typeface="ＭＳ Ｐゴシック" panose="020B0600070205080204" pitchFamily="34" charset="-128"/>
              </a:rPr>
              <a:t>	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	0110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0</a:t>
            </a:r>
            <a:r>
              <a:rPr lang="it-IT" altLang="it-IT">
                <a:ea typeface="ＭＳ Ｐゴシック" panose="020B0600070205080204" pitchFamily="34" charset="-128"/>
                <a:sym typeface="Symbol" panose="05050102010706020507" pitchFamily="18" charset="2"/>
              </a:rPr>
              <a:t>000</a:t>
            </a:r>
            <a:r>
              <a:rPr lang="it-IT" altLang="it-IT">
                <a:solidFill>
                  <a:srgbClr val="990000"/>
                </a:solidFill>
                <a:ea typeface="ＭＳ Ｐゴシック" panose="020B0600070205080204" pitchFamily="34" charset="-128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36195" name="Freeform 4">
            <a:extLst>
              <a:ext uri="{FF2B5EF4-FFF2-40B4-BE49-F238E27FC236}">
                <a16:creationId xmlns:a16="http://schemas.microsoft.com/office/drawing/2014/main" id="{9CB63E7B-6928-6F3E-2859-74F5218BAC2C}"/>
              </a:ext>
            </a:extLst>
          </p:cNvPr>
          <p:cNvSpPr>
            <a:spLocks/>
          </p:cNvSpPr>
          <p:nvPr/>
        </p:nvSpPr>
        <p:spPr bwMode="auto">
          <a:xfrm>
            <a:off x="-53975" y="5229225"/>
            <a:ext cx="2120900" cy="1008063"/>
          </a:xfrm>
          <a:custGeom>
            <a:avLst/>
            <a:gdLst>
              <a:gd name="T0" fmla="*/ 2147483646 w 1233"/>
              <a:gd name="T1" fmla="*/ 0 h 635"/>
              <a:gd name="T2" fmla="*/ 2147483646 w 1233"/>
              <a:gd name="T3" fmla="*/ 2147483646 h 635"/>
              <a:gd name="T4" fmla="*/ 2147483646 w 1233"/>
              <a:gd name="T5" fmla="*/ 2147483646 h 635"/>
              <a:gd name="T6" fmla="*/ 2147483646 w 1233"/>
              <a:gd name="T7" fmla="*/ 2147483646 h 635"/>
              <a:gd name="T8" fmla="*/ 0 60000 65536"/>
              <a:gd name="T9" fmla="*/ 0 60000 65536"/>
              <a:gd name="T10" fmla="*/ 0 60000 65536"/>
              <a:gd name="T11" fmla="*/ 0 60000 65536"/>
              <a:gd name="T12" fmla="*/ 0 w 1233"/>
              <a:gd name="T13" fmla="*/ 0 h 635"/>
              <a:gd name="T14" fmla="*/ 1233 w 1233"/>
              <a:gd name="T15" fmla="*/ 635 h 63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33" h="635">
                <a:moveTo>
                  <a:pt x="1233" y="0"/>
                </a:moveTo>
                <a:cubicBezTo>
                  <a:pt x="847" y="4"/>
                  <a:pt x="461" y="8"/>
                  <a:pt x="280" y="91"/>
                </a:cubicBezTo>
                <a:cubicBezTo>
                  <a:pt x="99" y="174"/>
                  <a:pt x="0" y="408"/>
                  <a:pt x="144" y="499"/>
                </a:cubicBezTo>
                <a:cubicBezTo>
                  <a:pt x="288" y="590"/>
                  <a:pt x="976" y="612"/>
                  <a:pt x="1142" y="635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/>
          <a:lstStyle/>
          <a:p>
            <a:endParaRPr lang="en-US"/>
          </a:p>
        </p:txBody>
      </p:sp>
      <p:sp>
        <p:nvSpPr>
          <p:cNvPr id="136196" name="Segnaposto numero diapositiva 4">
            <a:extLst>
              <a:ext uri="{FF2B5EF4-FFF2-40B4-BE49-F238E27FC236}">
                <a16:creationId xmlns:a16="http://schemas.microsoft.com/office/drawing/2014/main" id="{50682840-9F4A-16A4-463A-77A06E608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A369DE8-D6BE-43E3-B8E1-247F45560633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102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1" name="Rectangle 2">
            <a:extLst>
              <a:ext uri="{FF2B5EF4-FFF2-40B4-BE49-F238E27FC236}">
                <a16:creationId xmlns:a16="http://schemas.microsoft.com/office/drawing/2014/main" id="{4D95E896-3CD1-DA58-CA71-AC6F0713CE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0200" y="152400"/>
            <a:ext cx="9328150" cy="633413"/>
          </a:xfrm>
        </p:spPr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Rilevazione e Correzione degli errori</a:t>
            </a:r>
          </a:p>
        </p:txBody>
      </p:sp>
      <p:sp>
        <p:nvSpPr>
          <p:cNvPr id="138242" name="Rectangle 3">
            <a:extLst>
              <a:ext uri="{FF2B5EF4-FFF2-40B4-BE49-F238E27FC236}">
                <a16:creationId xmlns:a16="http://schemas.microsoft.com/office/drawing/2014/main" id="{0FA75373-BFAA-8E43-AFC3-2E770DE438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1463" y="1219200"/>
            <a:ext cx="8667750" cy="10890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it-IT" altLang="it-IT" sz="3000">
                <a:ea typeface="ＭＳ Ｐゴシック" panose="020B0600070205080204" pitchFamily="34" charset="-128"/>
              </a:rPr>
              <a:t>Rilevazione (mediante bit di parità) e correzione mediante aggiunta di informazioni ridondanti (bit di parità + checksum)</a:t>
            </a:r>
          </a:p>
        </p:txBody>
      </p:sp>
      <p:graphicFrame>
        <p:nvGraphicFramePr>
          <p:cNvPr id="138243" name="Object 2">
            <a:extLst>
              <a:ext uri="{FF2B5EF4-FFF2-40B4-BE49-F238E27FC236}">
                <a16:creationId xmlns:a16="http://schemas.microsoft.com/office/drawing/2014/main" id="{D3FF22F2-3E95-EF12-8EED-2161A0CF74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63650" y="3005138"/>
          <a:ext cx="2981325" cy="247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0" imgH="0" progId="Word.Document.8">
                  <p:embed/>
                </p:oleObj>
              </mc:Choice>
              <mc:Fallback>
                <p:oleObj name="Document" r:id="rId3" imgW="0" imgH="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3650" y="3005138"/>
                        <a:ext cx="2981325" cy="247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44" name="Rectangle 5">
            <a:extLst>
              <a:ext uri="{FF2B5EF4-FFF2-40B4-BE49-F238E27FC236}">
                <a16:creationId xmlns:a16="http://schemas.microsoft.com/office/drawing/2014/main" id="{50F0B52B-3F99-75EF-8BFF-AF059C46E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022600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5" name="Rectangle 6">
            <a:extLst>
              <a:ext uri="{FF2B5EF4-FFF2-40B4-BE49-F238E27FC236}">
                <a16:creationId xmlns:a16="http://schemas.microsoft.com/office/drawing/2014/main" id="{38E3DC68-2BFF-D8DE-F129-9EA9D9648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394075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6" name="Rectangle 7">
            <a:extLst>
              <a:ext uri="{FF2B5EF4-FFF2-40B4-BE49-F238E27FC236}">
                <a16:creationId xmlns:a16="http://schemas.microsoft.com/office/drawing/2014/main" id="{24437D91-BDCC-C9C4-D597-3F34883CB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3767138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7" name="Rectangle 8">
            <a:extLst>
              <a:ext uri="{FF2B5EF4-FFF2-40B4-BE49-F238E27FC236}">
                <a16:creationId xmlns:a16="http://schemas.microsoft.com/office/drawing/2014/main" id="{FFD1784B-25FE-664C-73D1-1F3B2D6DE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138613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8" name="Rectangle 9">
            <a:extLst>
              <a:ext uri="{FF2B5EF4-FFF2-40B4-BE49-F238E27FC236}">
                <a16:creationId xmlns:a16="http://schemas.microsoft.com/office/drawing/2014/main" id="{FB0D1CE5-624B-13DB-59D9-2A5C886B3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511675"/>
            <a:ext cx="6350" cy="3714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49" name="Rectangle 10">
            <a:extLst>
              <a:ext uri="{FF2B5EF4-FFF2-40B4-BE49-F238E27FC236}">
                <a16:creationId xmlns:a16="http://schemas.microsoft.com/office/drawing/2014/main" id="{3007C49F-9BF6-6B2B-6D20-1FC05B2B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2100" y="4883150"/>
            <a:ext cx="2081213" cy="63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50" name="Rectangle 11">
            <a:extLst>
              <a:ext uri="{FF2B5EF4-FFF2-40B4-BE49-F238E27FC236}">
                <a16:creationId xmlns:a16="http://schemas.microsoft.com/office/drawing/2014/main" id="{AFC64510-2D20-D8E1-8D9D-0AA82A0B3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883150"/>
            <a:ext cx="6350" cy="63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51" name="Rectangle 12">
            <a:extLst>
              <a:ext uri="{FF2B5EF4-FFF2-40B4-BE49-F238E27FC236}">
                <a16:creationId xmlns:a16="http://schemas.microsoft.com/office/drawing/2014/main" id="{987961A6-7C66-707A-A2AA-9A2164076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9663" y="4883150"/>
            <a:ext cx="571500" cy="63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sp>
        <p:nvSpPr>
          <p:cNvPr id="138252" name="Rectangle 13">
            <a:extLst>
              <a:ext uri="{FF2B5EF4-FFF2-40B4-BE49-F238E27FC236}">
                <a16:creationId xmlns:a16="http://schemas.microsoft.com/office/drawing/2014/main" id="{65DDDAD3-EE15-71BE-59D6-6987D66C3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3313" y="4889500"/>
            <a:ext cx="6350" cy="37306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it-IT"/>
          </a:p>
        </p:txBody>
      </p:sp>
      <p:grpSp>
        <p:nvGrpSpPr>
          <p:cNvPr id="138253" name="Group 14">
            <a:extLst>
              <a:ext uri="{FF2B5EF4-FFF2-40B4-BE49-F238E27FC236}">
                <a16:creationId xmlns:a16="http://schemas.microsoft.com/office/drawing/2014/main" id="{F23DC0CA-FF60-B886-0F89-F6EB83B3821C}"/>
              </a:ext>
            </a:extLst>
          </p:cNvPr>
          <p:cNvGrpSpPr>
            <a:grpSpLocks/>
          </p:cNvGrpSpPr>
          <p:nvPr/>
        </p:nvGrpSpPr>
        <p:grpSpPr bwMode="auto">
          <a:xfrm>
            <a:off x="5372100" y="2970213"/>
            <a:ext cx="2659063" cy="2317750"/>
            <a:chOff x="3124" y="1800"/>
            <a:chExt cx="1546" cy="1460"/>
          </a:xfrm>
        </p:grpSpPr>
        <p:sp>
          <p:nvSpPr>
            <p:cNvPr id="138259" name="Rectangle 15">
              <a:extLst>
                <a:ext uri="{FF2B5EF4-FFF2-40B4-BE49-F238E27FC236}">
                  <a16:creationId xmlns:a16="http://schemas.microsoft.com/office/drawing/2014/main" id="{E825A5F2-6435-C616-932C-F4B48ACB9B4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3779" y="1676"/>
              <a:ext cx="200" cy="145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38260" name="Rectangle 16">
              <a:extLst>
                <a:ext uri="{FF2B5EF4-FFF2-40B4-BE49-F238E27FC236}">
                  <a16:creationId xmlns:a16="http://schemas.microsoft.com/office/drawing/2014/main" id="{1AD518DE-0375-808B-6F1F-12BAEF72A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1800"/>
              <a:ext cx="144" cy="1455"/>
            </a:xfrm>
            <a:prstGeom prst="rect">
              <a:avLst/>
            </a:prstGeom>
            <a:solidFill>
              <a:schemeClr val="accent1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it-IT" altLang="it-IT"/>
            </a:p>
          </p:txBody>
        </p:sp>
        <p:sp>
          <p:nvSpPr>
            <p:cNvPr id="138261" name="Rectangle 17">
              <a:extLst>
                <a:ext uri="{FF2B5EF4-FFF2-40B4-BE49-F238E27FC236}">
                  <a16:creationId xmlns:a16="http://schemas.microsoft.com/office/drawing/2014/main" id="{D2500A36-18CA-20B4-2E6D-FA2DAA75AB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1831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10110010</a:t>
              </a:r>
              <a:endParaRPr lang="it-IT" altLang="it-IT" sz="2400"/>
            </a:p>
          </p:txBody>
        </p:sp>
        <p:sp>
          <p:nvSpPr>
            <p:cNvPr id="138262" name="Rectangle 18">
              <a:extLst>
                <a:ext uri="{FF2B5EF4-FFF2-40B4-BE49-F238E27FC236}">
                  <a16:creationId xmlns:a16="http://schemas.microsoft.com/office/drawing/2014/main" id="{DB72EA89-FE39-08BE-B9E6-C936EA6536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831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63" name="Line 19">
              <a:extLst>
                <a:ext uri="{FF2B5EF4-FFF2-40B4-BE49-F238E27FC236}">
                  <a16:creationId xmlns:a16="http://schemas.microsoft.com/office/drawing/2014/main" id="{6140051B-31B5-E2DD-3DD6-BEFAE4EDD2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1833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64" name="Rectangle 20">
              <a:extLst>
                <a:ext uri="{FF2B5EF4-FFF2-40B4-BE49-F238E27FC236}">
                  <a16:creationId xmlns:a16="http://schemas.microsoft.com/office/drawing/2014/main" id="{27BE8684-1CE1-7F0D-3030-DE87E07703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2066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11100100</a:t>
              </a:r>
              <a:endParaRPr lang="it-IT" altLang="it-IT" sz="2400"/>
            </a:p>
          </p:txBody>
        </p:sp>
        <p:sp>
          <p:nvSpPr>
            <p:cNvPr id="138265" name="Rectangle 21">
              <a:extLst>
                <a:ext uri="{FF2B5EF4-FFF2-40B4-BE49-F238E27FC236}">
                  <a16:creationId xmlns:a16="http://schemas.microsoft.com/office/drawing/2014/main" id="{372B2674-0402-821A-7F99-D869CA66F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066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66" name="Line 22">
              <a:extLst>
                <a:ext uri="{FF2B5EF4-FFF2-40B4-BE49-F238E27FC236}">
                  <a16:creationId xmlns:a16="http://schemas.microsoft.com/office/drawing/2014/main" id="{F4DA4B89-DA5E-8E3C-2121-2E12E6F6A8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067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67" name="Rectangle 23">
              <a:extLst>
                <a:ext uri="{FF2B5EF4-FFF2-40B4-BE49-F238E27FC236}">
                  <a16:creationId xmlns:a16="http://schemas.microsoft.com/office/drawing/2014/main" id="{86BFA2A4-F218-B28F-4A7C-61CBDD251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2300"/>
              <a:ext cx="35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010</a:t>
              </a:r>
              <a:endParaRPr lang="it-IT" altLang="it-IT" sz="2400"/>
            </a:p>
          </p:txBody>
        </p:sp>
        <p:sp>
          <p:nvSpPr>
            <p:cNvPr id="138268" name="Rectangle 24">
              <a:extLst>
                <a:ext uri="{FF2B5EF4-FFF2-40B4-BE49-F238E27FC236}">
                  <a16:creationId xmlns:a16="http://schemas.microsoft.com/office/drawing/2014/main" id="{FBBFB02F-C0E0-C1EB-3EB2-5CDDC3F9A6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6" y="2300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FF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69" name="Rectangle 25">
              <a:extLst>
                <a:ext uri="{FF2B5EF4-FFF2-40B4-BE49-F238E27FC236}">
                  <a16:creationId xmlns:a16="http://schemas.microsoft.com/office/drawing/2014/main" id="{D7CE3C18-B763-B538-9941-819D2356D2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1" y="2300"/>
              <a:ext cx="46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0110</a:t>
              </a:r>
              <a:endParaRPr lang="it-IT" altLang="it-IT" sz="2400"/>
            </a:p>
          </p:txBody>
        </p:sp>
        <p:sp>
          <p:nvSpPr>
            <p:cNvPr id="138270" name="Rectangle 26">
              <a:extLst>
                <a:ext uri="{FF2B5EF4-FFF2-40B4-BE49-F238E27FC236}">
                  <a16:creationId xmlns:a16="http://schemas.microsoft.com/office/drawing/2014/main" id="{906B8E18-997E-F9DF-00CB-612E58E6CD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300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71" name="Line 27">
              <a:extLst>
                <a:ext uri="{FF2B5EF4-FFF2-40B4-BE49-F238E27FC236}">
                  <a16:creationId xmlns:a16="http://schemas.microsoft.com/office/drawing/2014/main" id="{CB2CAC83-616D-EC4C-109E-9AF89F6A7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302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2" name="Rectangle 28">
              <a:extLst>
                <a:ext uri="{FF2B5EF4-FFF2-40B4-BE49-F238E27FC236}">
                  <a16:creationId xmlns:a16="http://schemas.microsoft.com/office/drawing/2014/main" id="{0F636081-D939-3B61-8AE0-32DAA706F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2535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00000111</a:t>
              </a:r>
              <a:endParaRPr lang="it-IT" altLang="it-IT" sz="2400"/>
            </a:p>
          </p:txBody>
        </p:sp>
        <p:sp>
          <p:nvSpPr>
            <p:cNvPr id="138273" name="Rectangle 29">
              <a:extLst>
                <a:ext uri="{FF2B5EF4-FFF2-40B4-BE49-F238E27FC236}">
                  <a16:creationId xmlns:a16="http://schemas.microsoft.com/office/drawing/2014/main" id="{CC9F08EE-B067-8925-329F-0CE0B925C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535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</a:t>
              </a:r>
              <a:endParaRPr lang="it-IT" altLang="it-IT" sz="2400"/>
            </a:p>
          </p:txBody>
        </p:sp>
        <p:sp>
          <p:nvSpPr>
            <p:cNvPr id="138274" name="Line 30">
              <a:extLst>
                <a:ext uri="{FF2B5EF4-FFF2-40B4-BE49-F238E27FC236}">
                  <a16:creationId xmlns:a16="http://schemas.microsoft.com/office/drawing/2014/main" id="{D5278F18-3F23-8C05-60CC-68F4BBBA80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536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5" name="Rectangle 31">
              <a:extLst>
                <a:ext uri="{FF2B5EF4-FFF2-40B4-BE49-F238E27FC236}">
                  <a16:creationId xmlns:a16="http://schemas.microsoft.com/office/drawing/2014/main" id="{BCC85A24-36E8-3D99-E731-86F0F77CE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2769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10000110</a:t>
              </a:r>
              <a:endParaRPr lang="it-IT" altLang="it-IT" sz="2400"/>
            </a:p>
          </p:txBody>
        </p:sp>
        <p:sp>
          <p:nvSpPr>
            <p:cNvPr id="138276" name="Rectangle 32">
              <a:extLst>
                <a:ext uri="{FF2B5EF4-FFF2-40B4-BE49-F238E27FC236}">
                  <a16:creationId xmlns:a16="http://schemas.microsoft.com/office/drawing/2014/main" id="{37BCDE7C-874C-B919-EFB9-3741D3A1F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2769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</a:t>
              </a:r>
              <a:endParaRPr lang="it-IT" altLang="it-IT" sz="2400"/>
            </a:p>
          </p:txBody>
        </p:sp>
        <p:sp>
          <p:nvSpPr>
            <p:cNvPr id="138277" name="Line 33">
              <a:extLst>
                <a:ext uri="{FF2B5EF4-FFF2-40B4-BE49-F238E27FC236}">
                  <a16:creationId xmlns:a16="http://schemas.microsoft.com/office/drawing/2014/main" id="{A1098A9E-A0EB-453B-75D7-75694D9E02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2771"/>
              <a:ext cx="1" cy="23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8" name="Rectangle 34">
              <a:extLst>
                <a:ext uri="{FF2B5EF4-FFF2-40B4-BE49-F238E27FC236}">
                  <a16:creationId xmlns:a16="http://schemas.microsoft.com/office/drawing/2014/main" id="{EF8F4548-B3B6-B168-7031-22B56A76FC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2" y="3008"/>
              <a:ext cx="932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10000001</a:t>
              </a:r>
              <a:endParaRPr lang="it-IT" altLang="it-IT" sz="2400"/>
            </a:p>
          </p:txBody>
        </p:sp>
        <p:sp>
          <p:nvSpPr>
            <p:cNvPr id="138279" name="Rectangle 35">
              <a:extLst>
                <a:ext uri="{FF2B5EF4-FFF2-40B4-BE49-F238E27FC236}">
                  <a16:creationId xmlns:a16="http://schemas.microsoft.com/office/drawing/2014/main" id="{D13D7538-CB0A-BD30-2F31-847424DD3A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3008"/>
              <a:ext cx="11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lr>
                  <a:schemeClr val="tx1"/>
                </a:buClr>
                <a:buSzPct val="75000"/>
                <a:buFont typeface="Wingdings" panose="05000000000000000000" pitchFamily="2" charset="2"/>
                <a:buChar char="Ø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E5405D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Symbol" panose="05050102010706020507" pitchFamily="18" charset="2"/>
                <a:buChar char="¨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E5405D"/>
                </a:buClr>
                <a:buSzPct val="64000"/>
                <a:buFont typeface="Monotype Sorts" charset="2"/>
                <a:buChar char="l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it-IT" altLang="it-IT" sz="2600">
                  <a:solidFill>
                    <a:srgbClr val="000000"/>
                  </a:solidFill>
                  <a:latin typeface="Courier New" panose="02070309020205020404" pitchFamily="49" charset="0"/>
                </a:rPr>
                <a:t>0</a:t>
              </a:r>
              <a:endParaRPr lang="it-IT" altLang="it-IT" sz="2400"/>
            </a:p>
          </p:txBody>
        </p:sp>
        <p:sp>
          <p:nvSpPr>
            <p:cNvPr id="138280" name="Line 36">
              <a:extLst>
                <a:ext uri="{FF2B5EF4-FFF2-40B4-BE49-F238E27FC236}">
                  <a16:creationId xmlns:a16="http://schemas.microsoft.com/office/drawing/2014/main" id="{E6B891B7-600D-29A4-EB37-1DEE1EF4E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" y="3005"/>
              <a:ext cx="121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1" name="Line 37">
              <a:extLst>
                <a:ext uri="{FF2B5EF4-FFF2-40B4-BE49-F238E27FC236}">
                  <a16:creationId xmlns:a16="http://schemas.microsoft.com/office/drawing/2014/main" id="{C4326269-6EBD-C441-6C99-69891A1262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3005"/>
              <a:ext cx="4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2" name="Line 38">
              <a:extLst>
                <a:ext uri="{FF2B5EF4-FFF2-40B4-BE49-F238E27FC236}">
                  <a16:creationId xmlns:a16="http://schemas.microsoft.com/office/drawing/2014/main" id="{0FC2FAA6-4FB7-4EA4-B929-832D1B469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3005"/>
              <a:ext cx="1" cy="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3" name="Line 39">
              <a:extLst>
                <a:ext uri="{FF2B5EF4-FFF2-40B4-BE49-F238E27FC236}">
                  <a16:creationId xmlns:a16="http://schemas.microsoft.com/office/drawing/2014/main" id="{92EB5A66-5A39-533E-5693-159CF7D33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8" y="3005"/>
              <a:ext cx="33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4" name="Line 40">
              <a:extLst>
                <a:ext uri="{FF2B5EF4-FFF2-40B4-BE49-F238E27FC236}">
                  <a16:creationId xmlns:a16="http://schemas.microsoft.com/office/drawing/2014/main" id="{5B5D383D-A397-6B2A-766A-036CD11408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4" y="3009"/>
              <a:ext cx="1" cy="23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8254" name="Text Box 41">
            <a:extLst>
              <a:ext uri="{FF2B5EF4-FFF2-40B4-BE49-F238E27FC236}">
                <a16:creationId xmlns:a16="http://schemas.microsoft.com/office/drawing/2014/main" id="{534CFE4B-0567-DDB4-AA1E-7D141D5A3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5808663"/>
            <a:ext cx="20669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rgbClr val="990000"/>
                </a:solidFill>
                <a:latin typeface="Arial Narrow" panose="020B06060202020A0204" pitchFamily="34" charset="0"/>
              </a:rPr>
              <a:t>Check Sum</a:t>
            </a:r>
            <a:endParaRPr lang="it-IT" altLang="it-IT" sz="2400">
              <a:solidFill>
                <a:srgbClr val="990000"/>
              </a:solidFill>
            </a:endParaRPr>
          </a:p>
        </p:txBody>
      </p:sp>
      <p:sp>
        <p:nvSpPr>
          <p:cNvPr id="138255" name="Line 42">
            <a:extLst>
              <a:ext uri="{FF2B5EF4-FFF2-40B4-BE49-F238E27FC236}">
                <a16:creationId xmlns:a16="http://schemas.microsoft.com/office/drawing/2014/main" id="{D3222A96-D95B-F5D2-9A5B-CFE962510A2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74838" y="5229225"/>
            <a:ext cx="590550" cy="757238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256" name="Text Box 43">
            <a:extLst>
              <a:ext uri="{FF2B5EF4-FFF2-40B4-BE49-F238E27FC236}">
                <a16:creationId xmlns:a16="http://schemas.microsoft.com/office/drawing/2014/main" id="{CFCC7E0A-6EB7-20E0-BFB5-66A20C66CE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9500" y="5873750"/>
            <a:ext cx="20351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it-IT" sz="3200">
                <a:solidFill>
                  <a:srgbClr val="990000"/>
                </a:solidFill>
                <a:latin typeface="Arial Narrow" panose="020B06060202020A0204" pitchFamily="34" charset="0"/>
              </a:rPr>
              <a:t>Bit di parità</a:t>
            </a:r>
            <a:endParaRPr lang="it-IT" altLang="it-IT" sz="2400">
              <a:solidFill>
                <a:srgbClr val="990000"/>
              </a:solidFill>
            </a:endParaRPr>
          </a:p>
        </p:txBody>
      </p:sp>
      <p:sp>
        <p:nvSpPr>
          <p:cNvPr id="138257" name="Line 44">
            <a:extLst>
              <a:ext uri="{FF2B5EF4-FFF2-40B4-BE49-F238E27FC236}">
                <a16:creationId xmlns:a16="http://schemas.microsoft.com/office/drawing/2014/main" id="{58B8863A-F285-4585-D154-4091F7917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6038" y="3917950"/>
            <a:ext cx="706437" cy="2079625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8258" name="Segnaposto numero diapositiva 44">
            <a:extLst>
              <a:ext uri="{FF2B5EF4-FFF2-40B4-BE49-F238E27FC236}">
                <a16:creationId xmlns:a16="http://schemas.microsoft.com/office/drawing/2014/main" id="{A3F5309A-5A3E-3CC1-7A01-85F7C63C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B7C0BA-81A9-4161-A45A-19B8D531E746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103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9" name="Segnaposto numero diapositiva 4">
            <a:extLst>
              <a:ext uri="{FF2B5EF4-FFF2-40B4-BE49-F238E27FC236}">
                <a16:creationId xmlns:a16="http://schemas.microsoft.com/office/drawing/2014/main" id="{1B2142DB-2632-0223-9466-7442CAFA4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75E880C4-9A0C-40E6-8ECF-52B461DD8CDF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104</a:t>
            </a:fld>
            <a:endParaRPr lang="it-IT" altLang="it-IT" sz="1400"/>
          </a:p>
        </p:txBody>
      </p:sp>
      <p:sp>
        <p:nvSpPr>
          <p:cNvPr id="140290" name="Rectangle 2">
            <a:extLst>
              <a:ext uri="{FF2B5EF4-FFF2-40B4-BE49-F238E27FC236}">
                <a16:creationId xmlns:a16="http://schemas.microsoft.com/office/drawing/2014/main" id="{84EE4016-FD3E-DFBF-C5F6-4538BB0410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Controllo di errori - 2</a:t>
            </a:r>
          </a:p>
        </p:txBody>
      </p:sp>
      <p:sp>
        <p:nvSpPr>
          <p:cNvPr id="140291" name="Rectangle 3">
            <a:extLst>
              <a:ext uri="{FF2B5EF4-FFF2-40B4-BE49-F238E27FC236}">
                <a16:creationId xmlns:a16="http://schemas.microsoft.com/office/drawing/2014/main" id="{F56680FB-91E8-A0E8-08A3-2135D0D7F39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95300" y="1285875"/>
            <a:ext cx="8667750" cy="1906588"/>
          </a:xfrm>
        </p:spPr>
        <p:txBody>
          <a:bodyPr/>
          <a:lstStyle/>
          <a:p>
            <a:pPr>
              <a:buFontTx/>
              <a:buNone/>
            </a:pPr>
            <a:r>
              <a:rPr lang="it-IT" altLang="it-IT" b="1">
                <a:ea typeface="ＭＳ Ｐゴシック" panose="020B0600070205080204" pitchFamily="34" charset="-128"/>
              </a:rPr>
              <a:t>I riferimenti teorici – distanza di Hamming</a:t>
            </a:r>
          </a:p>
          <a:p>
            <a:r>
              <a:rPr lang="it-IT" altLang="it-IT" sz="2400">
                <a:ea typeface="ＭＳ Ｐゴシック" panose="020B0600070205080204" pitchFamily="34" charset="-128"/>
              </a:rPr>
              <a:t>L</a:t>
            </a:r>
            <a:r>
              <a:rPr lang="ja-JP" altLang="it-IT" sz="2400">
                <a:ea typeface="ＭＳ Ｐゴシック" panose="020B0600070205080204" pitchFamily="34" charset="-128"/>
              </a:rPr>
              <a:t>’</a:t>
            </a:r>
            <a:r>
              <a:rPr lang="it-IT" altLang="ja-JP" sz="2400">
                <a:ea typeface="ＭＳ Ｐゴシック" panose="020B0600070205080204" pitchFamily="34" charset="-128"/>
              </a:rPr>
              <a:t>informazione da trasmettere o memorizzare è un </a:t>
            </a:r>
            <a:r>
              <a:rPr lang="ja-JP" altLang="it-IT" sz="2400">
                <a:ea typeface="ＭＳ Ｐゴシック" panose="020B0600070205080204" pitchFamily="34" charset="-128"/>
              </a:rPr>
              <a:t>“</a:t>
            </a:r>
            <a:r>
              <a:rPr lang="it-IT" altLang="ja-JP" sz="2400">
                <a:ea typeface="ＭＳ Ｐゴシック" panose="020B0600070205080204" pitchFamily="34" charset="-128"/>
              </a:rPr>
              <a:t>codice a lunghezza fissa</a:t>
            </a:r>
            <a:r>
              <a:rPr lang="ja-JP" altLang="it-IT" sz="2400">
                <a:ea typeface="ＭＳ Ｐゴシック" panose="020B0600070205080204" pitchFamily="34" charset="-128"/>
              </a:rPr>
              <a:t>”</a:t>
            </a:r>
            <a:endParaRPr lang="it-IT" altLang="ja-JP" sz="2400">
              <a:ea typeface="ＭＳ Ｐゴシック" panose="020B0600070205080204" pitchFamily="34" charset="-128"/>
            </a:endParaRPr>
          </a:p>
          <a:p>
            <a:r>
              <a:rPr lang="it-IT" altLang="it-IT" sz="2400" b="1">
                <a:ea typeface="ＭＳ Ｐゴシック" panose="020B0600070205080204" pitchFamily="34" charset="-128"/>
              </a:rPr>
              <a:t>Distanza di Hamming</a:t>
            </a:r>
            <a:r>
              <a:rPr lang="it-IT" altLang="it-IT" sz="2400" i="1">
                <a:ea typeface="ＭＳ Ｐゴシック" panose="020B0600070205080204" pitchFamily="34" charset="-128"/>
              </a:rPr>
              <a:t> D = </a:t>
            </a:r>
            <a:r>
              <a:rPr lang="it-IT" altLang="it-IT" sz="2000">
                <a:ea typeface="ＭＳ Ｐゴシック" panose="020B0600070205080204" pitchFamily="34" charset="-128"/>
              </a:rPr>
              <a:t>numero di bit diversi tra due parole codice </a:t>
            </a:r>
          </a:p>
          <a:p>
            <a:endParaRPr lang="it-IT" altLang="it-IT" sz="2400" b="1">
              <a:solidFill>
                <a:srgbClr val="FF3300"/>
              </a:solidFill>
              <a:ea typeface="ＭＳ Ｐゴシック" panose="020B0600070205080204" pitchFamily="34" charset="-128"/>
            </a:endParaRPr>
          </a:p>
        </p:txBody>
      </p:sp>
      <p:pic>
        <p:nvPicPr>
          <p:cNvPr id="140292" name="Picture 4" descr="http://www.ocf.berkeley.edu/~wwu/images/riddles/hamming_cube.gif">
            <a:extLst>
              <a:ext uri="{FF2B5EF4-FFF2-40B4-BE49-F238E27FC236}">
                <a16:creationId xmlns:a16="http://schemas.microsoft.com/office/drawing/2014/main" id="{F5726D2A-D894-B90B-E628-B8B77C4E2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863" y="2949575"/>
            <a:ext cx="2454275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3" name="Rectangle 13">
            <a:extLst>
              <a:ext uri="{FF2B5EF4-FFF2-40B4-BE49-F238E27FC236}">
                <a16:creationId xmlns:a16="http://schemas.microsoft.com/office/drawing/2014/main" id="{CE1F2BF8-1575-76E4-A749-17EE6A61A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663" y="5195888"/>
            <a:ext cx="8667750" cy="769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2000"/>
              <a:t>Distanza minima</a:t>
            </a:r>
            <a:r>
              <a:rPr lang="it-IT" altLang="it-IT" sz="2000" b="0"/>
              <a:t> di un codice: la distanza minima fra 2 sue parole-codiice</a:t>
            </a:r>
          </a:p>
          <a:p>
            <a:pPr algn="just" eaLnBrk="1" hangingPunct="1">
              <a:buClrTx/>
              <a:buSzTx/>
              <a:buFontTx/>
              <a:buChar char="•"/>
            </a:pPr>
            <a:r>
              <a:rPr lang="it-IT" altLang="it-IT" sz="2000"/>
              <a:t>Sindrome di errore</a:t>
            </a:r>
            <a:r>
              <a:rPr lang="it-IT" altLang="it-IT" sz="2000" b="0"/>
              <a:t>: la parola-codice non appartiene al codice</a:t>
            </a:r>
            <a:endParaRPr lang="it-IT" altLang="it-IT" sz="2000">
              <a:solidFill>
                <a:srgbClr val="FF3300"/>
              </a:solidFill>
            </a:endParaRPr>
          </a:p>
        </p:txBody>
      </p:sp>
    </p:spTree>
  </p:cSld>
  <p:clrMapOvr>
    <a:masterClrMapping/>
  </p:clrMapOvr>
  <p:transition advTm="219000"/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7" name="Segnaposto numero diapositiva 4">
            <a:extLst>
              <a:ext uri="{FF2B5EF4-FFF2-40B4-BE49-F238E27FC236}">
                <a16:creationId xmlns:a16="http://schemas.microsoft.com/office/drawing/2014/main" id="{B65CEE1C-AFD1-2A20-048F-6C1E87649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" y="6248400"/>
            <a:ext cx="20574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l">
              <a:spcBef>
                <a:spcPct val="0"/>
              </a:spcBef>
              <a:buClrTx/>
              <a:buSzTx/>
              <a:buFontTx/>
              <a:buNone/>
            </a:pPr>
            <a:fld id="{09698FEF-9962-4672-AF94-DB16CF6AEB13}" type="slidenum">
              <a:rPr lang="it-IT" altLang="it-IT" sz="1400" smtClean="0"/>
              <a:pPr algn="l">
                <a:spcBef>
                  <a:spcPct val="0"/>
                </a:spcBef>
                <a:buClrTx/>
                <a:buSzTx/>
                <a:buFontTx/>
                <a:buNone/>
              </a:pPr>
              <a:t>105</a:t>
            </a:fld>
            <a:endParaRPr lang="it-IT" altLang="it-IT" sz="1400"/>
          </a:p>
        </p:txBody>
      </p:sp>
      <p:sp>
        <p:nvSpPr>
          <p:cNvPr id="142338" name="Rectangle 2">
            <a:extLst>
              <a:ext uri="{FF2B5EF4-FFF2-40B4-BE49-F238E27FC236}">
                <a16:creationId xmlns:a16="http://schemas.microsoft.com/office/drawing/2014/main" id="{D93FAC60-ADCA-F4B6-2A9E-EF6DF725E2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>
                <a:ea typeface="ＭＳ Ｐゴシック" panose="020B0600070205080204" pitchFamily="34" charset="-128"/>
              </a:rPr>
              <a:t>Controllo di errori - 3</a:t>
            </a:r>
          </a:p>
        </p:txBody>
      </p:sp>
      <p:pic>
        <p:nvPicPr>
          <p:cNvPr id="142339" name="Picture 4" descr="http://www.ocf.berkeley.edu/~wwu/images/riddles/hamming_cube.gif">
            <a:extLst>
              <a:ext uri="{FF2B5EF4-FFF2-40B4-BE49-F238E27FC236}">
                <a16:creationId xmlns:a16="http://schemas.microsoft.com/office/drawing/2014/main" id="{F552FCCF-CED5-58B9-61D7-1779067E0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75" y="1285875"/>
            <a:ext cx="2454275" cy="226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509" name="Rectangle 5">
            <a:extLst>
              <a:ext uri="{FF2B5EF4-FFF2-40B4-BE49-F238E27FC236}">
                <a16:creationId xmlns:a16="http://schemas.microsoft.com/office/drawing/2014/main" id="{4E4FCC15-2090-A983-72BF-A7D2A5514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3929063"/>
            <a:ext cx="9051925" cy="16922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7"/>
              </a:schemeClr>
            </a:outerShdw>
          </a:effectLst>
        </p:spPr>
        <p:txBody>
          <a:bodyPr>
            <a:spAutoFit/>
          </a:bodyPr>
          <a:lstStyle/>
          <a:p>
            <a:pPr eaLnBrk="1" hangingPunct="1">
              <a:buFont typeface="Wingdings" charset="0"/>
              <a:buChar char="§"/>
              <a:defRPr/>
            </a:pP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 I riferimenti teorici-Teorema di Hamming: </a:t>
            </a:r>
          </a:p>
          <a:p>
            <a:pPr eaLnBrk="1" hangingPunct="1">
              <a:buFont typeface="Wingdings" charset="0"/>
              <a:buChar char="§"/>
              <a:defRPr/>
            </a:pPr>
            <a:r>
              <a:rPr lang="it-IT">
                <a:latin typeface="Times New Roman" charset="0"/>
                <a:ea typeface="ＭＳ Ｐゴシック" charset="0"/>
                <a:cs typeface="ＭＳ Ｐゴシック" charset="0"/>
              </a:rPr>
              <a:t> </a:t>
            </a:r>
            <a:r>
              <a:rPr lang="it-IT" sz="2400" b="0">
                <a:latin typeface="Times New Roman" charset="0"/>
                <a:ea typeface="ＭＳ Ｐゴシック" charset="0"/>
                <a:cs typeface="ＭＳ Ｐゴシック" charset="0"/>
              </a:rPr>
              <a:t>Un codice a distanza minima</a:t>
            </a:r>
          </a:p>
          <a:p>
            <a:pPr lvl="1" eaLnBrk="1" hangingPunct="1">
              <a:defRPr/>
            </a:pPr>
            <a:r>
              <a:rPr lang="it-IT" sz="2400" b="0">
                <a:latin typeface="Times New Roman" charset="0"/>
                <a:ea typeface="ＭＳ Ｐゴシック" charset="0"/>
                <a:cs typeface="ＭＳ Ｐゴシック" charset="0"/>
              </a:rPr>
              <a:t>	 d+1 può individuare gli errori simultanei su d bit;</a:t>
            </a:r>
          </a:p>
          <a:p>
            <a:pPr lvl="1" eaLnBrk="1" hangingPunct="1">
              <a:defRPr/>
            </a:pPr>
            <a:r>
              <a:rPr lang="it-IT" sz="2400" b="0">
                <a:latin typeface="Times New Roman" charset="0"/>
                <a:ea typeface="ＭＳ Ｐゴシック" charset="0"/>
                <a:cs typeface="ＭＳ Ｐゴシック" charset="0"/>
              </a:rPr>
              <a:t>	 2c+1 può correggere gli errori simultanei su c bit.</a:t>
            </a:r>
          </a:p>
        </p:txBody>
      </p:sp>
    </p:spTree>
  </p:cSld>
  <p:clrMapOvr>
    <a:masterClrMapping/>
  </p:clrMapOvr>
  <p:transition advTm="34000"/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5" name="Picture 2" descr="j0078711">
            <a:extLst>
              <a:ext uri="{FF2B5EF4-FFF2-40B4-BE49-F238E27FC236}">
                <a16:creationId xmlns:a16="http://schemas.microsoft.com/office/drawing/2014/main" id="{7A745506-5B9A-EECA-083C-7BF6D9833E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1473200"/>
            <a:ext cx="21431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6" name="Rectangle 3">
            <a:extLst>
              <a:ext uri="{FF2B5EF4-FFF2-40B4-BE49-F238E27FC236}">
                <a16:creationId xmlns:a16="http://schemas.microsoft.com/office/drawing/2014/main" id="{32043EF7-8346-2ACA-05D5-F43850101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it-IT" altLang="it-IT">
                <a:ea typeface="ＭＳ Ｐゴシック" panose="020B0600070205080204" pitchFamily="34" charset="-128"/>
              </a:rPr>
              <a:t>Domande?</a:t>
            </a:r>
          </a:p>
        </p:txBody>
      </p:sp>
      <p:sp>
        <p:nvSpPr>
          <p:cNvPr id="144387" name="Segnaposto numero diapositiva 3">
            <a:extLst>
              <a:ext uri="{FF2B5EF4-FFF2-40B4-BE49-F238E27FC236}">
                <a16:creationId xmlns:a16="http://schemas.microsoft.com/office/drawing/2014/main" id="{DA7F295E-6438-303B-42BB-F22DE8CDC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SzPct val="75000"/>
              <a:buFont typeface="Wingdings" panose="05000000000000000000" pitchFamily="2" charset="2"/>
              <a:buChar char="Ø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E5405D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Symbol" panose="05050102010706020507" pitchFamily="18" charset="2"/>
              <a:buChar char="¨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E5405D"/>
              </a:buClr>
              <a:buSzPct val="64000"/>
              <a:buFont typeface="Monotype Sorts" charset="2"/>
              <a:buChar char="l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E1262F-60E6-4F59-9B61-1551D6376B78}" type="slidenum">
              <a:rPr lang="it-IT" altLang="it-IT" sz="14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106</a:t>
            </a:fld>
            <a:endParaRPr lang="it-IT" altLang="it-IT" sz="1400"/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doppialc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doppialc">
      <a:majorFont>
        <a:latin typeface="Book Antiqu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triangle" w="lg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oppialc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oppialc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oppialc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36501F82A52044904E2AA776D592FE" ma:contentTypeVersion="7" ma:contentTypeDescription="Create a new document." ma:contentTypeScope="" ma:versionID="ac12382b13ceaf092b54f0e0c65626fa">
  <xsd:schema xmlns:xsd="http://www.w3.org/2001/XMLSchema" xmlns:xs="http://www.w3.org/2001/XMLSchema" xmlns:p="http://schemas.microsoft.com/office/2006/metadata/properties" xmlns:ns2="6e71ac32-155a-4619-8d53-7abf123e0249" targetNamespace="http://schemas.microsoft.com/office/2006/metadata/properties" ma:root="true" ma:fieldsID="e5af121a0c3934511d7015a115c26a1d" ns2:_="">
    <xsd:import namespace="6e71ac32-155a-4619-8d53-7abf123e02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71ac32-155a-4619-8d53-7abf123e02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BC8F61-5E95-43D7-BA91-C64DB86AC2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1E41C15-E3FC-4FB2-ADD1-7AA033C113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e71ac32-155a-4619-8d53-7abf123e02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E5AD09-4F3A-48F2-897A-99D0813C989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c:\powerpnt\modelli\lucidicl\doppialc.ppt</Template>
  <TotalTime>38245</TotalTime>
  <Pages>39</Pages>
  <Words>5662</Words>
  <Application>Microsoft Office PowerPoint</Application>
  <PresentationFormat>A4 Paper (210x297 mm)</PresentationFormat>
  <Paragraphs>1133</Paragraphs>
  <Slides>106</Slides>
  <Notes>18</Notes>
  <HiddenSlides>37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07" baseType="lpstr">
      <vt:lpstr>doppialc</vt:lpstr>
      <vt:lpstr>Codifica delle informazioni e Macchine Elementari (Richiami)</vt:lpstr>
      <vt:lpstr>Tassonomia dei circuiti digitali</vt:lpstr>
      <vt:lpstr>PowerPoint Presentation</vt:lpstr>
      <vt:lpstr>PowerPoint Presentation</vt:lpstr>
      <vt:lpstr>Macchina combinatoria (3/4)</vt:lpstr>
      <vt:lpstr>Macchina combinatoria 4/4</vt:lpstr>
      <vt:lpstr>PowerPoint Presentation</vt:lpstr>
      <vt:lpstr>Codifica delle informazioni: sul piano formale</vt:lpstr>
      <vt:lpstr>Definizioni</vt:lpstr>
      <vt:lpstr>Codifica a lunghezza fissa</vt:lpstr>
      <vt:lpstr>PowerPoint Presentation</vt:lpstr>
      <vt:lpstr>PowerPoint Presentation</vt:lpstr>
      <vt:lpstr>PowerPoint Presentation</vt:lpstr>
      <vt:lpstr>Codifica a lunghezza variabile</vt:lpstr>
      <vt:lpstr>Codifica a lunghezza variabile</vt:lpstr>
      <vt:lpstr>Codifica indiretta</vt:lpstr>
      <vt:lpstr>PowerPoint Presentation</vt:lpstr>
      <vt:lpstr>PowerPoint Presentation</vt:lpstr>
      <vt:lpstr>PowerPoint Presentation</vt:lpstr>
      <vt:lpstr>PowerPoint Presentation</vt:lpstr>
      <vt:lpstr>Rappresentazione di Codici mediante tabelle</vt:lpstr>
      <vt:lpstr>Rappresentazione Decodificata</vt:lpstr>
      <vt:lpstr>PowerPoint Presentation</vt:lpstr>
      <vt:lpstr>PowerPoint Presentation</vt:lpstr>
      <vt:lpstr>Transcodificatore</vt:lpstr>
      <vt:lpstr>Transcodificatore per visualizzatore a 7 segmenti</vt:lpstr>
      <vt:lpstr>Transcodificatore per visualizzatore a 7 segmenti</vt:lpstr>
      <vt:lpstr>PowerPoint Presentation</vt:lpstr>
      <vt:lpstr>Decodificatore (decoder)</vt:lpstr>
      <vt:lpstr>Sintesi della trascodifica da binario a 1 su N </vt:lpstr>
      <vt:lpstr>Il circuito integrato DECODER </vt:lpstr>
      <vt:lpstr>Decodificatore binario (1/2) </vt:lpstr>
      <vt:lpstr>Decodificatore binario (2/2) </vt:lpstr>
      <vt:lpstr>Decodificatore incompleto</vt:lpstr>
      <vt:lpstr>Decodificatori composti</vt:lpstr>
      <vt:lpstr>Decodificatori composti</vt:lpstr>
      <vt:lpstr>Composizione modulare di Decoder 4:16</vt:lpstr>
      <vt:lpstr>Esempio (semplificato) di utilizzo di Decoder (1/2)</vt:lpstr>
      <vt:lpstr>Esempio (semplificato) di utilizzo di Decoder (2/2)</vt:lpstr>
      <vt:lpstr>Codificatore (Encoder)</vt:lpstr>
      <vt:lpstr>PowerPoint Presentation</vt:lpstr>
      <vt:lpstr>Reti di codifica (codificatori) (2/3)</vt:lpstr>
      <vt:lpstr>PowerPoint Presentation</vt:lpstr>
      <vt:lpstr>Reti di codifica a priorità</vt:lpstr>
      <vt:lpstr>PowerPoint Presentation</vt:lpstr>
      <vt:lpstr>Multiplexer lineare</vt:lpstr>
      <vt:lpstr>Multiplexer binario</vt:lpstr>
      <vt:lpstr>Multiplexer Indirizzabile</vt:lpstr>
      <vt:lpstr>Multiplexer composti</vt:lpstr>
      <vt:lpstr>Demultiplexer lineare</vt:lpstr>
      <vt:lpstr>PowerPoint Presentation</vt:lpstr>
      <vt:lpstr>XOR ED EQ</vt:lpstr>
      <vt:lpstr>Funzioni XOR ed EQ (1/3)</vt:lpstr>
      <vt:lpstr>Funzioni Xor e Eq</vt:lpstr>
      <vt:lpstr>Funzioni Xor e Eq</vt:lpstr>
      <vt:lpstr>Funzione XOR</vt:lpstr>
      <vt:lpstr>Proprietà della XOR e di Eq</vt:lpstr>
      <vt:lpstr>PowerPoint Presentation</vt:lpstr>
      <vt:lpstr>Comparatore</vt:lpstr>
      <vt:lpstr>Comparatori </vt:lpstr>
      <vt:lpstr>COMPARATORI BIT-SERIALE (per un singolo bit)</vt:lpstr>
      <vt:lpstr>COMPARATORI BIT-SERIALE (per un singolo bit)</vt:lpstr>
      <vt:lpstr>Comparatore binario</vt:lpstr>
      <vt:lpstr>Comparatore binario</vt:lpstr>
      <vt:lpstr>Comparatore binario</vt:lpstr>
      <vt:lpstr>Comparatore binario</vt:lpstr>
      <vt:lpstr>Comparatore binario</vt:lpstr>
      <vt:lpstr>Comparatore binario</vt:lpstr>
      <vt:lpstr>PowerPoint Presentation</vt:lpstr>
      <vt:lpstr>Half Adder</vt:lpstr>
      <vt:lpstr>Full Adder (1/2)</vt:lpstr>
      <vt:lpstr>Full Adder (2/2)</vt:lpstr>
      <vt:lpstr>Full Adder: sintesi per decomposizione</vt:lpstr>
      <vt:lpstr>Addizionatore binario</vt:lpstr>
      <vt:lpstr>Addizionatore binario</vt:lpstr>
      <vt:lpstr>Addizionatore binario: il riporto</vt:lpstr>
      <vt:lpstr>Addizionatore binario: conclusione</vt:lpstr>
      <vt:lpstr>Sottrattore binario</vt:lpstr>
      <vt:lpstr>Sottrattore binario</vt:lpstr>
      <vt:lpstr>Addizionatore binario</vt:lpstr>
      <vt:lpstr>Sottrattore binario</vt:lpstr>
      <vt:lpstr>Addizionatori binari</vt:lpstr>
      <vt:lpstr>Addizionatori seriali</vt:lpstr>
      <vt:lpstr>Addizionatori paralleli</vt:lpstr>
      <vt:lpstr>Addizionatori paralleli</vt:lpstr>
      <vt:lpstr>Addizionatori con anticipo del riporto</vt:lpstr>
      <vt:lpstr>Addizionatori carry lookahead</vt:lpstr>
      <vt:lpstr>Addizionatori carry lookahead</vt:lpstr>
      <vt:lpstr>Addizionatori carry lookahead</vt:lpstr>
      <vt:lpstr>Addizionatori carry lookahead</vt:lpstr>
      <vt:lpstr>Addizionatori carry lookahead</vt:lpstr>
      <vt:lpstr>Addizionatore Carry Skip</vt:lpstr>
      <vt:lpstr>Addizionatore Carry Skip</vt:lpstr>
      <vt:lpstr>Addizionatore Carry-Select</vt:lpstr>
      <vt:lpstr>Addizionatore Carry-Select</vt:lpstr>
      <vt:lpstr>Addizionatori Carry-Save</vt:lpstr>
      <vt:lpstr>Addizionatori carry-save</vt:lpstr>
      <vt:lpstr>Supporto Didattico</vt:lpstr>
      <vt:lpstr>PowerPoint Presentation</vt:lpstr>
      <vt:lpstr>Controllo di errori - 1</vt:lpstr>
      <vt:lpstr>Controllo di errori - 3</vt:lpstr>
      <vt:lpstr>Rilevazione degli errori</vt:lpstr>
      <vt:lpstr>Rilevazione e Correzione degli errori</vt:lpstr>
      <vt:lpstr>Controllo di errori - 2</vt:lpstr>
      <vt:lpstr>Controllo di errori - 3</vt:lpstr>
      <vt:lpstr>Domande?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rete atm seminario</dc:title>
  <dc:subject/>
  <dc:creator/>
  <cp:keywords/>
  <dc:description/>
  <cp:lastModifiedBy>VALENTINA CASOLA</cp:lastModifiedBy>
  <cp:revision>385</cp:revision>
  <cp:lastPrinted>1999-05-26T13:44:20Z</cp:lastPrinted>
  <dcterms:created xsi:type="dcterms:W3CDTF">2012-03-14T13:46:55Z</dcterms:created>
  <dcterms:modified xsi:type="dcterms:W3CDTF">2026-03-05T16:55:01Z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2024-02-27T12:55:27Z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0aa0effc-ac40-4648-9e9b-47213d213cca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0x0101005F36501F82A52044904E2AA776D592FE</vt:lpwstr>
  </property>
</Properties>
</file>