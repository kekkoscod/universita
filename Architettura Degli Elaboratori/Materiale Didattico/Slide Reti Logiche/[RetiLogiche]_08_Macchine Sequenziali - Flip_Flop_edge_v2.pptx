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4"/>
  </p:sldMasterIdLst>
  <p:notesMasterIdLst>
    <p:notesMasterId r:id="rId24"/>
  </p:notesMasterIdLst>
  <p:handoutMasterIdLst>
    <p:handoutMasterId r:id="rId25"/>
  </p:handoutMasterIdLst>
  <p:sldIdLst>
    <p:sldId id="256" r:id="rId5"/>
    <p:sldId id="381" r:id="rId6"/>
    <p:sldId id="382" r:id="rId7"/>
    <p:sldId id="383" r:id="rId8"/>
    <p:sldId id="38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84" r:id="rId18"/>
    <p:sldId id="366" r:id="rId19"/>
    <p:sldId id="369" r:id="rId20"/>
    <p:sldId id="378" r:id="rId21"/>
    <p:sldId id="379" r:id="rId22"/>
    <p:sldId id="355" r:id="rId23"/>
  </p:sldIdLst>
  <p:sldSz cx="9720263" cy="6480175"/>
  <p:notesSz cx="7300913" cy="95869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3">
          <p15:clr>
            <a:srgbClr val="A4A3A4"/>
          </p15:clr>
        </p15:guide>
        <p15:guide id="2" pos="20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>
      <p:cViewPr varScale="1">
        <p:scale>
          <a:sx n="114" d="100"/>
          <a:sy n="114" d="100"/>
        </p:scale>
        <p:origin x="13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3"/>
        <p:guide pos="208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8F89D08D-442D-DC98-B015-3F8904BAB2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845" tIns="43422" rIns="86845" bIns="43422" numCol="1" anchor="t" anchorCtr="0" compatLnSpc="1">
            <a:prstTxWarp prst="textNoShape">
              <a:avLst/>
            </a:prstTxWarp>
          </a:bodyPr>
          <a:lstStyle>
            <a:lvl1pPr defTabSz="868363" eaLnBrk="0" hangingPunct="0">
              <a:spcBef>
                <a:spcPct val="0"/>
              </a:spcBef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107F62CB-0DCA-50B4-5643-20FF91F0243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5438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845" tIns="43422" rIns="86845" bIns="43422" numCol="1" anchor="t" anchorCtr="0" compatLnSpc="1">
            <a:prstTxWarp prst="textNoShape">
              <a:avLst/>
            </a:prstTxWarp>
          </a:bodyPr>
          <a:lstStyle>
            <a:lvl1pPr algn="r" defTabSz="868363" eaLnBrk="0" hangingPunct="0">
              <a:spcBef>
                <a:spcPct val="0"/>
              </a:spcBef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B70BD11C-97D4-CC37-085C-217A79E695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590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845" tIns="43422" rIns="86845" bIns="43422" numCol="1" anchor="b" anchorCtr="0" compatLnSpc="1">
            <a:prstTxWarp prst="textNoShape">
              <a:avLst/>
            </a:prstTxWarp>
          </a:bodyPr>
          <a:lstStyle>
            <a:lvl1pPr defTabSz="868363" eaLnBrk="0" hangingPunct="0">
              <a:spcBef>
                <a:spcPct val="0"/>
              </a:spcBef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7" name="Rectangle 5">
            <a:extLst>
              <a:ext uri="{FF2B5EF4-FFF2-40B4-BE49-F238E27FC236}">
                <a16:creationId xmlns:a16="http://schemas.microsoft.com/office/drawing/2014/main" id="{AF7B2E32-29A3-9A1B-FBE8-F75A30A594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845" tIns="43422" rIns="86845" bIns="43422" numCol="1" anchor="b" anchorCtr="0" compatLnSpc="1">
            <a:prstTxWarp prst="textNoShape">
              <a:avLst/>
            </a:prstTxWarp>
          </a:bodyPr>
          <a:lstStyle>
            <a:lvl1pPr algn="r" defTabSz="868363" eaLnBrk="0" hangingPunct="0">
              <a:spcBef>
                <a:spcPct val="0"/>
              </a:spcBef>
              <a:defRPr sz="11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0EFEA4A-D063-4859-90DB-0F819D23D87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61FF2C56-EF49-C659-D682-919A3573E2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0463" y="920750"/>
            <a:ext cx="4979987" cy="33194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EFD95EE7-5BA0-B3AE-4AF1-EAD355A803B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0888"/>
            <a:ext cx="5043487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37931725" indent="-37474525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530FC923-7DCC-6DA2-641E-DEB0726A5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0D86E95-8D7B-DD6B-931A-E6F9DC68D82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845" tIns="43422" rIns="86845" bIns="43422" anchor="ctr"/>
          <a:lstStyle/>
          <a:p>
            <a:r>
              <a:rPr lang="it-IT" altLang="it-IT">
                <a:ea typeface="ＭＳ Ｐゴシック" panose="020B0600070205080204" pitchFamily="34" charset="-128"/>
              </a:rPr>
              <a:t>Fondere con la lezione di Fadini su Federica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37F1D40-5A74-628E-31ED-38D4076C6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4088" y="717550"/>
            <a:ext cx="5392737" cy="3595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3D2E9530-ADC7-7479-135A-EE7F9364F7A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8F4E78F-CDFF-1255-07FE-258C3E634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4088" y="717550"/>
            <a:ext cx="5392737" cy="3595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7A3AC7B-169E-7C9F-0DC8-AC5223F2B0E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D47480AD-DDA9-F694-D4E8-B698C7BDC7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4088" y="717550"/>
            <a:ext cx="5392737" cy="3595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83127741-2985-602A-3DD6-5FE0DE42A9B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B528765-E039-E965-9374-71F3FA001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4088" y="717550"/>
            <a:ext cx="5392737" cy="3595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3489F4E5-C7E6-A7C8-D27A-1165160716A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C9A3FBB-13D6-A650-8C7A-C769C3DAAB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4088" y="717550"/>
            <a:ext cx="5392737" cy="3595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026356E6-681F-28D6-628D-0643296F99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>
            <a:extLst>
              <a:ext uri="{FF2B5EF4-FFF2-40B4-BE49-F238E27FC236}">
                <a16:creationId xmlns:a16="http://schemas.microsoft.com/office/drawing/2014/main" id="{ACD92290-2BEB-E9FA-B1A9-13E58CB1F64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98663"/>
            <a:ext cx="9893300" cy="304800"/>
            <a:chOff x="0" y="624"/>
            <a:chExt cx="6232" cy="192"/>
          </a:xfrm>
        </p:grpSpPr>
        <p:sp>
          <p:nvSpPr>
            <p:cNvPr id="3" name="Rectangle 111">
              <a:extLst>
                <a:ext uri="{FF2B5EF4-FFF2-40B4-BE49-F238E27FC236}">
                  <a16:creationId xmlns:a16="http://schemas.microsoft.com/office/drawing/2014/main" id="{EC92D37E-91DA-897F-3E5B-A3BF43CEE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it-IT" altLang="it-IT"/>
            </a:p>
          </p:txBody>
        </p:sp>
        <p:sp>
          <p:nvSpPr>
            <p:cNvPr id="4" name="Rectangle 112">
              <a:extLst>
                <a:ext uri="{FF2B5EF4-FFF2-40B4-BE49-F238E27FC236}">
                  <a16:creationId xmlns:a16="http://schemas.microsoft.com/office/drawing/2014/main" id="{AD6BA917-0C7B-8B69-A280-5E9CAA5D4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it-IT" altLang="it-IT"/>
            </a:p>
          </p:txBody>
        </p:sp>
      </p:grpSp>
      <p:sp>
        <p:nvSpPr>
          <p:cNvPr id="10557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43013" y="989013"/>
            <a:ext cx="7845425" cy="957262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557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65288" y="2546350"/>
            <a:ext cx="7083425" cy="28289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8FFC34A8-D166-B82F-F9DA-40962EF8DB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474788" y="6007100"/>
            <a:ext cx="2025650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104">
            <a:extLst>
              <a:ext uri="{FF2B5EF4-FFF2-40B4-BE49-F238E27FC236}">
                <a16:creationId xmlns:a16="http://schemas.microsoft.com/office/drawing/2014/main" id="{ABC36EB6-1142-529A-2F80-2D74A2D95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957638" y="6007100"/>
            <a:ext cx="2414587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BF30D282-39E4-8F6C-42D3-01A7867AC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72288" y="6010275"/>
            <a:ext cx="2025650" cy="431800"/>
          </a:xfrm>
        </p:spPr>
        <p:txBody>
          <a:bodyPr/>
          <a:lstStyle>
            <a:lvl1pPr>
              <a:defRPr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9C36959-C14B-469D-A035-AC35A78BF9F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8468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41ED0B14-1922-12DE-D40B-2E032578DF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E1768-809E-4D03-A5D9-AA3CA7BC934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9361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8350" y="4164013"/>
            <a:ext cx="8261350" cy="12874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68350" y="2746375"/>
            <a:ext cx="8261350" cy="14176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33D2E680-C11D-6E67-C753-169B70D7BF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4674D-F1A1-4471-985F-F0C9D14AF76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1120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89513" y="1727200"/>
            <a:ext cx="4154487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3166F7A4-0C54-AE70-E957-7070C8F8B38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1A986-C186-41B7-BA15-BE1B581CF93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1082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8748713" cy="1081087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85775" y="1450975"/>
            <a:ext cx="4295775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5775" y="2055813"/>
            <a:ext cx="4295775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937125" y="1450975"/>
            <a:ext cx="4297363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937125" y="2055813"/>
            <a:ext cx="4297363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id="{61C81F88-E427-E1FC-2A3E-AD815FE384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DAD42-A103-45B3-BE98-450B1FD77D2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319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10">
            <a:extLst>
              <a:ext uri="{FF2B5EF4-FFF2-40B4-BE49-F238E27FC236}">
                <a16:creationId xmlns:a16="http://schemas.microsoft.com/office/drawing/2014/main" id="{8D64CAA3-D62F-02F5-1718-81A361B19A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5261C-6BAA-4C52-92D0-FC0B93A3BA15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2992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0">
            <a:extLst>
              <a:ext uri="{FF2B5EF4-FFF2-40B4-BE49-F238E27FC236}">
                <a16:creationId xmlns:a16="http://schemas.microsoft.com/office/drawing/2014/main" id="{DC1052D8-FD79-A383-70B8-EB47A2EAFD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E787-1384-4DAE-8793-83D39F414AA7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2184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3198813" cy="10969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00475" y="258763"/>
            <a:ext cx="5434013" cy="5529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85775" y="1355725"/>
            <a:ext cx="3198813" cy="44323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DCF81E17-3569-0D60-5B84-407D17F22F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217F6-11E2-4147-9D00-89AA8FB60B64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791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05000" y="4535488"/>
            <a:ext cx="5832475" cy="536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05000" y="579438"/>
            <a:ext cx="5832475" cy="38877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05000" y="5072063"/>
            <a:ext cx="5832475" cy="760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BB622F30-4656-B4CB-138C-07CAAF607A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3FE98-48B8-4FC6-A9F4-B2B6CA7B38B4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3808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0CF5606E-67F2-B4FF-1905-246C1771D6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35B21-FD01-4C1F-AF8C-691AC72501C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31381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938963" y="215900"/>
            <a:ext cx="2205037" cy="51784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323850" y="215900"/>
            <a:ext cx="6462713" cy="51784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F1B4206D-1B88-44E3-6ED0-DFA0F22334C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016BF-185F-4548-BE47-AEC3A1FE7D0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3986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3850" y="215900"/>
            <a:ext cx="7843838" cy="50323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89513" y="1727200"/>
            <a:ext cx="4154487" cy="36671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B3D77C00-9A23-25F9-298C-DFB5C5AF72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A054C-BCC2-4F28-9143-5D1CCB9D07EE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7849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3850" y="215900"/>
            <a:ext cx="7843838" cy="50323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989513" y="1727200"/>
            <a:ext cx="4154487" cy="17573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989513" y="3636963"/>
            <a:ext cx="4154487" cy="17573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110">
            <a:extLst>
              <a:ext uri="{FF2B5EF4-FFF2-40B4-BE49-F238E27FC236}">
                <a16:creationId xmlns:a16="http://schemas.microsoft.com/office/drawing/2014/main" id="{652480D2-D56A-7A21-D3D8-D36BDDA0A7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C405B-43B7-4B6F-955D-41EDABD4664B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862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7">
            <a:extLst>
              <a:ext uri="{FF2B5EF4-FFF2-40B4-BE49-F238E27FC236}">
                <a16:creationId xmlns:a16="http://schemas.microsoft.com/office/drawing/2014/main" id="{BEED9454-82FF-B884-640C-D5EE51F53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27200"/>
            <a:ext cx="8459787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7" name="Rectangle 111">
            <a:extLst>
              <a:ext uri="{FF2B5EF4-FFF2-40B4-BE49-F238E27FC236}">
                <a16:creationId xmlns:a16="http://schemas.microsoft.com/office/drawing/2014/main" id="{706B28A6-FF42-5A1E-820D-441FB46EA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78438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grpSp>
        <p:nvGrpSpPr>
          <p:cNvPr id="1028" name="Group 112">
            <a:extLst>
              <a:ext uri="{FF2B5EF4-FFF2-40B4-BE49-F238E27FC236}">
                <a16:creationId xmlns:a16="http://schemas.microsoft.com/office/drawing/2014/main" id="{2F01334F-2580-43AC-674C-0A7A366A8C9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87413"/>
            <a:ext cx="9893300" cy="304800"/>
            <a:chOff x="0" y="624"/>
            <a:chExt cx="6232" cy="192"/>
          </a:xfrm>
        </p:grpSpPr>
        <p:sp>
          <p:nvSpPr>
            <p:cNvPr id="104561" name="Rectangle 113">
              <a:extLst>
                <a:ext uri="{FF2B5EF4-FFF2-40B4-BE49-F238E27FC236}">
                  <a16:creationId xmlns:a16="http://schemas.microsoft.com/office/drawing/2014/main" id="{F7D00B24-539E-B321-B72E-02F554D60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it-IT" altLang="it-IT"/>
            </a:p>
          </p:txBody>
        </p:sp>
        <p:sp>
          <p:nvSpPr>
            <p:cNvPr id="104562" name="Rectangle 114">
              <a:extLst>
                <a:ext uri="{FF2B5EF4-FFF2-40B4-BE49-F238E27FC236}">
                  <a16:creationId xmlns:a16="http://schemas.microsoft.com/office/drawing/2014/main" id="{286E0927-0DEE-345A-B205-CC80652D9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it-IT" altLang="it-IT"/>
            </a:p>
          </p:txBody>
        </p:sp>
      </p:grpSp>
      <p:sp>
        <p:nvSpPr>
          <p:cNvPr id="104558" name="Rectangle 110">
            <a:extLst>
              <a:ext uri="{FF2B5EF4-FFF2-40B4-BE49-F238E27FC236}">
                <a16:creationId xmlns:a16="http://schemas.microsoft.com/office/drawing/2014/main" id="{22B6C4DA-15B7-382A-43BB-D893F1FDF5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5638" y="6026150"/>
            <a:ext cx="23320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C5C7D1B6-5A82-4230-B235-C33A4628B54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2" charset="-128"/>
          <a:cs typeface="ＭＳ Ｐゴシック" pitchFamily="-112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>
          <a:solidFill>
            <a:srgbClr val="000000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>
          <a:solidFill>
            <a:srgbClr val="000000"/>
          </a:solidFill>
          <a:latin typeface="+mn-lt"/>
          <a:ea typeface="ＭＳ Ｐゴシック" pitchFamily="-111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>
          <a:solidFill>
            <a:srgbClr val="000000"/>
          </a:solidFill>
          <a:latin typeface="+mn-lt"/>
          <a:ea typeface="ＭＳ Ｐゴシック" pitchFamily="-111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>
          <a:solidFill>
            <a:srgbClr val="000000"/>
          </a:solidFill>
          <a:latin typeface="+mn-lt"/>
          <a:ea typeface="ＭＳ Ｐゴシック" pitchFamily="-111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sz="2000">
          <a:solidFill>
            <a:srgbClr val="000000"/>
          </a:solidFill>
          <a:latin typeface="+mn-lt"/>
          <a:ea typeface="ＭＳ Ｐゴシック" pitchFamily="-111" charset="-128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audio" Target="../media/audio2.wav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5">
            <a:extLst>
              <a:ext uri="{FF2B5EF4-FFF2-40B4-BE49-F238E27FC236}">
                <a16:creationId xmlns:a16="http://schemas.microsoft.com/office/drawing/2014/main" id="{E8EDD265-0792-624D-08F3-E079CF8AED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18C07B-31E5-4D80-806C-19A1B4BDC057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0" name="Rectangle 8">
            <a:extLst>
              <a:ext uri="{FF2B5EF4-FFF2-40B4-BE49-F238E27FC236}">
                <a16:creationId xmlns:a16="http://schemas.microsoft.com/office/drawing/2014/main" id="{4061AC90-7AE8-CB9C-6A8D-AFF82C8C3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2667000"/>
            <a:ext cx="8089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chemeClr val="tx1"/>
                </a:solidFill>
              </a:rPr>
              <a:t>Macchine Sequenziali</a:t>
            </a:r>
            <a:endParaRPr lang="it-IT" altLang="it-IT" sz="24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Dipartimento di Informatica e Sistemistica</a:t>
            </a: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Università Degli Studi di Napoli Federico II</a:t>
            </a:r>
          </a:p>
        </p:txBody>
      </p:sp>
      <p:sp>
        <p:nvSpPr>
          <p:cNvPr id="17411" name="Rectangle 12">
            <a:extLst>
              <a:ext uri="{FF2B5EF4-FFF2-40B4-BE49-F238E27FC236}">
                <a16:creationId xmlns:a16="http://schemas.microsoft.com/office/drawing/2014/main" id="{D70C9A35-FCEC-21C9-7016-CB92F97E84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4725" y="989013"/>
            <a:ext cx="7845425" cy="957262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Corso di Reti Logiche</a:t>
            </a:r>
            <a:endParaRPr lang="it-IT" altLang="it-IT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egnaposto numero diapositiva 3">
            <a:extLst>
              <a:ext uri="{FF2B5EF4-FFF2-40B4-BE49-F238E27FC236}">
                <a16:creationId xmlns:a16="http://schemas.microsoft.com/office/drawing/2014/main" id="{79581C78-C5CD-8697-BD63-C213FE698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892497-AAC5-4DDE-86F0-B8E940CF4761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129E05A-2353-7B70-136C-A628F5C0E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 flip flop - 1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6C38E8-1015-B356-ECE3-78D72568E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239838"/>
            <a:ext cx="8748713" cy="169703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Generalità</a:t>
            </a:r>
          </a:p>
          <a:p>
            <a:pPr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Elementi fondamentali (semplici reti sequenziali)</a:t>
            </a:r>
          </a:p>
          <a:p>
            <a:pPr lvl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per la memorizzazione</a:t>
            </a:r>
          </a:p>
          <a:p>
            <a:pPr lvl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per la costituzione di registri</a:t>
            </a:r>
          </a:p>
          <a:p>
            <a:pPr lvl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per la costruzione di reti sequenziali</a:t>
            </a:r>
          </a:p>
        </p:txBody>
      </p:sp>
      <p:sp>
        <p:nvSpPr>
          <p:cNvPr id="431109" name="Rectangle 5">
            <a:extLst>
              <a:ext uri="{FF2B5EF4-FFF2-40B4-BE49-F238E27FC236}">
                <a16:creationId xmlns:a16="http://schemas.microsoft.com/office/drawing/2014/main" id="{0AD31723-9853-9211-CEC6-F80993C42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7202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it-IT" altLang="it-IT"/>
          </a:p>
        </p:txBody>
      </p:sp>
      <p:pic>
        <p:nvPicPr>
          <p:cNvPr id="19461" name="Picture 6">
            <a:extLst>
              <a:ext uri="{FF2B5EF4-FFF2-40B4-BE49-F238E27FC236}">
                <a16:creationId xmlns:a16="http://schemas.microsoft.com/office/drawing/2014/main" id="{56003627-8929-9EB5-A077-B6CDABDB8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54"/>
          <a:stretch>
            <a:fillRect/>
          </a:stretch>
        </p:blipFill>
        <p:spPr bwMode="auto">
          <a:xfrm>
            <a:off x="7767638" y="2384425"/>
            <a:ext cx="1379537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Rectangle 7">
            <a:extLst>
              <a:ext uri="{FF2B5EF4-FFF2-40B4-BE49-F238E27FC236}">
                <a16:creationId xmlns:a16="http://schemas.microsoft.com/office/drawing/2014/main" id="{91DE945F-469D-45FF-1AC7-C8876EFAB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3168650"/>
            <a:ext cx="7573962" cy="268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Memorizzano un bit avendo in uscita 2 stati stabili 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i="1">
                <a:solidFill>
                  <a:schemeClr val="tx1"/>
                </a:solidFill>
              </a:rPr>
              <a:t>stato di SET, </a:t>
            </a:r>
            <a:r>
              <a:rPr lang="it-IT" altLang="it-IT" sz="2000">
                <a:solidFill>
                  <a:schemeClr val="tx1"/>
                </a:solidFill>
              </a:rPr>
              <a:t>o alto, o stato "l“: Q=1, Q=0; 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i="1">
                <a:solidFill>
                  <a:schemeClr val="tx1"/>
                </a:solidFill>
              </a:rPr>
              <a:t>stato di RESET, </a:t>
            </a:r>
            <a:r>
              <a:rPr lang="it-IT" altLang="it-IT" sz="2000">
                <a:solidFill>
                  <a:schemeClr val="tx1"/>
                </a:solidFill>
              </a:rPr>
              <a:t>o basso, o stato "0”: Q=0, Q=1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Hanno in ingresso diversi segnali da cui traggono il nome, p.e. 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</a:rPr>
              <a:t>R,S; flip-flop RS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</a:rPr>
              <a:t>D; flip-flop D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</a:rPr>
              <a:t>T;  J,K: flip-flop T, flip flop JK</a:t>
            </a:r>
          </a:p>
        </p:txBody>
      </p:sp>
    </p:spTree>
  </p:cSld>
  <p:clrMapOvr>
    <a:masterClrMapping/>
  </p:clrMapOvr>
  <p:transition advTm="9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egnaposto numero diapositiva 3">
            <a:extLst>
              <a:ext uri="{FF2B5EF4-FFF2-40B4-BE49-F238E27FC236}">
                <a16:creationId xmlns:a16="http://schemas.microsoft.com/office/drawing/2014/main" id="{76F9AD07-7CBF-408C-3B6A-38CC5F1C2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D2E483-5D7A-4DA7-BA11-744EE07547DD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E4E988BD-0203-D185-D213-D3191135E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 flip flop - 2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E242A8D-5930-4000-3130-0837F49B8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4025" y="1741488"/>
            <a:ext cx="8748713" cy="21653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Tempificazione</a:t>
            </a:r>
          </a:p>
          <a:p>
            <a:pPr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Flip-flop abilitato (o sincronizzato): possiede un segnale di ingresso, A,  che ne abilita il funzionamento</a:t>
            </a:r>
          </a:p>
          <a:p>
            <a:pPr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Un flip-flop abilitato può essere:</a:t>
            </a:r>
          </a:p>
          <a:p>
            <a:pPr lvl="1">
              <a:lnSpc>
                <a:spcPct val="9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Latch</a:t>
            </a:r>
            <a:r>
              <a:rPr lang="it-IT" altLang="it-IT" sz="2000">
                <a:ea typeface="ＭＳ Ｐゴシック" panose="020B0600070205080204" pitchFamily="34" charset="-128"/>
              </a:rPr>
              <a:t>:</a:t>
            </a:r>
            <a:r>
              <a:rPr lang="it-IT" altLang="it-IT" sz="1600">
                <a:ea typeface="ＭＳ Ｐゴシック" panose="020B0600070205080204" pitchFamily="34" charset="-128"/>
              </a:rPr>
              <a:t>cattura gli ingressi sempre che sia A=attivo (p.e. A=1)</a:t>
            </a:r>
          </a:p>
          <a:p>
            <a:pPr lvl="1">
              <a:lnSpc>
                <a:spcPct val="9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Edge triggered: </a:t>
            </a:r>
            <a:r>
              <a:rPr lang="it-IT" altLang="it-IT" sz="1600">
                <a:ea typeface="ＭＳ Ｐゴシック" panose="020B0600070205080204" pitchFamily="34" charset="-128"/>
              </a:rPr>
              <a:t>cattura gli ingressi in corrispondenza di una variazione di A (fronte di salita:0</a:t>
            </a:r>
            <a:r>
              <a:rPr lang="it-IT" altLang="it-IT" sz="1600">
                <a:ea typeface="ＭＳ Ｐゴシック" panose="020B0600070205080204" pitchFamily="34" charset="-128"/>
                <a:sym typeface="Symbol" panose="05050102010706020507" pitchFamily="18" charset="2"/>
              </a:rPr>
              <a:t>1, o di disceso 1 0)</a:t>
            </a:r>
          </a:p>
        </p:txBody>
      </p:sp>
      <p:sp>
        <p:nvSpPr>
          <p:cNvPr id="447498" name="Rectangle 10">
            <a:extLst>
              <a:ext uri="{FF2B5EF4-FFF2-40B4-BE49-F238E27FC236}">
                <a16:creationId xmlns:a16="http://schemas.microsoft.com/office/drawing/2014/main" id="{41B216F3-1B8A-30B1-760A-F017908E5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905250"/>
            <a:ext cx="4038600" cy="1981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it-IT" altLang="it-IT"/>
          </a:p>
        </p:txBody>
      </p:sp>
      <p:sp>
        <p:nvSpPr>
          <p:cNvPr id="21509" name="Text Box 11">
            <a:extLst>
              <a:ext uri="{FF2B5EF4-FFF2-40B4-BE49-F238E27FC236}">
                <a16:creationId xmlns:a16="http://schemas.microsoft.com/office/drawing/2014/main" id="{7551BB78-624E-6A9C-A953-CE231A5A7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57650"/>
            <a:ext cx="12763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Latch</a:t>
            </a:r>
          </a:p>
        </p:txBody>
      </p:sp>
      <p:sp>
        <p:nvSpPr>
          <p:cNvPr id="21510" name="Text Box 12">
            <a:extLst>
              <a:ext uri="{FF2B5EF4-FFF2-40B4-BE49-F238E27FC236}">
                <a16:creationId xmlns:a16="http://schemas.microsoft.com/office/drawing/2014/main" id="{9AC62C8E-6A05-8425-1D90-78887B1CD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350" y="3987800"/>
            <a:ext cx="12763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Edge </a:t>
            </a:r>
            <a:r>
              <a:rPr lang="it-IT" altLang="it-IT" sz="2400">
                <a:solidFill>
                  <a:schemeClr val="tx1"/>
                </a:solidFill>
                <a:latin typeface="Times" panose="02020603050405020304" pitchFamily="18" charset="0"/>
              </a:rPr>
              <a:t>↑</a:t>
            </a:r>
          </a:p>
        </p:txBody>
      </p:sp>
      <p:sp>
        <p:nvSpPr>
          <p:cNvPr id="447502" name="Rectangle 14">
            <a:extLst>
              <a:ext uri="{FF2B5EF4-FFF2-40B4-BE49-F238E27FC236}">
                <a16:creationId xmlns:a16="http://schemas.microsoft.com/office/drawing/2014/main" id="{D0259473-9E9D-925C-DD1A-B915DC22B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3905250"/>
            <a:ext cx="4038600" cy="1981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it-IT" altLang="it-IT"/>
          </a:p>
        </p:txBody>
      </p:sp>
      <p:grpSp>
        <p:nvGrpSpPr>
          <p:cNvPr id="21512" name="Group 17">
            <a:extLst>
              <a:ext uri="{FF2B5EF4-FFF2-40B4-BE49-F238E27FC236}">
                <a16:creationId xmlns:a16="http://schemas.microsoft.com/office/drawing/2014/main" id="{137E7990-F219-2A4F-DBEE-1A5403C1521B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4330700"/>
            <a:ext cx="3271838" cy="1514475"/>
            <a:chOff x="880" y="2728"/>
            <a:chExt cx="2061" cy="954"/>
          </a:xfrm>
        </p:grpSpPr>
        <p:pic>
          <p:nvPicPr>
            <p:cNvPr id="21516" name="Picture 7">
              <a:extLst>
                <a:ext uri="{FF2B5EF4-FFF2-40B4-BE49-F238E27FC236}">
                  <a16:creationId xmlns:a16="http://schemas.microsoft.com/office/drawing/2014/main" id="{E84F73B6-64AC-DDD8-C77F-ADB43729E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" y="2728"/>
              <a:ext cx="1920" cy="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7" name="Text Box 15">
              <a:extLst>
                <a:ext uri="{FF2B5EF4-FFF2-40B4-BE49-F238E27FC236}">
                  <a16:creationId xmlns:a16="http://schemas.microsoft.com/office/drawing/2014/main" id="{5D230AC2-3C65-D919-F21A-4F0BB7420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0" y="2872"/>
              <a:ext cx="328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it-IT" sz="280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21513" name="Group 18">
            <a:extLst>
              <a:ext uri="{FF2B5EF4-FFF2-40B4-BE49-F238E27FC236}">
                <a16:creationId xmlns:a16="http://schemas.microsoft.com/office/drawing/2014/main" id="{DDFC9A24-15DC-CD0E-A796-702FD894315D}"/>
              </a:ext>
            </a:extLst>
          </p:cNvPr>
          <p:cNvGrpSpPr>
            <a:grpSpLocks/>
          </p:cNvGrpSpPr>
          <p:nvPr/>
        </p:nvGrpSpPr>
        <p:grpSpPr bwMode="auto">
          <a:xfrm>
            <a:off x="5588000" y="4259263"/>
            <a:ext cx="3048000" cy="1581150"/>
            <a:chOff x="3520" y="2683"/>
            <a:chExt cx="1920" cy="996"/>
          </a:xfrm>
        </p:grpSpPr>
        <p:pic>
          <p:nvPicPr>
            <p:cNvPr id="21514" name="Picture 8">
              <a:extLst>
                <a:ext uri="{FF2B5EF4-FFF2-40B4-BE49-F238E27FC236}">
                  <a16:creationId xmlns:a16="http://schemas.microsoft.com/office/drawing/2014/main" id="{109E563C-960E-E160-5980-920D28B611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4" y="2683"/>
              <a:ext cx="1806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5" name="Text Box 16">
              <a:extLst>
                <a:ext uri="{FF2B5EF4-FFF2-40B4-BE49-F238E27FC236}">
                  <a16:creationId xmlns:a16="http://schemas.microsoft.com/office/drawing/2014/main" id="{AB40D552-85D1-48F7-B046-AB7B853DD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2848"/>
              <a:ext cx="328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it-IT" sz="2800">
                  <a:solidFill>
                    <a:schemeClr val="tx1"/>
                  </a:solidFill>
                </a:rPr>
                <a:t>A</a:t>
              </a:r>
            </a:p>
          </p:txBody>
        </p:sp>
      </p:grpSp>
    </p:spTree>
  </p:cSld>
  <p:clrMapOvr>
    <a:masterClrMapping/>
  </p:clrMapOvr>
  <p:transition advTm="89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egnaposto numero diapositiva 3">
            <a:extLst>
              <a:ext uri="{FF2B5EF4-FFF2-40B4-BE49-F238E27FC236}">
                <a16:creationId xmlns:a16="http://schemas.microsoft.com/office/drawing/2014/main" id="{3F5CACEE-F006-032D-F513-BC478D6CF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1B1358-3E23-4EB5-B4AE-E8622673D54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F36FBB1-2445-7983-BC1C-C5A8C5FE8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 flip flop - 3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042F9FE-75E2-3CE0-660F-DCB5CA143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944688"/>
            <a:ext cx="8748713" cy="3232150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Struttura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Un Flip-flop è caratterizzato da.</a:t>
            </a:r>
          </a:p>
          <a:p>
            <a:pPr lvl="1"/>
            <a:r>
              <a:rPr lang="it-IT" altLang="it-IT" sz="2400" b="1">
                <a:ea typeface="ＭＳ Ｐゴシック" panose="020B0600070205080204" pitchFamily="34" charset="-128"/>
              </a:rPr>
              <a:t>Struttura interna</a:t>
            </a:r>
            <a:r>
              <a:rPr lang="it-IT" altLang="it-IT" sz="2400">
                <a:ea typeface="ＭＳ Ｐゴシック" panose="020B0600070205080204" pitchFamily="34" charset="-128"/>
              </a:rPr>
              <a:t>, che può essere di una rete asincrona (vedi esempio di RS) o sincrona (vedi in seguito).</a:t>
            </a:r>
          </a:p>
          <a:p>
            <a:pPr lvl="1"/>
            <a:r>
              <a:rPr lang="it-IT" altLang="it-IT" sz="2400">
                <a:ea typeface="ＭＳ Ｐゴシック" panose="020B0600070205080204" pitchFamily="34" charset="-128"/>
              </a:rPr>
              <a:t>Una </a:t>
            </a:r>
            <a:r>
              <a:rPr lang="it-IT" altLang="it-IT" sz="2400" b="1">
                <a:ea typeface="ＭＳ Ｐゴシック" panose="020B0600070205080204" pitchFamily="34" charset="-128"/>
              </a:rPr>
              <a:t>equazione di stato</a:t>
            </a:r>
            <a:r>
              <a:rPr lang="it-IT" altLang="it-IT" sz="2400">
                <a:ea typeface="ＭＳ Ｐゴシック" panose="020B0600070205080204" pitchFamily="34" charset="-128"/>
              </a:rPr>
              <a:t>, che (al di là della struttura) indica l’uscita seguente in funzione dell’uscita precedente e degli ingressi.</a:t>
            </a:r>
          </a:p>
        </p:txBody>
      </p:sp>
      <p:sp>
        <p:nvSpPr>
          <p:cNvPr id="449540" name="Rectangle 4">
            <a:extLst>
              <a:ext uri="{FF2B5EF4-FFF2-40B4-BE49-F238E27FC236}">
                <a16:creationId xmlns:a16="http://schemas.microsoft.com/office/drawing/2014/main" id="{C99AD567-F5EF-96B4-4A6C-B52A40573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7202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it-IT" altLang="it-IT"/>
          </a:p>
        </p:txBody>
      </p:sp>
      <p:pic>
        <p:nvPicPr>
          <p:cNvPr id="449547" name="Picture 11">
            <a:hlinkClick r:id="" action="ppaction://media"/>
            <a:extLst>
              <a:ext uri="{FF2B5EF4-FFF2-40B4-BE49-F238E27FC236}">
                <a16:creationId xmlns:a16="http://schemas.microsoft.com/office/drawing/2014/main" id="{D6DF8089-60B6-656E-F809-C6C115D77AA3}"/>
              </a:ext>
            </a:extLst>
          </p:cNvPr>
          <p:cNvPicPr>
            <a:picLocks noRot="1" noChangeAspect="1" noChangeArrowheads="1"/>
          </p:cNvPicPr>
          <p:nvPr>
            <a:wavAudioFile r:embed="rId1" name="0EBFF786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075" y="58689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4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95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954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egnaposto numero diapositiva 3">
            <a:extLst>
              <a:ext uri="{FF2B5EF4-FFF2-40B4-BE49-F238E27FC236}">
                <a16:creationId xmlns:a16="http://schemas.microsoft.com/office/drawing/2014/main" id="{52B480F0-A199-424E-431C-7872A7D07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784BBF-302B-4693-A5FF-956FEA67EE6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647CA939-B090-6034-8018-0F9176930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 flip flop - 4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115A9D0-5EE2-A44F-A58C-C54A2663C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944688"/>
            <a:ext cx="8748713" cy="3232150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Flip-flop</a:t>
            </a:r>
          </a:p>
          <a:p>
            <a:pPr lvl="1"/>
            <a:r>
              <a:rPr lang="it-IT" altLang="it-IT" sz="2400" b="1">
                <a:ea typeface="ＭＳ Ｐゴシック" panose="020B0600070205080204" pitchFamily="34" charset="-128"/>
              </a:rPr>
              <a:t>A memorizzazione dell’ingresso (RS, D)</a:t>
            </a:r>
          </a:p>
          <a:p>
            <a:pPr lvl="1"/>
            <a:r>
              <a:rPr lang="it-IT" altLang="it-IT" sz="2400" b="1">
                <a:ea typeface="ＭＳ Ｐゴシック" panose="020B0600070205080204" pitchFamily="34" charset="-128"/>
              </a:rPr>
              <a:t>A commutazione (T, JK)</a:t>
            </a:r>
          </a:p>
          <a:p>
            <a:pPr lvl="1"/>
            <a:r>
              <a:rPr lang="it-IT" altLang="it-IT" sz="2400" b="1">
                <a:ea typeface="ＭＳ Ｐゴシック" panose="020B0600070205080204" pitchFamily="34" charset="-128"/>
              </a:rPr>
              <a:t>Misti 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449540" name="Rectangle 4">
            <a:extLst>
              <a:ext uri="{FF2B5EF4-FFF2-40B4-BE49-F238E27FC236}">
                <a16:creationId xmlns:a16="http://schemas.microsoft.com/office/drawing/2014/main" id="{874605D0-AFD0-2C36-D8C3-67FA77AEA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7202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it-IT" altLang="it-IT"/>
          </a:p>
        </p:txBody>
      </p:sp>
      <p:pic>
        <p:nvPicPr>
          <p:cNvPr id="449547" name="Picture 11">
            <a:hlinkClick r:id="" action="ppaction://media"/>
            <a:extLst>
              <a:ext uri="{FF2B5EF4-FFF2-40B4-BE49-F238E27FC236}">
                <a16:creationId xmlns:a16="http://schemas.microsoft.com/office/drawing/2014/main" id="{928A91A6-3932-6F70-53D6-0F062D23567E}"/>
              </a:ext>
            </a:extLst>
          </p:cNvPr>
          <p:cNvPicPr>
            <a:picLocks noRot="1" noChangeAspect="1" noChangeArrowheads="1"/>
          </p:cNvPicPr>
          <p:nvPr>
            <a:wavAudioFile r:embed="rId1" name="0EBFF786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075" y="58689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4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95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954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8A1026B9-25E6-AD03-7C26-77CC5CFF4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109075" cy="50323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 flop RS – Il comportamento</a:t>
            </a:r>
          </a:p>
        </p:txBody>
      </p:sp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FAEDEBFE-FAB8-9E70-8324-3290169C263F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474663" y="1449388"/>
          <a:ext cx="874395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0" imgH="0" progId="Word.Document.8">
                  <p:embed/>
                </p:oleObj>
              </mc:Choice>
              <mc:Fallback>
                <p:oleObj name="Document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1449388"/>
                        <a:ext cx="874395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361658AF-DA82-8333-5E4C-FB0921901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4663" y="4300538"/>
          <a:ext cx="20923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4300538"/>
                        <a:ext cx="20923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5">
            <a:extLst>
              <a:ext uri="{FF2B5EF4-FFF2-40B4-BE49-F238E27FC236}">
                <a16:creationId xmlns:a16="http://schemas.microsoft.com/office/drawing/2014/main" id="{0280409B-370E-B2B8-6C52-E308E8474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188" y="4325938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Equazione di stato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DCA1C3FB-C2CF-6E7A-3731-7E972807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RS sincronizzato</a:t>
            </a:r>
          </a:p>
        </p:txBody>
      </p:sp>
      <p:sp>
        <p:nvSpPr>
          <p:cNvPr id="28674" name="Rectangle 5">
            <a:extLst>
              <a:ext uri="{FF2B5EF4-FFF2-40B4-BE49-F238E27FC236}">
                <a16:creationId xmlns:a16="http://schemas.microsoft.com/office/drawing/2014/main" id="{9B0D4B21-D7A9-AD4A-BA14-74DA2A5C8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276600"/>
            <a:ext cx="3581400" cy="1828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D807248B-4B2A-DF3F-F7B0-50D63ADB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90800"/>
            <a:ext cx="3581400" cy="25146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28676" name="Text Box 8">
            <a:extLst>
              <a:ext uri="{FF2B5EF4-FFF2-40B4-BE49-F238E27FC236}">
                <a16:creationId xmlns:a16="http://schemas.microsoft.com/office/drawing/2014/main" id="{1363AF4A-5AF7-1422-C77A-A6D6C7DC5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5240338"/>
            <a:ext cx="3200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Latch</a:t>
            </a:r>
          </a:p>
        </p:txBody>
      </p:sp>
      <p:sp>
        <p:nvSpPr>
          <p:cNvPr id="28677" name="Text Box 9">
            <a:extLst>
              <a:ext uri="{FF2B5EF4-FFF2-40B4-BE49-F238E27FC236}">
                <a16:creationId xmlns:a16="http://schemas.microsoft.com/office/drawing/2014/main" id="{7EA66A50-3268-02ED-51DA-3CC4C6BBF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3" y="5240338"/>
            <a:ext cx="3886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A variazione del fronte </a:t>
            </a:r>
          </a:p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(edge-triggered)</a:t>
            </a:r>
          </a:p>
        </p:txBody>
      </p:sp>
      <p:graphicFrame>
        <p:nvGraphicFramePr>
          <p:cNvPr id="28678" name="Object 2">
            <a:extLst>
              <a:ext uri="{FF2B5EF4-FFF2-40B4-BE49-F238E27FC236}">
                <a16:creationId xmlns:a16="http://schemas.microsoft.com/office/drawing/2014/main" id="{F0639FCF-4FF3-0051-F2C8-0201B305A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013" y="877888"/>
          <a:ext cx="4200525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4115011" imgH="4242018" progId="Word.Picture.8">
                  <p:embed/>
                </p:oleObj>
              </mc:Choice>
              <mc:Fallback>
                <p:oleObj name="Immagine" r:id="rId2" imgW="4115011" imgH="4242018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877888"/>
                        <a:ext cx="4200525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3">
            <a:extLst>
              <a:ext uri="{FF2B5EF4-FFF2-40B4-BE49-F238E27FC236}">
                <a16:creationId xmlns:a16="http://schemas.microsoft.com/office/drawing/2014/main" id="{1DF0AB30-AA06-053F-8909-DCBEBE2EB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0338" y="2460625"/>
          <a:ext cx="29718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4115011" imgH="3505380" progId="Word.Picture.8">
                  <p:embed/>
                </p:oleObj>
              </mc:Choice>
              <mc:Fallback>
                <p:oleObj name="Immagine" r:id="rId4" imgW="4115011" imgH="350538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2460625"/>
                        <a:ext cx="29718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D674BB8-60EC-4F55-6D9A-AE7A5DDC8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Un RS sincronizzato - latch</a:t>
            </a:r>
          </a:p>
        </p:txBody>
      </p:sp>
      <p:graphicFrame>
        <p:nvGraphicFramePr>
          <p:cNvPr id="29698" name="Object 2">
            <a:extLst>
              <a:ext uri="{FF2B5EF4-FFF2-40B4-BE49-F238E27FC236}">
                <a16:creationId xmlns:a16="http://schemas.microsoft.com/office/drawing/2014/main" id="{3DB97F0F-EA86-7BC4-0A88-1B1B17935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124200"/>
          <a:ext cx="4549775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124200"/>
                        <a:ext cx="4549775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82">
            <a:extLst>
              <a:ext uri="{FF2B5EF4-FFF2-40B4-BE49-F238E27FC236}">
                <a16:creationId xmlns:a16="http://schemas.microsoft.com/office/drawing/2014/main" id="{B0D95574-5F5A-F26C-4F58-B6CCF14D9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845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1"/>
                </a:solidFill>
              </a:rPr>
              <a:t>Possibile realizzazione di un flip-flop RS sincronizzato di tipo latch a partire da un RS asincrono</a:t>
            </a:r>
            <a:endParaRPr lang="it-IT" altLang="it-IT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52A06AD2-6A29-807E-DDE4-0521E2DEE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048750" cy="503238"/>
          </a:xfrm>
        </p:spPr>
        <p:txBody>
          <a:bodyPr/>
          <a:lstStyle/>
          <a:p>
            <a:r>
              <a:rPr lang="it-IT" altLang="it-IT" sz="3600">
                <a:ea typeface="ＭＳ Ｐゴシック" panose="020B0600070205080204" pitchFamily="34" charset="-128"/>
              </a:rPr>
              <a:t>Un RS sincronizzato – edge-triggered</a:t>
            </a:r>
          </a:p>
        </p:txBody>
      </p:sp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25A0F03B-F3B6-7629-28AC-3F2889531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676400"/>
          <a:ext cx="518160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8965" t="23940" r="16551" b="9808"/>
                      <a:stretch>
                        <a:fillRect/>
                      </a:stretch>
                    </p:blipFill>
                    <p:spPr bwMode="auto">
                      <a:xfrm>
                        <a:off x="609600" y="1676400"/>
                        <a:ext cx="518160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Line 5">
            <a:extLst>
              <a:ext uri="{FF2B5EF4-FFF2-40B4-BE49-F238E27FC236}">
                <a16:creationId xmlns:a16="http://schemas.microsoft.com/office/drawing/2014/main" id="{F109F4AC-06F0-B1AB-7125-8B1DABA15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209800"/>
            <a:ext cx="611188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4" name="Line 7">
            <a:extLst>
              <a:ext uri="{FF2B5EF4-FFF2-40B4-BE49-F238E27FC236}">
                <a16:creationId xmlns:a16="http://schemas.microsoft.com/office/drawing/2014/main" id="{49190A10-B1A2-A40A-0C96-9CBA3DFA8B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17526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5" name="Line 8">
            <a:extLst>
              <a:ext uri="{FF2B5EF4-FFF2-40B4-BE49-F238E27FC236}">
                <a16:creationId xmlns:a16="http://schemas.microsoft.com/office/drawing/2014/main" id="{3D65E674-3B8E-E87D-58C8-D90FA797E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388" y="1752600"/>
            <a:ext cx="1065212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6" name="Line 9">
            <a:extLst>
              <a:ext uri="{FF2B5EF4-FFF2-40B4-BE49-F238E27FC236}">
                <a16:creationId xmlns:a16="http://schemas.microsoft.com/office/drawing/2014/main" id="{8533D807-03B3-C35E-EDDF-D918BB1F1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209800"/>
            <a:ext cx="6096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7" name="Line 10">
            <a:extLst>
              <a:ext uri="{FF2B5EF4-FFF2-40B4-BE49-F238E27FC236}">
                <a16:creationId xmlns:a16="http://schemas.microsoft.com/office/drawing/2014/main" id="{6001E8E0-86D2-7096-F00C-563CA7DB5E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9600" y="17526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8" name="Line 11">
            <a:extLst>
              <a:ext uri="{FF2B5EF4-FFF2-40B4-BE49-F238E27FC236}">
                <a16:creationId xmlns:a16="http://schemas.microsoft.com/office/drawing/2014/main" id="{AAF5F74E-F272-246F-B32C-AFAECF017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00400"/>
            <a:ext cx="914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29" name="Line 12">
            <a:extLst>
              <a:ext uri="{FF2B5EF4-FFF2-40B4-BE49-F238E27FC236}">
                <a16:creationId xmlns:a16="http://schemas.microsoft.com/office/drawing/2014/main" id="{DC6378EE-17DA-CCA7-5B62-D74986F6C0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27432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0" name="Line 13">
            <a:extLst>
              <a:ext uri="{FF2B5EF4-FFF2-40B4-BE49-F238E27FC236}">
                <a16:creationId xmlns:a16="http://schemas.microsoft.com/office/drawing/2014/main" id="{DCC34B1E-934D-46BA-FA01-A5315B032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7432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1" name="Line 14">
            <a:extLst>
              <a:ext uri="{FF2B5EF4-FFF2-40B4-BE49-F238E27FC236}">
                <a16:creationId xmlns:a16="http://schemas.microsoft.com/office/drawing/2014/main" id="{DC714EC6-98B7-DD51-662F-54E759EDC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200400"/>
            <a:ext cx="914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2" name="Line 15">
            <a:extLst>
              <a:ext uri="{FF2B5EF4-FFF2-40B4-BE49-F238E27FC236}">
                <a16:creationId xmlns:a16="http://schemas.microsoft.com/office/drawing/2014/main" id="{72CA8321-B331-7804-136D-82C4A4456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7432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3" name="Line 16">
            <a:extLst>
              <a:ext uri="{FF2B5EF4-FFF2-40B4-BE49-F238E27FC236}">
                <a16:creationId xmlns:a16="http://schemas.microsoft.com/office/drawing/2014/main" id="{87C89050-1F92-1784-ABA5-80615AF57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514600"/>
            <a:ext cx="22860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4" name="Text Box 17">
            <a:extLst>
              <a:ext uri="{FF2B5EF4-FFF2-40B4-BE49-F238E27FC236}">
                <a16:creationId xmlns:a16="http://schemas.microsoft.com/office/drawing/2014/main" id="{45F90557-2AC4-0DB8-FFC9-E5E21BFF5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0735" name="Text Box 18">
            <a:extLst>
              <a:ext uri="{FF2B5EF4-FFF2-40B4-BE49-F238E27FC236}">
                <a16:creationId xmlns:a16="http://schemas.microsoft.com/office/drawing/2014/main" id="{3A94C314-9148-D9E9-6F34-7DFF8E829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209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0736" name="Text Box 19">
            <a:extLst>
              <a:ext uri="{FF2B5EF4-FFF2-40B4-BE49-F238E27FC236}">
                <a16:creationId xmlns:a16="http://schemas.microsoft.com/office/drawing/2014/main" id="{B79CF529-31A8-E991-09C1-665FB2BCB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743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737" name="Line 20">
            <a:extLst>
              <a:ext uri="{FF2B5EF4-FFF2-40B4-BE49-F238E27FC236}">
                <a16:creationId xmlns:a16="http://schemas.microsoft.com/office/drawing/2014/main" id="{1B224852-0DB5-8896-9E96-424947084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388" y="2209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8" name="Line 21">
            <a:extLst>
              <a:ext uri="{FF2B5EF4-FFF2-40B4-BE49-F238E27FC236}">
                <a16:creationId xmlns:a16="http://schemas.microsoft.com/office/drawing/2014/main" id="{276A56B5-91CE-4277-BA11-1372C7022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7432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39" name="Line 22">
            <a:extLst>
              <a:ext uri="{FF2B5EF4-FFF2-40B4-BE49-F238E27FC236}">
                <a16:creationId xmlns:a16="http://schemas.microsoft.com/office/drawing/2014/main" id="{FA4F9977-D8D9-A938-4576-5825BCF60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7432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40" name="Line 23">
            <a:extLst>
              <a:ext uri="{FF2B5EF4-FFF2-40B4-BE49-F238E27FC236}">
                <a16:creationId xmlns:a16="http://schemas.microsoft.com/office/drawing/2014/main" id="{593D9FB9-E1FA-FA98-E3D2-8D56B7177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209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0741" name="Text Box 24">
            <a:extLst>
              <a:ext uri="{FF2B5EF4-FFF2-40B4-BE49-F238E27FC236}">
                <a16:creationId xmlns:a16="http://schemas.microsoft.com/office/drawing/2014/main" id="{CB5DF265-7039-46FB-4D34-2FF5F9A14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00</a:t>
            </a:r>
          </a:p>
        </p:txBody>
      </p:sp>
      <p:sp>
        <p:nvSpPr>
          <p:cNvPr id="30742" name="Text Box 25">
            <a:extLst>
              <a:ext uri="{FF2B5EF4-FFF2-40B4-BE49-F238E27FC236}">
                <a16:creationId xmlns:a16="http://schemas.microsoft.com/office/drawing/2014/main" id="{87C15849-CD11-BF0E-4444-92642F80C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30743" name="Text Box 26">
            <a:extLst>
              <a:ext uri="{FF2B5EF4-FFF2-40B4-BE49-F238E27FC236}">
                <a16:creationId xmlns:a16="http://schemas.microsoft.com/office/drawing/2014/main" id="{77431810-840A-2CEE-15B7-231E17EDB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0744" name="Text Box 27">
            <a:extLst>
              <a:ext uri="{FF2B5EF4-FFF2-40B4-BE49-F238E27FC236}">
                <a16:creationId xmlns:a16="http://schemas.microsoft.com/office/drawing/2014/main" id="{734DEF0C-A8A9-DDF3-B40F-E07894AF2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0745" name="Text Box 28">
            <a:extLst>
              <a:ext uri="{FF2B5EF4-FFF2-40B4-BE49-F238E27FC236}">
                <a16:creationId xmlns:a16="http://schemas.microsoft.com/office/drawing/2014/main" id="{7DC5FBF7-1CA7-6FE1-DEC1-2D4F0833E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11</a:t>
            </a:r>
          </a:p>
        </p:txBody>
      </p:sp>
      <p:pic>
        <p:nvPicPr>
          <p:cNvPr id="30746" name="Picture 104">
            <a:extLst>
              <a:ext uri="{FF2B5EF4-FFF2-40B4-BE49-F238E27FC236}">
                <a16:creationId xmlns:a16="http://schemas.microsoft.com/office/drawing/2014/main" id="{B2CC20A4-BC41-D5C1-7FA7-2561CAD6F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9" t="48959" r="55127" b="27083"/>
          <a:stretch>
            <a:fillRect/>
          </a:stretch>
        </p:blipFill>
        <p:spPr bwMode="auto">
          <a:xfrm>
            <a:off x="6934200" y="4343400"/>
            <a:ext cx="1447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8DD8A60E-1895-9ADA-407F-44EA349AC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RS master-slave</a:t>
            </a:r>
          </a:p>
        </p:txBody>
      </p:sp>
      <p:sp>
        <p:nvSpPr>
          <p:cNvPr id="31746" name="Rectangle 4">
            <a:extLst>
              <a:ext uri="{FF2B5EF4-FFF2-40B4-BE49-F238E27FC236}">
                <a16:creationId xmlns:a16="http://schemas.microsoft.com/office/drawing/2014/main" id="{9DA1B0D7-A62B-9138-2EB3-30FBAC291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5352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FDDBF987-3CB8-F03E-C4FB-20C9B521D4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8900" y="3562350"/>
          <a:ext cx="6926263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80952" imgH="1714739" progId="Paint.Picture">
                  <p:embed/>
                </p:oleObj>
              </mc:Choice>
              <mc:Fallback>
                <p:oleObj r:id="rId2" imgW="4580952" imgH="171473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3562350"/>
                        <a:ext cx="6926263" cy="260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5">
            <a:extLst>
              <a:ext uri="{FF2B5EF4-FFF2-40B4-BE49-F238E27FC236}">
                <a16:creationId xmlns:a16="http://schemas.microsoft.com/office/drawing/2014/main" id="{656A2682-BF85-368B-0F17-4CDC05E22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1311275"/>
            <a:ext cx="8637587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1"/>
                </a:solidFill>
              </a:rPr>
              <a:t>Possibile realizzazione di un flip-flop RS sincronizzato di tipo master-slave a partire da due RS.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1"/>
                </a:solidFill>
              </a:rPr>
              <a:t>E’ anche un RS E-T sul fronte di salita: se A=0, il latch y2 cattura il segnale su R o su S e, non appena A varia da 0 ad 1, y2 è ricopiato in y1=Q mentre gli ingressi di y2 restano neutri lasciandolo inalterato.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en-US" altLang="it-IT" sz="240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FA0C8A68-11F8-1B6F-0A71-7A8938D91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 flop D</a:t>
            </a:r>
          </a:p>
        </p:txBody>
      </p:sp>
      <p:sp>
        <p:nvSpPr>
          <p:cNvPr id="32770" name="Text Box 3">
            <a:extLst>
              <a:ext uri="{FF2B5EF4-FFF2-40B4-BE49-F238E27FC236}">
                <a16:creationId xmlns:a16="http://schemas.microsoft.com/office/drawing/2014/main" id="{9C86421D-C59B-9946-6891-A26580D7C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32004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Equazione di stato: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62A573E6-C832-D6FB-5221-7E9C894B3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311150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121069D9-0D27-F4CD-5ECF-97577F2B0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543300"/>
            <a:ext cx="23463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7">
            <a:extLst>
              <a:ext uri="{FF2B5EF4-FFF2-40B4-BE49-F238E27FC236}">
                <a16:creationId xmlns:a16="http://schemas.microsoft.com/office/drawing/2014/main" id="{A7CDC370-8E59-7E67-57D0-1ABD2BEE8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182813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2774" name="Object 2">
            <a:extLst>
              <a:ext uri="{FF2B5EF4-FFF2-40B4-BE49-F238E27FC236}">
                <a16:creationId xmlns:a16="http://schemas.microsoft.com/office/drawing/2014/main" id="{C0F9C939-680F-52B1-E2E7-E491F6D99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600200"/>
          <a:ext cx="2971800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Word.Picture.8">
                  <p:embed/>
                </p:oleObj>
              </mc:Choice>
              <mc:Fallback>
                <p:oleObj r:id="rId3" imgW="0" imgH="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9550"/>
                      <a:stretch>
                        <a:fillRect/>
                      </a:stretch>
                    </p:blipFill>
                    <p:spPr bwMode="auto">
                      <a:xfrm>
                        <a:off x="2590800" y="1600200"/>
                        <a:ext cx="2971800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8">
            <a:extLst>
              <a:ext uri="{FF2B5EF4-FFF2-40B4-BE49-F238E27FC236}">
                <a16:creationId xmlns:a16="http://schemas.microsoft.com/office/drawing/2014/main" id="{0C794E6E-1374-E68C-0913-98FBD039B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76800"/>
            <a:ext cx="66294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193675" indent="-193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Esiste solo nella versione sincronizzata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B65EEA8E-ECFF-D864-3E83-81C3D027D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 flop D</a:t>
            </a:r>
          </a:p>
        </p:txBody>
      </p:sp>
      <p:sp>
        <p:nvSpPr>
          <p:cNvPr id="33794" name="Rectangle 5">
            <a:extLst>
              <a:ext uri="{FF2B5EF4-FFF2-40B4-BE49-F238E27FC236}">
                <a16:creationId xmlns:a16="http://schemas.microsoft.com/office/drawing/2014/main" id="{B5F222A7-7766-4027-DAC0-C94568E0A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182813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33795" name="Text Box 7">
            <a:extLst>
              <a:ext uri="{FF2B5EF4-FFF2-40B4-BE49-F238E27FC236}">
                <a16:creationId xmlns:a16="http://schemas.microsoft.com/office/drawing/2014/main" id="{3B144D38-B95E-9EE7-88CB-361565CF7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5791200"/>
            <a:ext cx="20574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latch</a:t>
            </a:r>
          </a:p>
        </p:txBody>
      </p:sp>
      <p:sp>
        <p:nvSpPr>
          <p:cNvPr id="33796" name="Text Box 8">
            <a:extLst>
              <a:ext uri="{FF2B5EF4-FFF2-40B4-BE49-F238E27FC236}">
                <a16:creationId xmlns:a16="http://schemas.microsoft.com/office/drawing/2014/main" id="{B19FCF61-E9AC-E267-A039-616ADBC31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867400"/>
            <a:ext cx="213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edge</a:t>
            </a:r>
          </a:p>
        </p:txBody>
      </p:sp>
      <p:graphicFrame>
        <p:nvGraphicFramePr>
          <p:cNvPr id="33797" name="Object 2">
            <a:extLst>
              <a:ext uri="{FF2B5EF4-FFF2-40B4-BE49-F238E27FC236}">
                <a16:creationId xmlns:a16="http://schemas.microsoft.com/office/drawing/2014/main" id="{2997440B-7593-0684-EE53-755EA0FE3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4138" y="1563688"/>
          <a:ext cx="2971800" cy="349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3606985" imgH="4242018" progId="Word.Picture.8">
                  <p:embed/>
                </p:oleObj>
              </mc:Choice>
              <mc:Fallback>
                <p:oleObj name="Immagine" r:id="rId2" imgW="3606985" imgH="4242018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1563688"/>
                        <a:ext cx="2971800" cy="349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3">
            <a:extLst>
              <a:ext uri="{FF2B5EF4-FFF2-40B4-BE49-F238E27FC236}">
                <a16:creationId xmlns:a16="http://schemas.microsoft.com/office/drawing/2014/main" id="{769F603F-EBD6-F1BC-4EE8-C1B62A4B2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2020888"/>
          <a:ext cx="3033712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3403775" imgH="3505380" progId="Word.Picture.8">
                  <p:embed/>
                </p:oleObj>
              </mc:Choice>
              <mc:Fallback>
                <p:oleObj name="Immagine" r:id="rId4" imgW="3403775" imgH="350538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2020888"/>
                        <a:ext cx="3033712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F4488430-6CCD-A876-9337-016CE3490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 flop D  - edge triggered	</a:t>
            </a:r>
          </a:p>
        </p:txBody>
      </p:sp>
      <p:sp>
        <p:nvSpPr>
          <p:cNvPr id="34818" name="Line 3">
            <a:extLst>
              <a:ext uri="{FF2B5EF4-FFF2-40B4-BE49-F238E27FC236}">
                <a16:creationId xmlns:a16="http://schemas.microsoft.com/office/drawing/2014/main" id="{90CD853B-CECB-8DCB-8943-8B7C2609B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8938" y="2209800"/>
            <a:ext cx="6096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19" name="Line 4">
            <a:extLst>
              <a:ext uri="{FF2B5EF4-FFF2-40B4-BE49-F238E27FC236}">
                <a16:creationId xmlns:a16="http://schemas.microsoft.com/office/drawing/2014/main" id="{726BD9C3-34DE-984C-AA1D-7DB7364D63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17526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0" name="Line 5">
            <a:extLst>
              <a:ext uri="{FF2B5EF4-FFF2-40B4-BE49-F238E27FC236}">
                <a16:creationId xmlns:a16="http://schemas.microsoft.com/office/drawing/2014/main" id="{F1C38AB3-A494-63EB-CE9F-C8A183A7C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1752600"/>
            <a:ext cx="10668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1" name="Line 6">
            <a:extLst>
              <a:ext uri="{FF2B5EF4-FFF2-40B4-BE49-F238E27FC236}">
                <a16:creationId xmlns:a16="http://schemas.microsoft.com/office/drawing/2014/main" id="{6D64B615-B852-78B6-C5B0-2ED1BBE92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5338" y="2209800"/>
            <a:ext cx="6096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2" name="Line 7">
            <a:extLst>
              <a:ext uri="{FF2B5EF4-FFF2-40B4-BE49-F238E27FC236}">
                <a16:creationId xmlns:a16="http://schemas.microsoft.com/office/drawing/2014/main" id="{8B5096A0-72A6-D879-F842-863CF8E8FF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5338" y="17526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3" name="Line 8">
            <a:extLst>
              <a:ext uri="{FF2B5EF4-FFF2-40B4-BE49-F238E27FC236}">
                <a16:creationId xmlns:a16="http://schemas.microsoft.com/office/drawing/2014/main" id="{40FA88F3-D34B-7FD8-AB3F-1CAB5D466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8938" y="3200400"/>
            <a:ext cx="914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4" name="Line 9">
            <a:extLst>
              <a:ext uri="{FF2B5EF4-FFF2-40B4-BE49-F238E27FC236}">
                <a16:creationId xmlns:a16="http://schemas.microsoft.com/office/drawing/2014/main" id="{354F6DD8-FCD4-4749-7E86-891F5CAFA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3338" y="27432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5" name="Line 10">
            <a:extLst>
              <a:ext uri="{FF2B5EF4-FFF2-40B4-BE49-F238E27FC236}">
                <a16:creationId xmlns:a16="http://schemas.microsoft.com/office/drawing/2014/main" id="{C3201906-C7D4-1934-5AD9-6F7FB280A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27432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6" name="Line 11">
            <a:extLst>
              <a:ext uri="{FF2B5EF4-FFF2-40B4-BE49-F238E27FC236}">
                <a16:creationId xmlns:a16="http://schemas.microsoft.com/office/drawing/2014/main" id="{E43E4F2E-BEE3-7312-9924-E303E5DFF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538" y="3200400"/>
            <a:ext cx="914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7" name="Line 12">
            <a:extLst>
              <a:ext uri="{FF2B5EF4-FFF2-40B4-BE49-F238E27FC236}">
                <a16:creationId xmlns:a16="http://schemas.microsoft.com/office/drawing/2014/main" id="{DA586528-5A4F-4704-E52A-3D9996BDBF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0538" y="2743200"/>
            <a:ext cx="0" cy="457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8" name="Text Box 14">
            <a:extLst>
              <a:ext uri="{FF2B5EF4-FFF2-40B4-BE49-F238E27FC236}">
                <a16:creationId xmlns:a16="http://schemas.microsoft.com/office/drawing/2014/main" id="{29F56923-1C7D-B86E-0049-B3675A11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829" name="Text Box 16">
            <a:extLst>
              <a:ext uri="{FF2B5EF4-FFF2-40B4-BE49-F238E27FC236}">
                <a16:creationId xmlns:a16="http://schemas.microsoft.com/office/drawing/2014/main" id="{9E6E1A7F-24A9-3B23-5E0C-F4E2579EB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38" y="2743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4830" name="Line 17">
            <a:extLst>
              <a:ext uri="{FF2B5EF4-FFF2-40B4-BE49-F238E27FC236}">
                <a16:creationId xmlns:a16="http://schemas.microsoft.com/office/drawing/2014/main" id="{DE3E6FB5-E96D-86BB-E379-6CFEC7398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209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31" name="Line 18">
            <a:extLst>
              <a:ext uri="{FF2B5EF4-FFF2-40B4-BE49-F238E27FC236}">
                <a16:creationId xmlns:a16="http://schemas.microsoft.com/office/drawing/2014/main" id="{A128B804-FA58-BC97-A1E7-EB84DC457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27432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32" name="Line 19">
            <a:extLst>
              <a:ext uri="{FF2B5EF4-FFF2-40B4-BE49-F238E27FC236}">
                <a16:creationId xmlns:a16="http://schemas.microsoft.com/office/drawing/2014/main" id="{17903CEC-74CB-BDAD-C4CD-C5CD6F7AF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538" y="27432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33" name="Line 20">
            <a:extLst>
              <a:ext uri="{FF2B5EF4-FFF2-40B4-BE49-F238E27FC236}">
                <a16:creationId xmlns:a16="http://schemas.microsoft.com/office/drawing/2014/main" id="{5E3AD054-5ACA-4917-4F02-EB522287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5338" y="2209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34" name="Text Box 21">
            <a:extLst>
              <a:ext uri="{FF2B5EF4-FFF2-40B4-BE49-F238E27FC236}">
                <a16:creationId xmlns:a16="http://schemas.microsoft.com/office/drawing/2014/main" id="{BACC4C4A-FCF1-E2AE-E174-3FCE1BDD3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00</a:t>
            </a:r>
          </a:p>
        </p:txBody>
      </p:sp>
      <p:sp>
        <p:nvSpPr>
          <p:cNvPr id="34835" name="Text Box 22">
            <a:extLst>
              <a:ext uri="{FF2B5EF4-FFF2-40B4-BE49-F238E27FC236}">
                <a16:creationId xmlns:a16="http://schemas.microsoft.com/office/drawing/2014/main" id="{AE2D6F50-16B3-084F-39FC-AB76FDDA0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3595688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34836" name="Text Box 23">
            <a:extLst>
              <a:ext uri="{FF2B5EF4-FFF2-40B4-BE49-F238E27FC236}">
                <a16:creationId xmlns:a16="http://schemas.microsoft.com/office/drawing/2014/main" id="{3EC69B96-EBB7-0BD0-063E-D3C6C152A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4837" name="Text Box 24">
            <a:extLst>
              <a:ext uri="{FF2B5EF4-FFF2-40B4-BE49-F238E27FC236}">
                <a16:creationId xmlns:a16="http://schemas.microsoft.com/office/drawing/2014/main" id="{6C647FB3-D630-8995-96DE-526EF970A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4838" name="Text Box 25">
            <a:extLst>
              <a:ext uri="{FF2B5EF4-FFF2-40B4-BE49-F238E27FC236}">
                <a16:creationId xmlns:a16="http://schemas.microsoft.com/office/drawing/2014/main" id="{62B69F42-4F2E-854E-B4F3-C815C2F72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1538" y="35956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q</a:t>
            </a:r>
            <a:r>
              <a:rPr lang="it-IT" altLang="it-IT" sz="2400" baseline="-25000">
                <a:solidFill>
                  <a:schemeClr val="tx1"/>
                </a:solidFill>
              </a:rPr>
              <a:t>10</a:t>
            </a:r>
          </a:p>
        </p:txBody>
      </p:sp>
      <p:graphicFrame>
        <p:nvGraphicFramePr>
          <p:cNvPr id="34839" name="Object 2">
            <a:extLst>
              <a:ext uri="{FF2B5EF4-FFF2-40B4-BE49-F238E27FC236}">
                <a16:creationId xmlns:a16="http://schemas.microsoft.com/office/drawing/2014/main" id="{B9207F0B-7C8F-2E64-D026-F33C305CC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295400"/>
          <a:ext cx="38131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3630" t="25850" r="25140" b="7910"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3813175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40" name="Picture 25">
            <a:extLst>
              <a:ext uri="{FF2B5EF4-FFF2-40B4-BE49-F238E27FC236}">
                <a16:creationId xmlns:a16="http://schemas.microsoft.com/office/drawing/2014/main" id="{0A75A220-5677-4501-364F-6532DD5C4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38" y="1944688"/>
            <a:ext cx="1644650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2">
            <a:extLst>
              <a:ext uri="{FF2B5EF4-FFF2-40B4-BE49-F238E27FC236}">
                <a16:creationId xmlns:a16="http://schemas.microsoft.com/office/drawing/2014/main" id="{A5325814-4BD9-472A-B270-C1D0B17D3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8DA3AF-7B2F-4AC4-9530-777967366DD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19A4D6B1-B7FE-B310-91A8-713AF3EBD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8966200" cy="50323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Flip-Flop a commutazione e misti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361E2572-17B7-C658-68B6-F6ADC9ED7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05000"/>
            <a:ext cx="90011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193675" indent="-193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63575" indent="-20637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  <a:cs typeface="Times New Roman" panose="02020603050405020304" pitchFamily="18" charset="0"/>
              </a:rPr>
              <a:t>	Mentre i flip-flop RS e D memorizzano un ingresso diversamente codificato, i flip-flop che seguono posseggono ingressi atti a commutare lo stato del flip-flop. Questi sono</a:t>
            </a:r>
          </a:p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  <a:cs typeface="Times New Roman" panose="02020603050405020304" pitchFamily="18" charset="0"/>
              </a:rPr>
              <a:t>Flip Flop T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  <a:cs typeface="Times New Roman" panose="02020603050405020304" pitchFamily="18" charset="0"/>
              </a:rPr>
              <a:t>Un ingresso T provoca la commutazione del flip-flop</a:t>
            </a:r>
          </a:p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  <a:cs typeface="Times New Roman" panose="02020603050405020304" pitchFamily="18" charset="0"/>
              </a:rPr>
              <a:t>Flip flop JK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  <a:cs typeface="Times New Roman" panose="02020603050405020304" pitchFamily="18" charset="0"/>
              </a:rPr>
              <a:t>Analogo all’RS, con ingressi J=K=1 corrispondenti all’ingresso di commutazione</a:t>
            </a:r>
          </a:p>
        </p:txBody>
      </p:sp>
      <p:pic>
        <p:nvPicPr>
          <p:cNvPr id="460804" name="Picture 4">
            <a:hlinkClick r:id="" action="ppaction://media"/>
            <a:extLst>
              <a:ext uri="{FF2B5EF4-FFF2-40B4-BE49-F238E27FC236}">
                <a16:creationId xmlns:a16="http://schemas.microsoft.com/office/drawing/2014/main" id="{93F170F9-8339-B62B-86F3-666E91A5F0C3}"/>
              </a:ext>
            </a:extLst>
          </p:cNvPr>
          <p:cNvPicPr>
            <a:picLocks noRot="1" noChangeAspect="1" noChangeArrowheads="1"/>
          </p:cNvPicPr>
          <p:nvPr>
            <a:wavAudioFile r:embed="rId1" name="3CBB9655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075" y="58689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5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08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080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egnaposto numero diapositiva 3">
            <a:extLst>
              <a:ext uri="{FF2B5EF4-FFF2-40B4-BE49-F238E27FC236}">
                <a16:creationId xmlns:a16="http://schemas.microsoft.com/office/drawing/2014/main" id="{D6145705-B3C8-0B2A-DA38-5B8CB10DA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7413" y="136525"/>
            <a:ext cx="2268537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ECAD9E-768B-4BBE-B0A7-298D29D300C2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E8B319C-0DAB-3C39-F0A4-F1BB9C62B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Flip-Flop T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D87C4FC4-A913-8230-5F3C-8EB6CB40E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94150"/>
            <a:ext cx="807720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193675" indent="-193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La macchina che implementa questo funzionamento deve essere necessariamente asincrona o sincrona impulsiva.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4532606D-F9FA-FA65-275B-8BF132700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512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193675" indent="-193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Equazione di stato:</a:t>
            </a:r>
          </a:p>
        </p:txBody>
      </p:sp>
      <p:sp>
        <p:nvSpPr>
          <p:cNvPr id="37893" name="Rectangle 6">
            <a:extLst>
              <a:ext uri="{FF2B5EF4-FFF2-40B4-BE49-F238E27FC236}">
                <a16:creationId xmlns:a16="http://schemas.microsoft.com/office/drawing/2014/main" id="{05E35457-2C3F-0AA4-CFFD-BD61B5BC0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850" y="311150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7894" name="Object 2">
            <a:extLst>
              <a:ext uri="{FF2B5EF4-FFF2-40B4-BE49-F238E27FC236}">
                <a16:creationId xmlns:a16="http://schemas.microsoft.com/office/drawing/2014/main" id="{6EFC407E-1C05-75BA-968A-C10A0304C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175000"/>
          <a:ext cx="22098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Equation.3">
                  <p:embed/>
                </p:oleObj>
              </mc:Choice>
              <mc:Fallback>
                <p:oleObj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175000"/>
                        <a:ext cx="22098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Rectangle 8">
            <a:extLst>
              <a:ext uri="{FF2B5EF4-FFF2-40B4-BE49-F238E27FC236}">
                <a16:creationId xmlns:a16="http://schemas.microsoft.com/office/drawing/2014/main" id="{A49B89A1-1DF0-6FD2-B14E-5D635E3AA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238760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7896" name="Object 3">
            <a:extLst>
              <a:ext uri="{FF2B5EF4-FFF2-40B4-BE49-F238E27FC236}">
                <a16:creationId xmlns:a16="http://schemas.microsoft.com/office/drawing/2014/main" id="{13E169BF-6643-20EB-3AAE-649874ECC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447800"/>
          <a:ext cx="3705225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0" imgH="0" progId="Word.Picture.8">
                  <p:embed/>
                </p:oleObj>
              </mc:Choice>
              <mc:Fallback>
                <p:oleObj r:id="rId4" imgW="0" imgH="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58008"/>
                      <a:stretch>
                        <a:fillRect/>
                      </a:stretch>
                    </p:blipFill>
                    <p:spPr bwMode="auto">
                      <a:xfrm>
                        <a:off x="2590800" y="1447800"/>
                        <a:ext cx="3705225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6D39E0E-79E6-D05A-0A89-838DE2260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Flip-Flop T abilitato</a:t>
            </a:r>
          </a:p>
        </p:txBody>
      </p:sp>
      <p:sp>
        <p:nvSpPr>
          <p:cNvPr id="38914" name="Rectangle 4">
            <a:extLst>
              <a:ext uri="{FF2B5EF4-FFF2-40B4-BE49-F238E27FC236}">
                <a16:creationId xmlns:a16="http://schemas.microsoft.com/office/drawing/2014/main" id="{A7FE04CF-AEFD-84DF-9EA9-1904ACFF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29162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8915" name="Object 2">
            <a:extLst>
              <a:ext uri="{FF2B5EF4-FFF2-40B4-BE49-F238E27FC236}">
                <a16:creationId xmlns:a16="http://schemas.microsoft.com/office/drawing/2014/main" id="{C22AF12F-C01E-D422-CEFC-A729E7B5DC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7375" y="1828800"/>
          <a:ext cx="3136900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Word.Picture.8">
                  <p:embed/>
                </p:oleObj>
              </mc:Choice>
              <mc:Fallback>
                <p:oleObj r:id="rId2" imgW="0" imgH="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1828800"/>
                        <a:ext cx="3136900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5">
            <a:extLst>
              <a:ext uri="{FF2B5EF4-FFF2-40B4-BE49-F238E27FC236}">
                <a16:creationId xmlns:a16="http://schemas.microsoft.com/office/drawing/2014/main" id="{0EA2B447-EDFE-4750-E409-1A1B8439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29000"/>
            <a:ext cx="86883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L’impulso sull’abilitazione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 fa commutare il flip-flop se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 è attivo.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In sostanza,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 fa da abilitazione, mentre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 diventa l’ingresso di commutazione.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90F77548-AB46-9E0F-0310-6090A380E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Flip-Flop JK</a:t>
            </a:r>
          </a:p>
        </p:txBody>
      </p:sp>
      <p:sp>
        <p:nvSpPr>
          <p:cNvPr id="39938" name="Text Box 3">
            <a:extLst>
              <a:ext uri="{FF2B5EF4-FFF2-40B4-BE49-F238E27FC236}">
                <a16:creationId xmlns:a16="http://schemas.microsoft.com/office/drawing/2014/main" id="{4E0C307E-CD97-061C-C638-4FA22C10D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0"/>
            <a:ext cx="8534400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81000" indent="-381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E’ un flip-flop sincronizzato definito come segue: </a:t>
            </a:r>
          </a:p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quando l'ingresso impulsivo di sincronizzazione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 è attivo, i due ingressi a livello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J, K 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si comportano rispettivamente come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it-IT" altLang="it-IT" sz="2400" i="1">
                <a:solidFill>
                  <a:schemeClr val="tx1"/>
                </a:solidFill>
                <a:cs typeface="Times New Roman" panose="02020603050405020304" pitchFamily="18" charset="0"/>
              </a:rPr>
              <a:t>R </a:t>
            </a: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se sono attivi separatamente.</a:t>
            </a:r>
          </a:p>
          <a:p>
            <a:pPr eaLnBrk="1" hangingPunct="1">
              <a:spcBef>
                <a:spcPct val="50000"/>
              </a:spcBef>
              <a:buClrTx/>
              <a:buFontTx/>
              <a:buChar char="•"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mentre producono la commutazione se lo sono simultaneamente. </a:t>
            </a:r>
          </a:p>
        </p:txBody>
      </p:sp>
      <p:pic>
        <p:nvPicPr>
          <p:cNvPr id="39939" name="Picture 4">
            <a:extLst>
              <a:ext uri="{FF2B5EF4-FFF2-40B4-BE49-F238E27FC236}">
                <a16:creationId xmlns:a16="http://schemas.microsoft.com/office/drawing/2014/main" id="{F23206B2-4A68-8BED-4F80-79988B585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3" t="35417" r="62500" b="43793"/>
          <a:stretch>
            <a:fillRect/>
          </a:stretch>
        </p:blipFill>
        <p:spPr bwMode="auto">
          <a:xfrm>
            <a:off x="762000" y="4419600"/>
            <a:ext cx="2895600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6">
            <a:extLst>
              <a:ext uri="{FF2B5EF4-FFF2-40B4-BE49-F238E27FC236}">
                <a16:creationId xmlns:a16="http://schemas.microsoft.com/office/drawing/2014/main" id="{BE6BAAD0-E933-9A16-6C09-6041AC4AD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0" y="311150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39941" name="Object 2">
            <a:extLst>
              <a:ext uri="{FF2B5EF4-FFF2-40B4-BE49-F238E27FC236}">
                <a16:creationId xmlns:a16="http://schemas.microsoft.com/office/drawing/2014/main" id="{7280A360-0485-AE37-7E87-614F2B25A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4576763"/>
          <a:ext cx="51816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Equation.3">
                  <p:embed/>
                </p:oleObj>
              </mc:Choice>
              <mc:Fallback>
                <p:oleObj r:id="rId3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6763"/>
                        <a:ext cx="51816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FC2EF2CE-6063-6996-B625-3D288A8B9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Flip-Flop JK</a:t>
            </a:r>
          </a:p>
        </p:txBody>
      </p:sp>
      <p:pic>
        <p:nvPicPr>
          <p:cNvPr id="40962" name="Picture 3">
            <a:extLst>
              <a:ext uri="{FF2B5EF4-FFF2-40B4-BE49-F238E27FC236}">
                <a16:creationId xmlns:a16="http://schemas.microsoft.com/office/drawing/2014/main" id="{FACC51B6-3200-FFE7-4841-C036EA67C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0" t="56725" r="69299" b="25731"/>
          <a:stretch>
            <a:fillRect/>
          </a:stretch>
        </p:blipFill>
        <p:spPr bwMode="auto">
          <a:xfrm>
            <a:off x="990600" y="1981200"/>
            <a:ext cx="2971800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3" name="Picture 4">
            <a:extLst>
              <a:ext uri="{FF2B5EF4-FFF2-40B4-BE49-F238E27FC236}">
                <a16:creationId xmlns:a16="http://schemas.microsoft.com/office/drawing/2014/main" id="{2EC8BA49-D5B0-EAFA-A7B6-4B8DC1045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0" t="41667" r="31250" b="29514"/>
          <a:stretch>
            <a:fillRect/>
          </a:stretch>
        </p:blipFill>
        <p:spPr bwMode="auto">
          <a:xfrm>
            <a:off x="4648200" y="1905000"/>
            <a:ext cx="4191000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5">
            <a:extLst>
              <a:ext uri="{FF2B5EF4-FFF2-40B4-BE49-F238E27FC236}">
                <a16:creationId xmlns:a16="http://schemas.microsoft.com/office/drawing/2014/main" id="{1C925A07-0091-A524-8E27-20489406B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76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JK sincrono impulsivo</a:t>
            </a:r>
          </a:p>
        </p:txBody>
      </p:sp>
      <p:sp>
        <p:nvSpPr>
          <p:cNvPr id="40965" name="Text Box 6">
            <a:extLst>
              <a:ext uri="{FF2B5EF4-FFF2-40B4-BE49-F238E27FC236}">
                <a16:creationId xmlns:a16="http://schemas.microsoft.com/office/drawing/2014/main" id="{0B5F9105-17B8-8753-337A-037412085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876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  <a:cs typeface="Times New Roman" panose="02020603050405020304" pitchFamily="18" charset="0"/>
              </a:rPr>
              <a:t>JK asincrono edge-triggered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2" descr="j0078711">
            <a:extLst>
              <a:ext uri="{FF2B5EF4-FFF2-40B4-BE49-F238E27FC236}">
                <a16:creationId xmlns:a16="http://schemas.microsoft.com/office/drawing/2014/main" id="{D59CFC63-B6B6-C2EA-9406-709BD4D4A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650" y="1392238"/>
            <a:ext cx="2103438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6" name="Rectangle 3">
            <a:extLst>
              <a:ext uri="{FF2B5EF4-FFF2-40B4-BE49-F238E27FC236}">
                <a16:creationId xmlns:a16="http://schemas.microsoft.com/office/drawing/2014/main" id="{C28190A8-CD59-5F50-8354-DF3FEEA94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rdi scuri">
  <a:themeElements>
    <a:clrScheme name="Bordi scuri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Bordi scur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ordi scuri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i scuri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FE6EF7-94E6-4080-9800-3D20FE1C0E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1ac32-155a-4619-8d53-7abf123e0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5DD43A-7BAD-46EB-BF52-BE8A4AA09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AB350C-F2FC-4FFF-8ECA-01969C8E61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Office\Templates\Presentation Designs\Bordi scuri.pot</Template>
  <TotalTime>15066</TotalTime>
  <Words>639</Words>
  <Application>Microsoft Office PowerPoint</Application>
  <PresentationFormat>Custom</PresentationFormat>
  <Paragraphs>102</Paragraphs>
  <Slides>19</Slides>
  <Notes>6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Bordi scuri</vt:lpstr>
      <vt:lpstr>Corso di Reti Logiche</vt:lpstr>
      <vt:lpstr>I flip flop - 1</vt:lpstr>
      <vt:lpstr>I flip flop - 2</vt:lpstr>
      <vt:lpstr>I flip flop - 3</vt:lpstr>
      <vt:lpstr>I flip flop - 4</vt:lpstr>
      <vt:lpstr>Flip flop RS – Il comportamento</vt:lpstr>
      <vt:lpstr>RS sincronizzato</vt:lpstr>
      <vt:lpstr>Un RS sincronizzato - latch</vt:lpstr>
      <vt:lpstr>Un RS sincronizzato – edge-triggered</vt:lpstr>
      <vt:lpstr>RS master-slave</vt:lpstr>
      <vt:lpstr>Flip flop D</vt:lpstr>
      <vt:lpstr>Flip flop D</vt:lpstr>
      <vt:lpstr>Flip flop D  - edge triggered </vt:lpstr>
      <vt:lpstr>Flip-Flop a commutazione e misti</vt:lpstr>
      <vt:lpstr>Flip-Flop T</vt:lpstr>
      <vt:lpstr>Flip-Flop T abilitato</vt:lpstr>
      <vt:lpstr>Flip-Flop JK</vt:lpstr>
      <vt:lpstr>Flip-Flop JK</vt:lpstr>
      <vt:lpstr>Domande?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Gerarchia delle Memorie</dc:title>
  <cp:lastModifiedBy>VALENTINA CASOLA</cp:lastModifiedBy>
  <cp:revision>251</cp:revision>
  <dcterms:created xsi:type="dcterms:W3CDTF">2010-05-27T10:23:32Z</dcterms:created>
  <dcterms:modified xsi:type="dcterms:W3CDTF">2026-04-01T14:21:21Z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